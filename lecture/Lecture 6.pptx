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1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96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2" r:id="rId30"/>
    <p:sldId id="283" r:id="rId31"/>
    <p:sldId id="284" r:id="rId32"/>
    <p:sldId id="285" r:id="rId33"/>
    <p:sldId id="287" r:id="rId34"/>
    <p:sldId id="288" r:id="rId35"/>
    <p:sldId id="291" r:id="rId36"/>
    <p:sldId id="292" r:id="rId37"/>
    <p:sldId id="293" r:id="rId38"/>
    <p:sldId id="294" r:id="rId39"/>
    <p:sldId id="295" r:id="rId4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E2A264-2DF3-13A7-6127-2C6125B0A586}" v="2" dt="2026-03-13T05:58:00.1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al Baigoz" userId="S::m_baigoz@kbtu.kz::0bcc0ab2-226e-4c50-9afb-761770ab63e0" providerId="AD" clId="Web-{56E2A264-2DF3-13A7-6127-2C6125B0A586}"/>
    <pc:docChg chg="modSld">
      <pc:chgData name="Maral Baigoz" userId="S::m_baigoz@kbtu.kz::0bcc0ab2-226e-4c50-9afb-761770ab63e0" providerId="AD" clId="Web-{56E2A264-2DF3-13A7-6127-2C6125B0A586}" dt="2026-03-13T05:58:00.105" v="3" actId="20577"/>
      <pc:docMkLst>
        <pc:docMk/>
      </pc:docMkLst>
      <pc:sldChg chg="modSp">
        <pc:chgData name="Maral Baigoz" userId="S::m_baigoz@kbtu.kz::0bcc0ab2-226e-4c50-9afb-761770ab63e0" providerId="AD" clId="Web-{56E2A264-2DF3-13A7-6127-2C6125B0A586}" dt="2026-03-13T05:58:00.105" v="3" actId="20577"/>
        <pc:sldMkLst>
          <pc:docMk/>
          <pc:sldMk cId="233409665" sldId="256"/>
        </pc:sldMkLst>
        <pc:spChg chg="mod">
          <ac:chgData name="Maral Baigoz" userId="S::m_baigoz@kbtu.kz::0bcc0ab2-226e-4c50-9afb-761770ab63e0" providerId="AD" clId="Web-{56E2A264-2DF3-13A7-6127-2C6125B0A586}" dt="2026-03-13T05:58:00.105" v="3" actId="20577"/>
          <ac:spMkLst>
            <pc:docMk/>
            <pc:sldMk cId="233409665" sldId="256"/>
            <ac:spMk id="2" creationId="{3DE4EDDF-0C97-AFED-9140-227508CC724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E3A05-DE3C-304D-8F24-3B70DF9C1738}" type="datetimeFigureOut">
              <a:rPr lang="en-KZ" smtClean="0"/>
              <a:t>03/12/2026</a:t>
            </a:fld>
            <a:endParaRPr lang="en-K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E418C-7CE8-C74A-8825-9C3EBB3172D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000285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418C-7CE8-C74A-8825-9C3EBB3172DB}" type="slidenum">
              <a:rPr lang="en-KZ" smtClean="0"/>
              <a:t>3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0047213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418C-7CE8-C74A-8825-9C3EBB3172DB}" type="slidenum">
              <a:rPr lang="en-KZ" smtClean="0"/>
              <a:t>4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5995847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418C-7CE8-C74A-8825-9C3EBB3172DB}" type="slidenum">
              <a:rPr lang="en-KZ" smtClean="0"/>
              <a:t>5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689444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418C-7CE8-C74A-8825-9C3EBB3172DB}" type="slidenum">
              <a:rPr lang="en-KZ" smtClean="0"/>
              <a:t>6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40702192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418C-7CE8-C74A-8825-9C3EBB3172DB}" type="slidenum">
              <a:rPr lang="en-KZ" smtClean="0"/>
              <a:t>7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26349502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418C-7CE8-C74A-8825-9C3EBB3172DB}" type="slidenum">
              <a:rPr lang="en-KZ" smtClean="0"/>
              <a:t>8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21659339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418C-7CE8-C74A-8825-9C3EBB3172DB}" type="slidenum">
              <a:rPr lang="en-KZ" smtClean="0"/>
              <a:t>9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68473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418C-7CE8-C74A-8825-9C3EBB3172DB}" type="slidenum">
              <a:rPr lang="en-KZ" smtClean="0"/>
              <a:t>11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8982033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418C-7CE8-C74A-8825-9C3EBB3172DB}" type="slidenum">
              <a:rPr lang="en-KZ" smtClean="0"/>
              <a:t>12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7246462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418C-7CE8-C74A-8825-9C3EBB3172DB}" type="slidenum">
              <a:rPr lang="en-KZ" smtClean="0"/>
              <a:t>13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27878432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418C-7CE8-C74A-8825-9C3EBB3172DB}" type="slidenum">
              <a:rPr lang="en-KZ" smtClean="0"/>
              <a:t>14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24483264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418C-7CE8-C74A-8825-9C3EBB3172DB}" type="slidenum">
              <a:rPr lang="en-KZ" smtClean="0"/>
              <a:t>17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9744567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418C-7CE8-C74A-8825-9C3EBB3172DB}" type="slidenum">
              <a:rPr lang="en-KZ" smtClean="0"/>
              <a:t>19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3235149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418C-7CE8-C74A-8825-9C3EBB3172DB}" type="slidenum">
              <a:rPr lang="en-KZ" smtClean="0"/>
              <a:t>21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3231179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418C-7CE8-C74A-8825-9C3EBB3172DB}" type="slidenum">
              <a:rPr lang="en-KZ" smtClean="0"/>
              <a:t>22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2082368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418C-7CE8-C74A-8825-9C3EBB3172DB}" type="slidenum">
              <a:rPr lang="en-KZ" smtClean="0"/>
              <a:t>23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8821919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418C-7CE8-C74A-8825-9C3EBB3172DB}" type="slidenum">
              <a:rPr lang="en-KZ" smtClean="0"/>
              <a:t>24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2085347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418C-7CE8-C74A-8825-9C3EBB3172DB}" type="slidenum">
              <a:rPr lang="en-KZ" smtClean="0"/>
              <a:t>25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41574536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418C-7CE8-C74A-8825-9C3EBB3172DB}" type="slidenum">
              <a:rPr lang="en-KZ" smtClean="0"/>
              <a:t>26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7843697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418C-7CE8-C74A-8825-9C3EBB3172DB}" type="slidenum">
              <a:rPr lang="en-KZ" smtClean="0"/>
              <a:t>27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4065494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418C-7CE8-C74A-8825-9C3EBB3172DB}" type="slidenum">
              <a:rPr lang="en-KZ" smtClean="0"/>
              <a:t>28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287415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418C-7CE8-C74A-8825-9C3EBB3172DB}" type="slidenum">
              <a:rPr lang="en-KZ" smtClean="0"/>
              <a:t>29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21549763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418C-7CE8-C74A-8825-9C3EBB3172DB}" type="slidenum">
              <a:rPr lang="en-KZ" smtClean="0"/>
              <a:t>30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7086838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418C-7CE8-C74A-8825-9C3EBB3172DB}" type="slidenum">
              <a:rPr lang="en-KZ" smtClean="0"/>
              <a:t>31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22658546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418C-7CE8-C74A-8825-9C3EBB3172DB}" type="slidenum">
              <a:rPr lang="en-KZ" smtClean="0"/>
              <a:t>32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42013079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418C-7CE8-C74A-8825-9C3EBB3172DB}" type="slidenum">
              <a:rPr lang="en-KZ" smtClean="0"/>
              <a:t>34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4159091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418C-7CE8-C74A-8825-9C3EBB3172DB}" type="slidenum">
              <a:rPr lang="en-KZ" smtClean="0"/>
              <a:t>35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93988092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418C-7CE8-C74A-8825-9C3EBB3172DB}" type="slidenum">
              <a:rPr lang="en-KZ" smtClean="0"/>
              <a:t>36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980616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F5BC3B-DB2B-70D9-4EC6-B93EC085A3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9E67E71-E80F-1920-7629-5A0D5D111C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BF9593-0D35-F23D-CFA9-374339964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A6FBE-E37A-4D14-B31E-CBA8167F163E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277723-51B8-6175-1D94-0CAFF08E4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B74545-47DF-95DD-C047-6D710A3EB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B5ECB-9AC1-4D4B-B3D6-E28B3BFAAC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1349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1AA60A-4D09-40D4-6718-49B96DFAA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EE3174-9FC1-A116-19AD-DBCCD6DA6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3DDEB5-FF4C-50D3-1548-00FE307E4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A6FBE-E37A-4D14-B31E-CBA8167F163E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4E52FD-811B-EE02-477C-E2D5294F1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635050F-41BF-9D64-B8ED-F775CFE5D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B5ECB-9AC1-4D4B-B3D6-E28B3BFAAC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894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DF2526-EE70-BB48-3D6E-7EDB1BCFF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E819AF-0769-3686-82CE-1BA4B8081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3B5A4E-A64B-B2BB-794C-AFB3A0B28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A6FBE-E37A-4D14-B31E-CBA8167F163E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E72F46-54D2-F976-6380-EB2D908C7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AD2561-5B6D-7C6F-0503-2B2E239A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B5ECB-9AC1-4D4B-B3D6-E28B3BFAAC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5873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236BC8-5832-96E9-353C-30EE727FE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CB402E-90DF-CAD6-8A3E-11000D44BC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4DD822-F017-7652-72C4-9E9BABAD43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F786ABF-CFB4-9BC9-EE93-9D5F379FF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A6FBE-E37A-4D14-B31E-CBA8167F163E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C907CDC-712C-0C46-3DF0-ED1B0A269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308D6A5-0B34-FA7A-69D0-89B78D67A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B5ECB-9AC1-4D4B-B3D6-E28B3BFAAC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6748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E0C838-2192-4E0E-ABE5-DE7904B59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69D565-32F5-6C42-E38C-40E31200B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40A6DF0-5EEA-11B8-A200-A48643D409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1E6860A-3095-D674-056E-4B10F5DBB2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4166318-1302-CFF0-D993-0931BB2B57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EA85DAC-7D2B-E2AE-1BF1-088EA165F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A6FBE-E37A-4D14-B31E-CBA8167F163E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30DC6B0-B577-7C4B-C799-6DC3C181A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289ACDF-2BB2-F717-10BF-5591A0E4B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B5ECB-9AC1-4D4B-B3D6-E28B3BFAAC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3354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4B5A6E-119B-7971-2261-2C65E9C76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DCB2C5F-4092-BAB5-4EEC-91A00554D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A6FBE-E37A-4D14-B31E-CBA8167F163E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41592C5-C898-25F9-14AD-969E45505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04DD494-9BE1-DF41-71CA-4231648EC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B5ECB-9AC1-4D4B-B3D6-E28B3BFAAC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33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1E473F4-1FC2-7632-BCDE-BF34F6426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A6FBE-E37A-4D14-B31E-CBA8167F163E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DE85E2D-FE8B-6415-9816-59550BD94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F67C130-CB15-8FF8-E066-7477B81E0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B5ECB-9AC1-4D4B-B3D6-E28B3BFAAC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6266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F1ED8E-2B19-B50E-C956-25CC4F681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8A71BA-C27E-D119-9B20-713CEB421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252DA8F-F491-4C2A-6212-BCBEBF0C89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5D16F9A-D433-16A1-94D3-D041E67FB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A6FBE-E37A-4D14-B31E-CBA8167F163E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0478BCE-86EF-C832-D370-89CCDB630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84254A9-441B-91D3-A601-16734FCC5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B5ECB-9AC1-4D4B-B3D6-E28B3BFAAC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3123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ED117D-8873-671E-597C-E1730B313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F287631-CF38-8E46-359F-50935BAF19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EB209F8-754B-E12A-AD47-622CC14C31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6FB723C-48B3-ACA5-CD0C-F332EE972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A6FBE-E37A-4D14-B31E-CBA8167F163E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6254D4F-BDDF-BED7-39DD-78FBF03C9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1822556-071B-F80D-EE18-E0A5348E3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B5ECB-9AC1-4D4B-B3D6-E28B3BFAAC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1089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CB3863-3BB7-BFA2-B63E-AEBAC0761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8BB894D-2847-9235-7E0B-9998D71FDC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56EE88-7AD5-E6F3-E747-75D782015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A6FBE-E37A-4D14-B31E-CBA8167F163E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26F053C-8551-5FB2-2DDB-200B86F2C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8090E1-A44F-62F5-0692-8E0B9D91B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B5ECB-9AC1-4D4B-B3D6-E28B3BFAAC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0738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4462EED-42AC-7200-7AAE-201D028834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8018188-2F2E-FEC9-3A51-CDF5F57564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C0037E-A8D1-7045-36ED-D8604E69C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A6FBE-E37A-4D14-B31E-CBA8167F163E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DDFB2B-CCCF-52C3-9C0B-0BA0EF294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660C8E-BE62-2D25-AB9D-B66D943D2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B5ECB-9AC1-4D4B-B3D6-E28B3BFAAC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4667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623334-9703-29CB-C811-CF8E05C03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EBD24DA-6064-7B29-6BF1-EF28C5C9F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843994-66A6-33CB-756B-550210C9F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4A6FBE-E37A-4D14-B31E-CBA8167F163E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AABB75-1B7D-39BF-BB25-92E007C681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A7028E-4A4C-F166-4B08-8FB58FB9B9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0B5ECB-9AC1-4D4B-B3D6-E28B3BFAAC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9684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E4EDDF-0C97-AFED-9140-227508CC72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199"/>
            <a:ext cx="9144000" cy="1909763"/>
          </a:xfrm>
        </p:spPr>
        <p:txBody>
          <a:bodyPr>
            <a:normAutofit fontScale="90000"/>
          </a:bodyPr>
          <a:lstStyle/>
          <a:p>
            <a:r>
              <a:rPr lang="ru-RU"/>
              <a:t>DATA ANALYSIS CONCEPTS II:</a:t>
            </a:r>
            <a:br>
              <a:rPr lang="ru-RU"/>
            </a:br>
            <a:r>
              <a:rPr lang="ru-RU"/>
              <a:t>CORRELATION &amp; REGRESSION</a:t>
            </a:r>
            <a:br>
              <a:rPr lang="ru-RU"/>
            </a:br>
            <a:r>
              <a:rPr lang="ru-RU" dirty="0" err="1"/>
              <a:t>Modeling</a:t>
            </a:r>
            <a:r>
              <a:rPr lang="ru-RU"/>
              <a:t> </a:t>
            </a:r>
            <a:r>
              <a:rPr lang="ru-RU" dirty="0" err="1"/>
              <a:t>Relationships</a:t>
            </a:r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E5459F2-CCE9-DBD0-C7E6-761A76C638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/>
              <a:t>Week 6</a:t>
            </a:r>
          </a:p>
        </p:txBody>
      </p:sp>
    </p:spTree>
    <p:extLst>
      <p:ext uri="{BB962C8B-B14F-4D97-AF65-F5344CB8AC3E}">
        <p14:creationId xmlns:p14="http://schemas.microsoft.com/office/powerpoint/2010/main" val="233409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BC3C68AA-1CB7-8310-E293-A1DBE96D5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err="1"/>
              <a:t>How</a:t>
            </a:r>
            <a:r>
              <a:rPr lang="ru-RU"/>
              <a:t> </a:t>
            </a:r>
            <a:r>
              <a:rPr lang="ru-RU" err="1"/>
              <a:t>do</a:t>
            </a:r>
            <a:r>
              <a:rPr lang="ru-RU"/>
              <a:t> </a:t>
            </a:r>
            <a:r>
              <a:rPr lang="ru-RU" err="1"/>
              <a:t>we</a:t>
            </a:r>
            <a:r>
              <a:rPr lang="ru-RU"/>
              <a:t> QUANTIFY </a:t>
            </a:r>
            <a:r>
              <a:rPr lang="ru-RU" err="1"/>
              <a:t>and</a:t>
            </a:r>
            <a:r>
              <a:rPr lang="ru-RU"/>
              <a:t> MODEL </a:t>
            </a:r>
            <a:r>
              <a:rPr lang="ru-RU" err="1"/>
              <a:t>relationships</a:t>
            </a:r>
            <a:r>
              <a:rPr lang="ru-RU"/>
              <a:t>?</a:t>
            </a:r>
          </a:p>
          <a:p>
            <a:pPr marL="0" indent="0">
              <a:buNone/>
            </a:pPr>
            <a:r>
              <a:rPr lang="ru-RU"/>
              <a:t>• </a:t>
            </a:r>
            <a:r>
              <a:rPr lang="ru-RU" err="1"/>
              <a:t>Are</a:t>
            </a:r>
            <a:r>
              <a:rPr lang="ru-RU"/>
              <a:t> </a:t>
            </a:r>
            <a:r>
              <a:rPr lang="ru-RU" err="1"/>
              <a:t>two</a:t>
            </a:r>
            <a:r>
              <a:rPr lang="ru-RU"/>
              <a:t> </a:t>
            </a:r>
            <a:r>
              <a:rPr lang="ru-RU" err="1"/>
              <a:t>variables</a:t>
            </a:r>
            <a:r>
              <a:rPr lang="ru-RU"/>
              <a:t> </a:t>
            </a:r>
            <a:r>
              <a:rPr lang="ru-RU" err="1"/>
              <a:t>related</a:t>
            </a:r>
            <a:r>
              <a:rPr lang="ru-RU"/>
              <a:t>?</a:t>
            </a:r>
          </a:p>
          <a:p>
            <a:pPr marL="0" indent="0">
              <a:buNone/>
            </a:pPr>
            <a:r>
              <a:rPr lang="ru-RU"/>
              <a:t>• </a:t>
            </a:r>
            <a:r>
              <a:rPr lang="ru-RU" err="1"/>
              <a:t>Can</a:t>
            </a:r>
            <a:r>
              <a:rPr lang="ru-RU"/>
              <a:t> </a:t>
            </a:r>
            <a:r>
              <a:rPr lang="ru-RU" err="1"/>
              <a:t>we</a:t>
            </a:r>
            <a:r>
              <a:rPr lang="ru-RU"/>
              <a:t> PREDICT </a:t>
            </a:r>
            <a:r>
              <a:rPr lang="ru-RU" err="1"/>
              <a:t>one</a:t>
            </a:r>
            <a:r>
              <a:rPr lang="ru-RU"/>
              <a:t> </a:t>
            </a:r>
            <a:r>
              <a:rPr lang="ru-RU" err="1"/>
              <a:t>variable</a:t>
            </a:r>
            <a:r>
              <a:rPr lang="ru-RU"/>
              <a:t> </a:t>
            </a:r>
            <a:r>
              <a:rPr lang="ru-RU" err="1"/>
              <a:t>from</a:t>
            </a:r>
            <a:r>
              <a:rPr lang="ru-RU"/>
              <a:t> </a:t>
            </a:r>
            <a:r>
              <a:rPr lang="ru-RU" err="1"/>
              <a:t>another</a:t>
            </a:r>
            <a:r>
              <a:rPr lang="ru-RU"/>
              <a:t>?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8332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93F6FA-F985-BF54-62D0-E750A2D9C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What </a:t>
            </a:r>
            <a:r>
              <a:rPr lang="ru-RU" b="1" err="1"/>
              <a:t>is</a:t>
            </a:r>
            <a:r>
              <a:rPr lang="ru-RU" b="1"/>
              <a:t> </a:t>
            </a:r>
            <a:r>
              <a:rPr lang="ru-RU" b="1" err="1"/>
              <a:t>Correlation</a:t>
            </a:r>
            <a:r>
              <a:rPr lang="ru-RU" b="1"/>
              <a:t>?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96E8A4-00C4-CD1E-F522-C60FF8B17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err="1"/>
              <a:t>Correlation</a:t>
            </a:r>
            <a:r>
              <a:rPr lang="ru-RU"/>
              <a:t> </a:t>
            </a:r>
            <a:r>
              <a:rPr lang="ru-RU" err="1"/>
              <a:t>measures</a:t>
            </a:r>
            <a:r>
              <a:rPr lang="ru-RU"/>
              <a:t> </a:t>
            </a:r>
            <a:r>
              <a:rPr lang="ru-RU" err="1"/>
              <a:t>the</a:t>
            </a:r>
            <a:r>
              <a:rPr lang="ru-RU"/>
              <a:t> </a:t>
            </a:r>
            <a:r>
              <a:rPr lang="ru-RU" err="1"/>
              <a:t>strength</a:t>
            </a:r>
            <a:r>
              <a:rPr lang="ru-RU"/>
              <a:t> </a:t>
            </a:r>
            <a:r>
              <a:rPr lang="ru-RU" err="1"/>
              <a:t>and</a:t>
            </a:r>
            <a:r>
              <a:rPr lang="ru-RU"/>
              <a:t> </a:t>
            </a:r>
            <a:r>
              <a:rPr lang="ru-RU" err="1"/>
              <a:t>direction</a:t>
            </a:r>
            <a:endParaRPr lang="ru-RU"/>
          </a:p>
          <a:p>
            <a:pPr marL="0" indent="0">
              <a:buNone/>
            </a:pPr>
            <a:r>
              <a:rPr lang="ru-RU" err="1"/>
              <a:t>of</a:t>
            </a:r>
            <a:r>
              <a:rPr lang="ru-RU"/>
              <a:t> a LINEAR </a:t>
            </a:r>
            <a:r>
              <a:rPr lang="ru-RU" err="1"/>
              <a:t>relationship</a:t>
            </a:r>
            <a:r>
              <a:rPr lang="ru-RU"/>
              <a:t> </a:t>
            </a:r>
            <a:r>
              <a:rPr lang="ru-RU" err="1"/>
              <a:t>between</a:t>
            </a:r>
            <a:r>
              <a:rPr lang="ru-RU"/>
              <a:t> </a:t>
            </a:r>
            <a:r>
              <a:rPr lang="ru-RU" err="1"/>
              <a:t>two</a:t>
            </a:r>
            <a:r>
              <a:rPr lang="ru-RU"/>
              <a:t> </a:t>
            </a:r>
            <a:r>
              <a:rPr lang="ru-RU" err="1"/>
              <a:t>numerical</a:t>
            </a:r>
            <a:r>
              <a:rPr lang="ru-RU"/>
              <a:t> </a:t>
            </a:r>
            <a:r>
              <a:rPr lang="ru-RU" err="1"/>
              <a:t>variables</a:t>
            </a:r>
            <a:r>
              <a:rPr lang="ru-RU"/>
              <a:t>.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/>
              <a:t>KEY QUESTIONS:</a:t>
            </a:r>
          </a:p>
          <a:p>
            <a:pPr marL="0" indent="0">
              <a:buNone/>
            </a:pPr>
            <a:r>
              <a:rPr lang="ru-RU"/>
              <a:t>• Do </a:t>
            </a:r>
            <a:r>
              <a:rPr lang="ru-RU" err="1"/>
              <a:t>they</a:t>
            </a:r>
            <a:r>
              <a:rPr lang="ru-RU"/>
              <a:t> </a:t>
            </a:r>
            <a:r>
              <a:rPr lang="ru-RU" err="1"/>
              <a:t>move</a:t>
            </a:r>
            <a:r>
              <a:rPr lang="ru-RU"/>
              <a:t> </a:t>
            </a:r>
            <a:r>
              <a:rPr lang="ru-RU" err="1"/>
              <a:t>together</a:t>
            </a:r>
            <a:r>
              <a:rPr lang="ru-RU"/>
              <a:t>? (</a:t>
            </a:r>
            <a:r>
              <a:rPr lang="ru-RU" err="1"/>
              <a:t>positive</a:t>
            </a:r>
            <a:r>
              <a:rPr lang="ru-RU"/>
              <a:t> </a:t>
            </a:r>
            <a:r>
              <a:rPr lang="ru-RU" err="1"/>
              <a:t>correlation</a:t>
            </a:r>
            <a:r>
              <a:rPr lang="ru-RU"/>
              <a:t>)</a:t>
            </a:r>
          </a:p>
          <a:p>
            <a:pPr marL="0" indent="0">
              <a:buNone/>
            </a:pPr>
            <a:r>
              <a:rPr lang="ru-RU"/>
              <a:t>• Do </a:t>
            </a:r>
            <a:r>
              <a:rPr lang="ru-RU" err="1"/>
              <a:t>they</a:t>
            </a:r>
            <a:r>
              <a:rPr lang="ru-RU"/>
              <a:t> </a:t>
            </a:r>
            <a:r>
              <a:rPr lang="ru-RU" err="1"/>
              <a:t>move</a:t>
            </a:r>
            <a:r>
              <a:rPr lang="ru-RU"/>
              <a:t> </a:t>
            </a:r>
            <a:r>
              <a:rPr lang="ru-RU" err="1"/>
              <a:t>opposite</a:t>
            </a:r>
            <a:r>
              <a:rPr lang="ru-RU"/>
              <a:t>? (</a:t>
            </a:r>
            <a:r>
              <a:rPr lang="ru-RU" err="1"/>
              <a:t>negative</a:t>
            </a:r>
            <a:r>
              <a:rPr lang="ru-RU"/>
              <a:t> </a:t>
            </a:r>
            <a:r>
              <a:rPr lang="ru-RU" err="1"/>
              <a:t>correlation</a:t>
            </a:r>
            <a:r>
              <a:rPr lang="ru-RU"/>
              <a:t>)</a:t>
            </a:r>
          </a:p>
          <a:p>
            <a:pPr marL="0" indent="0">
              <a:buNone/>
            </a:pPr>
            <a:r>
              <a:rPr lang="ru-RU"/>
              <a:t>• 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there</a:t>
            </a:r>
            <a:r>
              <a:rPr lang="ru-RU"/>
              <a:t> </a:t>
            </a:r>
            <a:r>
              <a:rPr lang="ru-RU" err="1"/>
              <a:t>no</a:t>
            </a:r>
            <a:r>
              <a:rPr lang="ru-RU"/>
              <a:t> </a:t>
            </a:r>
            <a:r>
              <a:rPr lang="ru-RU" err="1"/>
              <a:t>pattern</a:t>
            </a:r>
            <a:r>
              <a:rPr lang="ru-RU"/>
              <a:t>? (</a:t>
            </a:r>
            <a:r>
              <a:rPr lang="ru-RU" err="1"/>
              <a:t>zero</a:t>
            </a:r>
            <a:r>
              <a:rPr lang="ru-RU"/>
              <a:t> </a:t>
            </a:r>
            <a:r>
              <a:rPr lang="ru-RU" err="1"/>
              <a:t>correlation</a:t>
            </a:r>
            <a:r>
              <a:rPr lang="ru-RU"/>
              <a:t>)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err="1"/>
              <a:t>Example</a:t>
            </a:r>
            <a:r>
              <a:rPr lang="ru-RU"/>
              <a:t>:</a:t>
            </a:r>
          </a:p>
          <a:p>
            <a:pPr marL="0" indent="0">
              <a:buNone/>
            </a:pPr>
            <a:r>
              <a:rPr lang="ru-RU"/>
              <a:t>• Study </a:t>
            </a:r>
            <a:r>
              <a:rPr lang="ru-RU" err="1"/>
              <a:t>hours</a:t>
            </a:r>
            <a:r>
              <a:rPr lang="ru-RU"/>
              <a:t> </a:t>
            </a:r>
            <a:r>
              <a:rPr lang="ru-RU" err="1"/>
              <a:t>and</a:t>
            </a:r>
            <a:r>
              <a:rPr lang="ru-RU"/>
              <a:t> </a:t>
            </a:r>
            <a:r>
              <a:rPr lang="ru-RU" err="1"/>
              <a:t>exam</a:t>
            </a:r>
            <a:r>
              <a:rPr lang="ru-RU"/>
              <a:t> </a:t>
            </a:r>
            <a:r>
              <a:rPr lang="ru-RU" err="1"/>
              <a:t>scores</a:t>
            </a:r>
            <a:r>
              <a:rPr lang="ru-RU"/>
              <a:t> → </a:t>
            </a:r>
            <a:r>
              <a:rPr lang="ru-RU" err="1"/>
              <a:t>likely</a:t>
            </a:r>
            <a:r>
              <a:rPr lang="ru-RU"/>
              <a:t> </a:t>
            </a:r>
            <a:r>
              <a:rPr lang="ru-RU" err="1"/>
              <a:t>positive</a:t>
            </a:r>
            <a:endParaRPr lang="ru-RU"/>
          </a:p>
          <a:p>
            <a:pPr marL="0" indent="0">
              <a:buNone/>
            </a:pPr>
            <a:r>
              <a:rPr lang="ru-RU"/>
              <a:t>• Car </a:t>
            </a:r>
            <a:r>
              <a:rPr lang="ru-RU" err="1"/>
              <a:t>age</a:t>
            </a:r>
            <a:r>
              <a:rPr lang="ru-RU"/>
              <a:t> </a:t>
            </a:r>
            <a:r>
              <a:rPr lang="ru-RU" err="1"/>
              <a:t>and</a:t>
            </a:r>
            <a:r>
              <a:rPr lang="ru-RU"/>
              <a:t> </a:t>
            </a:r>
            <a:r>
              <a:rPr lang="ru-RU" err="1"/>
              <a:t>resale</a:t>
            </a:r>
            <a:r>
              <a:rPr lang="ru-RU"/>
              <a:t> </a:t>
            </a:r>
            <a:r>
              <a:rPr lang="ru-RU" err="1"/>
              <a:t>value</a:t>
            </a:r>
            <a:r>
              <a:rPr lang="ru-RU"/>
              <a:t> → </a:t>
            </a:r>
            <a:r>
              <a:rPr lang="ru-RU" err="1"/>
              <a:t>likely</a:t>
            </a:r>
            <a:r>
              <a:rPr lang="ru-RU"/>
              <a:t> </a:t>
            </a:r>
            <a:r>
              <a:rPr lang="ru-RU" err="1"/>
              <a:t>negative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1718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E28E1F-FD6E-B6C8-53D6-21AC87686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016"/>
            <a:ext cx="10515600" cy="1061893"/>
          </a:xfrm>
        </p:spPr>
        <p:txBody>
          <a:bodyPr/>
          <a:lstStyle/>
          <a:p>
            <a:r>
              <a:rPr lang="ru-RU" b="1" err="1"/>
              <a:t>Correlation</a:t>
            </a:r>
            <a:r>
              <a:rPr lang="ru-RU" b="1"/>
              <a:t> </a:t>
            </a:r>
            <a:r>
              <a:rPr lang="ru-RU" b="1" err="1"/>
              <a:t>Coefficient</a:t>
            </a:r>
            <a:r>
              <a:rPr lang="ru-RU" b="1"/>
              <a:t> (r) – The </a:t>
            </a:r>
            <a:r>
              <a:rPr lang="ru-RU" b="1" err="1"/>
              <a:t>Basics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6C8AF7-4C2D-7194-8402-718832290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6909"/>
            <a:ext cx="10515600" cy="493005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/>
              <a:t>PEARSON CORRELATION COEFFICIENT (r):</a:t>
            </a:r>
          </a:p>
          <a:p>
            <a:pPr marL="0" indent="0">
              <a:buNone/>
            </a:pPr>
            <a:r>
              <a:rPr lang="ru-RU"/>
              <a:t>• </a:t>
            </a:r>
            <a:r>
              <a:rPr lang="ru-RU" err="1"/>
              <a:t>Ranges</a:t>
            </a:r>
            <a:r>
              <a:rPr lang="ru-RU"/>
              <a:t> </a:t>
            </a:r>
            <a:r>
              <a:rPr lang="ru-RU" err="1"/>
              <a:t>from</a:t>
            </a:r>
            <a:r>
              <a:rPr lang="ru-RU"/>
              <a:t> -1 </a:t>
            </a:r>
            <a:r>
              <a:rPr lang="ru-RU" err="1"/>
              <a:t>to</a:t>
            </a:r>
            <a:r>
              <a:rPr lang="ru-RU"/>
              <a:t> +1</a:t>
            </a:r>
          </a:p>
          <a:p>
            <a:pPr marL="0" indent="0">
              <a:buNone/>
            </a:pPr>
            <a:r>
              <a:rPr lang="ru-RU"/>
              <a:t>• </a:t>
            </a:r>
            <a:r>
              <a:rPr lang="ru-RU" err="1"/>
              <a:t>Sign</a:t>
            </a:r>
            <a:r>
              <a:rPr lang="ru-RU"/>
              <a:t> = </a:t>
            </a:r>
            <a:r>
              <a:rPr lang="ru-RU" err="1"/>
              <a:t>direction</a:t>
            </a:r>
            <a:r>
              <a:rPr lang="ru-RU"/>
              <a:t> (+ </a:t>
            </a:r>
            <a:r>
              <a:rPr lang="ru-RU" err="1"/>
              <a:t>or</a:t>
            </a:r>
            <a:r>
              <a:rPr lang="ru-RU"/>
              <a:t> -)</a:t>
            </a:r>
          </a:p>
          <a:p>
            <a:pPr marL="0" indent="0">
              <a:buNone/>
            </a:pPr>
            <a:r>
              <a:rPr lang="ru-RU"/>
              <a:t>• </a:t>
            </a:r>
            <a:r>
              <a:rPr lang="ru-RU" err="1"/>
              <a:t>Magnitude</a:t>
            </a:r>
            <a:r>
              <a:rPr lang="ru-RU"/>
              <a:t> = </a:t>
            </a:r>
            <a:r>
              <a:rPr lang="ru-RU" err="1"/>
              <a:t>strength</a:t>
            </a:r>
            <a:endParaRPr lang="ru-RU"/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/>
              <a:t>r = +1 : </a:t>
            </a:r>
            <a:r>
              <a:rPr lang="ru-RU" err="1"/>
              <a:t>Perfect</a:t>
            </a:r>
            <a:r>
              <a:rPr lang="ru-RU"/>
              <a:t> </a:t>
            </a:r>
            <a:r>
              <a:rPr lang="ru-RU" err="1"/>
              <a:t>positive</a:t>
            </a:r>
            <a:r>
              <a:rPr lang="ru-RU"/>
              <a:t> </a:t>
            </a:r>
            <a:r>
              <a:rPr lang="ru-RU" err="1"/>
              <a:t>linear</a:t>
            </a:r>
            <a:r>
              <a:rPr lang="ru-RU"/>
              <a:t> </a:t>
            </a:r>
            <a:r>
              <a:rPr lang="ru-RU" err="1"/>
              <a:t>relationship</a:t>
            </a:r>
            <a:endParaRPr lang="ru-RU"/>
          </a:p>
          <a:p>
            <a:pPr marL="0" indent="0">
              <a:buNone/>
            </a:pPr>
            <a:r>
              <a:rPr lang="ru-RU"/>
              <a:t>r = -1 : </a:t>
            </a:r>
            <a:r>
              <a:rPr lang="ru-RU" err="1"/>
              <a:t>Perfect</a:t>
            </a:r>
            <a:r>
              <a:rPr lang="ru-RU"/>
              <a:t> </a:t>
            </a:r>
            <a:r>
              <a:rPr lang="ru-RU" err="1"/>
              <a:t>negative</a:t>
            </a:r>
            <a:r>
              <a:rPr lang="ru-RU"/>
              <a:t> </a:t>
            </a:r>
            <a:r>
              <a:rPr lang="ru-RU" err="1"/>
              <a:t>linear</a:t>
            </a:r>
            <a:r>
              <a:rPr lang="ru-RU"/>
              <a:t> </a:t>
            </a:r>
            <a:r>
              <a:rPr lang="ru-RU" err="1"/>
              <a:t>relationship</a:t>
            </a:r>
            <a:endParaRPr lang="ru-RU"/>
          </a:p>
          <a:p>
            <a:pPr marL="0" indent="0">
              <a:buNone/>
            </a:pPr>
            <a:r>
              <a:rPr lang="ru-RU"/>
              <a:t>r = 0  : No </a:t>
            </a:r>
            <a:r>
              <a:rPr lang="ru-RU" err="1"/>
              <a:t>linear</a:t>
            </a:r>
            <a:r>
              <a:rPr lang="ru-RU"/>
              <a:t> </a:t>
            </a:r>
            <a:r>
              <a:rPr lang="ru-RU" err="1"/>
              <a:t>relationship</a:t>
            </a:r>
            <a:endParaRPr lang="ru-RU"/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/>
              <a:t>Formula (</a:t>
            </a:r>
            <a:r>
              <a:rPr lang="ru-RU" err="1"/>
              <a:t>conceptual</a:t>
            </a:r>
            <a:r>
              <a:rPr lang="ru-RU"/>
              <a:t>):</a:t>
            </a:r>
          </a:p>
          <a:p>
            <a:pPr marL="0" indent="0">
              <a:buNone/>
            </a:pPr>
            <a:r>
              <a:rPr lang="ru-RU"/>
              <a:t>r = </a:t>
            </a:r>
            <a:r>
              <a:rPr lang="ru-RU" err="1"/>
              <a:t>average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(</a:t>
            </a:r>
            <a:r>
              <a:rPr lang="ru-RU" err="1"/>
              <a:t>z_x</a:t>
            </a:r>
            <a:r>
              <a:rPr lang="ru-RU"/>
              <a:t> × </a:t>
            </a:r>
            <a:r>
              <a:rPr lang="ru-RU" err="1"/>
              <a:t>z_y</a:t>
            </a:r>
            <a:r>
              <a:rPr lang="ru-RU"/>
              <a:t>)  → </a:t>
            </a:r>
            <a:r>
              <a:rPr lang="ru-RU" err="1"/>
              <a:t>product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z‑</a:t>
            </a:r>
            <a:r>
              <a:rPr lang="ru-RU" err="1"/>
              <a:t>scores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4421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C6BEEC-7E11-24D7-0144-187D7467C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870"/>
            <a:ext cx="10515600" cy="1006475"/>
          </a:xfrm>
        </p:spPr>
        <p:txBody>
          <a:bodyPr/>
          <a:lstStyle/>
          <a:p>
            <a:r>
              <a:rPr lang="ru-RU" b="1" err="1"/>
              <a:t>Interpreting</a:t>
            </a:r>
            <a:r>
              <a:rPr lang="ru-RU" b="1"/>
              <a:t> r – </a:t>
            </a:r>
            <a:r>
              <a:rPr lang="ru-RU" b="1" err="1"/>
              <a:t>Strength</a:t>
            </a:r>
            <a:r>
              <a:rPr lang="ru-RU" b="1"/>
              <a:t> </a:t>
            </a:r>
            <a:r>
              <a:rPr lang="ru-RU" b="1" err="1"/>
              <a:t>Guidelines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AB1A0D-9FB0-6EA9-65A8-D80CD8DCA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5345"/>
            <a:ext cx="10515600" cy="49716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/>
              <a:t>GUIDELINES (</a:t>
            </a:r>
            <a:r>
              <a:rPr lang="ru-RU" err="1"/>
              <a:t>Cohen</a:t>
            </a:r>
            <a:r>
              <a:rPr lang="ru-RU"/>
              <a:t>, 1988):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/>
              <a:t>|r|          </a:t>
            </a:r>
            <a:r>
              <a:rPr lang="ru-RU" err="1"/>
              <a:t>Strength</a:t>
            </a:r>
            <a:endParaRPr lang="ru-RU"/>
          </a:p>
          <a:p>
            <a:pPr marL="0" indent="0">
              <a:buNone/>
            </a:pPr>
            <a:r>
              <a:rPr lang="ru-RU"/>
              <a:t>0.0 – 0.1    </a:t>
            </a:r>
            <a:r>
              <a:rPr lang="ru-RU" err="1"/>
              <a:t>Negligible</a:t>
            </a:r>
            <a:endParaRPr lang="ru-RU"/>
          </a:p>
          <a:p>
            <a:pPr marL="0" indent="0">
              <a:buNone/>
            </a:pPr>
            <a:r>
              <a:rPr lang="ru-RU"/>
              <a:t>0.1 – 0.3    </a:t>
            </a:r>
            <a:r>
              <a:rPr lang="ru-RU" err="1"/>
              <a:t>Weak</a:t>
            </a:r>
            <a:endParaRPr lang="ru-RU"/>
          </a:p>
          <a:p>
            <a:pPr marL="0" indent="0">
              <a:buNone/>
            </a:pPr>
            <a:r>
              <a:rPr lang="ru-RU"/>
              <a:t>0.3 – 0.5    </a:t>
            </a:r>
            <a:r>
              <a:rPr lang="ru-RU" err="1"/>
              <a:t>Moderate</a:t>
            </a:r>
            <a:endParaRPr lang="ru-RU"/>
          </a:p>
          <a:p>
            <a:pPr marL="0" indent="0">
              <a:buNone/>
            </a:pPr>
            <a:r>
              <a:rPr lang="ru-RU"/>
              <a:t>0.5 – 0.7    </a:t>
            </a:r>
            <a:r>
              <a:rPr lang="ru-RU" err="1"/>
              <a:t>Strong</a:t>
            </a:r>
            <a:endParaRPr lang="ru-RU"/>
          </a:p>
          <a:p>
            <a:pPr marL="0" indent="0">
              <a:buNone/>
            </a:pPr>
            <a:r>
              <a:rPr lang="ru-RU"/>
              <a:t>0.7 – 1.0    </a:t>
            </a:r>
            <a:r>
              <a:rPr lang="ru-RU" err="1"/>
              <a:t>Very</a:t>
            </a:r>
            <a:r>
              <a:rPr lang="ru-RU"/>
              <a:t> </a:t>
            </a:r>
            <a:r>
              <a:rPr lang="ru-RU" err="1"/>
              <a:t>Strong</a:t>
            </a:r>
            <a:endParaRPr lang="ru-RU"/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9181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C56F7E-A162-6A88-ECAD-4BB2EEEF8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110"/>
            <a:ext cx="10515600" cy="1025236"/>
          </a:xfrm>
        </p:spPr>
        <p:txBody>
          <a:bodyPr/>
          <a:lstStyle/>
          <a:p>
            <a:r>
              <a:rPr lang="ru-RU" b="1"/>
              <a:t>Python – </a:t>
            </a:r>
            <a:r>
              <a:rPr lang="ru-RU" b="1" err="1"/>
              <a:t>Scatter</a:t>
            </a:r>
            <a:r>
              <a:rPr lang="ru-RU" b="1"/>
              <a:t> </a:t>
            </a:r>
            <a:r>
              <a:rPr lang="ru-RU" b="1" err="1"/>
              <a:t>Plot</a:t>
            </a:r>
            <a:r>
              <a:rPr lang="ru-RU" b="1"/>
              <a:t> &amp; </a:t>
            </a:r>
            <a:r>
              <a:rPr lang="ru-RU" b="1" err="1"/>
              <a:t>Correlation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53A1F2-2DF6-BB68-E826-FA2392FBB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6291"/>
            <a:ext cx="10515600" cy="4680672"/>
          </a:xfrm>
        </p:spPr>
        <p:txBody>
          <a:bodyPr numCol="2">
            <a:normAutofit fontScale="77500" lnSpcReduction="20000"/>
          </a:bodyPr>
          <a:lstStyle/>
          <a:p>
            <a:pPr marL="0" indent="0">
              <a:buNone/>
            </a:pPr>
            <a:r>
              <a:rPr lang="ru-RU" err="1"/>
              <a:t>import</a:t>
            </a:r>
            <a:r>
              <a:rPr lang="ru-RU"/>
              <a:t> </a:t>
            </a:r>
            <a:r>
              <a:rPr lang="ru-RU" err="1"/>
              <a:t>pandas</a:t>
            </a:r>
            <a:r>
              <a:rPr lang="ru-RU"/>
              <a:t> </a:t>
            </a:r>
            <a:r>
              <a:rPr lang="ru-RU" err="1"/>
              <a:t>as</a:t>
            </a:r>
            <a:r>
              <a:rPr lang="ru-RU"/>
              <a:t> </a:t>
            </a:r>
            <a:r>
              <a:rPr lang="ru-RU" err="1"/>
              <a:t>pd</a:t>
            </a:r>
            <a:endParaRPr lang="ru-RU"/>
          </a:p>
          <a:p>
            <a:pPr marL="0" indent="0">
              <a:buNone/>
            </a:pPr>
            <a:r>
              <a:rPr lang="ru-RU" err="1"/>
              <a:t>import</a:t>
            </a:r>
            <a:r>
              <a:rPr lang="ru-RU"/>
              <a:t> </a:t>
            </a:r>
            <a:r>
              <a:rPr lang="ru-RU" err="1"/>
              <a:t>numpy</a:t>
            </a:r>
            <a:r>
              <a:rPr lang="ru-RU"/>
              <a:t> </a:t>
            </a:r>
            <a:r>
              <a:rPr lang="ru-RU" err="1"/>
              <a:t>as</a:t>
            </a:r>
            <a:r>
              <a:rPr lang="ru-RU"/>
              <a:t> </a:t>
            </a:r>
            <a:r>
              <a:rPr lang="ru-RU" err="1"/>
              <a:t>np</a:t>
            </a:r>
            <a:endParaRPr lang="ru-RU"/>
          </a:p>
          <a:p>
            <a:pPr marL="0" indent="0">
              <a:buNone/>
            </a:pPr>
            <a:r>
              <a:rPr lang="ru-RU" err="1"/>
              <a:t>import</a:t>
            </a:r>
            <a:r>
              <a:rPr lang="ru-RU"/>
              <a:t> </a:t>
            </a:r>
            <a:r>
              <a:rPr lang="ru-RU" err="1"/>
              <a:t>matplotlib.pyplot</a:t>
            </a:r>
            <a:r>
              <a:rPr lang="ru-RU"/>
              <a:t> </a:t>
            </a:r>
            <a:r>
              <a:rPr lang="ru-RU" err="1"/>
              <a:t>as</a:t>
            </a:r>
            <a:r>
              <a:rPr lang="ru-RU"/>
              <a:t> </a:t>
            </a:r>
            <a:r>
              <a:rPr lang="ru-RU" err="1"/>
              <a:t>plt</a:t>
            </a:r>
            <a:endParaRPr lang="ru-RU"/>
          </a:p>
          <a:p>
            <a:pPr marL="0" indent="0">
              <a:buNone/>
            </a:pPr>
            <a:r>
              <a:rPr lang="ru-RU" err="1"/>
              <a:t>import</a:t>
            </a:r>
            <a:r>
              <a:rPr lang="ru-RU"/>
              <a:t> </a:t>
            </a:r>
            <a:r>
              <a:rPr lang="ru-RU" err="1"/>
              <a:t>seaborn</a:t>
            </a:r>
            <a:r>
              <a:rPr lang="ru-RU"/>
              <a:t> </a:t>
            </a:r>
            <a:r>
              <a:rPr lang="ru-RU" err="1"/>
              <a:t>as</a:t>
            </a:r>
            <a:r>
              <a:rPr lang="ru-RU"/>
              <a:t> </a:t>
            </a:r>
            <a:r>
              <a:rPr lang="ru-RU" err="1"/>
              <a:t>sns</a:t>
            </a:r>
            <a:endParaRPr lang="ru-RU"/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i="1"/>
              <a:t># </a:t>
            </a:r>
            <a:r>
              <a:rPr lang="ru-RU" i="1" err="1"/>
              <a:t>Sample</a:t>
            </a:r>
            <a:r>
              <a:rPr lang="ru-RU" i="1"/>
              <a:t> </a:t>
            </a:r>
            <a:r>
              <a:rPr lang="ru-RU" i="1" err="1"/>
              <a:t>data</a:t>
            </a:r>
            <a:endParaRPr lang="ru-RU"/>
          </a:p>
          <a:p>
            <a:pPr marL="0" indent="0">
              <a:buNone/>
            </a:pPr>
            <a:r>
              <a:rPr lang="ru-RU" err="1"/>
              <a:t>np.random.seed</a:t>
            </a:r>
            <a:r>
              <a:rPr lang="ru-RU"/>
              <a:t>(42)</a:t>
            </a:r>
          </a:p>
          <a:p>
            <a:pPr marL="0" indent="0">
              <a:buNone/>
            </a:pPr>
            <a:r>
              <a:rPr lang="ru-RU" err="1"/>
              <a:t>study_hours</a:t>
            </a:r>
            <a:r>
              <a:rPr lang="ru-RU"/>
              <a:t> = </a:t>
            </a:r>
            <a:r>
              <a:rPr lang="ru-RU" err="1"/>
              <a:t>np.random.normal</a:t>
            </a:r>
            <a:r>
              <a:rPr lang="ru-RU"/>
              <a:t>(5, 2, 100)</a:t>
            </a:r>
          </a:p>
          <a:p>
            <a:pPr marL="0" indent="0">
              <a:buNone/>
            </a:pPr>
            <a:r>
              <a:rPr lang="ru-RU" err="1"/>
              <a:t>exam_score</a:t>
            </a:r>
            <a:r>
              <a:rPr lang="ru-RU"/>
              <a:t> = 50 + 8*</a:t>
            </a:r>
            <a:r>
              <a:rPr lang="ru-RU" err="1"/>
              <a:t>study_hours</a:t>
            </a:r>
            <a:r>
              <a:rPr lang="ru-RU"/>
              <a:t> + </a:t>
            </a:r>
            <a:r>
              <a:rPr lang="ru-RU" err="1"/>
              <a:t>np.random.normal</a:t>
            </a:r>
            <a:r>
              <a:rPr lang="ru-RU"/>
              <a:t>(0, 10, 100)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err="1"/>
              <a:t>df</a:t>
            </a:r>
            <a:r>
              <a:rPr lang="ru-RU"/>
              <a:t> = </a:t>
            </a:r>
            <a:r>
              <a:rPr lang="ru-RU" err="1"/>
              <a:t>pd.DataFrame</a:t>
            </a:r>
            <a:r>
              <a:rPr lang="ru-RU"/>
              <a:t>({'</a:t>
            </a:r>
            <a:r>
              <a:rPr lang="ru-RU" err="1"/>
              <a:t>study_hours</a:t>
            </a:r>
            <a:r>
              <a:rPr lang="ru-RU"/>
              <a:t>': </a:t>
            </a:r>
            <a:r>
              <a:rPr lang="ru-RU" err="1"/>
              <a:t>study_hours</a:t>
            </a:r>
            <a:r>
              <a:rPr lang="ru-RU"/>
              <a:t>, '</a:t>
            </a:r>
            <a:r>
              <a:rPr lang="ru-RU" err="1"/>
              <a:t>exam_score</a:t>
            </a:r>
            <a:r>
              <a:rPr lang="ru-RU"/>
              <a:t>': </a:t>
            </a:r>
            <a:r>
              <a:rPr lang="ru-RU" err="1"/>
              <a:t>exam_score</a:t>
            </a:r>
            <a:r>
              <a:rPr lang="ru-RU"/>
              <a:t>})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i="1"/>
              <a:t># </a:t>
            </a:r>
            <a:r>
              <a:rPr lang="ru-RU" i="1" err="1"/>
              <a:t>Scatter</a:t>
            </a:r>
            <a:r>
              <a:rPr lang="ru-RU" i="1"/>
              <a:t> </a:t>
            </a:r>
            <a:r>
              <a:rPr lang="ru-RU" i="1" err="1"/>
              <a:t>plot</a:t>
            </a:r>
            <a:endParaRPr lang="ru-RU"/>
          </a:p>
          <a:p>
            <a:pPr marL="0" indent="0">
              <a:buNone/>
            </a:pPr>
            <a:r>
              <a:rPr lang="ru-RU" err="1"/>
              <a:t>plt.figure</a:t>
            </a:r>
            <a:r>
              <a:rPr lang="ru-RU"/>
              <a:t>(</a:t>
            </a:r>
            <a:r>
              <a:rPr lang="ru-RU" err="1"/>
              <a:t>figsize</a:t>
            </a:r>
            <a:r>
              <a:rPr lang="ru-RU"/>
              <a:t>=(8,5))</a:t>
            </a:r>
          </a:p>
          <a:p>
            <a:pPr marL="0" indent="0">
              <a:buNone/>
            </a:pPr>
            <a:r>
              <a:rPr lang="ru-RU" err="1"/>
              <a:t>sns.scatterplot</a:t>
            </a:r>
            <a:r>
              <a:rPr lang="ru-RU"/>
              <a:t>(x='</a:t>
            </a:r>
            <a:r>
              <a:rPr lang="ru-RU" err="1"/>
              <a:t>study_hours</a:t>
            </a:r>
            <a:r>
              <a:rPr lang="ru-RU"/>
              <a:t>', y='</a:t>
            </a:r>
            <a:r>
              <a:rPr lang="ru-RU" err="1"/>
              <a:t>exam_score</a:t>
            </a:r>
            <a:r>
              <a:rPr lang="ru-RU"/>
              <a:t>', </a:t>
            </a:r>
            <a:r>
              <a:rPr lang="ru-RU" err="1"/>
              <a:t>data</a:t>
            </a:r>
            <a:r>
              <a:rPr lang="ru-RU"/>
              <a:t>=</a:t>
            </a:r>
            <a:r>
              <a:rPr lang="ru-RU" err="1"/>
              <a:t>df</a:t>
            </a:r>
            <a:r>
              <a:rPr lang="ru-RU"/>
              <a:t>)</a:t>
            </a:r>
          </a:p>
          <a:p>
            <a:pPr marL="0" indent="0">
              <a:buNone/>
            </a:pPr>
            <a:r>
              <a:rPr lang="ru-RU" err="1"/>
              <a:t>plt.title</a:t>
            </a:r>
            <a:r>
              <a:rPr lang="ru-RU"/>
              <a:t>('Study </a:t>
            </a:r>
            <a:r>
              <a:rPr lang="ru-RU" err="1"/>
              <a:t>Hours</a:t>
            </a:r>
            <a:r>
              <a:rPr lang="ru-RU"/>
              <a:t> </a:t>
            </a:r>
            <a:r>
              <a:rPr lang="ru-RU" err="1"/>
              <a:t>vs</a:t>
            </a:r>
            <a:r>
              <a:rPr lang="ru-RU"/>
              <a:t> </a:t>
            </a:r>
            <a:r>
              <a:rPr lang="ru-RU" err="1"/>
              <a:t>Exam</a:t>
            </a:r>
            <a:r>
              <a:rPr lang="ru-RU"/>
              <a:t> </a:t>
            </a:r>
            <a:r>
              <a:rPr lang="ru-RU" err="1"/>
              <a:t>Score</a:t>
            </a:r>
            <a:r>
              <a:rPr lang="ru-RU"/>
              <a:t>')</a:t>
            </a:r>
          </a:p>
          <a:p>
            <a:pPr marL="0" indent="0">
              <a:buNone/>
            </a:pPr>
            <a:r>
              <a:rPr lang="ru-RU" err="1"/>
              <a:t>plt.show</a:t>
            </a:r>
            <a:r>
              <a:rPr lang="ru-RU"/>
              <a:t>()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i="1"/>
              <a:t># </a:t>
            </a:r>
            <a:r>
              <a:rPr lang="ru-RU" i="1" err="1"/>
              <a:t>Correlation</a:t>
            </a:r>
            <a:endParaRPr lang="ru-RU"/>
          </a:p>
          <a:p>
            <a:pPr marL="0" indent="0">
              <a:buNone/>
            </a:pPr>
            <a:r>
              <a:rPr lang="ru-RU"/>
              <a:t>r = </a:t>
            </a:r>
            <a:r>
              <a:rPr lang="ru-RU" err="1"/>
              <a:t>df</a:t>
            </a:r>
            <a:r>
              <a:rPr lang="ru-RU"/>
              <a:t>['</a:t>
            </a:r>
            <a:r>
              <a:rPr lang="ru-RU" err="1"/>
              <a:t>study_hours</a:t>
            </a:r>
            <a:r>
              <a:rPr lang="ru-RU"/>
              <a:t>'].</a:t>
            </a:r>
            <a:r>
              <a:rPr lang="ru-RU" err="1"/>
              <a:t>corr</a:t>
            </a:r>
            <a:r>
              <a:rPr lang="ru-RU"/>
              <a:t>(</a:t>
            </a:r>
            <a:r>
              <a:rPr lang="ru-RU" err="1"/>
              <a:t>df</a:t>
            </a:r>
            <a:r>
              <a:rPr lang="ru-RU"/>
              <a:t>['</a:t>
            </a:r>
            <a:r>
              <a:rPr lang="ru-RU" err="1"/>
              <a:t>exam_score</a:t>
            </a:r>
            <a:r>
              <a:rPr lang="ru-RU"/>
              <a:t>'])</a:t>
            </a:r>
          </a:p>
          <a:p>
            <a:pPr marL="0" indent="0">
              <a:buNone/>
            </a:pPr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f"Pearson</a:t>
            </a:r>
            <a:r>
              <a:rPr lang="ru-RU"/>
              <a:t> r = {r:.3f}")</a:t>
            </a:r>
          </a:p>
        </p:txBody>
      </p:sp>
    </p:spTree>
    <p:extLst>
      <p:ext uri="{BB962C8B-B14F-4D97-AF65-F5344CB8AC3E}">
        <p14:creationId xmlns:p14="http://schemas.microsoft.com/office/powerpoint/2010/main" val="3912386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913AF9-0FDD-D54A-10F7-7E2487408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0948"/>
          </a:xfrm>
        </p:spPr>
        <p:txBody>
          <a:bodyPr/>
          <a:lstStyle/>
          <a:p>
            <a:r>
              <a:rPr lang="ru-RU" b="1" err="1"/>
              <a:t>Correlation</a:t>
            </a:r>
            <a:r>
              <a:rPr lang="ru-RU" b="1"/>
              <a:t> ≠ </a:t>
            </a:r>
            <a:r>
              <a:rPr lang="ru-RU" b="1" err="1"/>
              <a:t>Causation</a:t>
            </a:r>
            <a:r>
              <a:rPr lang="ru-RU" b="1"/>
              <a:t> – The Golden </a:t>
            </a:r>
            <a:r>
              <a:rPr lang="ru-RU" b="1" err="1"/>
              <a:t>Rule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68A22A-08D5-432A-E021-C92D3BE17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6074"/>
            <a:ext cx="10515600" cy="5040889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/>
              <a:t>JUST BECAUSE TWO VARIABLES ARE CORRELATED</a:t>
            </a:r>
          </a:p>
          <a:p>
            <a:pPr marL="0" indent="0">
              <a:buNone/>
            </a:pPr>
            <a:r>
              <a:rPr lang="ru-RU"/>
              <a:t>DOES NOT MEAN ONE CAUSES THE OTHER!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/>
              <a:t>Classic </a:t>
            </a:r>
            <a:r>
              <a:rPr lang="ru-RU" err="1"/>
              <a:t>examples</a:t>
            </a:r>
            <a:r>
              <a:rPr lang="ru-RU"/>
              <a:t>:</a:t>
            </a:r>
          </a:p>
          <a:p>
            <a:pPr marL="0" indent="0">
              <a:buNone/>
            </a:pPr>
            <a:r>
              <a:rPr lang="ru-RU"/>
              <a:t>• Ice </a:t>
            </a:r>
            <a:r>
              <a:rPr lang="ru-RU" err="1"/>
              <a:t>cream</a:t>
            </a:r>
            <a:r>
              <a:rPr lang="ru-RU"/>
              <a:t> </a:t>
            </a:r>
            <a:r>
              <a:rPr lang="ru-RU" err="1"/>
              <a:t>sales</a:t>
            </a:r>
            <a:r>
              <a:rPr lang="ru-RU"/>
              <a:t> </a:t>
            </a:r>
            <a:r>
              <a:rPr lang="ru-RU" err="1"/>
              <a:t>and</a:t>
            </a:r>
            <a:r>
              <a:rPr lang="ru-RU"/>
              <a:t> </a:t>
            </a:r>
            <a:r>
              <a:rPr lang="ru-RU" err="1"/>
              <a:t>drowning</a:t>
            </a:r>
            <a:r>
              <a:rPr lang="ru-RU"/>
              <a:t> </a:t>
            </a:r>
            <a:r>
              <a:rPr lang="ru-RU" err="1"/>
              <a:t>incidents</a:t>
            </a:r>
            <a:r>
              <a:rPr lang="ru-RU"/>
              <a:t> </a:t>
            </a:r>
            <a:r>
              <a:rPr lang="ru-RU" err="1"/>
              <a:t>are</a:t>
            </a:r>
            <a:r>
              <a:rPr lang="ru-RU"/>
              <a:t> </a:t>
            </a:r>
            <a:r>
              <a:rPr lang="ru-RU" err="1"/>
              <a:t>correlated</a:t>
            </a:r>
            <a:endParaRPr lang="ru-RU"/>
          </a:p>
          <a:p>
            <a:pPr marL="0" indent="0">
              <a:buNone/>
            </a:pPr>
            <a:r>
              <a:rPr lang="ru-RU"/>
              <a:t>  → </a:t>
            </a:r>
            <a:r>
              <a:rPr lang="ru-RU" err="1"/>
              <a:t>Both</a:t>
            </a:r>
            <a:r>
              <a:rPr lang="ru-RU"/>
              <a:t> </a:t>
            </a:r>
            <a:r>
              <a:rPr lang="ru-RU" err="1"/>
              <a:t>increase</a:t>
            </a:r>
            <a:r>
              <a:rPr lang="ru-RU"/>
              <a:t> </a:t>
            </a:r>
            <a:r>
              <a:rPr lang="ru-RU" err="1"/>
              <a:t>in</a:t>
            </a:r>
            <a:r>
              <a:rPr lang="ru-RU"/>
              <a:t> </a:t>
            </a:r>
            <a:r>
              <a:rPr lang="ru-RU" err="1"/>
              <a:t>summer</a:t>
            </a:r>
            <a:r>
              <a:rPr lang="ru-RU"/>
              <a:t> (</a:t>
            </a:r>
            <a:r>
              <a:rPr lang="ru-RU" err="1"/>
              <a:t>confounder</a:t>
            </a:r>
            <a:r>
              <a:rPr lang="ru-RU"/>
              <a:t> = </a:t>
            </a:r>
            <a:r>
              <a:rPr lang="ru-RU" err="1"/>
              <a:t>temperature</a:t>
            </a:r>
            <a:r>
              <a:rPr lang="ru-RU"/>
              <a:t>)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/>
              <a:t>• Number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firefighters</a:t>
            </a:r>
            <a:r>
              <a:rPr lang="ru-RU"/>
              <a:t> </a:t>
            </a:r>
            <a:r>
              <a:rPr lang="ru-RU" err="1"/>
              <a:t>at</a:t>
            </a:r>
            <a:r>
              <a:rPr lang="ru-RU"/>
              <a:t> a </a:t>
            </a:r>
            <a:r>
              <a:rPr lang="ru-RU" err="1"/>
              <a:t>fire</a:t>
            </a:r>
            <a:r>
              <a:rPr lang="ru-RU"/>
              <a:t> </a:t>
            </a:r>
            <a:r>
              <a:rPr lang="ru-RU" err="1"/>
              <a:t>and</a:t>
            </a:r>
            <a:r>
              <a:rPr lang="ru-RU"/>
              <a:t> </a:t>
            </a:r>
            <a:r>
              <a:rPr lang="ru-RU" err="1"/>
              <a:t>damage</a:t>
            </a:r>
            <a:r>
              <a:rPr lang="ru-RU"/>
              <a:t> </a:t>
            </a:r>
            <a:r>
              <a:rPr lang="ru-RU" err="1"/>
              <a:t>amount</a:t>
            </a:r>
            <a:endParaRPr lang="ru-RU"/>
          </a:p>
          <a:p>
            <a:pPr marL="0" indent="0">
              <a:buNone/>
            </a:pPr>
            <a:r>
              <a:rPr lang="ru-RU"/>
              <a:t>  → More </a:t>
            </a:r>
            <a:r>
              <a:rPr lang="ru-RU" err="1"/>
              <a:t>firefighters</a:t>
            </a:r>
            <a:r>
              <a:rPr lang="ru-RU"/>
              <a:t> = </a:t>
            </a:r>
            <a:r>
              <a:rPr lang="ru-RU" err="1"/>
              <a:t>more</a:t>
            </a:r>
            <a:r>
              <a:rPr lang="ru-RU"/>
              <a:t> </a:t>
            </a:r>
            <a:r>
              <a:rPr lang="ru-RU" err="1"/>
              <a:t>damage</a:t>
            </a:r>
            <a:r>
              <a:rPr lang="ru-RU"/>
              <a:t>? No, </a:t>
            </a:r>
            <a:r>
              <a:rPr lang="ru-RU" err="1"/>
              <a:t>bigger</a:t>
            </a:r>
            <a:r>
              <a:rPr lang="ru-RU"/>
              <a:t> </a:t>
            </a:r>
            <a:r>
              <a:rPr lang="ru-RU" err="1"/>
              <a:t>fires</a:t>
            </a:r>
            <a:r>
              <a:rPr lang="ru-RU"/>
              <a:t> </a:t>
            </a:r>
            <a:r>
              <a:rPr lang="ru-RU" err="1"/>
              <a:t>need</a:t>
            </a:r>
            <a:r>
              <a:rPr lang="ru-RU"/>
              <a:t> </a:t>
            </a:r>
            <a:r>
              <a:rPr lang="ru-RU" err="1"/>
              <a:t>more</a:t>
            </a:r>
            <a:r>
              <a:rPr lang="ru-RU"/>
              <a:t> </a:t>
            </a:r>
            <a:r>
              <a:rPr lang="ru-RU" err="1"/>
              <a:t>firefighters</a:t>
            </a:r>
            <a:r>
              <a:rPr lang="ru-RU"/>
              <a:t>.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/>
              <a:t>• </a:t>
            </a:r>
            <a:r>
              <a:rPr lang="ru-RU" err="1"/>
              <a:t>Shoe</a:t>
            </a:r>
            <a:r>
              <a:rPr lang="ru-RU"/>
              <a:t> </a:t>
            </a:r>
            <a:r>
              <a:rPr lang="ru-RU" err="1"/>
              <a:t>size</a:t>
            </a:r>
            <a:r>
              <a:rPr lang="ru-RU"/>
              <a:t> </a:t>
            </a:r>
            <a:r>
              <a:rPr lang="ru-RU" err="1"/>
              <a:t>and</a:t>
            </a:r>
            <a:r>
              <a:rPr lang="ru-RU"/>
              <a:t> </a:t>
            </a:r>
            <a:r>
              <a:rPr lang="ru-RU" err="1"/>
              <a:t>reading</a:t>
            </a:r>
            <a:r>
              <a:rPr lang="ru-RU"/>
              <a:t> </a:t>
            </a:r>
            <a:r>
              <a:rPr lang="ru-RU" err="1"/>
              <a:t>ability</a:t>
            </a:r>
            <a:r>
              <a:rPr lang="ru-RU"/>
              <a:t> </a:t>
            </a:r>
            <a:r>
              <a:rPr lang="ru-RU" err="1"/>
              <a:t>in</a:t>
            </a:r>
            <a:r>
              <a:rPr lang="ru-RU"/>
              <a:t> </a:t>
            </a:r>
            <a:r>
              <a:rPr lang="ru-RU" err="1"/>
              <a:t>children</a:t>
            </a:r>
            <a:endParaRPr lang="ru-RU"/>
          </a:p>
          <a:p>
            <a:pPr marL="0" indent="0">
              <a:buNone/>
            </a:pPr>
            <a:r>
              <a:rPr lang="ru-RU"/>
              <a:t>  → </a:t>
            </a:r>
            <a:r>
              <a:rPr lang="ru-RU" err="1"/>
              <a:t>Both</a:t>
            </a:r>
            <a:r>
              <a:rPr lang="ru-RU"/>
              <a:t> </a:t>
            </a:r>
            <a:r>
              <a:rPr lang="ru-RU" err="1"/>
              <a:t>increase</a:t>
            </a:r>
            <a:r>
              <a:rPr lang="ru-RU"/>
              <a:t> </a:t>
            </a:r>
            <a:r>
              <a:rPr lang="ru-RU" err="1"/>
              <a:t>with</a:t>
            </a:r>
            <a:r>
              <a:rPr lang="ru-RU"/>
              <a:t> </a:t>
            </a:r>
            <a:r>
              <a:rPr lang="ru-RU" err="1"/>
              <a:t>age</a:t>
            </a:r>
            <a:r>
              <a:rPr lang="ru-RU"/>
              <a:t> (</a:t>
            </a:r>
            <a:r>
              <a:rPr lang="ru-RU" err="1"/>
              <a:t>confounder</a:t>
            </a:r>
            <a:r>
              <a:rPr lang="ru-RU"/>
              <a:t> = </a:t>
            </a:r>
            <a:r>
              <a:rPr lang="ru-RU" err="1"/>
              <a:t>age</a:t>
            </a:r>
            <a:r>
              <a:rPr lang="ru-RU"/>
              <a:t>)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449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7EA0CF-248E-0B63-6021-0349A924F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0946"/>
            <a:ext cx="10515600" cy="900545"/>
          </a:xfrm>
        </p:spPr>
        <p:txBody>
          <a:bodyPr>
            <a:normAutofit fontScale="90000"/>
          </a:bodyPr>
          <a:lstStyle/>
          <a:p>
            <a:r>
              <a:rPr lang="ru-RU" b="1" err="1"/>
              <a:t>Spearman</a:t>
            </a:r>
            <a:r>
              <a:rPr lang="ru-RU" b="1"/>
              <a:t> </a:t>
            </a:r>
            <a:r>
              <a:rPr lang="ru-RU" b="1" err="1"/>
              <a:t>Rank</a:t>
            </a:r>
            <a:r>
              <a:rPr lang="ru-RU" b="1"/>
              <a:t> </a:t>
            </a:r>
            <a:r>
              <a:rPr lang="ru-RU" b="1" err="1"/>
              <a:t>Correlation</a:t>
            </a:r>
            <a:r>
              <a:rPr lang="ru-RU" b="1"/>
              <a:t> – For Non‑</a:t>
            </a:r>
            <a:r>
              <a:rPr lang="ru-RU" b="1" err="1"/>
              <a:t>linear</a:t>
            </a:r>
            <a:r>
              <a:rPr lang="ru-RU" b="1"/>
              <a:t> </a:t>
            </a:r>
            <a:r>
              <a:rPr lang="ru-RU" b="1" err="1"/>
              <a:t>Relationships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8E9760-BA8F-D38A-0627-B7B94C293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9310"/>
            <a:ext cx="10515600" cy="477765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/>
              <a:t>PEARSON: </a:t>
            </a:r>
            <a:r>
              <a:rPr lang="ru-RU" err="1"/>
              <a:t>measures</a:t>
            </a:r>
            <a:r>
              <a:rPr lang="ru-RU"/>
              <a:t> LINEAR </a:t>
            </a:r>
            <a:r>
              <a:rPr lang="ru-RU" err="1"/>
              <a:t>relationship</a:t>
            </a:r>
            <a:endParaRPr lang="ru-RU"/>
          </a:p>
          <a:p>
            <a:pPr marL="0" indent="0">
              <a:buNone/>
            </a:pPr>
            <a:r>
              <a:rPr lang="ru-RU"/>
              <a:t>SPEARMAN: </a:t>
            </a:r>
            <a:r>
              <a:rPr lang="ru-RU" err="1"/>
              <a:t>measures</a:t>
            </a:r>
            <a:r>
              <a:rPr lang="ru-RU"/>
              <a:t> MONOTONIC </a:t>
            </a:r>
            <a:r>
              <a:rPr lang="ru-RU" err="1"/>
              <a:t>relationship</a:t>
            </a:r>
            <a:endParaRPr lang="ru-RU"/>
          </a:p>
          <a:p>
            <a:pPr marL="0" indent="0">
              <a:buNone/>
            </a:pPr>
            <a:r>
              <a:rPr lang="ru-RU"/>
              <a:t>           (</a:t>
            </a:r>
            <a:r>
              <a:rPr lang="ru-RU" err="1"/>
              <a:t>if</a:t>
            </a:r>
            <a:r>
              <a:rPr lang="ru-RU"/>
              <a:t> </a:t>
            </a:r>
            <a:r>
              <a:rPr lang="ru-RU" err="1"/>
              <a:t>one</a:t>
            </a:r>
            <a:r>
              <a:rPr lang="ru-RU"/>
              <a:t> </a:t>
            </a:r>
            <a:r>
              <a:rPr lang="ru-RU" err="1"/>
              <a:t>variable</a:t>
            </a:r>
            <a:r>
              <a:rPr lang="ru-RU"/>
              <a:t> </a:t>
            </a:r>
            <a:r>
              <a:rPr lang="ru-RU" err="1"/>
              <a:t>increases</a:t>
            </a:r>
            <a:r>
              <a:rPr lang="ru-RU"/>
              <a:t>, </a:t>
            </a:r>
            <a:r>
              <a:rPr lang="ru-RU" err="1"/>
              <a:t>the</a:t>
            </a:r>
            <a:r>
              <a:rPr lang="ru-RU"/>
              <a:t> </a:t>
            </a:r>
            <a:r>
              <a:rPr lang="ru-RU" err="1"/>
              <a:t>other</a:t>
            </a:r>
            <a:r>
              <a:rPr lang="ru-RU"/>
              <a:t> </a:t>
            </a:r>
            <a:r>
              <a:rPr lang="ru-RU" err="1"/>
              <a:t>tends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increase</a:t>
            </a:r>
            <a:r>
              <a:rPr lang="ru-RU"/>
              <a:t>,</a:t>
            </a:r>
          </a:p>
          <a:p>
            <a:pPr marL="0" indent="0">
              <a:buNone/>
            </a:pPr>
            <a:r>
              <a:rPr lang="ru-RU"/>
              <a:t>            </a:t>
            </a:r>
            <a:r>
              <a:rPr lang="ru-RU" err="1"/>
              <a:t>but</a:t>
            </a:r>
            <a:r>
              <a:rPr lang="ru-RU"/>
              <a:t> </a:t>
            </a:r>
            <a:r>
              <a:rPr lang="ru-RU" err="1"/>
              <a:t>not</a:t>
            </a:r>
            <a:r>
              <a:rPr lang="ru-RU"/>
              <a:t> </a:t>
            </a:r>
            <a:r>
              <a:rPr lang="ru-RU" err="1"/>
              <a:t>necessarily</a:t>
            </a:r>
            <a:r>
              <a:rPr lang="ru-RU"/>
              <a:t> </a:t>
            </a:r>
            <a:r>
              <a:rPr lang="ru-RU" err="1"/>
              <a:t>at</a:t>
            </a:r>
            <a:r>
              <a:rPr lang="ru-RU"/>
              <a:t> a </a:t>
            </a:r>
            <a:r>
              <a:rPr lang="ru-RU" err="1"/>
              <a:t>constant</a:t>
            </a:r>
            <a:r>
              <a:rPr lang="ru-RU"/>
              <a:t> </a:t>
            </a:r>
            <a:r>
              <a:rPr lang="ru-RU" err="1"/>
              <a:t>rate</a:t>
            </a:r>
            <a:r>
              <a:rPr lang="ru-RU"/>
              <a:t>)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/>
              <a:t>• Based </a:t>
            </a:r>
            <a:r>
              <a:rPr lang="ru-RU" err="1"/>
              <a:t>on</a:t>
            </a:r>
            <a:r>
              <a:rPr lang="ru-RU"/>
              <a:t> </a:t>
            </a:r>
            <a:r>
              <a:rPr lang="ru-RU" err="1"/>
              <a:t>ranks</a:t>
            </a:r>
            <a:r>
              <a:rPr lang="ru-RU"/>
              <a:t>, </a:t>
            </a:r>
            <a:r>
              <a:rPr lang="ru-RU" err="1"/>
              <a:t>not</a:t>
            </a:r>
            <a:r>
              <a:rPr lang="ru-RU"/>
              <a:t> </a:t>
            </a:r>
            <a:r>
              <a:rPr lang="ru-RU" err="1"/>
              <a:t>actual</a:t>
            </a:r>
            <a:r>
              <a:rPr lang="ru-RU"/>
              <a:t> </a:t>
            </a:r>
            <a:r>
              <a:rPr lang="ru-RU" err="1"/>
              <a:t>values</a:t>
            </a:r>
            <a:endParaRPr lang="ru-RU"/>
          </a:p>
          <a:p>
            <a:pPr marL="0" indent="0">
              <a:buNone/>
            </a:pPr>
            <a:r>
              <a:rPr lang="ru-RU"/>
              <a:t>• </a:t>
            </a:r>
            <a:r>
              <a:rPr lang="ru-RU" err="1"/>
              <a:t>Less</a:t>
            </a:r>
            <a:r>
              <a:rPr lang="ru-RU"/>
              <a:t> </a:t>
            </a:r>
            <a:r>
              <a:rPr lang="ru-RU" err="1"/>
              <a:t>sensitive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outliers</a:t>
            </a:r>
            <a:endParaRPr lang="ru-RU"/>
          </a:p>
          <a:p>
            <a:pPr marL="0" indent="0">
              <a:buNone/>
            </a:pPr>
            <a:r>
              <a:rPr lang="ru-RU"/>
              <a:t>• </a:t>
            </a:r>
            <a:r>
              <a:rPr lang="ru-RU" err="1"/>
              <a:t>Use</a:t>
            </a:r>
            <a:r>
              <a:rPr lang="ru-RU"/>
              <a:t> </a:t>
            </a:r>
            <a:r>
              <a:rPr lang="ru-RU" err="1"/>
              <a:t>when</a:t>
            </a:r>
            <a:r>
              <a:rPr lang="ru-RU"/>
              <a:t> </a:t>
            </a:r>
            <a:r>
              <a:rPr lang="ru-RU" err="1"/>
              <a:t>data</a:t>
            </a:r>
            <a:r>
              <a:rPr lang="ru-RU"/>
              <a:t> 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not</a:t>
            </a:r>
            <a:r>
              <a:rPr lang="ru-RU"/>
              <a:t> </a:t>
            </a:r>
            <a:r>
              <a:rPr lang="ru-RU" err="1"/>
              <a:t>normal</a:t>
            </a:r>
            <a:r>
              <a:rPr lang="ru-RU"/>
              <a:t> </a:t>
            </a:r>
            <a:r>
              <a:rPr lang="ru-RU" err="1"/>
              <a:t>or</a:t>
            </a:r>
            <a:r>
              <a:rPr lang="ru-RU"/>
              <a:t> </a:t>
            </a:r>
            <a:r>
              <a:rPr lang="ru-RU" err="1"/>
              <a:t>relationship</a:t>
            </a:r>
            <a:r>
              <a:rPr lang="ru-RU"/>
              <a:t> 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curved</a:t>
            </a:r>
            <a:r>
              <a:rPr lang="ru-RU"/>
              <a:t> </a:t>
            </a:r>
            <a:r>
              <a:rPr lang="ru-RU" err="1"/>
              <a:t>but</a:t>
            </a:r>
            <a:r>
              <a:rPr lang="ru-RU"/>
              <a:t> </a:t>
            </a:r>
            <a:r>
              <a:rPr lang="ru-RU" err="1"/>
              <a:t>still</a:t>
            </a:r>
            <a:r>
              <a:rPr lang="ru-RU"/>
              <a:t> </a:t>
            </a:r>
            <a:r>
              <a:rPr lang="ru-RU" err="1"/>
              <a:t>monotonic</a:t>
            </a:r>
            <a:endParaRPr lang="ru-RU"/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err="1"/>
              <a:t>Example</a:t>
            </a:r>
            <a:r>
              <a:rPr lang="ru-RU"/>
              <a:t>: </a:t>
            </a:r>
            <a:r>
              <a:rPr lang="ru-RU" err="1"/>
              <a:t>Age</a:t>
            </a:r>
            <a:r>
              <a:rPr lang="ru-RU"/>
              <a:t> </a:t>
            </a:r>
            <a:r>
              <a:rPr lang="ru-RU" err="1"/>
              <a:t>vs</a:t>
            </a:r>
            <a:r>
              <a:rPr lang="ru-RU"/>
              <a:t>. </a:t>
            </a:r>
            <a:r>
              <a:rPr lang="ru-RU" err="1"/>
              <a:t>flexibility</a:t>
            </a:r>
            <a:r>
              <a:rPr lang="ru-RU"/>
              <a:t> (</a:t>
            </a:r>
            <a:r>
              <a:rPr lang="ru-RU" err="1"/>
              <a:t>decreases</a:t>
            </a:r>
            <a:r>
              <a:rPr lang="ru-RU"/>
              <a:t> </a:t>
            </a:r>
            <a:r>
              <a:rPr lang="ru-RU" err="1"/>
              <a:t>with</a:t>
            </a:r>
            <a:r>
              <a:rPr lang="ru-RU"/>
              <a:t> </a:t>
            </a:r>
            <a:r>
              <a:rPr lang="ru-RU" err="1"/>
              <a:t>age</a:t>
            </a:r>
            <a:r>
              <a:rPr lang="ru-RU"/>
              <a:t>, </a:t>
            </a:r>
            <a:r>
              <a:rPr lang="ru-RU" err="1"/>
              <a:t>but</a:t>
            </a:r>
            <a:r>
              <a:rPr lang="ru-RU"/>
              <a:t> </a:t>
            </a:r>
            <a:r>
              <a:rPr lang="ru-RU" err="1"/>
              <a:t>not</a:t>
            </a:r>
            <a:r>
              <a:rPr lang="ru-RU"/>
              <a:t> </a:t>
            </a:r>
            <a:r>
              <a:rPr lang="ru-RU" err="1"/>
              <a:t>linearly</a:t>
            </a:r>
            <a:r>
              <a:rPr lang="ru-RU"/>
              <a:t>)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2300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1446D2-F015-D3B2-F759-6C3B4834E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802"/>
          </a:xfrm>
        </p:spPr>
        <p:txBody>
          <a:bodyPr/>
          <a:lstStyle/>
          <a:p>
            <a:r>
              <a:rPr lang="ru-RU" b="1"/>
              <a:t>Python – </a:t>
            </a:r>
            <a:r>
              <a:rPr lang="ru-RU" b="1" err="1"/>
              <a:t>Spearman</a:t>
            </a:r>
            <a:r>
              <a:rPr lang="ru-RU" b="1"/>
              <a:t> </a:t>
            </a:r>
            <a:r>
              <a:rPr lang="ru-RU" b="1" err="1"/>
              <a:t>Correlation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F1FE8F-2776-CD0E-A5FB-609706C1E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6182"/>
            <a:ext cx="10515600" cy="4860781"/>
          </a:xfrm>
        </p:spPr>
        <p:txBody>
          <a:bodyPr/>
          <a:lstStyle/>
          <a:p>
            <a:r>
              <a:rPr lang="ru-RU" i="1"/>
              <a:t># </a:t>
            </a:r>
            <a:r>
              <a:rPr lang="ru-RU" i="1" err="1"/>
              <a:t>Spearman</a:t>
            </a:r>
            <a:r>
              <a:rPr lang="ru-RU" i="1"/>
              <a:t> </a:t>
            </a:r>
            <a:r>
              <a:rPr lang="ru-RU" i="1" err="1"/>
              <a:t>correlation</a:t>
            </a:r>
            <a:endParaRPr lang="ru-RU"/>
          </a:p>
          <a:p>
            <a:r>
              <a:rPr lang="ru-RU" err="1"/>
              <a:t>r_spearman</a:t>
            </a:r>
            <a:r>
              <a:rPr lang="ru-RU"/>
              <a:t> = </a:t>
            </a:r>
            <a:r>
              <a:rPr lang="ru-RU" err="1"/>
              <a:t>df</a:t>
            </a:r>
            <a:r>
              <a:rPr lang="ru-RU"/>
              <a:t>['</a:t>
            </a:r>
            <a:r>
              <a:rPr lang="ru-RU" err="1"/>
              <a:t>study_hours</a:t>
            </a:r>
            <a:r>
              <a:rPr lang="ru-RU"/>
              <a:t>'].</a:t>
            </a:r>
            <a:r>
              <a:rPr lang="ru-RU" err="1"/>
              <a:t>corr</a:t>
            </a:r>
            <a:r>
              <a:rPr lang="ru-RU"/>
              <a:t>(</a:t>
            </a:r>
            <a:r>
              <a:rPr lang="ru-RU" err="1"/>
              <a:t>df</a:t>
            </a:r>
            <a:r>
              <a:rPr lang="ru-RU"/>
              <a:t>['</a:t>
            </a:r>
            <a:r>
              <a:rPr lang="ru-RU" err="1"/>
              <a:t>exam_score</a:t>
            </a:r>
            <a:r>
              <a:rPr lang="ru-RU"/>
              <a:t>'], </a:t>
            </a:r>
            <a:r>
              <a:rPr lang="ru-RU" err="1"/>
              <a:t>method</a:t>
            </a:r>
            <a:r>
              <a:rPr lang="ru-RU"/>
              <a:t>='</a:t>
            </a:r>
            <a:r>
              <a:rPr lang="ru-RU" err="1"/>
              <a:t>spearman</a:t>
            </a:r>
            <a:r>
              <a:rPr lang="ru-RU"/>
              <a:t>')</a:t>
            </a:r>
          </a:p>
          <a:p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f"Spearman</a:t>
            </a:r>
            <a:r>
              <a:rPr lang="ru-RU"/>
              <a:t> r = {r_spearman:.3f}")</a:t>
            </a:r>
          </a:p>
          <a:p>
            <a:r>
              <a:rPr lang="ru-RU"/>
              <a:t> </a:t>
            </a:r>
          </a:p>
          <a:p>
            <a:r>
              <a:rPr lang="ru-RU" i="1"/>
              <a:t># </a:t>
            </a:r>
            <a:r>
              <a:rPr lang="ru-RU" i="1" err="1"/>
              <a:t>Compare</a:t>
            </a:r>
            <a:r>
              <a:rPr lang="ru-RU" i="1"/>
              <a:t> </a:t>
            </a:r>
            <a:r>
              <a:rPr lang="ru-RU" i="1" err="1"/>
              <a:t>with</a:t>
            </a:r>
            <a:r>
              <a:rPr lang="ru-RU" i="1"/>
              <a:t> </a:t>
            </a:r>
            <a:r>
              <a:rPr lang="ru-RU" i="1" err="1"/>
              <a:t>Pearson</a:t>
            </a:r>
            <a:endParaRPr lang="ru-RU"/>
          </a:p>
          <a:p>
            <a:r>
              <a:rPr lang="ru-RU" i="1"/>
              <a:t># </a:t>
            </a:r>
            <a:r>
              <a:rPr lang="ru-RU" i="1" err="1"/>
              <a:t>If</a:t>
            </a:r>
            <a:r>
              <a:rPr lang="ru-RU" i="1"/>
              <a:t> </a:t>
            </a:r>
            <a:r>
              <a:rPr lang="ru-RU" i="1" err="1"/>
              <a:t>relationship</a:t>
            </a:r>
            <a:r>
              <a:rPr lang="ru-RU" i="1"/>
              <a:t> </a:t>
            </a:r>
            <a:r>
              <a:rPr lang="ru-RU" i="1" err="1"/>
              <a:t>is</a:t>
            </a:r>
            <a:r>
              <a:rPr lang="ru-RU" i="1"/>
              <a:t> </a:t>
            </a:r>
            <a:r>
              <a:rPr lang="ru-RU" i="1" err="1"/>
              <a:t>linear</a:t>
            </a:r>
            <a:r>
              <a:rPr lang="ru-RU" i="1"/>
              <a:t>, </a:t>
            </a:r>
            <a:r>
              <a:rPr lang="ru-RU" i="1" err="1"/>
              <a:t>they'll</a:t>
            </a:r>
            <a:r>
              <a:rPr lang="ru-RU" i="1"/>
              <a:t> </a:t>
            </a:r>
            <a:r>
              <a:rPr lang="ru-RU" i="1" err="1"/>
              <a:t>be</a:t>
            </a:r>
            <a:r>
              <a:rPr lang="ru-RU" i="1"/>
              <a:t> </a:t>
            </a:r>
            <a:r>
              <a:rPr lang="ru-RU" i="1" err="1"/>
              <a:t>similar</a:t>
            </a:r>
            <a:r>
              <a:rPr lang="ru-RU" i="1"/>
              <a:t>.</a:t>
            </a:r>
            <a:endParaRPr lang="ru-RU"/>
          </a:p>
          <a:p>
            <a:r>
              <a:rPr lang="ru-RU" i="1"/>
              <a:t># </a:t>
            </a:r>
            <a:r>
              <a:rPr lang="ru-RU" i="1" err="1"/>
              <a:t>If</a:t>
            </a:r>
            <a:r>
              <a:rPr lang="ru-RU" i="1"/>
              <a:t> </a:t>
            </a:r>
            <a:r>
              <a:rPr lang="ru-RU" i="1" err="1"/>
              <a:t>non‑linear</a:t>
            </a:r>
            <a:r>
              <a:rPr lang="ru-RU" i="1"/>
              <a:t> </a:t>
            </a:r>
            <a:r>
              <a:rPr lang="ru-RU" i="1" err="1"/>
              <a:t>monotonic</a:t>
            </a:r>
            <a:r>
              <a:rPr lang="ru-RU" i="1"/>
              <a:t>, </a:t>
            </a:r>
            <a:r>
              <a:rPr lang="ru-RU" i="1" err="1"/>
              <a:t>Spearman</a:t>
            </a:r>
            <a:r>
              <a:rPr lang="ru-RU" i="1"/>
              <a:t> </a:t>
            </a:r>
            <a:r>
              <a:rPr lang="ru-RU" i="1" err="1"/>
              <a:t>may</a:t>
            </a:r>
            <a:r>
              <a:rPr lang="ru-RU" i="1"/>
              <a:t> </a:t>
            </a:r>
            <a:r>
              <a:rPr lang="ru-RU" i="1" err="1"/>
              <a:t>be</a:t>
            </a:r>
            <a:r>
              <a:rPr lang="ru-RU" i="1"/>
              <a:t> </a:t>
            </a:r>
            <a:r>
              <a:rPr lang="ru-RU" i="1" err="1"/>
              <a:t>higher</a:t>
            </a:r>
            <a:r>
              <a:rPr lang="ru-RU" i="1"/>
              <a:t>.</a:t>
            </a:r>
            <a:endParaRPr lang="ru-RU"/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2209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895192-6E21-AD27-3F93-FB4B80594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802"/>
          </a:xfrm>
        </p:spPr>
        <p:txBody>
          <a:bodyPr/>
          <a:lstStyle/>
          <a:p>
            <a:r>
              <a:rPr lang="ru-RU" b="1"/>
              <a:t>Python – </a:t>
            </a:r>
            <a:r>
              <a:rPr lang="ru-RU" b="1" err="1"/>
              <a:t>Correlation</a:t>
            </a:r>
            <a:r>
              <a:rPr lang="ru-RU" b="1"/>
              <a:t> Matrix &amp; </a:t>
            </a:r>
            <a:r>
              <a:rPr lang="ru-RU" b="1" err="1"/>
              <a:t>Heatmap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87BFF1-364A-71F7-A9B1-65FB3313D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0036"/>
            <a:ext cx="10515600" cy="484692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i="1"/>
              <a:t># </a:t>
            </a:r>
            <a:r>
              <a:rPr lang="ru-RU" i="1" err="1"/>
              <a:t>Add</a:t>
            </a:r>
            <a:r>
              <a:rPr lang="ru-RU" i="1"/>
              <a:t> </a:t>
            </a:r>
            <a:r>
              <a:rPr lang="ru-RU" i="1" err="1"/>
              <a:t>another</a:t>
            </a:r>
            <a:r>
              <a:rPr lang="ru-RU" i="1"/>
              <a:t> </a:t>
            </a:r>
            <a:r>
              <a:rPr lang="ru-RU" i="1" err="1"/>
              <a:t>variable</a:t>
            </a:r>
            <a:endParaRPr lang="ru-RU"/>
          </a:p>
          <a:p>
            <a:pPr marL="0" indent="0">
              <a:buNone/>
            </a:pPr>
            <a:r>
              <a:rPr lang="ru-RU" err="1"/>
              <a:t>sleep_hours</a:t>
            </a:r>
            <a:r>
              <a:rPr lang="ru-RU"/>
              <a:t> = </a:t>
            </a:r>
            <a:r>
              <a:rPr lang="ru-RU" err="1"/>
              <a:t>np.random.normal</a:t>
            </a:r>
            <a:r>
              <a:rPr lang="ru-RU"/>
              <a:t>(7, 1.5, 100)</a:t>
            </a:r>
          </a:p>
          <a:p>
            <a:pPr marL="0" indent="0">
              <a:buNone/>
            </a:pPr>
            <a:r>
              <a:rPr lang="ru-RU" err="1"/>
              <a:t>df</a:t>
            </a:r>
            <a:r>
              <a:rPr lang="ru-RU"/>
              <a:t>['</a:t>
            </a:r>
            <a:r>
              <a:rPr lang="ru-RU" err="1"/>
              <a:t>sleep_hours</a:t>
            </a:r>
            <a:r>
              <a:rPr lang="ru-RU"/>
              <a:t>'] = </a:t>
            </a:r>
            <a:r>
              <a:rPr lang="ru-RU" err="1"/>
              <a:t>sleep_hours</a:t>
            </a:r>
            <a:endParaRPr lang="ru-RU"/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i="1"/>
              <a:t># </a:t>
            </a:r>
            <a:r>
              <a:rPr lang="ru-RU" i="1" err="1"/>
              <a:t>Correlation</a:t>
            </a:r>
            <a:r>
              <a:rPr lang="ru-RU" i="1"/>
              <a:t> </a:t>
            </a:r>
            <a:r>
              <a:rPr lang="ru-RU" i="1" err="1"/>
              <a:t>matrix</a:t>
            </a:r>
            <a:endParaRPr lang="ru-RU"/>
          </a:p>
          <a:p>
            <a:pPr marL="0" indent="0">
              <a:buNone/>
            </a:pPr>
            <a:r>
              <a:rPr lang="ru-RU" err="1"/>
              <a:t>corr_matrix</a:t>
            </a:r>
            <a:r>
              <a:rPr lang="ru-RU"/>
              <a:t> = </a:t>
            </a:r>
            <a:r>
              <a:rPr lang="ru-RU" err="1"/>
              <a:t>df.corr</a:t>
            </a:r>
            <a:r>
              <a:rPr lang="ru-RU"/>
              <a:t>()</a:t>
            </a:r>
          </a:p>
          <a:p>
            <a:pPr marL="0" indent="0">
              <a:buNone/>
            </a:pPr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corr_matrix</a:t>
            </a:r>
            <a:r>
              <a:rPr lang="ru-RU"/>
              <a:t>)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i="1"/>
              <a:t># </a:t>
            </a:r>
            <a:r>
              <a:rPr lang="ru-RU" i="1" err="1"/>
              <a:t>Heatmap</a:t>
            </a:r>
            <a:endParaRPr lang="ru-RU"/>
          </a:p>
          <a:p>
            <a:pPr marL="0" indent="0">
              <a:buNone/>
            </a:pPr>
            <a:r>
              <a:rPr lang="ru-RU" err="1"/>
              <a:t>plt.figure</a:t>
            </a:r>
            <a:r>
              <a:rPr lang="ru-RU"/>
              <a:t>(</a:t>
            </a:r>
            <a:r>
              <a:rPr lang="ru-RU" err="1"/>
              <a:t>figsize</a:t>
            </a:r>
            <a:r>
              <a:rPr lang="ru-RU"/>
              <a:t>=(8,6))</a:t>
            </a:r>
          </a:p>
          <a:p>
            <a:pPr marL="0" indent="0">
              <a:buNone/>
            </a:pPr>
            <a:r>
              <a:rPr lang="ru-RU" err="1"/>
              <a:t>sns.heatmap</a:t>
            </a:r>
            <a:r>
              <a:rPr lang="ru-RU"/>
              <a:t>(</a:t>
            </a:r>
            <a:r>
              <a:rPr lang="ru-RU" err="1"/>
              <a:t>corr_matrix</a:t>
            </a:r>
            <a:r>
              <a:rPr lang="ru-RU"/>
              <a:t>, </a:t>
            </a:r>
            <a:r>
              <a:rPr lang="ru-RU" err="1"/>
              <a:t>annot</a:t>
            </a:r>
            <a:r>
              <a:rPr lang="ru-RU"/>
              <a:t>=True, </a:t>
            </a:r>
            <a:r>
              <a:rPr lang="ru-RU" err="1"/>
              <a:t>cmap</a:t>
            </a:r>
            <a:r>
              <a:rPr lang="ru-RU"/>
              <a:t>='</a:t>
            </a:r>
            <a:r>
              <a:rPr lang="ru-RU" err="1"/>
              <a:t>coolwarm</a:t>
            </a:r>
            <a:r>
              <a:rPr lang="ru-RU"/>
              <a:t>', </a:t>
            </a:r>
            <a:r>
              <a:rPr lang="ru-RU" err="1"/>
              <a:t>center</a:t>
            </a:r>
            <a:r>
              <a:rPr lang="ru-RU"/>
              <a:t>=0)</a:t>
            </a:r>
          </a:p>
          <a:p>
            <a:pPr marL="0" indent="0">
              <a:buNone/>
            </a:pPr>
            <a:r>
              <a:rPr lang="ru-RU" err="1"/>
              <a:t>plt.title</a:t>
            </a:r>
            <a:r>
              <a:rPr lang="ru-RU"/>
              <a:t>('</a:t>
            </a:r>
            <a:r>
              <a:rPr lang="ru-RU" err="1"/>
              <a:t>Correlation</a:t>
            </a:r>
            <a:r>
              <a:rPr lang="ru-RU"/>
              <a:t> Matrix </a:t>
            </a:r>
            <a:r>
              <a:rPr lang="ru-RU" err="1"/>
              <a:t>Heatmap</a:t>
            </a:r>
            <a:r>
              <a:rPr lang="ru-RU"/>
              <a:t>')</a:t>
            </a:r>
          </a:p>
          <a:p>
            <a:pPr marL="0" indent="0">
              <a:buNone/>
            </a:pPr>
            <a:r>
              <a:rPr lang="ru-RU" err="1"/>
              <a:t>plt.show</a:t>
            </a:r>
            <a:r>
              <a:rPr lang="ru-RU"/>
              <a:t>()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6510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403069-79E0-F8DA-9963-092CB591B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/>
          <a:lstStyle/>
          <a:p>
            <a:r>
              <a:rPr lang="ru-RU" b="1"/>
              <a:t>From </a:t>
            </a:r>
            <a:r>
              <a:rPr lang="ru-RU" b="1" err="1"/>
              <a:t>Correlation</a:t>
            </a:r>
            <a:r>
              <a:rPr lang="ru-RU" b="1"/>
              <a:t> </a:t>
            </a:r>
            <a:r>
              <a:rPr lang="ru-RU" b="1" err="1"/>
              <a:t>to</a:t>
            </a:r>
            <a:r>
              <a:rPr lang="ru-RU" b="1"/>
              <a:t> </a:t>
            </a:r>
            <a:r>
              <a:rPr lang="ru-RU" b="1" err="1"/>
              <a:t>Prediction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1487EF-3714-C3DD-983E-C31461A4E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91"/>
            <a:ext cx="10515600" cy="4833072"/>
          </a:xfrm>
        </p:spPr>
        <p:txBody>
          <a:bodyPr/>
          <a:lstStyle/>
          <a:p>
            <a:pPr marL="0" indent="0">
              <a:buNone/>
            </a:pPr>
            <a:r>
              <a:rPr lang="ru-RU" err="1"/>
              <a:t>Correlation</a:t>
            </a:r>
            <a:r>
              <a:rPr lang="ru-RU"/>
              <a:t> </a:t>
            </a:r>
            <a:r>
              <a:rPr lang="ru-RU" err="1"/>
              <a:t>tells</a:t>
            </a:r>
            <a:r>
              <a:rPr lang="ru-RU"/>
              <a:t> </a:t>
            </a:r>
            <a:r>
              <a:rPr lang="ru-RU" err="1"/>
              <a:t>us</a:t>
            </a:r>
            <a:r>
              <a:rPr lang="ru-RU"/>
              <a:t> IF </a:t>
            </a:r>
            <a:r>
              <a:rPr lang="ru-RU" err="1"/>
              <a:t>two</a:t>
            </a:r>
            <a:r>
              <a:rPr lang="ru-RU"/>
              <a:t> </a:t>
            </a:r>
            <a:r>
              <a:rPr lang="ru-RU" err="1"/>
              <a:t>variables</a:t>
            </a:r>
            <a:r>
              <a:rPr lang="ru-RU"/>
              <a:t> </a:t>
            </a:r>
            <a:r>
              <a:rPr lang="ru-RU" err="1"/>
              <a:t>are</a:t>
            </a:r>
            <a:r>
              <a:rPr lang="ru-RU"/>
              <a:t> </a:t>
            </a:r>
            <a:r>
              <a:rPr lang="ru-RU" err="1"/>
              <a:t>related</a:t>
            </a:r>
            <a:r>
              <a:rPr lang="ru-RU"/>
              <a:t>.</a:t>
            </a:r>
          </a:p>
          <a:p>
            <a:pPr marL="0" indent="0">
              <a:buNone/>
            </a:pPr>
            <a:r>
              <a:rPr lang="ru-RU" err="1"/>
              <a:t>Regression</a:t>
            </a:r>
            <a:r>
              <a:rPr lang="ru-RU"/>
              <a:t> </a:t>
            </a:r>
            <a:r>
              <a:rPr lang="ru-RU" err="1"/>
              <a:t>tells</a:t>
            </a:r>
            <a:r>
              <a:rPr lang="ru-RU"/>
              <a:t> </a:t>
            </a:r>
            <a:r>
              <a:rPr lang="ru-RU" err="1"/>
              <a:t>us</a:t>
            </a:r>
            <a:r>
              <a:rPr lang="ru-RU"/>
              <a:t> HOW </a:t>
            </a:r>
            <a:r>
              <a:rPr lang="ru-RU" err="1"/>
              <a:t>we</a:t>
            </a:r>
            <a:r>
              <a:rPr lang="ru-RU"/>
              <a:t> </a:t>
            </a:r>
            <a:r>
              <a:rPr lang="ru-RU" err="1"/>
              <a:t>can</a:t>
            </a:r>
            <a:r>
              <a:rPr lang="ru-RU"/>
              <a:t> PREDICT </a:t>
            </a:r>
            <a:r>
              <a:rPr lang="ru-RU" err="1"/>
              <a:t>one</a:t>
            </a:r>
            <a:r>
              <a:rPr lang="ru-RU"/>
              <a:t> </a:t>
            </a:r>
            <a:r>
              <a:rPr lang="ru-RU" err="1"/>
              <a:t>from</a:t>
            </a:r>
            <a:r>
              <a:rPr lang="ru-RU"/>
              <a:t> </a:t>
            </a:r>
            <a:r>
              <a:rPr lang="ru-RU" err="1"/>
              <a:t>the</a:t>
            </a:r>
            <a:r>
              <a:rPr lang="ru-RU"/>
              <a:t> </a:t>
            </a:r>
            <a:r>
              <a:rPr lang="ru-RU" err="1"/>
              <a:t>other</a:t>
            </a:r>
            <a:r>
              <a:rPr lang="ru-RU"/>
              <a:t>.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err="1"/>
              <a:t>Example</a:t>
            </a:r>
            <a:r>
              <a:rPr lang="ru-RU"/>
              <a:t>:</a:t>
            </a:r>
          </a:p>
          <a:p>
            <a:pPr marL="0" indent="0">
              <a:buNone/>
            </a:pPr>
            <a:r>
              <a:rPr lang="ru-RU"/>
              <a:t>• </a:t>
            </a:r>
            <a:r>
              <a:rPr lang="ru-RU" err="1"/>
              <a:t>Correlation</a:t>
            </a:r>
            <a:r>
              <a:rPr lang="ru-RU"/>
              <a:t>: </a:t>
            </a:r>
            <a:r>
              <a:rPr lang="ru-RU" err="1"/>
              <a:t>study</a:t>
            </a:r>
            <a:r>
              <a:rPr lang="ru-RU"/>
              <a:t> </a:t>
            </a:r>
            <a:r>
              <a:rPr lang="ru-RU" err="1"/>
              <a:t>hours</a:t>
            </a:r>
            <a:r>
              <a:rPr lang="ru-RU"/>
              <a:t> </a:t>
            </a:r>
            <a:r>
              <a:rPr lang="ru-RU" err="1"/>
              <a:t>and</a:t>
            </a:r>
            <a:r>
              <a:rPr lang="ru-RU"/>
              <a:t> </a:t>
            </a:r>
            <a:r>
              <a:rPr lang="ru-RU" err="1"/>
              <a:t>exam</a:t>
            </a:r>
            <a:r>
              <a:rPr lang="ru-RU"/>
              <a:t> </a:t>
            </a:r>
            <a:r>
              <a:rPr lang="ru-RU" err="1"/>
              <a:t>scores</a:t>
            </a:r>
            <a:r>
              <a:rPr lang="ru-RU"/>
              <a:t> </a:t>
            </a:r>
            <a:r>
              <a:rPr lang="ru-RU" err="1"/>
              <a:t>are</a:t>
            </a:r>
            <a:r>
              <a:rPr lang="ru-RU"/>
              <a:t> </a:t>
            </a:r>
            <a:r>
              <a:rPr lang="ru-RU" err="1"/>
              <a:t>positively</a:t>
            </a:r>
            <a:r>
              <a:rPr lang="ru-RU"/>
              <a:t> </a:t>
            </a:r>
            <a:r>
              <a:rPr lang="ru-RU" err="1"/>
              <a:t>correlated</a:t>
            </a:r>
            <a:r>
              <a:rPr lang="ru-RU"/>
              <a:t>.</a:t>
            </a:r>
          </a:p>
          <a:p>
            <a:pPr marL="0" indent="0">
              <a:buNone/>
            </a:pPr>
            <a:r>
              <a:rPr lang="ru-RU"/>
              <a:t>• </a:t>
            </a:r>
            <a:r>
              <a:rPr lang="ru-RU" err="1"/>
              <a:t>Regression</a:t>
            </a:r>
            <a:r>
              <a:rPr lang="ru-RU"/>
              <a:t>: For </a:t>
            </a:r>
            <a:r>
              <a:rPr lang="ru-RU" err="1"/>
              <a:t>every</a:t>
            </a:r>
            <a:r>
              <a:rPr lang="ru-RU"/>
              <a:t> </a:t>
            </a:r>
            <a:r>
              <a:rPr lang="ru-RU" err="1"/>
              <a:t>extra</a:t>
            </a:r>
            <a:r>
              <a:rPr lang="ru-RU"/>
              <a:t> </a:t>
            </a:r>
            <a:r>
              <a:rPr lang="ru-RU" err="1"/>
              <a:t>hour</a:t>
            </a:r>
            <a:r>
              <a:rPr lang="ru-RU"/>
              <a:t> </a:t>
            </a:r>
            <a:r>
              <a:rPr lang="ru-RU" err="1"/>
              <a:t>studied</a:t>
            </a:r>
            <a:r>
              <a:rPr lang="ru-RU"/>
              <a:t>, </a:t>
            </a:r>
            <a:r>
              <a:rPr lang="ru-RU" err="1"/>
              <a:t>score</a:t>
            </a:r>
            <a:r>
              <a:rPr lang="ru-RU"/>
              <a:t> </a:t>
            </a:r>
            <a:r>
              <a:rPr lang="ru-RU" err="1"/>
              <a:t>increases</a:t>
            </a:r>
            <a:r>
              <a:rPr lang="ru-RU"/>
              <a:t> </a:t>
            </a:r>
            <a:r>
              <a:rPr lang="ru-RU" err="1"/>
              <a:t>by</a:t>
            </a:r>
            <a:r>
              <a:rPr lang="ru-RU"/>
              <a:t> </a:t>
            </a:r>
            <a:r>
              <a:rPr lang="ru-RU" err="1"/>
              <a:t>about</a:t>
            </a:r>
            <a:r>
              <a:rPr lang="ru-RU"/>
              <a:t> 8 </a:t>
            </a:r>
            <a:r>
              <a:rPr lang="ru-RU" err="1"/>
              <a:t>points</a:t>
            </a:r>
            <a:r>
              <a:rPr lang="ru-RU"/>
              <a:t>.</a:t>
            </a:r>
          </a:p>
          <a:p>
            <a:pPr marL="0" indent="0">
              <a:buNone/>
            </a:pPr>
            <a:r>
              <a:rPr lang="ru-RU"/>
              <a:t>  → </a:t>
            </a:r>
            <a:r>
              <a:rPr lang="ru-RU" err="1"/>
              <a:t>Can</a:t>
            </a:r>
            <a:r>
              <a:rPr lang="ru-RU"/>
              <a:t> </a:t>
            </a:r>
            <a:r>
              <a:rPr lang="ru-RU" err="1"/>
              <a:t>predict</a:t>
            </a:r>
            <a:r>
              <a:rPr lang="ru-RU"/>
              <a:t> </a:t>
            </a:r>
            <a:r>
              <a:rPr lang="ru-RU" err="1"/>
              <a:t>score</a:t>
            </a:r>
            <a:r>
              <a:rPr lang="ru-RU"/>
              <a:t> </a:t>
            </a:r>
            <a:r>
              <a:rPr lang="ru-RU" err="1"/>
              <a:t>for</a:t>
            </a:r>
            <a:r>
              <a:rPr lang="ru-RU"/>
              <a:t> a </a:t>
            </a:r>
            <a:r>
              <a:rPr lang="ru-RU" err="1"/>
              <a:t>given</a:t>
            </a:r>
            <a:r>
              <a:rPr lang="ru-RU"/>
              <a:t> </a:t>
            </a:r>
            <a:r>
              <a:rPr lang="ru-RU" err="1"/>
              <a:t>study</a:t>
            </a:r>
            <a:r>
              <a:rPr lang="ru-RU"/>
              <a:t> </a:t>
            </a:r>
            <a:r>
              <a:rPr lang="ru-RU" err="1"/>
              <a:t>time</a:t>
            </a:r>
            <a:r>
              <a:rPr lang="ru-RU"/>
              <a:t>.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7106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5086C9-0B6F-4E5A-659F-B1BAA48E0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0948"/>
          </a:xfrm>
        </p:spPr>
        <p:txBody>
          <a:bodyPr/>
          <a:lstStyle/>
          <a:p>
            <a:r>
              <a:rPr lang="ru-RU" b="1"/>
              <a:t>The Simple </a:t>
            </a:r>
            <a:r>
              <a:rPr lang="ru-RU" b="1" err="1"/>
              <a:t>Linear</a:t>
            </a:r>
            <a:r>
              <a:rPr lang="ru-RU" b="1"/>
              <a:t> </a:t>
            </a:r>
            <a:r>
              <a:rPr lang="ru-RU" b="1" err="1"/>
              <a:t>Regression</a:t>
            </a:r>
            <a:r>
              <a:rPr lang="ru-RU" b="1"/>
              <a:t> Model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E2DCB3-7DE5-88FB-BEC8-36A99ACA7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2436"/>
            <a:ext cx="10515600" cy="469452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/>
              <a:t>We </a:t>
            </a:r>
            <a:r>
              <a:rPr lang="ru-RU" err="1"/>
              <a:t>model</a:t>
            </a:r>
            <a:r>
              <a:rPr lang="ru-RU"/>
              <a:t> </a:t>
            </a:r>
            <a:r>
              <a:rPr lang="ru-RU" err="1"/>
              <a:t>the</a:t>
            </a:r>
            <a:r>
              <a:rPr lang="ru-RU"/>
              <a:t> </a:t>
            </a:r>
            <a:r>
              <a:rPr lang="ru-RU" err="1"/>
              <a:t>relationship</a:t>
            </a:r>
            <a:r>
              <a:rPr lang="ru-RU"/>
              <a:t> </a:t>
            </a:r>
            <a:r>
              <a:rPr lang="ru-RU" err="1"/>
              <a:t>as</a:t>
            </a:r>
            <a:r>
              <a:rPr lang="ru-RU"/>
              <a:t> a </a:t>
            </a:r>
            <a:r>
              <a:rPr lang="ru-RU" err="1"/>
              <a:t>straight</a:t>
            </a:r>
            <a:r>
              <a:rPr lang="ru-RU"/>
              <a:t> </a:t>
            </a:r>
            <a:r>
              <a:rPr lang="ru-RU" err="1"/>
              <a:t>line</a:t>
            </a:r>
            <a:r>
              <a:rPr lang="ru-RU"/>
              <a:t>: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/>
              <a:t>y = β₀ + β₁ x + ε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err="1"/>
              <a:t>Where</a:t>
            </a:r>
            <a:r>
              <a:rPr lang="ru-RU"/>
              <a:t>:</a:t>
            </a:r>
          </a:p>
          <a:p>
            <a:pPr marL="0" indent="0">
              <a:buNone/>
            </a:pPr>
            <a:r>
              <a:rPr lang="ru-RU"/>
              <a:t>• y = </a:t>
            </a:r>
            <a:r>
              <a:rPr lang="ru-RU" err="1"/>
              <a:t>dependent</a:t>
            </a:r>
            <a:r>
              <a:rPr lang="ru-RU"/>
              <a:t> </a:t>
            </a:r>
            <a:r>
              <a:rPr lang="ru-RU" err="1"/>
              <a:t>variable</a:t>
            </a:r>
            <a:r>
              <a:rPr lang="ru-RU"/>
              <a:t> (</a:t>
            </a:r>
            <a:r>
              <a:rPr lang="ru-RU" err="1"/>
              <a:t>what</a:t>
            </a:r>
            <a:r>
              <a:rPr lang="ru-RU"/>
              <a:t> </a:t>
            </a:r>
            <a:r>
              <a:rPr lang="ru-RU" err="1"/>
              <a:t>we</a:t>
            </a:r>
            <a:r>
              <a:rPr lang="ru-RU"/>
              <a:t> </a:t>
            </a:r>
            <a:r>
              <a:rPr lang="ru-RU" err="1"/>
              <a:t>predict</a:t>
            </a:r>
            <a:r>
              <a:rPr lang="ru-RU"/>
              <a:t>)</a:t>
            </a:r>
          </a:p>
          <a:p>
            <a:pPr marL="0" indent="0">
              <a:buNone/>
            </a:pPr>
            <a:r>
              <a:rPr lang="ru-RU"/>
              <a:t>• x = </a:t>
            </a:r>
            <a:r>
              <a:rPr lang="ru-RU" err="1"/>
              <a:t>independent</a:t>
            </a:r>
            <a:r>
              <a:rPr lang="ru-RU"/>
              <a:t> </a:t>
            </a:r>
            <a:r>
              <a:rPr lang="ru-RU" err="1"/>
              <a:t>variable</a:t>
            </a:r>
            <a:r>
              <a:rPr lang="ru-RU"/>
              <a:t> (</a:t>
            </a:r>
            <a:r>
              <a:rPr lang="ru-RU" err="1"/>
              <a:t>predictor</a:t>
            </a:r>
            <a:r>
              <a:rPr lang="ru-RU"/>
              <a:t>)</a:t>
            </a:r>
          </a:p>
          <a:p>
            <a:pPr marL="0" indent="0">
              <a:buNone/>
            </a:pPr>
            <a:r>
              <a:rPr lang="ru-RU"/>
              <a:t>• β₀ = </a:t>
            </a:r>
            <a:r>
              <a:rPr lang="ru-RU" err="1"/>
              <a:t>intercept</a:t>
            </a:r>
            <a:r>
              <a:rPr lang="ru-RU"/>
              <a:t> (</a:t>
            </a:r>
            <a:r>
              <a:rPr lang="ru-RU" err="1"/>
              <a:t>value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y </a:t>
            </a:r>
            <a:r>
              <a:rPr lang="ru-RU" err="1"/>
              <a:t>when</a:t>
            </a:r>
            <a:r>
              <a:rPr lang="ru-RU"/>
              <a:t> x = 0)</a:t>
            </a:r>
          </a:p>
          <a:p>
            <a:pPr marL="0" indent="0">
              <a:buNone/>
            </a:pPr>
            <a:r>
              <a:rPr lang="ru-RU"/>
              <a:t>• β₁ = </a:t>
            </a:r>
            <a:r>
              <a:rPr lang="ru-RU" err="1"/>
              <a:t>slope</a:t>
            </a:r>
            <a:r>
              <a:rPr lang="ru-RU"/>
              <a:t> (</a:t>
            </a:r>
            <a:r>
              <a:rPr lang="ru-RU" err="1"/>
              <a:t>change</a:t>
            </a:r>
            <a:r>
              <a:rPr lang="ru-RU"/>
              <a:t> </a:t>
            </a:r>
            <a:r>
              <a:rPr lang="ru-RU" err="1"/>
              <a:t>in</a:t>
            </a:r>
            <a:r>
              <a:rPr lang="ru-RU"/>
              <a:t> y </a:t>
            </a:r>
            <a:r>
              <a:rPr lang="ru-RU" err="1"/>
              <a:t>per</a:t>
            </a:r>
            <a:r>
              <a:rPr lang="ru-RU"/>
              <a:t> 1‑unit </a:t>
            </a:r>
            <a:r>
              <a:rPr lang="ru-RU" err="1"/>
              <a:t>change</a:t>
            </a:r>
            <a:r>
              <a:rPr lang="ru-RU"/>
              <a:t> </a:t>
            </a:r>
            <a:r>
              <a:rPr lang="ru-RU" err="1"/>
              <a:t>in</a:t>
            </a:r>
            <a:r>
              <a:rPr lang="ru-RU"/>
              <a:t> x)</a:t>
            </a:r>
          </a:p>
          <a:p>
            <a:pPr marL="0" indent="0">
              <a:buNone/>
            </a:pPr>
            <a:r>
              <a:rPr lang="ru-RU"/>
              <a:t>• ε = </a:t>
            </a:r>
            <a:r>
              <a:rPr lang="ru-RU" err="1"/>
              <a:t>error</a:t>
            </a:r>
            <a:r>
              <a:rPr lang="ru-RU"/>
              <a:t> </a:t>
            </a:r>
            <a:r>
              <a:rPr lang="ru-RU" err="1"/>
              <a:t>term</a:t>
            </a:r>
            <a:r>
              <a:rPr lang="ru-RU"/>
              <a:t> (</a:t>
            </a:r>
            <a:r>
              <a:rPr lang="ru-RU" err="1"/>
              <a:t>what</a:t>
            </a:r>
            <a:r>
              <a:rPr lang="ru-RU"/>
              <a:t> </a:t>
            </a:r>
            <a:r>
              <a:rPr lang="ru-RU" err="1"/>
              <a:t>the</a:t>
            </a:r>
            <a:r>
              <a:rPr lang="ru-RU"/>
              <a:t> </a:t>
            </a:r>
            <a:r>
              <a:rPr lang="ru-RU" err="1"/>
              <a:t>line</a:t>
            </a:r>
            <a:r>
              <a:rPr lang="ru-RU"/>
              <a:t> </a:t>
            </a:r>
            <a:r>
              <a:rPr lang="ru-RU" err="1"/>
              <a:t>doesn't</a:t>
            </a:r>
            <a:r>
              <a:rPr lang="ru-RU"/>
              <a:t> </a:t>
            </a:r>
            <a:r>
              <a:rPr lang="ru-RU" err="1"/>
              <a:t>capture</a:t>
            </a:r>
            <a:r>
              <a:rPr lang="ru-RU"/>
              <a:t>)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/>
              <a:t>We </a:t>
            </a:r>
            <a:r>
              <a:rPr lang="ru-RU" err="1"/>
              <a:t>estimate</a:t>
            </a:r>
            <a:r>
              <a:rPr lang="ru-RU"/>
              <a:t> β₀ </a:t>
            </a:r>
            <a:r>
              <a:rPr lang="ru-RU" err="1"/>
              <a:t>and</a:t>
            </a:r>
            <a:r>
              <a:rPr lang="ru-RU"/>
              <a:t> β₁ </a:t>
            </a:r>
            <a:r>
              <a:rPr lang="ru-RU" err="1"/>
              <a:t>from</a:t>
            </a:r>
            <a:r>
              <a:rPr lang="ru-RU"/>
              <a:t> </a:t>
            </a:r>
            <a:r>
              <a:rPr lang="ru-RU" err="1"/>
              <a:t>data</a:t>
            </a:r>
            <a:r>
              <a:rPr lang="ru-RU"/>
              <a:t> →  ŷ = b₀ + b₁ x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08804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204643-3836-7DD1-4C7F-099BFB143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2511"/>
          </a:xfrm>
        </p:spPr>
        <p:txBody>
          <a:bodyPr/>
          <a:lstStyle/>
          <a:p>
            <a:r>
              <a:rPr lang="ru-RU" b="1" err="1"/>
              <a:t>Least</a:t>
            </a:r>
            <a:r>
              <a:rPr lang="ru-RU" b="1"/>
              <a:t> </a:t>
            </a:r>
            <a:r>
              <a:rPr lang="ru-RU" b="1" err="1"/>
              <a:t>Squares</a:t>
            </a:r>
            <a:r>
              <a:rPr lang="ru-RU" b="1"/>
              <a:t> – </a:t>
            </a:r>
            <a:r>
              <a:rPr lang="ru-RU" b="1" err="1"/>
              <a:t>Fitting</a:t>
            </a:r>
            <a:r>
              <a:rPr lang="ru-RU" b="1"/>
              <a:t> </a:t>
            </a:r>
            <a:r>
              <a:rPr lang="ru-RU" b="1" err="1"/>
              <a:t>the</a:t>
            </a:r>
            <a:r>
              <a:rPr lang="ru-RU" b="1"/>
              <a:t> Best Line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9D0A5E-968C-CCDE-40E2-8E93A5D85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3164"/>
            <a:ext cx="10515600" cy="476379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/>
              <a:t>The “</a:t>
            </a:r>
            <a:r>
              <a:rPr lang="ru-RU" err="1"/>
              <a:t>best</a:t>
            </a:r>
            <a:r>
              <a:rPr lang="ru-RU"/>
              <a:t>” </a:t>
            </a:r>
            <a:r>
              <a:rPr lang="ru-RU" err="1"/>
              <a:t>line</a:t>
            </a:r>
            <a:r>
              <a:rPr lang="ru-RU"/>
              <a:t> </a:t>
            </a:r>
            <a:r>
              <a:rPr lang="ru-RU" err="1"/>
              <a:t>minimizes</a:t>
            </a:r>
            <a:r>
              <a:rPr lang="ru-RU"/>
              <a:t> </a:t>
            </a:r>
            <a:r>
              <a:rPr lang="ru-RU" err="1"/>
              <a:t>the</a:t>
            </a:r>
            <a:r>
              <a:rPr lang="ru-RU"/>
              <a:t> </a:t>
            </a:r>
            <a:r>
              <a:rPr lang="ru-RU" err="1"/>
              <a:t>sum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squared</a:t>
            </a:r>
            <a:r>
              <a:rPr lang="ru-RU"/>
              <a:t> </a:t>
            </a:r>
            <a:r>
              <a:rPr lang="ru-RU" err="1"/>
              <a:t>errors</a:t>
            </a:r>
            <a:r>
              <a:rPr lang="ru-RU"/>
              <a:t> (SSE):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err="1"/>
              <a:t>minimize</a:t>
            </a:r>
            <a:r>
              <a:rPr lang="ru-RU"/>
              <a:t> Σ (yᵢ – ŷᵢ)²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/>
              <a:t>ŷᵢ = </a:t>
            </a:r>
            <a:r>
              <a:rPr lang="ru-RU" err="1"/>
              <a:t>predicted</a:t>
            </a:r>
            <a:r>
              <a:rPr lang="ru-RU"/>
              <a:t> </a:t>
            </a:r>
            <a:r>
              <a:rPr lang="ru-RU" err="1"/>
              <a:t>value</a:t>
            </a:r>
            <a:r>
              <a:rPr lang="ru-RU"/>
              <a:t> </a:t>
            </a:r>
            <a:r>
              <a:rPr lang="ru-RU" err="1"/>
              <a:t>from</a:t>
            </a:r>
            <a:r>
              <a:rPr lang="ru-RU"/>
              <a:t> </a:t>
            </a:r>
            <a:r>
              <a:rPr lang="ru-RU" err="1"/>
              <a:t>line</a:t>
            </a:r>
            <a:endParaRPr lang="ru-RU"/>
          </a:p>
          <a:p>
            <a:pPr marL="0" indent="0">
              <a:buNone/>
            </a:pPr>
            <a:r>
              <a:rPr lang="ru-RU"/>
              <a:t>yᵢ – ŷᵢ = </a:t>
            </a:r>
            <a:r>
              <a:rPr lang="ru-RU" err="1"/>
              <a:t>residual</a:t>
            </a:r>
            <a:r>
              <a:rPr lang="ru-RU"/>
              <a:t> (</a:t>
            </a:r>
            <a:r>
              <a:rPr lang="ru-RU" err="1"/>
              <a:t>error</a:t>
            </a:r>
            <a:r>
              <a:rPr lang="ru-RU"/>
              <a:t>)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err="1"/>
              <a:t>Why</a:t>
            </a:r>
            <a:r>
              <a:rPr lang="ru-RU"/>
              <a:t> </a:t>
            </a:r>
            <a:r>
              <a:rPr lang="ru-RU" err="1"/>
              <a:t>squares</a:t>
            </a:r>
            <a:r>
              <a:rPr lang="ru-RU"/>
              <a:t>?</a:t>
            </a:r>
          </a:p>
          <a:p>
            <a:pPr marL="0" indent="0">
              <a:buNone/>
            </a:pPr>
            <a:r>
              <a:rPr lang="ru-RU"/>
              <a:t>• </a:t>
            </a:r>
            <a:r>
              <a:rPr lang="ru-RU" err="1"/>
              <a:t>Penalizes</a:t>
            </a:r>
            <a:r>
              <a:rPr lang="ru-RU"/>
              <a:t> </a:t>
            </a:r>
            <a:r>
              <a:rPr lang="ru-RU" err="1"/>
              <a:t>large</a:t>
            </a:r>
            <a:r>
              <a:rPr lang="ru-RU"/>
              <a:t> </a:t>
            </a:r>
            <a:r>
              <a:rPr lang="ru-RU" err="1"/>
              <a:t>errors</a:t>
            </a:r>
            <a:r>
              <a:rPr lang="ru-RU"/>
              <a:t> </a:t>
            </a:r>
            <a:r>
              <a:rPr lang="ru-RU" err="1"/>
              <a:t>more</a:t>
            </a:r>
            <a:endParaRPr lang="ru-RU"/>
          </a:p>
          <a:p>
            <a:pPr marL="0" indent="0">
              <a:buNone/>
            </a:pPr>
            <a:r>
              <a:rPr lang="ru-RU"/>
              <a:t>• </a:t>
            </a:r>
            <a:r>
              <a:rPr lang="ru-RU" err="1"/>
              <a:t>Makes</a:t>
            </a:r>
            <a:r>
              <a:rPr lang="ru-RU"/>
              <a:t> </a:t>
            </a:r>
            <a:r>
              <a:rPr lang="ru-RU" err="1"/>
              <a:t>math</a:t>
            </a:r>
            <a:r>
              <a:rPr lang="ru-RU"/>
              <a:t> </a:t>
            </a:r>
            <a:r>
              <a:rPr lang="ru-RU" err="1"/>
              <a:t>work</a:t>
            </a:r>
            <a:r>
              <a:rPr lang="ru-RU"/>
              <a:t> </a:t>
            </a:r>
            <a:r>
              <a:rPr lang="ru-RU" err="1"/>
              <a:t>nicely</a:t>
            </a:r>
            <a:r>
              <a:rPr lang="ru-RU"/>
              <a:t> (</a:t>
            </a:r>
            <a:r>
              <a:rPr lang="ru-RU" err="1"/>
              <a:t>differentiable</a:t>
            </a:r>
            <a:r>
              <a:rPr lang="ru-RU"/>
              <a:t>)</a:t>
            </a:r>
          </a:p>
          <a:p>
            <a:pPr marL="0" indent="0">
              <a:buNone/>
            </a:pPr>
            <a:r>
              <a:rPr lang="ru-RU"/>
              <a:t>• </a:t>
            </a:r>
            <a:r>
              <a:rPr lang="ru-RU" err="1"/>
              <a:t>Same</a:t>
            </a:r>
            <a:r>
              <a:rPr lang="ru-RU"/>
              <a:t> </a:t>
            </a:r>
            <a:r>
              <a:rPr lang="ru-RU" err="1"/>
              <a:t>as</a:t>
            </a:r>
            <a:r>
              <a:rPr lang="ru-RU"/>
              <a:t> </a:t>
            </a:r>
            <a:r>
              <a:rPr lang="ru-RU" err="1"/>
              <a:t>maximum</a:t>
            </a:r>
            <a:r>
              <a:rPr lang="ru-RU"/>
              <a:t> </a:t>
            </a:r>
            <a:r>
              <a:rPr lang="ru-RU" err="1"/>
              <a:t>likelihood</a:t>
            </a:r>
            <a:r>
              <a:rPr lang="ru-RU"/>
              <a:t> </a:t>
            </a:r>
            <a:r>
              <a:rPr lang="ru-RU" err="1"/>
              <a:t>under</a:t>
            </a:r>
            <a:r>
              <a:rPr lang="ru-RU"/>
              <a:t> </a:t>
            </a:r>
            <a:r>
              <a:rPr lang="ru-RU" err="1"/>
              <a:t>normal</a:t>
            </a:r>
            <a:r>
              <a:rPr lang="ru-RU"/>
              <a:t> </a:t>
            </a:r>
            <a:r>
              <a:rPr lang="ru-RU" err="1"/>
              <a:t>errors</a:t>
            </a:r>
            <a:endParaRPr lang="ru-RU"/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7774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76400-65CF-3EAC-4AE6-65AE36A8C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802"/>
          </a:xfrm>
        </p:spPr>
        <p:txBody>
          <a:bodyPr/>
          <a:lstStyle/>
          <a:p>
            <a:r>
              <a:rPr lang="ru-RU" b="1" err="1"/>
              <a:t>Formulas</a:t>
            </a:r>
            <a:r>
              <a:rPr lang="ru-RU" b="1"/>
              <a:t> </a:t>
            </a:r>
            <a:r>
              <a:rPr lang="ru-RU" b="1" err="1"/>
              <a:t>for</a:t>
            </a:r>
            <a:r>
              <a:rPr lang="ru-RU" b="1"/>
              <a:t> </a:t>
            </a:r>
            <a:r>
              <a:rPr lang="ru-RU" b="1" err="1"/>
              <a:t>Slope</a:t>
            </a:r>
            <a:r>
              <a:rPr lang="ru-RU" b="1"/>
              <a:t> </a:t>
            </a:r>
            <a:r>
              <a:rPr lang="ru-RU" b="1" err="1"/>
              <a:t>and</a:t>
            </a:r>
            <a:r>
              <a:rPr lang="ru-RU" b="1"/>
              <a:t> </a:t>
            </a:r>
            <a:r>
              <a:rPr lang="ru-RU" b="1" err="1"/>
              <a:t>Intercept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AD2920-A587-1D39-20BB-365575651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582"/>
            <a:ext cx="10515600" cy="470838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/>
              <a:t>b₁ = r × (</a:t>
            </a:r>
            <a:r>
              <a:rPr lang="ru-RU" err="1"/>
              <a:t>s_y</a:t>
            </a:r>
            <a:r>
              <a:rPr lang="ru-RU"/>
              <a:t> / </a:t>
            </a:r>
            <a:r>
              <a:rPr lang="ru-RU" err="1"/>
              <a:t>s_x</a:t>
            </a:r>
            <a:r>
              <a:rPr lang="ru-RU"/>
              <a:t>)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/>
              <a:t>b₀ = ȳ – b₁ x̄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err="1"/>
              <a:t>Where</a:t>
            </a:r>
            <a:r>
              <a:rPr lang="ru-RU"/>
              <a:t>:</a:t>
            </a:r>
          </a:p>
          <a:p>
            <a:pPr marL="0" indent="0">
              <a:buNone/>
            </a:pPr>
            <a:r>
              <a:rPr lang="ru-RU"/>
              <a:t>• r = </a:t>
            </a:r>
            <a:r>
              <a:rPr lang="ru-RU" err="1"/>
              <a:t>Pearson</a:t>
            </a:r>
            <a:r>
              <a:rPr lang="ru-RU"/>
              <a:t> </a:t>
            </a:r>
            <a:r>
              <a:rPr lang="ru-RU" err="1"/>
              <a:t>correlation</a:t>
            </a:r>
            <a:endParaRPr lang="ru-RU"/>
          </a:p>
          <a:p>
            <a:pPr marL="0" indent="0">
              <a:buNone/>
            </a:pPr>
            <a:r>
              <a:rPr lang="ru-RU"/>
              <a:t>• </a:t>
            </a:r>
            <a:r>
              <a:rPr lang="ru-RU" err="1"/>
              <a:t>s_y</a:t>
            </a:r>
            <a:r>
              <a:rPr lang="ru-RU"/>
              <a:t>, </a:t>
            </a:r>
            <a:r>
              <a:rPr lang="ru-RU" err="1"/>
              <a:t>s_x</a:t>
            </a:r>
            <a:r>
              <a:rPr lang="ru-RU"/>
              <a:t> = </a:t>
            </a:r>
            <a:r>
              <a:rPr lang="ru-RU" err="1"/>
              <a:t>sample</a:t>
            </a:r>
            <a:r>
              <a:rPr lang="ru-RU"/>
              <a:t> </a:t>
            </a:r>
            <a:r>
              <a:rPr lang="ru-RU" err="1"/>
              <a:t>standard</a:t>
            </a:r>
            <a:r>
              <a:rPr lang="ru-RU"/>
              <a:t> </a:t>
            </a:r>
            <a:r>
              <a:rPr lang="ru-RU" err="1"/>
              <a:t>deviations</a:t>
            </a:r>
            <a:endParaRPr lang="ru-RU"/>
          </a:p>
          <a:p>
            <a:pPr marL="0" indent="0">
              <a:buNone/>
            </a:pPr>
            <a:r>
              <a:rPr lang="ru-RU"/>
              <a:t>• x̄, ȳ = </a:t>
            </a:r>
            <a:r>
              <a:rPr lang="ru-RU" err="1"/>
              <a:t>sample</a:t>
            </a:r>
            <a:r>
              <a:rPr lang="ru-RU"/>
              <a:t> </a:t>
            </a:r>
            <a:r>
              <a:rPr lang="ru-RU" err="1"/>
              <a:t>means</a:t>
            </a:r>
            <a:endParaRPr lang="ru-RU"/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err="1"/>
              <a:t>Intuition</a:t>
            </a:r>
            <a:r>
              <a:rPr lang="ru-RU"/>
              <a:t>:</a:t>
            </a:r>
          </a:p>
          <a:p>
            <a:pPr marL="0" indent="0">
              <a:buNone/>
            </a:pPr>
            <a:r>
              <a:rPr lang="ru-RU"/>
              <a:t>• </a:t>
            </a:r>
            <a:r>
              <a:rPr lang="ru-RU" err="1"/>
              <a:t>Slope</a:t>
            </a:r>
            <a:r>
              <a:rPr lang="ru-RU"/>
              <a:t> = </a:t>
            </a:r>
            <a:r>
              <a:rPr lang="ru-RU" err="1"/>
              <a:t>correlation</a:t>
            </a:r>
            <a:r>
              <a:rPr lang="ru-RU"/>
              <a:t> </a:t>
            </a:r>
            <a:r>
              <a:rPr lang="ru-RU" err="1"/>
              <a:t>scaled</a:t>
            </a:r>
            <a:r>
              <a:rPr lang="ru-RU"/>
              <a:t> </a:t>
            </a:r>
            <a:r>
              <a:rPr lang="ru-RU" err="1"/>
              <a:t>by</a:t>
            </a:r>
            <a:r>
              <a:rPr lang="ru-RU"/>
              <a:t> </a:t>
            </a:r>
            <a:r>
              <a:rPr lang="ru-RU" err="1"/>
              <a:t>the</a:t>
            </a:r>
            <a:r>
              <a:rPr lang="ru-RU"/>
              <a:t> </a:t>
            </a:r>
            <a:r>
              <a:rPr lang="ru-RU" err="1"/>
              <a:t>ratio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standard</a:t>
            </a:r>
            <a:r>
              <a:rPr lang="ru-RU"/>
              <a:t> </a:t>
            </a:r>
            <a:r>
              <a:rPr lang="ru-RU" err="1"/>
              <a:t>deviations</a:t>
            </a:r>
            <a:r>
              <a:rPr lang="ru-RU"/>
              <a:t>.</a:t>
            </a:r>
          </a:p>
          <a:p>
            <a:pPr marL="0" indent="0">
              <a:buNone/>
            </a:pPr>
            <a:r>
              <a:rPr lang="ru-RU"/>
              <a:t>• </a:t>
            </a:r>
            <a:r>
              <a:rPr lang="ru-RU" err="1"/>
              <a:t>Intercept</a:t>
            </a:r>
            <a:r>
              <a:rPr lang="ru-RU"/>
              <a:t> = </a:t>
            </a:r>
            <a:r>
              <a:rPr lang="ru-RU" err="1"/>
              <a:t>forces</a:t>
            </a:r>
            <a:r>
              <a:rPr lang="ru-RU"/>
              <a:t> </a:t>
            </a:r>
            <a:r>
              <a:rPr lang="ru-RU" err="1"/>
              <a:t>line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go</a:t>
            </a:r>
            <a:r>
              <a:rPr lang="ru-RU"/>
              <a:t> </a:t>
            </a:r>
            <a:r>
              <a:rPr lang="ru-RU" err="1"/>
              <a:t>through</a:t>
            </a:r>
            <a:r>
              <a:rPr lang="ru-RU"/>
              <a:t> </a:t>
            </a:r>
            <a:r>
              <a:rPr lang="ru-RU" err="1"/>
              <a:t>the</a:t>
            </a:r>
            <a:r>
              <a:rPr lang="ru-RU"/>
              <a:t> </a:t>
            </a:r>
            <a:r>
              <a:rPr lang="ru-RU" err="1"/>
              <a:t>point</a:t>
            </a:r>
            <a:r>
              <a:rPr lang="ru-RU"/>
              <a:t> (x̄, ȳ).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6941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DDDA1B-B0AC-864F-5D7B-8A6EE94AF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1784"/>
          </a:xfrm>
        </p:spPr>
        <p:txBody>
          <a:bodyPr/>
          <a:lstStyle/>
          <a:p>
            <a:r>
              <a:rPr lang="ru-RU" b="1"/>
              <a:t>Python – </a:t>
            </a:r>
            <a:r>
              <a:rPr lang="ru-RU" b="1" err="1"/>
              <a:t>Fitting</a:t>
            </a:r>
            <a:r>
              <a:rPr lang="ru-RU" b="1"/>
              <a:t> Simple </a:t>
            </a:r>
            <a:r>
              <a:rPr lang="ru-RU" b="1" err="1"/>
              <a:t>Linear</a:t>
            </a:r>
            <a:r>
              <a:rPr lang="ru-RU" b="1"/>
              <a:t> </a:t>
            </a:r>
            <a:r>
              <a:rPr lang="ru-RU" b="1" err="1"/>
              <a:t>Regression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A486AC-4F7D-97AA-3351-400693615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582"/>
            <a:ext cx="10515600" cy="4708381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err="1"/>
              <a:t>import</a:t>
            </a:r>
            <a:r>
              <a:rPr lang="ru-RU"/>
              <a:t> </a:t>
            </a:r>
            <a:r>
              <a:rPr lang="ru-RU" err="1"/>
              <a:t>statsmodels.api</a:t>
            </a:r>
            <a:r>
              <a:rPr lang="ru-RU"/>
              <a:t> </a:t>
            </a:r>
            <a:r>
              <a:rPr lang="ru-RU" err="1"/>
              <a:t>as</a:t>
            </a:r>
            <a:r>
              <a:rPr lang="ru-RU"/>
              <a:t> </a:t>
            </a:r>
            <a:r>
              <a:rPr lang="ru-RU" err="1"/>
              <a:t>sm</a:t>
            </a:r>
            <a:endParaRPr lang="ru-RU"/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i="1"/>
              <a:t># </a:t>
            </a:r>
            <a:r>
              <a:rPr lang="ru-RU" i="1" err="1"/>
              <a:t>Define</a:t>
            </a:r>
            <a:r>
              <a:rPr lang="ru-RU" i="1"/>
              <a:t> </a:t>
            </a:r>
            <a:r>
              <a:rPr lang="ru-RU" i="1" err="1"/>
              <a:t>variables</a:t>
            </a:r>
            <a:endParaRPr lang="ru-RU"/>
          </a:p>
          <a:p>
            <a:pPr marL="0" indent="0">
              <a:buNone/>
            </a:pPr>
            <a:r>
              <a:rPr lang="ru-RU"/>
              <a:t>X = </a:t>
            </a:r>
            <a:r>
              <a:rPr lang="ru-RU" err="1"/>
              <a:t>df</a:t>
            </a:r>
            <a:r>
              <a:rPr lang="ru-RU"/>
              <a:t>['</a:t>
            </a:r>
            <a:r>
              <a:rPr lang="ru-RU" err="1"/>
              <a:t>study_hours</a:t>
            </a:r>
            <a:r>
              <a:rPr lang="ru-RU"/>
              <a:t>']        </a:t>
            </a:r>
            <a:r>
              <a:rPr lang="ru-RU" i="1"/>
              <a:t># </a:t>
            </a:r>
            <a:r>
              <a:rPr lang="ru-RU" i="1" err="1"/>
              <a:t>predictor</a:t>
            </a:r>
            <a:endParaRPr lang="ru-RU"/>
          </a:p>
          <a:p>
            <a:pPr marL="0" indent="0">
              <a:buNone/>
            </a:pPr>
            <a:r>
              <a:rPr lang="ru-RU"/>
              <a:t>y = </a:t>
            </a:r>
            <a:r>
              <a:rPr lang="ru-RU" err="1"/>
              <a:t>df</a:t>
            </a:r>
            <a:r>
              <a:rPr lang="ru-RU"/>
              <a:t>['</a:t>
            </a:r>
            <a:r>
              <a:rPr lang="ru-RU" err="1"/>
              <a:t>exam_score</a:t>
            </a:r>
            <a:r>
              <a:rPr lang="ru-RU"/>
              <a:t>']          </a:t>
            </a:r>
            <a:r>
              <a:rPr lang="ru-RU" i="1"/>
              <a:t># </a:t>
            </a:r>
            <a:r>
              <a:rPr lang="ru-RU" i="1" err="1"/>
              <a:t>response</a:t>
            </a:r>
            <a:endParaRPr lang="ru-RU"/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i="1"/>
              <a:t># </a:t>
            </a:r>
            <a:r>
              <a:rPr lang="ru-RU" i="1" err="1"/>
              <a:t>Add</a:t>
            </a:r>
            <a:r>
              <a:rPr lang="ru-RU" i="1"/>
              <a:t> </a:t>
            </a:r>
            <a:r>
              <a:rPr lang="ru-RU" i="1" err="1"/>
              <a:t>constant</a:t>
            </a:r>
            <a:r>
              <a:rPr lang="ru-RU" i="1"/>
              <a:t> </a:t>
            </a:r>
            <a:r>
              <a:rPr lang="ru-RU" i="1" err="1"/>
              <a:t>term</a:t>
            </a:r>
            <a:r>
              <a:rPr lang="ru-RU" i="1"/>
              <a:t> </a:t>
            </a:r>
            <a:r>
              <a:rPr lang="ru-RU" i="1" err="1"/>
              <a:t>for</a:t>
            </a:r>
            <a:r>
              <a:rPr lang="ru-RU" i="1"/>
              <a:t> </a:t>
            </a:r>
            <a:r>
              <a:rPr lang="ru-RU" i="1" err="1"/>
              <a:t>intercept</a:t>
            </a:r>
            <a:endParaRPr lang="ru-RU"/>
          </a:p>
          <a:p>
            <a:pPr marL="0" indent="0">
              <a:buNone/>
            </a:pPr>
            <a:r>
              <a:rPr lang="ru-RU"/>
              <a:t>X = </a:t>
            </a:r>
            <a:r>
              <a:rPr lang="ru-RU" err="1"/>
              <a:t>sm.add_constant</a:t>
            </a:r>
            <a:r>
              <a:rPr lang="ru-RU"/>
              <a:t>(X)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i="1"/>
              <a:t># </a:t>
            </a:r>
            <a:r>
              <a:rPr lang="ru-RU" i="1" err="1"/>
              <a:t>Fit</a:t>
            </a:r>
            <a:r>
              <a:rPr lang="ru-RU" i="1"/>
              <a:t> </a:t>
            </a:r>
            <a:r>
              <a:rPr lang="ru-RU" i="1" err="1"/>
              <a:t>model</a:t>
            </a:r>
            <a:endParaRPr lang="ru-RU"/>
          </a:p>
          <a:p>
            <a:pPr marL="0" indent="0">
              <a:buNone/>
            </a:pPr>
            <a:r>
              <a:rPr lang="ru-RU" err="1"/>
              <a:t>model</a:t>
            </a:r>
            <a:r>
              <a:rPr lang="ru-RU"/>
              <a:t> = </a:t>
            </a:r>
            <a:r>
              <a:rPr lang="ru-RU" err="1"/>
              <a:t>sm.OLS</a:t>
            </a:r>
            <a:r>
              <a:rPr lang="ru-RU"/>
              <a:t>(y, X).</a:t>
            </a:r>
            <a:r>
              <a:rPr lang="ru-RU" err="1"/>
              <a:t>fit</a:t>
            </a:r>
            <a:r>
              <a:rPr lang="ru-RU"/>
              <a:t>()</a:t>
            </a:r>
          </a:p>
          <a:p>
            <a:pPr marL="0" indent="0">
              <a:buNone/>
            </a:pPr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model.summary</a:t>
            </a:r>
            <a:r>
              <a:rPr lang="ru-RU"/>
              <a:t>())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i="1"/>
              <a:t># </a:t>
            </a:r>
            <a:r>
              <a:rPr lang="ru-RU" i="1" err="1"/>
              <a:t>Coefficients</a:t>
            </a:r>
            <a:endParaRPr lang="ru-RU"/>
          </a:p>
          <a:p>
            <a:pPr marL="0" indent="0">
              <a:buNone/>
            </a:pPr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f"Intercept</a:t>
            </a:r>
            <a:r>
              <a:rPr lang="ru-RU"/>
              <a:t>: {</a:t>
            </a:r>
            <a:r>
              <a:rPr lang="ru-RU" err="1"/>
              <a:t>model.params</a:t>
            </a:r>
            <a:r>
              <a:rPr lang="ru-RU"/>
              <a:t>[0]:.3f}")</a:t>
            </a:r>
          </a:p>
          <a:p>
            <a:pPr marL="0" indent="0">
              <a:buNone/>
            </a:pPr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f"Slope</a:t>
            </a:r>
            <a:r>
              <a:rPr lang="ru-RU"/>
              <a:t>: {</a:t>
            </a:r>
            <a:r>
              <a:rPr lang="ru-RU" err="1"/>
              <a:t>model.params</a:t>
            </a:r>
            <a:r>
              <a:rPr lang="ru-RU"/>
              <a:t>[1]:.3f}")</a:t>
            </a:r>
          </a:p>
          <a:p>
            <a:pPr marL="0" indent="0">
              <a:buNone/>
            </a:pPr>
            <a:endParaRPr lang="ru-RU"/>
          </a:p>
          <a:p>
            <a:pPr marL="0" indent="0">
              <a:buNone/>
            </a:pPr>
            <a:endParaRPr lang="ru-RU"/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7331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E206E-35FD-9420-EF52-E341E9775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Dataset</a:t>
            </a:r>
            <a:endParaRPr lang="en-K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C5571-2130-B5D6-9A5F-94DC0B57F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from </a:t>
            </a:r>
            <a:r>
              <a:rPr lang="en-US" err="1"/>
              <a:t>sklearn.datasets</a:t>
            </a:r>
            <a:r>
              <a:rPr lang="en-US"/>
              <a:t> import </a:t>
            </a:r>
            <a:r>
              <a:rPr lang="en-US" err="1"/>
              <a:t>load_diabetes</a:t>
            </a:r>
            <a:endParaRPr lang="en-US"/>
          </a:p>
          <a:p>
            <a:pPr marL="0" indent="0">
              <a:buNone/>
            </a:pPr>
            <a:r>
              <a:rPr lang="en-US"/>
              <a:t>import pandas as pd</a:t>
            </a:r>
          </a:p>
          <a:p>
            <a:pPr marL="0" indent="0">
              <a:buNone/>
            </a:pPr>
            <a:r>
              <a:rPr lang="en-US"/>
              <a:t>import </a:t>
            </a:r>
            <a:r>
              <a:rPr lang="en-US" err="1"/>
              <a:t>numpy</a:t>
            </a:r>
            <a:r>
              <a:rPr lang="en-US"/>
              <a:t> as np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diabetes = </a:t>
            </a:r>
            <a:r>
              <a:rPr lang="en-US" err="1"/>
              <a:t>load_diabetes</a:t>
            </a:r>
            <a:r>
              <a:rPr lang="en-US"/>
              <a:t>()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err="1"/>
              <a:t>df</a:t>
            </a:r>
            <a:r>
              <a:rPr lang="en-US"/>
              <a:t> = </a:t>
            </a:r>
            <a:r>
              <a:rPr lang="en-US" err="1"/>
              <a:t>pd.DataFrame</a:t>
            </a:r>
            <a:r>
              <a:rPr lang="en-US"/>
              <a:t>(</a:t>
            </a:r>
            <a:r>
              <a:rPr lang="en-US" err="1"/>
              <a:t>diabetes.data</a:t>
            </a:r>
            <a:r>
              <a:rPr lang="en-US"/>
              <a:t>, columns=</a:t>
            </a:r>
            <a:r>
              <a:rPr lang="en-US" err="1"/>
              <a:t>diabetes.feature_names</a:t>
            </a:r>
            <a:r>
              <a:rPr lang="en-US"/>
              <a:t>)</a:t>
            </a:r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42571514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C80798-4FC0-1529-68D0-70E2AF98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0220"/>
          </a:xfrm>
        </p:spPr>
        <p:txBody>
          <a:bodyPr/>
          <a:lstStyle/>
          <a:p>
            <a:r>
              <a:rPr lang="ru-RU" b="1"/>
              <a:t>R‑</a:t>
            </a:r>
            <a:r>
              <a:rPr lang="ru-RU" b="1" err="1"/>
              <a:t>squared</a:t>
            </a:r>
            <a:r>
              <a:rPr lang="ru-RU" b="1"/>
              <a:t> – </a:t>
            </a:r>
            <a:r>
              <a:rPr lang="ru-RU" b="1" err="1"/>
              <a:t>How</a:t>
            </a:r>
            <a:r>
              <a:rPr lang="ru-RU" b="1"/>
              <a:t> </a:t>
            </a:r>
            <a:r>
              <a:rPr lang="ru-RU" b="1" err="1"/>
              <a:t>Well</a:t>
            </a:r>
            <a:r>
              <a:rPr lang="ru-RU" b="1"/>
              <a:t> </a:t>
            </a:r>
            <a:r>
              <a:rPr lang="ru-RU" b="1" err="1"/>
              <a:t>Does</a:t>
            </a:r>
            <a:r>
              <a:rPr lang="ru-RU" b="1"/>
              <a:t> </a:t>
            </a:r>
            <a:r>
              <a:rPr lang="ru-RU" b="1" err="1"/>
              <a:t>the</a:t>
            </a:r>
            <a:r>
              <a:rPr lang="ru-RU" b="1"/>
              <a:t> Line </a:t>
            </a:r>
            <a:r>
              <a:rPr lang="ru-RU" b="1" err="1"/>
              <a:t>Fit</a:t>
            </a:r>
            <a:r>
              <a:rPr lang="ru-RU" b="1"/>
              <a:t>?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F352D4-D44A-47FB-B31E-EA4B95105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91"/>
            <a:ext cx="10515600" cy="483307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/>
              <a:t>R² (</a:t>
            </a:r>
            <a:r>
              <a:rPr lang="ru-RU" err="1"/>
              <a:t>coefficient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determination</a:t>
            </a:r>
            <a:r>
              <a:rPr lang="ru-RU"/>
              <a:t>):</a:t>
            </a:r>
          </a:p>
          <a:p>
            <a:pPr marL="0" indent="0">
              <a:buNone/>
            </a:pPr>
            <a:r>
              <a:rPr lang="ru-RU"/>
              <a:t>• </a:t>
            </a:r>
            <a:r>
              <a:rPr lang="ru-RU" err="1"/>
              <a:t>Proportion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variance</a:t>
            </a:r>
            <a:r>
              <a:rPr lang="ru-RU"/>
              <a:t> </a:t>
            </a:r>
            <a:r>
              <a:rPr lang="ru-RU" err="1"/>
              <a:t>in</a:t>
            </a:r>
            <a:r>
              <a:rPr lang="ru-RU"/>
              <a:t> y </a:t>
            </a:r>
            <a:r>
              <a:rPr lang="ru-RU" err="1"/>
              <a:t>explained</a:t>
            </a:r>
            <a:r>
              <a:rPr lang="ru-RU"/>
              <a:t> </a:t>
            </a:r>
            <a:r>
              <a:rPr lang="ru-RU" err="1"/>
              <a:t>by</a:t>
            </a:r>
            <a:r>
              <a:rPr lang="ru-RU"/>
              <a:t> x</a:t>
            </a:r>
          </a:p>
          <a:p>
            <a:pPr marL="0" indent="0">
              <a:buNone/>
            </a:pPr>
            <a:r>
              <a:rPr lang="ru-RU"/>
              <a:t>• </a:t>
            </a:r>
            <a:r>
              <a:rPr lang="ru-RU" err="1"/>
              <a:t>Ranges</a:t>
            </a:r>
            <a:r>
              <a:rPr lang="ru-RU"/>
              <a:t> </a:t>
            </a:r>
            <a:r>
              <a:rPr lang="ru-RU" err="1"/>
              <a:t>from</a:t>
            </a:r>
            <a:r>
              <a:rPr lang="ru-RU"/>
              <a:t> 0 </a:t>
            </a:r>
            <a:r>
              <a:rPr lang="ru-RU" err="1"/>
              <a:t>to</a:t>
            </a:r>
            <a:r>
              <a:rPr lang="ru-RU"/>
              <a:t> 1</a:t>
            </a:r>
          </a:p>
          <a:p>
            <a:pPr marL="0" indent="0">
              <a:buNone/>
            </a:pPr>
            <a:r>
              <a:rPr lang="ru-RU"/>
              <a:t>• R² = r² (</a:t>
            </a:r>
            <a:r>
              <a:rPr lang="ru-RU" err="1"/>
              <a:t>in</a:t>
            </a:r>
            <a:r>
              <a:rPr lang="ru-RU"/>
              <a:t> </a:t>
            </a:r>
            <a:r>
              <a:rPr lang="ru-RU" err="1"/>
              <a:t>simple</a:t>
            </a:r>
            <a:r>
              <a:rPr lang="ru-RU"/>
              <a:t> </a:t>
            </a:r>
            <a:r>
              <a:rPr lang="ru-RU" err="1"/>
              <a:t>linear</a:t>
            </a:r>
            <a:r>
              <a:rPr lang="ru-RU"/>
              <a:t> </a:t>
            </a:r>
            <a:r>
              <a:rPr lang="ru-RU" err="1"/>
              <a:t>regression</a:t>
            </a:r>
            <a:r>
              <a:rPr lang="ru-RU"/>
              <a:t>)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err="1"/>
              <a:t>Interpretation</a:t>
            </a:r>
            <a:r>
              <a:rPr lang="ru-RU"/>
              <a:t>:</a:t>
            </a:r>
          </a:p>
          <a:p>
            <a:pPr marL="0" indent="0">
              <a:buNone/>
            </a:pPr>
            <a:r>
              <a:rPr lang="ru-RU"/>
              <a:t>• R² = 0.64 → 64%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the</a:t>
            </a:r>
            <a:r>
              <a:rPr lang="ru-RU"/>
              <a:t> </a:t>
            </a:r>
            <a:r>
              <a:rPr lang="ru-RU" err="1"/>
              <a:t>variability</a:t>
            </a:r>
            <a:r>
              <a:rPr lang="ru-RU"/>
              <a:t> </a:t>
            </a:r>
            <a:r>
              <a:rPr lang="ru-RU" err="1"/>
              <a:t>in</a:t>
            </a:r>
            <a:r>
              <a:rPr lang="ru-RU"/>
              <a:t> </a:t>
            </a:r>
            <a:r>
              <a:rPr lang="ru-RU" err="1"/>
              <a:t>exam</a:t>
            </a:r>
            <a:r>
              <a:rPr lang="ru-RU"/>
              <a:t> </a:t>
            </a:r>
            <a:r>
              <a:rPr lang="ru-RU" err="1"/>
              <a:t>scores</a:t>
            </a:r>
            <a:endParaRPr lang="ru-RU"/>
          </a:p>
          <a:p>
            <a:pPr marL="0" indent="0">
              <a:buNone/>
            </a:pPr>
            <a:r>
              <a:rPr lang="ru-RU"/>
              <a:t>  </a:t>
            </a:r>
            <a:r>
              <a:rPr lang="ru-RU" err="1"/>
              <a:t>can</a:t>
            </a:r>
            <a:r>
              <a:rPr lang="ru-RU"/>
              <a:t> </a:t>
            </a:r>
            <a:r>
              <a:rPr lang="ru-RU" err="1"/>
              <a:t>be</a:t>
            </a:r>
            <a:r>
              <a:rPr lang="ru-RU"/>
              <a:t> </a:t>
            </a:r>
            <a:r>
              <a:rPr lang="ru-RU" err="1"/>
              <a:t>explained</a:t>
            </a:r>
            <a:r>
              <a:rPr lang="ru-RU"/>
              <a:t> </a:t>
            </a:r>
            <a:r>
              <a:rPr lang="ru-RU" err="1"/>
              <a:t>by</a:t>
            </a:r>
            <a:r>
              <a:rPr lang="ru-RU"/>
              <a:t> </a:t>
            </a:r>
            <a:r>
              <a:rPr lang="ru-RU" err="1"/>
              <a:t>study</a:t>
            </a:r>
            <a:r>
              <a:rPr lang="ru-RU"/>
              <a:t> </a:t>
            </a:r>
            <a:r>
              <a:rPr lang="ru-RU" err="1"/>
              <a:t>hours</a:t>
            </a:r>
            <a:r>
              <a:rPr lang="ru-RU"/>
              <a:t>.</a:t>
            </a:r>
          </a:p>
          <a:p>
            <a:pPr marL="0" indent="0">
              <a:buNone/>
            </a:pPr>
            <a:r>
              <a:rPr lang="ru-RU"/>
              <a:t>• The </a:t>
            </a:r>
            <a:r>
              <a:rPr lang="ru-RU" err="1"/>
              <a:t>remaining</a:t>
            </a:r>
            <a:r>
              <a:rPr lang="ru-RU"/>
              <a:t> 36% 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due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other</a:t>
            </a:r>
            <a:r>
              <a:rPr lang="ru-RU"/>
              <a:t> </a:t>
            </a:r>
            <a:r>
              <a:rPr lang="ru-RU" err="1"/>
              <a:t>factors</a:t>
            </a:r>
            <a:r>
              <a:rPr lang="ru-RU"/>
              <a:t> (</a:t>
            </a:r>
            <a:r>
              <a:rPr lang="ru-RU" err="1"/>
              <a:t>noise</a:t>
            </a:r>
            <a:r>
              <a:rPr lang="ru-RU"/>
              <a:t>, </a:t>
            </a:r>
            <a:r>
              <a:rPr lang="ru-RU" err="1"/>
              <a:t>other</a:t>
            </a:r>
            <a:r>
              <a:rPr lang="ru-RU"/>
              <a:t> </a:t>
            </a:r>
            <a:r>
              <a:rPr lang="ru-RU" err="1"/>
              <a:t>variables</a:t>
            </a:r>
            <a:r>
              <a:rPr lang="ru-RU"/>
              <a:t>).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err="1"/>
              <a:t>Adjusted</a:t>
            </a:r>
            <a:r>
              <a:rPr lang="ru-RU"/>
              <a:t> R²: </a:t>
            </a:r>
            <a:r>
              <a:rPr lang="ru-RU" err="1"/>
              <a:t>penalizes</a:t>
            </a:r>
            <a:r>
              <a:rPr lang="ru-RU"/>
              <a:t> </a:t>
            </a:r>
            <a:r>
              <a:rPr lang="ru-RU" err="1"/>
              <a:t>adding</a:t>
            </a:r>
            <a:r>
              <a:rPr lang="ru-RU"/>
              <a:t> </a:t>
            </a:r>
            <a:r>
              <a:rPr lang="ru-RU" err="1"/>
              <a:t>extra</a:t>
            </a:r>
            <a:r>
              <a:rPr lang="ru-RU"/>
              <a:t> </a:t>
            </a:r>
            <a:r>
              <a:rPr lang="ru-RU" err="1"/>
              <a:t>predictors</a:t>
            </a:r>
            <a:r>
              <a:rPr lang="ru-RU"/>
              <a:t> (</a:t>
            </a:r>
            <a:r>
              <a:rPr lang="ru-RU" err="1"/>
              <a:t>we'll</a:t>
            </a:r>
            <a:r>
              <a:rPr lang="ru-RU"/>
              <a:t> </a:t>
            </a:r>
            <a:r>
              <a:rPr lang="ru-RU" err="1"/>
              <a:t>see</a:t>
            </a:r>
            <a:r>
              <a:rPr lang="ru-RU"/>
              <a:t> </a:t>
            </a:r>
            <a:r>
              <a:rPr lang="ru-RU" err="1"/>
              <a:t>later</a:t>
            </a:r>
            <a:r>
              <a:rPr lang="ru-RU"/>
              <a:t>).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72597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EE7D99-6002-A01F-EB48-6C880E496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3130"/>
          </a:xfrm>
        </p:spPr>
        <p:txBody>
          <a:bodyPr>
            <a:normAutofit fontScale="90000"/>
          </a:bodyPr>
          <a:lstStyle/>
          <a:p>
            <a:r>
              <a:rPr lang="ru-RU" b="1" err="1"/>
              <a:t>Visualizing</a:t>
            </a:r>
            <a:r>
              <a:rPr lang="ru-RU" b="1"/>
              <a:t> </a:t>
            </a:r>
            <a:r>
              <a:rPr lang="ru-RU" b="1" err="1"/>
              <a:t>the</a:t>
            </a:r>
            <a:r>
              <a:rPr lang="ru-RU" b="1"/>
              <a:t> </a:t>
            </a:r>
            <a:r>
              <a:rPr lang="ru-RU" b="1" err="1"/>
              <a:t>Regression</a:t>
            </a:r>
            <a:r>
              <a:rPr lang="ru-RU" b="1"/>
              <a:t> Line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4E0145-7948-9509-0392-78CFCFF84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9309"/>
            <a:ext cx="10515600" cy="477765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i="1"/>
              <a:t># </a:t>
            </a:r>
            <a:r>
              <a:rPr lang="ru-RU" i="1" err="1"/>
              <a:t>Plot</a:t>
            </a:r>
            <a:r>
              <a:rPr lang="ru-RU" i="1"/>
              <a:t> </a:t>
            </a:r>
            <a:r>
              <a:rPr lang="ru-RU" i="1" err="1"/>
              <a:t>data</a:t>
            </a:r>
            <a:r>
              <a:rPr lang="ru-RU" i="1"/>
              <a:t> </a:t>
            </a:r>
            <a:r>
              <a:rPr lang="ru-RU" i="1" err="1"/>
              <a:t>and</a:t>
            </a:r>
            <a:r>
              <a:rPr lang="ru-RU" i="1"/>
              <a:t> </a:t>
            </a:r>
            <a:r>
              <a:rPr lang="ru-RU" i="1" err="1"/>
              <a:t>regression</a:t>
            </a:r>
            <a:r>
              <a:rPr lang="ru-RU" i="1"/>
              <a:t> </a:t>
            </a:r>
            <a:r>
              <a:rPr lang="ru-RU" i="1" err="1"/>
              <a:t>line</a:t>
            </a:r>
            <a:endParaRPr lang="ru-RU"/>
          </a:p>
          <a:p>
            <a:pPr marL="0" indent="0">
              <a:buNone/>
            </a:pPr>
            <a:r>
              <a:rPr lang="ru-RU" err="1"/>
              <a:t>plt.figure</a:t>
            </a:r>
            <a:r>
              <a:rPr lang="ru-RU"/>
              <a:t>(</a:t>
            </a:r>
            <a:r>
              <a:rPr lang="ru-RU" err="1"/>
              <a:t>figsize</a:t>
            </a:r>
            <a:r>
              <a:rPr lang="ru-RU"/>
              <a:t>=(8,5))</a:t>
            </a:r>
          </a:p>
          <a:p>
            <a:pPr marL="0" indent="0">
              <a:buNone/>
            </a:pPr>
            <a:r>
              <a:rPr lang="ru-RU" err="1"/>
              <a:t>sns.scatterplot</a:t>
            </a:r>
            <a:r>
              <a:rPr lang="ru-RU"/>
              <a:t>(x='</a:t>
            </a:r>
            <a:r>
              <a:rPr lang="ru-RU" err="1"/>
              <a:t>study_hours</a:t>
            </a:r>
            <a:r>
              <a:rPr lang="ru-RU"/>
              <a:t>', y='</a:t>
            </a:r>
            <a:r>
              <a:rPr lang="ru-RU" err="1"/>
              <a:t>exam_score</a:t>
            </a:r>
            <a:r>
              <a:rPr lang="ru-RU"/>
              <a:t>', </a:t>
            </a:r>
            <a:r>
              <a:rPr lang="ru-RU" err="1"/>
              <a:t>data</a:t>
            </a:r>
            <a:r>
              <a:rPr lang="ru-RU"/>
              <a:t>=</a:t>
            </a:r>
            <a:r>
              <a:rPr lang="ru-RU" err="1"/>
              <a:t>df</a:t>
            </a:r>
            <a:r>
              <a:rPr lang="ru-RU"/>
              <a:t>, </a:t>
            </a:r>
            <a:r>
              <a:rPr lang="ru-RU" err="1"/>
              <a:t>alpha</a:t>
            </a:r>
            <a:r>
              <a:rPr lang="ru-RU"/>
              <a:t>=0.6)</a:t>
            </a:r>
          </a:p>
          <a:p>
            <a:pPr marL="0" indent="0">
              <a:buNone/>
            </a:pPr>
            <a:r>
              <a:rPr lang="ru-RU" err="1"/>
              <a:t>plt.plot</a:t>
            </a:r>
            <a:r>
              <a:rPr lang="ru-RU"/>
              <a:t>(</a:t>
            </a:r>
            <a:r>
              <a:rPr lang="ru-RU" err="1"/>
              <a:t>df</a:t>
            </a:r>
            <a:r>
              <a:rPr lang="ru-RU"/>
              <a:t>['</a:t>
            </a:r>
            <a:r>
              <a:rPr lang="ru-RU" err="1"/>
              <a:t>study_hours</a:t>
            </a:r>
            <a:r>
              <a:rPr lang="ru-RU"/>
              <a:t>'], </a:t>
            </a:r>
            <a:r>
              <a:rPr lang="ru-RU" err="1"/>
              <a:t>model.predict</a:t>
            </a:r>
            <a:r>
              <a:rPr lang="ru-RU"/>
              <a:t>(X), </a:t>
            </a:r>
            <a:r>
              <a:rPr lang="ru-RU" err="1"/>
              <a:t>color</a:t>
            </a:r>
            <a:r>
              <a:rPr lang="ru-RU"/>
              <a:t>='</a:t>
            </a:r>
            <a:r>
              <a:rPr lang="ru-RU" err="1"/>
              <a:t>red</a:t>
            </a:r>
            <a:r>
              <a:rPr lang="ru-RU"/>
              <a:t>', </a:t>
            </a:r>
            <a:r>
              <a:rPr lang="ru-RU" err="1"/>
              <a:t>linewidth</a:t>
            </a:r>
            <a:r>
              <a:rPr lang="ru-RU"/>
              <a:t>=2)</a:t>
            </a:r>
          </a:p>
          <a:p>
            <a:pPr marL="0" indent="0">
              <a:buNone/>
            </a:pPr>
            <a:r>
              <a:rPr lang="ru-RU" err="1"/>
              <a:t>plt.xlabel</a:t>
            </a:r>
            <a:r>
              <a:rPr lang="ru-RU"/>
              <a:t>('Study </a:t>
            </a:r>
            <a:r>
              <a:rPr lang="ru-RU" err="1"/>
              <a:t>Hours</a:t>
            </a:r>
            <a:r>
              <a:rPr lang="ru-RU"/>
              <a:t>')</a:t>
            </a:r>
          </a:p>
          <a:p>
            <a:pPr marL="0" indent="0">
              <a:buNone/>
            </a:pPr>
            <a:r>
              <a:rPr lang="ru-RU" err="1"/>
              <a:t>plt.ylabel</a:t>
            </a:r>
            <a:r>
              <a:rPr lang="ru-RU"/>
              <a:t>('</a:t>
            </a:r>
            <a:r>
              <a:rPr lang="ru-RU" err="1"/>
              <a:t>Exam</a:t>
            </a:r>
            <a:r>
              <a:rPr lang="ru-RU"/>
              <a:t> </a:t>
            </a:r>
            <a:r>
              <a:rPr lang="ru-RU" err="1"/>
              <a:t>Score</a:t>
            </a:r>
            <a:r>
              <a:rPr lang="ru-RU"/>
              <a:t>')</a:t>
            </a:r>
          </a:p>
          <a:p>
            <a:pPr marL="0" indent="0">
              <a:buNone/>
            </a:pPr>
            <a:r>
              <a:rPr lang="ru-RU" err="1"/>
              <a:t>plt.title</a:t>
            </a:r>
            <a:r>
              <a:rPr lang="ru-RU"/>
              <a:t>('Simple </a:t>
            </a:r>
            <a:r>
              <a:rPr lang="ru-RU" err="1"/>
              <a:t>Linear</a:t>
            </a:r>
            <a:r>
              <a:rPr lang="ru-RU"/>
              <a:t> </a:t>
            </a:r>
            <a:r>
              <a:rPr lang="ru-RU" err="1"/>
              <a:t>Regression</a:t>
            </a:r>
            <a:r>
              <a:rPr lang="ru-RU"/>
              <a:t> </a:t>
            </a:r>
            <a:r>
              <a:rPr lang="ru-RU" err="1"/>
              <a:t>Fit</a:t>
            </a:r>
            <a:r>
              <a:rPr lang="ru-RU"/>
              <a:t>')</a:t>
            </a:r>
          </a:p>
          <a:p>
            <a:pPr marL="0" indent="0">
              <a:buNone/>
            </a:pPr>
            <a:r>
              <a:rPr lang="ru-RU" err="1"/>
              <a:t>plt.show</a:t>
            </a:r>
            <a:r>
              <a:rPr lang="ru-RU"/>
              <a:t>()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00322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60627B-56CA-59FB-A85E-1E7C914DB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4693"/>
          </a:xfrm>
        </p:spPr>
        <p:txBody>
          <a:bodyPr>
            <a:normAutofit fontScale="90000"/>
          </a:bodyPr>
          <a:lstStyle/>
          <a:p>
            <a:r>
              <a:rPr lang="ru-RU" b="1" err="1"/>
              <a:t>Residuals</a:t>
            </a:r>
            <a:r>
              <a:rPr lang="ru-RU" b="1"/>
              <a:t> – What </a:t>
            </a:r>
            <a:r>
              <a:rPr lang="ru-RU" b="1" err="1"/>
              <a:t>the</a:t>
            </a:r>
            <a:r>
              <a:rPr lang="ru-RU" b="1"/>
              <a:t> Line </a:t>
            </a:r>
            <a:r>
              <a:rPr lang="ru-RU" b="1" err="1"/>
              <a:t>Misses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BEB756-C88B-B909-8545-9AD15A74B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48053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err="1"/>
              <a:t>Residual</a:t>
            </a:r>
            <a:r>
              <a:rPr lang="ru-RU"/>
              <a:t> = </a:t>
            </a:r>
            <a:r>
              <a:rPr lang="ru-RU" err="1"/>
              <a:t>observed</a:t>
            </a:r>
            <a:r>
              <a:rPr lang="ru-RU"/>
              <a:t> – </a:t>
            </a:r>
            <a:r>
              <a:rPr lang="ru-RU" err="1"/>
              <a:t>predicted</a:t>
            </a:r>
            <a:endParaRPr lang="ru-RU"/>
          </a:p>
          <a:p>
            <a:pPr marL="0" indent="0">
              <a:buNone/>
            </a:pPr>
            <a:r>
              <a:rPr lang="ru-RU"/>
              <a:t>eᵢ = yᵢ – ŷᵢ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err="1"/>
              <a:t>Residuals</a:t>
            </a:r>
            <a:r>
              <a:rPr lang="ru-RU"/>
              <a:t> </a:t>
            </a:r>
            <a:r>
              <a:rPr lang="ru-RU" err="1"/>
              <a:t>should</a:t>
            </a:r>
            <a:r>
              <a:rPr lang="ru-RU"/>
              <a:t>:</a:t>
            </a:r>
          </a:p>
          <a:p>
            <a:pPr marL="0" indent="0">
              <a:buNone/>
            </a:pPr>
            <a:r>
              <a:rPr lang="ru-RU"/>
              <a:t>• Be </a:t>
            </a:r>
            <a:r>
              <a:rPr lang="ru-RU" err="1"/>
              <a:t>randomly</a:t>
            </a:r>
            <a:r>
              <a:rPr lang="ru-RU"/>
              <a:t> </a:t>
            </a:r>
            <a:r>
              <a:rPr lang="ru-RU" err="1"/>
              <a:t>scattered</a:t>
            </a:r>
            <a:r>
              <a:rPr lang="ru-RU"/>
              <a:t> </a:t>
            </a:r>
            <a:r>
              <a:rPr lang="ru-RU" err="1"/>
              <a:t>around</a:t>
            </a:r>
            <a:r>
              <a:rPr lang="ru-RU"/>
              <a:t> 0</a:t>
            </a:r>
          </a:p>
          <a:p>
            <a:pPr marL="0" indent="0">
              <a:buNone/>
            </a:pPr>
            <a:r>
              <a:rPr lang="ru-RU"/>
              <a:t>• </a:t>
            </a:r>
            <a:r>
              <a:rPr lang="ru-RU" err="1"/>
              <a:t>Have</a:t>
            </a:r>
            <a:r>
              <a:rPr lang="ru-RU"/>
              <a:t> </a:t>
            </a:r>
            <a:r>
              <a:rPr lang="ru-RU" err="1"/>
              <a:t>constant</a:t>
            </a:r>
            <a:r>
              <a:rPr lang="ru-RU"/>
              <a:t> </a:t>
            </a:r>
            <a:r>
              <a:rPr lang="ru-RU" err="1"/>
              <a:t>spread</a:t>
            </a:r>
            <a:r>
              <a:rPr lang="ru-RU"/>
              <a:t> (</a:t>
            </a:r>
            <a:r>
              <a:rPr lang="ru-RU" err="1"/>
              <a:t>homoscedasticity</a:t>
            </a:r>
            <a:r>
              <a:rPr lang="ru-RU"/>
              <a:t>)</a:t>
            </a:r>
          </a:p>
          <a:p>
            <a:pPr marL="0" indent="0">
              <a:buNone/>
            </a:pPr>
            <a:r>
              <a:rPr lang="ru-RU"/>
              <a:t>• Show </a:t>
            </a:r>
            <a:r>
              <a:rPr lang="ru-RU" err="1"/>
              <a:t>no</a:t>
            </a:r>
            <a:r>
              <a:rPr lang="ru-RU"/>
              <a:t> </a:t>
            </a:r>
            <a:r>
              <a:rPr lang="ru-RU" err="1"/>
              <a:t>obvious</a:t>
            </a:r>
            <a:r>
              <a:rPr lang="ru-RU"/>
              <a:t> </a:t>
            </a:r>
            <a:r>
              <a:rPr lang="ru-RU" err="1"/>
              <a:t>pattern</a:t>
            </a:r>
            <a:endParaRPr lang="ru-RU"/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err="1"/>
              <a:t>Patterns</a:t>
            </a:r>
            <a:r>
              <a:rPr lang="ru-RU"/>
              <a:t> </a:t>
            </a:r>
            <a:r>
              <a:rPr lang="ru-RU" err="1"/>
              <a:t>in</a:t>
            </a:r>
            <a:r>
              <a:rPr lang="ru-RU"/>
              <a:t> </a:t>
            </a:r>
            <a:r>
              <a:rPr lang="ru-RU" err="1"/>
              <a:t>residuals</a:t>
            </a:r>
            <a:r>
              <a:rPr lang="ru-RU"/>
              <a:t> </a:t>
            </a:r>
            <a:r>
              <a:rPr lang="ru-RU" err="1"/>
              <a:t>indicate</a:t>
            </a:r>
            <a:r>
              <a:rPr lang="ru-RU"/>
              <a:t> </a:t>
            </a:r>
            <a:r>
              <a:rPr lang="ru-RU" err="1"/>
              <a:t>model</a:t>
            </a:r>
            <a:r>
              <a:rPr lang="ru-RU"/>
              <a:t> </a:t>
            </a:r>
            <a:r>
              <a:rPr lang="ru-RU" err="1"/>
              <a:t>inadequacy</a:t>
            </a:r>
            <a:r>
              <a:rPr lang="ru-RU"/>
              <a:t> (</a:t>
            </a:r>
            <a:r>
              <a:rPr lang="ru-RU" err="1"/>
              <a:t>e.g</a:t>
            </a:r>
            <a:r>
              <a:rPr lang="ru-RU"/>
              <a:t>., </a:t>
            </a:r>
            <a:r>
              <a:rPr lang="ru-RU" err="1"/>
              <a:t>non‑linearity</a:t>
            </a:r>
            <a:r>
              <a:rPr lang="ru-RU"/>
              <a:t>).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73685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4DE7D1-093F-18BB-210A-F53ADBD23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/>
          <a:lstStyle/>
          <a:p>
            <a:r>
              <a:rPr lang="ru-RU" b="1"/>
              <a:t>Python – </a:t>
            </a:r>
            <a:r>
              <a:rPr lang="ru-RU" b="1" err="1"/>
              <a:t>Residual</a:t>
            </a:r>
            <a:r>
              <a:rPr lang="ru-RU" b="1"/>
              <a:t> </a:t>
            </a:r>
            <a:r>
              <a:rPr lang="ru-RU" b="1" err="1"/>
              <a:t>Plot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6CCC18-A5DA-66B0-C47F-4745D1C94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91"/>
            <a:ext cx="10515600" cy="483307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err="1"/>
              <a:t>residuals</a:t>
            </a:r>
            <a:r>
              <a:rPr lang="ru-RU"/>
              <a:t> = </a:t>
            </a:r>
            <a:r>
              <a:rPr lang="ru-RU" err="1"/>
              <a:t>model.resid</a:t>
            </a:r>
            <a:endParaRPr lang="ru-RU"/>
          </a:p>
          <a:p>
            <a:pPr marL="0" indent="0">
              <a:buNone/>
            </a:pPr>
            <a:r>
              <a:rPr lang="ru-RU" err="1"/>
              <a:t>fitted</a:t>
            </a:r>
            <a:r>
              <a:rPr lang="ru-RU"/>
              <a:t> = </a:t>
            </a:r>
            <a:r>
              <a:rPr lang="ru-RU" err="1"/>
              <a:t>model.fittedvalues</a:t>
            </a:r>
            <a:endParaRPr lang="ru-RU"/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err="1"/>
              <a:t>plt.figure</a:t>
            </a:r>
            <a:r>
              <a:rPr lang="ru-RU"/>
              <a:t>(</a:t>
            </a:r>
            <a:r>
              <a:rPr lang="ru-RU" err="1"/>
              <a:t>figsize</a:t>
            </a:r>
            <a:r>
              <a:rPr lang="ru-RU"/>
              <a:t>=(8,5))</a:t>
            </a:r>
          </a:p>
          <a:p>
            <a:pPr marL="0" indent="0">
              <a:buNone/>
            </a:pPr>
            <a:r>
              <a:rPr lang="ru-RU" err="1"/>
              <a:t>plt.scatter</a:t>
            </a:r>
            <a:r>
              <a:rPr lang="ru-RU"/>
              <a:t>(</a:t>
            </a:r>
            <a:r>
              <a:rPr lang="ru-RU" err="1"/>
              <a:t>fitted</a:t>
            </a:r>
            <a:r>
              <a:rPr lang="ru-RU"/>
              <a:t>, </a:t>
            </a:r>
            <a:r>
              <a:rPr lang="ru-RU" err="1"/>
              <a:t>residuals</a:t>
            </a:r>
            <a:r>
              <a:rPr lang="ru-RU"/>
              <a:t>, </a:t>
            </a:r>
            <a:r>
              <a:rPr lang="ru-RU" err="1"/>
              <a:t>alpha</a:t>
            </a:r>
            <a:r>
              <a:rPr lang="ru-RU"/>
              <a:t>=0.6)</a:t>
            </a:r>
          </a:p>
          <a:p>
            <a:pPr marL="0" indent="0">
              <a:buNone/>
            </a:pPr>
            <a:r>
              <a:rPr lang="ru-RU" err="1"/>
              <a:t>plt.axhline</a:t>
            </a:r>
            <a:r>
              <a:rPr lang="ru-RU"/>
              <a:t>(y=0, </a:t>
            </a:r>
            <a:r>
              <a:rPr lang="ru-RU" err="1"/>
              <a:t>color</a:t>
            </a:r>
            <a:r>
              <a:rPr lang="ru-RU"/>
              <a:t>='</a:t>
            </a:r>
            <a:r>
              <a:rPr lang="ru-RU" err="1"/>
              <a:t>red</a:t>
            </a:r>
            <a:r>
              <a:rPr lang="ru-RU"/>
              <a:t>', </a:t>
            </a:r>
            <a:r>
              <a:rPr lang="ru-RU" err="1"/>
              <a:t>linestyle</a:t>
            </a:r>
            <a:r>
              <a:rPr lang="ru-RU"/>
              <a:t>='--')</a:t>
            </a:r>
          </a:p>
          <a:p>
            <a:pPr marL="0" indent="0">
              <a:buNone/>
            </a:pPr>
            <a:r>
              <a:rPr lang="ru-RU" err="1"/>
              <a:t>plt.xlabel</a:t>
            </a:r>
            <a:r>
              <a:rPr lang="ru-RU"/>
              <a:t>('</a:t>
            </a:r>
            <a:r>
              <a:rPr lang="ru-RU" err="1"/>
              <a:t>Fitted</a:t>
            </a:r>
            <a:r>
              <a:rPr lang="ru-RU"/>
              <a:t> </a:t>
            </a:r>
            <a:r>
              <a:rPr lang="ru-RU" err="1"/>
              <a:t>Values</a:t>
            </a:r>
            <a:r>
              <a:rPr lang="ru-RU"/>
              <a:t>')</a:t>
            </a:r>
          </a:p>
          <a:p>
            <a:pPr marL="0" indent="0">
              <a:buNone/>
            </a:pPr>
            <a:r>
              <a:rPr lang="ru-RU" err="1"/>
              <a:t>plt.ylabel</a:t>
            </a:r>
            <a:r>
              <a:rPr lang="ru-RU"/>
              <a:t>('</a:t>
            </a:r>
            <a:r>
              <a:rPr lang="ru-RU" err="1"/>
              <a:t>Residuals</a:t>
            </a:r>
            <a:r>
              <a:rPr lang="ru-RU"/>
              <a:t>')</a:t>
            </a:r>
          </a:p>
          <a:p>
            <a:pPr marL="0" indent="0">
              <a:buNone/>
            </a:pPr>
            <a:r>
              <a:rPr lang="ru-RU" err="1"/>
              <a:t>plt.title</a:t>
            </a:r>
            <a:r>
              <a:rPr lang="ru-RU"/>
              <a:t>('</a:t>
            </a:r>
            <a:r>
              <a:rPr lang="ru-RU" err="1"/>
              <a:t>Residual</a:t>
            </a:r>
            <a:r>
              <a:rPr lang="ru-RU"/>
              <a:t> </a:t>
            </a:r>
            <a:r>
              <a:rPr lang="ru-RU" err="1"/>
              <a:t>Plot</a:t>
            </a:r>
            <a:r>
              <a:rPr lang="ru-RU"/>
              <a:t>')</a:t>
            </a:r>
          </a:p>
          <a:p>
            <a:pPr marL="0" indent="0">
              <a:buNone/>
            </a:pPr>
            <a:r>
              <a:rPr lang="ru-RU" err="1"/>
              <a:t>plt.show</a:t>
            </a:r>
            <a:r>
              <a:rPr lang="ru-RU"/>
              <a:t>()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97810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F1F8E5-0080-66BF-7C58-B74382573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0948"/>
          </a:xfrm>
        </p:spPr>
        <p:txBody>
          <a:bodyPr/>
          <a:lstStyle/>
          <a:p>
            <a:r>
              <a:rPr lang="ru-RU" b="1" err="1"/>
              <a:t>Assumptions</a:t>
            </a:r>
            <a:r>
              <a:rPr lang="ru-RU" b="1"/>
              <a:t> </a:t>
            </a:r>
            <a:r>
              <a:rPr lang="ru-RU" b="1" err="1"/>
              <a:t>of</a:t>
            </a:r>
            <a:r>
              <a:rPr lang="ru-RU" b="1"/>
              <a:t> </a:t>
            </a:r>
            <a:r>
              <a:rPr lang="ru-RU" b="1" err="1"/>
              <a:t>Linear</a:t>
            </a:r>
            <a:r>
              <a:rPr lang="ru-RU" b="1"/>
              <a:t> </a:t>
            </a:r>
            <a:r>
              <a:rPr lang="ru-RU" b="1" err="1"/>
              <a:t>Regression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6470E8-4B09-13EC-B752-A3197C8BF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6182"/>
            <a:ext cx="10515600" cy="4860781"/>
          </a:xfrm>
        </p:spPr>
        <p:txBody>
          <a:bodyPr/>
          <a:lstStyle/>
          <a:p>
            <a:pPr marL="0" indent="0">
              <a:buNone/>
            </a:pPr>
            <a:r>
              <a:rPr lang="ru-RU"/>
              <a:t>For </a:t>
            </a:r>
            <a:r>
              <a:rPr lang="ru-RU" err="1"/>
              <a:t>valid</a:t>
            </a:r>
            <a:r>
              <a:rPr lang="ru-RU"/>
              <a:t> </a:t>
            </a:r>
            <a:r>
              <a:rPr lang="ru-RU" err="1"/>
              <a:t>inference</a:t>
            </a:r>
            <a:r>
              <a:rPr lang="ru-RU"/>
              <a:t> (p‑</a:t>
            </a:r>
            <a:r>
              <a:rPr lang="ru-RU" err="1"/>
              <a:t>values</a:t>
            </a:r>
            <a:r>
              <a:rPr lang="ru-RU"/>
              <a:t>, </a:t>
            </a:r>
            <a:r>
              <a:rPr lang="ru-RU" err="1"/>
              <a:t>confidence</a:t>
            </a:r>
            <a:r>
              <a:rPr lang="ru-RU"/>
              <a:t> </a:t>
            </a:r>
            <a:r>
              <a:rPr lang="ru-RU" err="1"/>
              <a:t>intervals</a:t>
            </a:r>
            <a:r>
              <a:rPr lang="ru-RU"/>
              <a:t>):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/>
              <a:t>1. LINEARITY: </a:t>
            </a:r>
            <a:r>
              <a:rPr lang="ru-RU" err="1"/>
              <a:t>Relationship</a:t>
            </a:r>
            <a:r>
              <a:rPr lang="ru-RU"/>
              <a:t> </a:t>
            </a:r>
            <a:r>
              <a:rPr lang="ru-RU" err="1"/>
              <a:t>between</a:t>
            </a:r>
            <a:r>
              <a:rPr lang="ru-RU"/>
              <a:t> x </a:t>
            </a:r>
            <a:r>
              <a:rPr lang="ru-RU" err="1"/>
              <a:t>and</a:t>
            </a:r>
            <a:r>
              <a:rPr lang="ru-RU"/>
              <a:t> y 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linear</a:t>
            </a:r>
            <a:r>
              <a:rPr lang="ru-RU"/>
              <a:t>.</a:t>
            </a:r>
          </a:p>
          <a:p>
            <a:pPr marL="0" indent="0">
              <a:buNone/>
            </a:pPr>
            <a:r>
              <a:rPr lang="ru-RU"/>
              <a:t>2. INDEPENDENCE: </a:t>
            </a:r>
            <a:r>
              <a:rPr lang="ru-RU" err="1"/>
              <a:t>Observations</a:t>
            </a:r>
            <a:r>
              <a:rPr lang="ru-RU"/>
              <a:t> </a:t>
            </a:r>
            <a:r>
              <a:rPr lang="ru-RU" err="1"/>
              <a:t>are</a:t>
            </a:r>
            <a:r>
              <a:rPr lang="ru-RU"/>
              <a:t> </a:t>
            </a:r>
            <a:r>
              <a:rPr lang="ru-RU" err="1"/>
              <a:t>independent</a:t>
            </a:r>
            <a:r>
              <a:rPr lang="ru-RU"/>
              <a:t>.</a:t>
            </a:r>
          </a:p>
          <a:p>
            <a:pPr marL="0" indent="0">
              <a:buNone/>
            </a:pPr>
            <a:r>
              <a:rPr lang="ru-RU"/>
              <a:t>3. HOMOSCEDASTICITY: </a:t>
            </a:r>
            <a:r>
              <a:rPr lang="ru-RU" err="1"/>
              <a:t>Constant</a:t>
            </a:r>
            <a:r>
              <a:rPr lang="ru-RU"/>
              <a:t> </a:t>
            </a:r>
            <a:r>
              <a:rPr lang="ru-RU" err="1"/>
              <a:t>variance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residuals</a:t>
            </a:r>
            <a:r>
              <a:rPr lang="ru-RU"/>
              <a:t>.</a:t>
            </a:r>
          </a:p>
          <a:p>
            <a:pPr marL="0" indent="0">
              <a:buNone/>
            </a:pPr>
            <a:r>
              <a:rPr lang="ru-RU"/>
              <a:t>4. NORMALITY: </a:t>
            </a:r>
            <a:r>
              <a:rPr lang="ru-RU" err="1"/>
              <a:t>Residuals</a:t>
            </a:r>
            <a:r>
              <a:rPr lang="ru-RU"/>
              <a:t> </a:t>
            </a:r>
            <a:r>
              <a:rPr lang="ru-RU" err="1"/>
              <a:t>are</a:t>
            </a:r>
            <a:r>
              <a:rPr lang="ru-RU"/>
              <a:t> </a:t>
            </a:r>
            <a:r>
              <a:rPr lang="ru-RU" err="1"/>
              <a:t>normally</a:t>
            </a:r>
            <a:r>
              <a:rPr lang="ru-RU"/>
              <a:t> </a:t>
            </a:r>
            <a:r>
              <a:rPr lang="ru-RU" err="1"/>
              <a:t>distributed</a:t>
            </a:r>
            <a:r>
              <a:rPr lang="ru-RU"/>
              <a:t> (</a:t>
            </a:r>
            <a:r>
              <a:rPr lang="ru-RU" err="1"/>
              <a:t>for</a:t>
            </a:r>
            <a:r>
              <a:rPr lang="ru-RU"/>
              <a:t> </a:t>
            </a:r>
            <a:r>
              <a:rPr lang="ru-RU" err="1"/>
              <a:t>small</a:t>
            </a:r>
            <a:r>
              <a:rPr lang="ru-RU"/>
              <a:t> </a:t>
            </a:r>
            <a:r>
              <a:rPr lang="ru-RU" err="1"/>
              <a:t>samples</a:t>
            </a:r>
            <a:r>
              <a:rPr lang="ru-RU"/>
              <a:t>).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24266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229AC6-A569-8029-2E7B-52E97B42F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8548"/>
          </a:xfrm>
        </p:spPr>
        <p:txBody>
          <a:bodyPr>
            <a:normAutofit fontScale="90000"/>
          </a:bodyPr>
          <a:lstStyle/>
          <a:p>
            <a:r>
              <a:rPr lang="ru-RU" b="1" err="1"/>
              <a:t>Confidence</a:t>
            </a:r>
            <a:r>
              <a:rPr lang="ru-RU" b="1"/>
              <a:t> </a:t>
            </a:r>
            <a:r>
              <a:rPr lang="ru-RU" b="1" err="1"/>
              <a:t>Intervals</a:t>
            </a:r>
            <a:r>
              <a:rPr lang="ru-RU" b="1"/>
              <a:t> </a:t>
            </a:r>
            <a:r>
              <a:rPr lang="ru-RU" b="1" err="1"/>
              <a:t>for</a:t>
            </a:r>
            <a:r>
              <a:rPr lang="ru-RU" b="1"/>
              <a:t> </a:t>
            </a:r>
            <a:r>
              <a:rPr lang="ru-RU" b="1" err="1"/>
              <a:t>Coefficients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F7ADC2-AAD3-6862-2730-EE4D9BF09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8473"/>
            <a:ext cx="10515600" cy="48884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/>
              <a:t>A 95% </a:t>
            </a:r>
            <a:r>
              <a:rPr lang="ru-RU" err="1"/>
              <a:t>confidence</a:t>
            </a:r>
            <a:r>
              <a:rPr lang="ru-RU"/>
              <a:t> </a:t>
            </a:r>
            <a:r>
              <a:rPr lang="ru-RU" err="1"/>
              <a:t>interval</a:t>
            </a:r>
            <a:r>
              <a:rPr lang="ru-RU"/>
              <a:t> </a:t>
            </a:r>
            <a:r>
              <a:rPr lang="ru-RU" err="1"/>
              <a:t>for</a:t>
            </a:r>
            <a:r>
              <a:rPr lang="ru-RU"/>
              <a:t> </a:t>
            </a:r>
            <a:r>
              <a:rPr lang="ru-RU" err="1"/>
              <a:t>the</a:t>
            </a:r>
            <a:r>
              <a:rPr lang="ru-RU"/>
              <a:t> </a:t>
            </a:r>
            <a:r>
              <a:rPr lang="ru-RU" err="1"/>
              <a:t>slope</a:t>
            </a:r>
            <a:r>
              <a:rPr lang="ru-RU"/>
              <a:t> </a:t>
            </a:r>
            <a:r>
              <a:rPr lang="ru-RU" err="1"/>
              <a:t>gives</a:t>
            </a:r>
            <a:r>
              <a:rPr lang="ru-RU"/>
              <a:t> a </a:t>
            </a:r>
            <a:r>
              <a:rPr lang="ru-RU" err="1"/>
              <a:t>range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plausible</a:t>
            </a:r>
            <a:r>
              <a:rPr lang="ru-RU"/>
              <a:t> </a:t>
            </a:r>
            <a:r>
              <a:rPr lang="ru-RU" err="1"/>
              <a:t>values</a:t>
            </a:r>
            <a:r>
              <a:rPr lang="ru-RU"/>
              <a:t>: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/>
              <a:t>CI = b₁ ± t_{</a:t>
            </a:r>
            <a:r>
              <a:rPr lang="ru-RU" err="1"/>
              <a:t>critical</a:t>
            </a:r>
            <a:r>
              <a:rPr lang="ru-RU"/>
              <a:t>} × SE(b₁)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err="1"/>
              <a:t>Interpretation</a:t>
            </a:r>
            <a:r>
              <a:rPr lang="ru-RU"/>
              <a:t>: We </a:t>
            </a:r>
            <a:r>
              <a:rPr lang="ru-RU" err="1"/>
              <a:t>are</a:t>
            </a:r>
            <a:r>
              <a:rPr lang="ru-RU"/>
              <a:t> 95% </a:t>
            </a:r>
            <a:r>
              <a:rPr lang="ru-RU" err="1"/>
              <a:t>confident</a:t>
            </a:r>
            <a:r>
              <a:rPr lang="ru-RU"/>
              <a:t> </a:t>
            </a:r>
            <a:r>
              <a:rPr lang="ru-RU" err="1"/>
              <a:t>that</a:t>
            </a:r>
            <a:r>
              <a:rPr lang="ru-RU"/>
              <a:t> </a:t>
            </a:r>
            <a:r>
              <a:rPr lang="ru-RU" err="1"/>
              <a:t>the</a:t>
            </a:r>
            <a:r>
              <a:rPr lang="ru-RU"/>
              <a:t> </a:t>
            </a:r>
            <a:r>
              <a:rPr lang="ru-RU" err="1"/>
              <a:t>true</a:t>
            </a:r>
            <a:r>
              <a:rPr lang="ru-RU"/>
              <a:t> </a:t>
            </a:r>
            <a:r>
              <a:rPr lang="ru-RU" err="1"/>
              <a:t>population</a:t>
            </a:r>
            <a:r>
              <a:rPr lang="ru-RU"/>
              <a:t> </a:t>
            </a:r>
            <a:r>
              <a:rPr lang="ru-RU" err="1"/>
              <a:t>slope</a:t>
            </a:r>
            <a:endParaRPr lang="ru-RU"/>
          </a:p>
          <a:p>
            <a:pPr marL="0" indent="0">
              <a:buNone/>
            </a:pPr>
            <a:r>
              <a:rPr lang="ru-RU" err="1"/>
              <a:t>lies</a:t>
            </a:r>
            <a:r>
              <a:rPr lang="ru-RU"/>
              <a:t> </a:t>
            </a:r>
            <a:r>
              <a:rPr lang="ru-RU" err="1"/>
              <a:t>in</a:t>
            </a:r>
            <a:r>
              <a:rPr lang="ru-RU"/>
              <a:t> </a:t>
            </a:r>
            <a:r>
              <a:rPr lang="ru-RU" err="1"/>
              <a:t>this</a:t>
            </a:r>
            <a:r>
              <a:rPr lang="ru-RU"/>
              <a:t> </a:t>
            </a:r>
            <a:r>
              <a:rPr lang="ru-RU" err="1"/>
              <a:t>interval</a:t>
            </a:r>
            <a:r>
              <a:rPr lang="ru-RU"/>
              <a:t>.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err="1"/>
              <a:t>If</a:t>
            </a:r>
            <a:r>
              <a:rPr lang="ru-RU"/>
              <a:t> </a:t>
            </a:r>
            <a:r>
              <a:rPr lang="ru-RU" err="1"/>
              <a:t>the</a:t>
            </a:r>
            <a:r>
              <a:rPr lang="ru-RU"/>
              <a:t> </a:t>
            </a:r>
            <a:r>
              <a:rPr lang="ru-RU" err="1"/>
              <a:t>interval</a:t>
            </a:r>
            <a:r>
              <a:rPr lang="ru-RU"/>
              <a:t> </a:t>
            </a:r>
            <a:r>
              <a:rPr lang="ru-RU" err="1"/>
              <a:t>does</a:t>
            </a:r>
            <a:r>
              <a:rPr lang="ru-RU"/>
              <a:t> NOT </a:t>
            </a:r>
            <a:r>
              <a:rPr lang="ru-RU" err="1"/>
              <a:t>contain</a:t>
            </a:r>
            <a:r>
              <a:rPr lang="ru-RU"/>
              <a:t> 0 → </a:t>
            </a:r>
            <a:r>
              <a:rPr lang="ru-RU" err="1"/>
              <a:t>significant</a:t>
            </a:r>
            <a:r>
              <a:rPr lang="ru-RU"/>
              <a:t> </a:t>
            </a:r>
            <a:r>
              <a:rPr lang="ru-RU" err="1"/>
              <a:t>at</a:t>
            </a:r>
            <a:r>
              <a:rPr lang="ru-RU"/>
              <a:t> α = 0.05.</a:t>
            </a:r>
          </a:p>
        </p:txBody>
      </p:sp>
    </p:spTree>
    <p:extLst>
      <p:ext uri="{BB962C8B-B14F-4D97-AF65-F5344CB8AC3E}">
        <p14:creationId xmlns:p14="http://schemas.microsoft.com/office/powerpoint/2010/main" val="27638220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868DCE-7932-B104-1E48-A51EC7CD4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3239"/>
          </a:xfrm>
        </p:spPr>
        <p:txBody>
          <a:bodyPr/>
          <a:lstStyle/>
          <a:p>
            <a:r>
              <a:rPr lang="ru-RU" b="1" err="1"/>
              <a:t>Multiple</a:t>
            </a:r>
            <a:r>
              <a:rPr lang="ru-RU" b="1"/>
              <a:t> </a:t>
            </a:r>
            <a:r>
              <a:rPr lang="ru-RU" b="1" err="1"/>
              <a:t>Regression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F0FC10-315C-32B2-AB04-2EE91C433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2327"/>
            <a:ext cx="10515600" cy="48746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err="1"/>
              <a:t>Rarely</a:t>
            </a:r>
            <a:r>
              <a:rPr lang="ru-RU"/>
              <a:t> 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one</a:t>
            </a:r>
            <a:r>
              <a:rPr lang="ru-RU"/>
              <a:t> </a:t>
            </a:r>
            <a:r>
              <a:rPr lang="ru-RU" err="1"/>
              <a:t>variable</a:t>
            </a:r>
            <a:r>
              <a:rPr lang="ru-RU"/>
              <a:t> </a:t>
            </a:r>
            <a:r>
              <a:rPr lang="ru-RU" err="1"/>
              <a:t>enough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predict</a:t>
            </a:r>
            <a:r>
              <a:rPr lang="ru-RU"/>
              <a:t> </a:t>
            </a:r>
            <a:r>
              <a:rPr lang="ru-RU" err="1"/>
              <a:t>an</a:t>
            </a:r>
            <a:r>
              <a:rPr lang="ru-RU"/>
              <a:t> </a:t>
            </a:r>
            <a:r>
              <a:rPr lang="ru-RU" err="1"/>
              <a:t>outcome</a:t>
            </a:r>
            <a:r>
              <a:rPr lang="ru-RU"/>
              <a:t>.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err="1"/>
              <a:t>Example</a:t>
            </a:r>
            <a:r>
              <a:rPr lang="ru-RU"/>
              <a:t>: </a:t>
            </a:r>
            <a:r>
              <a:rPr lang="ru-RU" err="1"/>
              <a:t>Predicting</a:t>
            </a:r>
            <a:r>
              <a:rPr lang="ru-RU"/>
              <a:t> </a:t>
            </a:r>
            <a:r>
              <a:rPr lang="ru-RU" err="1"/>
              <a:t>exam</a:t>
            </a:r>
            <a:r>
              <a:rPr lang="ru-RU"/>
              <a:t> </a:t>
            </a:r>
            <a:r>
              <a:rPr lang="ru-RU" err="1"/>
              <a:t>score</a:t>
            </a:r>
            <a:endParaRPr lang="ru-RU"/>
          </a:p>
          <a:p>
            <a:pPr marL="0" indent="0">
              <a:buNone/>
            </a:pPr>
            <a:r>
              <a:rPr lang="ru-RU"/>
              <a:t>• Study </a:t>
            </a:r>
            <a:r>
              <a:rPr lang="ru-RU" err="1"/>
              <a:t>hours</a:t>
            </a:r>
            <a:r>
              <a:rPr lang="ru-RU"/>
              <a:t> 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important</a:t>
            </a:r>
            <a:r>
              <a:rPr lang="ru-RU"/>
              <a:t>, </a:t>
            </a:r>
            <a:r>
              <a:rPr lang="ru-RU" err="1"/>
              <a:t>but</a:t>
            </a:r>
            <a:r>
              <a:rPr lang="ru-RU"/>
              <a:t> </a:t>
            </a:r>
            <a:r>
              <a:rPr lang="ru-RU" err="1"/>
              <a:t>so</a:t>
            </a:r>
            <a:r>
              <a:rPr lang="ru-RU"/>
              <a:t> </a:t>
            </a:r>
            <a:r>
              <a:rPr lang="ru-RU" err="1"/>
              <a:t>is</a:t>
            </a:r>
            <a:r>
              <a:rPr lang="ru-RU"/>
              <a:t>:</a:t>
            </a:r>
          </a:p>
          <a:p>
            <a:pPr marL="0" indent="0">
              <a:buNone/>
            </a:pPr>
            <a:r>
              <a:rPr lang="ru-RU"/>
              <a:t>  - </a:t>
            </a:r>
            <a:r>
              <a:rPr lang="ru-RU" err="1"/>
              <a:t>Sleep</a:t>
            </a:r>
            <a:r>
              <a:rPr lang="ru-RU"/>
              <a:t> </a:t>
            </a:r>
            <a:r>
              <a:rPr lang="ru-RU" err="1"/>
              <a:t>hours</a:t>
            </a:r>
            <a:endParaRPr lang="ru-RU"/>
          </a:p>
          <a:p>
            <a:pPr marL="0" indent="0">
              <a:buNone/>
            </a:pPr>
            <a:r>
              <a:rPr lang="ru-RU"/>
              <a:t>  - </a:t>
            </a:r>
            <a:r>
              <a:rPr lang="ru-RU" err="1"/>
              <a:t>Previous</a:t>
            </a:r>
            <a:r>
              <a:rPr lang="ru-RU"/>
              <a:t> GPA</a:t>
            </a:r>
          </a:p>
          <a:p>
            <a:pPr marL="0" indent="0">
              <a:buNone/>
            </a:pPr>
            <a:r>
              <a:rPr lang="ru-RU"/>
              <a:t>  - </a:t>
            </a:r>
            <a:r>
              <a:rPr lang="ru-RU" err="1"/>
              <a:t>Attendance</a:t>
            </a:r>
            <a:endParaRPr lang="ru-RU"/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err="1"/>
              <a:t>Multiple</a:t>
            </a:r>
            <a:r>
              <a:rPr lang="ru-RU"/>
              <a:t> </a:t>
            </a:r>
            <a:r>
              <a:rPr lang="ru-RU" err="1"/>
              <a:t>regression</a:t>
            </a:r>
            <a:r>
              <a:rPr lang="ru-RU"/>
              <a:t>: y = β₀ + β₁x₁ + β₂x₂ + … + βₚxₚ + ε</a:t>
            </a:r>
          </a:p>
        </p:txBody>
      </p:sp>
    </p:spTree>
    <p:extLst>
      <p:ext uri="{BB962C8B-B14F-4D97-AF65-F5344CB8AC3E}">
        <p14:creationId xmlns:p14="http://schemas.microsoft.com/office/powerpoint/2010/main" val="13714604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9FBAB1-6C46-6144-A892-2A5F460BD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6257"/>
          </a:xfrm>
        </p:spPr>
        <p:txBody>
          <a:bodyPr>
            <a:normAutofit fontScale="90000"/>
          </a:bodyPr>
          <a:lstStyle/>
          <a:p>
            <a:r>
              <a:rPr lang="ru-RU" b="1"/>
              <a:t>The </a:t>
            </a:r>
            <a:r>
              <a:rPr lang="ru-RU" b="1" err="1"/>
              <a:t>Multiple</a:t>
            </a:r>
            <a:r>
              <a:rPr lang="ru-RU" b="1"/>
              <a:t> </a:t>
            </a:r>
            <a:r>
              <a:rPr lang="ru-RU" b="1" err="1"/>
              <a:t>Regression</a:t>
            </a:r>
            <a:r>
              <a:rPr lang="ru-RU" b="1"/>
              <a:t> Model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5331C6-8FC2-145E-3C1A-6D3DF57B6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3055"/>
            <a:ext cx="10515600" cy="4943908"/>
          </a:xfrm>
        </p:spPr>
        <p:txBody>
          <a:bodyPr/>
          <a:lstStyle/>
          <a:p>
            <a:pPr marL="0" indent="0">
              <a:buNone/>
            </a:pPr>
            <a:r>
              <a:rPr lang="ru-RU"/>
              <a:t>ŷ = b₀ + </a:t>
            </a:r>
            <a:r>
              <a:rPr lang="ru-RU" err="1"/>
              <a:t>b₁x</a:t>
            </a:r>
            <a:r>
              <a:rPr lang="ru-RU"/>
              <a:t>₁ + </a:t>
            </a:r>
            <a:r>
              <a:rPr lang="ru-RU" err="1"/>
              <a:t>b₂x</a:t>
            </a:r>
            <a:r>
              <a:rPr lang="ru-RU"/>
              <a:t>₂ + … + </a:t>
            </a:r>
            <a:r>
              <a:rPr lang="ru-RU" err="1"/>
              <a:t>bₚx</a:t>
            </a:r>
            <a:r>
              <a:rPr lang="ru-RU"/>
              <a:t>ₚ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err="1"/>
              <a:t>Each</a:t>
            </a:r>
            <a:r>
              <a:rPr lang="ru-RU"/>
              <a:t> </a:t>
            </a:r>
            <a:r>
              <a:rPr lang="ru-RU" err="1"/>
              <a:t>coefficient</a:t>
            </a:r>
            <a:r>
              <a:rPr lang="ru-RU"/>
              <a:t> </a:t>
            </a:r>
            <a:r>
              <a:rPr lang="ru-RU" err="1"/>
              <a:t>b_j</a:t>
            </a:r>
            <a:r>
              <a:rPr lang="ru-RU"/>
              <a:t> 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the</a:t>
            </a:r>
            <a:r>
              <a:rPr lang="ru-RU"/>
              <a:t> </a:t>
            </a:r>
            <a:r>
              <a:rPr lang="ru-RU" err="1"/>
              <a:t>effect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that</a:t>
            </a:r>
            <a:r>
              <a:rPr lang="ru-RU"/>
              <a:t> </a:t>
            </a:r>
            <a:r>
              <a:rPr lang="ru-RU" err="1"/>
              <a:t>predictor</a:t>
            </a:r>
            <a:endParaRPr lang="ru-RU"/>
          </a:p>
          <a:p>
            <a:pPr marL="0" indent="0">
              <a:buNone/>
            </a:pPr>
            <a:r>
              <a:rPr lang="ru-RU" err="1"/>
              <a:t>while</a:t>
            </a:r>
            <a:r>
              <a:rPr lang="ru-RU"/>
              <a:t> </a:t>
            </a:r>
            <a:r>
              <a:rPr lang="ru-RU" err="1"/>
              <a:t>holding</a:t>
            </a:r>
            <a:r>
              <a:rPr lang="ru-RU"/>
              <a:t> </a:t>
            </a:r>
            <a:r>
              <a:rPr lang="ru-RU" err="1"/>
              <a:t>all</a:t>
            </a:r>
            <a:r>
              <a:rPr lang="ru-RU"/>
              <a:t> </a:t>
            </a:r>
            <a:r>
              <a:rPr lang="ru-RU" err="1"/>
              <a:t>others</a:t>
            </a:r>
            <a:r>
              <a:rPr lang="ru-RU"/>
              <a:t> </a:t>
            </a:r>
            <a:r>
              <a:rPr lang="ru-RU" err="1"/>
              <a:t>constant</a:t>
            </a:r>
            <a:r>
              <a:rPr lang="ru-RU"/>
              <a:t>.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err="1"/>
              <a:t>Interpretation</a:t>
            </a:r>
            <a:r>
              <a:rPr lang="ru-RU"/>
              <a:t>:</a:t>
            </a:r>
          </a:p>
          <a:p>
            <a:pPr marL="0" indent="0">
              <a:buNone/>
            </a:pPr>
            <a:r>
              <a:rPr lang="ru-RU"/>
              <a:t>• b₁ = </a:t>
            </a:r>
            <a:r>
              <a:rPr lang="ru-RU" err="1"/>
              <a:t>change</a:t>
            </a:r>
            <a:r>
              <a:rPr lang="ru-RU"/>
              <a:t> </a:t>
            </a:r>
            <a:r>
              <a:rPr lang="ru-RU" err="1"/>
              <a:t>in</a:t>
            </a:r>
            <a:r>
              <a:rPr lang="ru-RU"/>
              <a:t> y </a:t>
            </a:r>
            <a:r>
              <a:rPr lang="ru-RU" err="1"/>
              <a:t>for</a:t>
            </a:r>
            <a:r>
              <a:rPr lang="ru-RU"/>
              <a:t> a 1‑unit </a:t>
            </a:r>
            <a:r>
              <a:rPr lang="ru-RU" err="1"/>
              <a:t>increase</a:t>
            </a:r>
            <a:r>
              <a:rPr lang="ru-RU"/>
              <a:t> </a:t>
            </a:r>
            <a:r>
              <a:rPr lang="ru-RU" err="1"/>
              <a:t>in</a:t>
            </a:r>
            <a:r>
              <a:rPr lang="ru-RU"/>
              <a:t> x₁,</a:t>
            </a:r>
          </a:p>
          <a:p>
            <a:pPr marL="0" indent="0">
              <a:buNone/>
            </a:pPr>
            <a:r>
              <a:rPr lang="ru-RU"/>
              <a:t>       </a:t>
            </a:r>
            <a:r>
              <a:rPr lang="ru-RU" err="1"/>
              <a:t>keeping</a:t>
            </a:r>
            <a:r>
              <a:rPr lang="ru-RU"/>
              <a:t> x₂, x₃, … </a:t>
            </a:r>
            <a:r>
              <a:rPr lang="ru-RU" err="1"/>
              <a:t>fixed</a:t>
            </a:r>
            <a:r>
              <a:rPr lang="ru-RU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06609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150ABB-3E4D-E96B-DBE4-D55857A40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ru-RU" b="1"/>
              <a:t>Python – </a:t>
            </a:r>
            <a:r>
              <a:rPr lang="ru-RU" b="1" err="1"/>
              <a:t>Fitting</a:t>
            </a:r>
            <a:r>
              <a:rPr lang="ru-RU" b="1"/>
              <a:t> </a:t>
            </a:r>
            <a:r>
              <a:rPr lang="ru-RU" b="1" err="1"/>
              <a:t>Multiple</a:t>
            </a:r>
            <a:r>
              <a:rPr lang="ru-RU" b="1"/>
              <a:t> </a:t>
            </a:r>
            <a:r>
              <a:rPr lang="ru-RU" b="1" err="1"/>
              <a:t>Regression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A497E3-B67A-186D-F4E2-DAA8AE50B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582"/>
            <a:ext cx="10515600" cy="4708381"/>
          </a:xfrm>
        </p:spPr>
        <p:txBody>
          <a:bodyPr/>
          <a:lstStyle/>
          <a:p>
            <a:pPr marL="0" indent="0">
              <a:buNone/>
            </a:pPr>
            <a:r>
              <a:rPr lang="ru-RU" i="1"/>
              <a:t># </a:t>
            </a:r>
            <a:r>
              <a:rPr lang="ru-RU" i="1" err="1"/>
              <a:t>Add</a:t>
            </a:r>
            <a:r>
              <a:rPr lang="ru-RU" i="1"/>
              <a:t> </a:t>
            </a:r>
            <a:r>
              <a:rPr lang="ru-RU" i="1" err="1"/>
              <a:t>more</a:t>
            </a:r>
            <a:r>
              <a:rPr lang="ru-RU" i="1"/>
              <a:t> </a:t>
            </a:r>
            <a:r>
              <a:rPr lang="ru-RU" i="1" err="1"/>
              <a:t>predictors</a:t>
            </a:r>
            <a:endParaRPr lang="ru-RU"/>
          </a:p>
          <a:p>
            <a:pPr marL="0" indent="0">
              <a:buNone/>
            </a:pPr>
            <a:r>
              <a:rPr lang="ru-RU" err="1"/>
              <a:t>X_multi</a:t>
            </a:r>
            <a:r>
              <a:rPr lang="ru-RU"/>
              <a:t> = </a:t>
            </a:r>
            <a:r>
              <a:rPr lang="ru-RU" err="1"/>
              <a:t>df</a:t>
            </a:r>
            <a:r>
              <a:rPr lang="ru-RU"/>
              <a:t>[['</a:t>
            </a:r>
            <a:r>
              <a:rPr lang="ru-RU" err="1"/>
              <a:t>study_hours</a:t>
            </a:r>
            <a:r>
              <a:rPr lang="ru-RU"/>
              <a:t>', '</a:t>
            </a:r>
            <a:r>
              <a:rPr lang="ru-RU" err="1"/>
              <a:t>sleep_hours</a:t>
            </a:r>
            <a:r>
              <a:rPr lang="ru-RU"/>
              <a:t>']]</a:t>
            </a:r>
          </a:p>
          <a:p>
            <a:pPr marL="0" indent="0">
              <a:buNone/>
            </a:pPr>
            <a:r>
              <a:rPr lang="ru-RU" err="1"/>
              <a:t>X_multi</a:t>
            </a:r>
            <a:r>
              <a:rPr lang="ru-RU"/>
              <a:t> = </a:t>
            </a:r>
            <a:r>
              <a:rPr lang="ru-RU" err="1"/>
              <a:t>sm.add_constant</a:t>
            </a:r>
            <a:r>
              <a:rPr lang="ru-RU"/>
              <a:t>(</a:t>
            </a:r>
            <a:r>
              <a:rPr lang="ru-RU" err="1"/>
              <a:t>X_multi</a:t>
            </a:r>
            <a:r>
              <a:rPr lang="ru-RU"/>
              <a:t>)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err="1"/>
              <a:t>model_multi</a:t>
            </a:r>
            <a:r>
              <a:rPr lang="ru-RU"/>
              <a:t> = </a:t>
            </a:r>
            <a:r>
              <a:rPr lang="ru-RU" err="1"/>
              <a:t>sm.OLS</a:t>
            </a:r>
            <a:r>
              <a:rPr lang="ru-RU"/>
              <a:t>(y, </a:t>
            </a:r>
            <a:r>
              <a:rPr lang="ru-RU" err="1"/>
              <a:t>X_multi</a:t>
            </a:r>
            <a:r>
              <a:rPr lang="ru-RU"/>
              <a:t>).</a:t>
            </a:r>
            <a:r>
              <a:rPr lang="ru-RU" err="1"/>
              <a:t>fit</a:t>
            </a:r>
            <a:r>
              <a:rPr lang="ru-RU"/>
              <a:t>()</a:t>
            </a:r>
          </a:p>
          <a:p>
            <a:pPr marL="0" indent="0">
              <a:buNone/>
            </a:pPr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model_multi.summary</a:t>
            </a:r>
            <a:r>
              <a:rPr lang="ru-RU"/>
              <a:t>())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77270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148C4D-2ED1-4FAC-1B0E-4217C2A38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6366"/>
          </a:xfrm>
        </p:spPr>
        <p:txBody>
          <a:bodyPr/>
          <a:lstStyle/>
          <a:p>
            <a:r>
              <a:rPr lang="ru-RU" b="1" err="1"/>
              <a:t>Adjusted</a:t>
            </a:r>
            <a:r>
              <a:rPr lang="ru-RU" b="1"/>
              <a:t> R‑</a:t>
            </a:r>
            <a:r>
              <a:rPr lang="ru-RU" b="1" err="1"/>
              <a:t>squared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1067DD-9C9F-7C93-DE6A-31DFAD7E0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/>
              <a:t>R² </a:t>
            </a:r>
            <a:r>
              <a:rPr lang="ru-RU" err="1"/>
              <a:t>always</a:t>
            </a:r>
            <a:r>
              <a:rPr lang="ru-RU"/>
              <a:t> </a:t>
            </a:r>
            <a:r>
              <a:rPr lang="ru-RU" err="1"/>
              <a:t>increases</a:t>
            </a:r>
            <a:r>
              <a:rPr lang="ru-RU"/>
              <a:t> </a:t>
            </a:r>
            <a:r>
              <a:rPr lang="ru-RU" err="1"/>
              <a:t>when</a:t>
            </a:r>
            <a:r>
              <a:rPr lang="ru-RU"/>
              <a:t> </a:t>
            </a:r>
            <a:r>
              <a:rPr lang="ru-RU" err="1"/>
              <a:t>you</a:t>
            </a:r>
            <a:r>
              <a:rPr lang="ru-RU"/>
              <a:t> </a:t>
            </a:r>
            <a:r>
              <a:rPr lang="ru-RU" err="1"/>
              <a:t>add</a:t>
            </a:r>
            <a:r>
              <a:rPr lang="ru-RU"/>
              <a:t> </a:t>
            </a:r>
            <a:r>
              <a:rPr lang="ru-RU" err="1"/>
              <a:t>more</a:t>
            </a:r>
            <a:r>
              <a:rPr lang="ru-RU"/>
              <a:t> </a:t>
            </a:r>
            <a:r>
              <a:rPr lang="ru-RU" err="1"/>
              <a:t>predictors</a:t>
            </a:r>
            <a:r>
              <a:rPr lang="ru-RU"/>
              <a:t>, </a:t>
            </a:r>
            <a:r>
              <a:rPr lang="ru-RU" err="1"/>
              <a:t>even</a:t>
            </a:r>
            <a:r>
              <a:rPr lang="ru-RU"/>
              <a:t> </a:t>
            </a:r>
            <a:r>
              <a:rPr lang="ru-RU" err="1"/>
              <a:t>useless</a:t>
            </a:r>
            <a:r>
              <a:rPr lang="ru-RU"/>
              <a:t> </a:t>
            </a:r>
            <a:r>
              <a:rPr lang="ru-RU" err="1"/>
              <a:t>ones</a:t>
            </a:r>
            <a:r>
              <a:rPr lang="ru-RU"/>
              <a:t>.</a:t>
            </a:r>
          </a:p>
          <a:p>
            <a:pPr marL="0" indent="0">
              <a:buNone/>
            </a:pPr>
            <a:r>
              <a:rPr lang="ru-RU" err="1"/>
              <a:t>Adjusted</a:t>
            </a:r>
            <a:r>
              <a:rPr lang="ru-RU"/>
              <a:t> R² </a:t>
            </a:r>
            <a:r>
              <a:rPr lang="ru-RU" err="1"/>
              <a:t>penalizes</a:t>
            </a:r>
            <a:r>
              <a:rPr lang="ru-RU"/>
              <a:t> </a:t>
            </a:r>
            <a:r>
              <a:rPr lang="ru-RU" err="1"/>
              <a:t>adding</a:t>
            </a:r>
            <a:r>
              <a:rPr lang="ru-RU"/>
              <a:t> </a:t>
            </a:r>
            <a:r>
              <a:rPr lang="ru-RU" err="1"/>
              <a:t>extra</a:t>
            </a:r>
            <a:r>
              <a:rPr lang="ru-RU"/>
              <a:t> </a:t>
            </a:r>
            <a:r>
              <a:rPr lang="ru-RU" err="1"/>
              <a:t>variables</a:t>
            </a:r>
            <a:r>
              <a:rPr lang="ru-RU"/>
              <a:t>.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err="1"/>
              <a:t>Adjusted</a:t>
            </a:r>
            <a:r>
              <a:rPr lang="ru-RU"/>
              <a:t> R² = 1 – (1 – R²) × (n – 1)/(n – p – 1)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err="1"/>
              <a:t>Use</a:t>
            </a:r>
            <a:r>
              <a:rPr lang="ru-RU"/>
              <a:t> </a:t>
            </a:r>
            <a:r>
              <a:rPr lang="ru-RU" err="1"/>
              <a:t>it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compare</a:t>
            </a:r>
            <a:r>
              <a:rPr lang="ru-RU"/>
              <a:t> </a:t>
            </a:r>
            <a:r>
              <a:rPr lang="ru-RU" err="1"/>
              <a:t>models</a:t>
            </a:r>
            <a:r>
              <a:rPr lang="ru-RU"/>
              <a:t> </a:t>
            </a:r>
            <a:r>
              <a:rPr lang="ru-RU" err="1"/>
              <a:t>with</a:t>
            </a:r>
            <a:r>
              <a:rPr lang="ru-RU"/>
              <a:t> </a:t>
            </a:r>
            <a:r>
              <a:rPr lang="ru-RU" err="1"/>
              <a:t>different</a:t>
            </a:r>
            <a:r>
              <a:rPr lang="ru-RU"/>
              <a:t> </a:t>
            </a:r>
            <a:r>
              <a:rPr lang="ru-RU" err="1"/>
              <a:t>numbers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predictors</a:t>
            </a:r>
            <a:r>
              <a:rPr lang="ru-RU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33422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FC4069-EC64-0512-D82D-D0EA79F82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6257"/>
          </a:xfrm>
        </p:spPr>
        <p:txBody>
          <a:bodyPr>
            <a:normAutofit fontScale="90000"/>
          </a:bodyPr>
          <a:lstStyle/>
          <a:p>
            <a:r>
              <a:rPr lang="ru-RU" b="1" err="1"/>
              <a:t>Overall</a:t>
            </a:r>
            <a:r>
              <a:rPr lang="ru-RU" b="1"/>
              <a:t> F‑</a:t>
            </a:r>
            <a:r>
              <a:rPr lang="ru-RU" b="1" err="1"/>
              <a:t>test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C35874-5731-B68D-5394-38009B86B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7745"/>
            <a:ext cx="10515600" cy="4819218"/>
          </a:xfrm>
        </p:spPr>
        <p:txBody>
          <a:bodyPr/>
          <a:lstStyle/>
          <a:p>
            <a:pPr marL="0" indent="0">
              <a:buNone/>
            </a:pPr>
            <a:r>
              <a:rPr lang="ru-RU" err="1"/>
              <a:t>Tests</a:t>
            </a:r>
            <a:r>
              <a:rPr lang="ru-RU"/>
              <a:t> </a:t>
            </a:r>
            <a:r>
              <a:rPr lang="ru-RU" err="1"/>
              <a:t>whether</a:t>
            </a:r>
            <a:r>
              <a:rPr lang="ru-RU"/>
              <a:t> AT LEAST ONE </a:t>
            </a:r>
            <a:r>
              <a:rPr lang="ru-RU" err="1"/>
              <a:t>predictor</a:t>
            </a:r>
            <a:r>
              <a:rPr lang="ru-RU"/>
              <a:t> 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significantly</a:t>
            </a:r>
            <a:r>
              <a:rPr lang="ru-RU"/>
              <a:t> </a:t>
            </a:r>
            <a:r>
              <a:rPr lang="ru-RU" err="1"/>
              <a:t>related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y.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/>
              <a:t>H₀: β₁ = β₂ = … = βₚ = 0  (</a:t>
            </a:r>
            <a:r>
              <a:rPr lang="ru-RU" err="1"/>
              <a:t>all</a:t>
            </a:r>
            <a:r>
              <a:rPr lang="ru-RU"/>
              <a:t> </a:t>
            </a:r>
            <a:r>
              <a:rPr lang="ru-RU" err="1"/>
              <a:t>slopes</a:t>
            </a:r>
            <a:r>
              <a:rPr lang="ru-RU"/>
              <a:t> </a:t>
            </a:r>
            <a:r>
              <a:rPr lang="ru-RU" err="1"/>
              <a:t>zero</a:t>
            </a:r>
            <a:r>
              <a:rPr lang="ru-RU"/>
              <a:t>)</a:t>
            </a:r>
          </a:p>
          <a:p>
            <a:pPr marL="0" indent="0">
              <a:buNone/>
            </a:pPr>
            <a:r>
              <a:rPr lang="ru-RU"/>
              <a:t>H₁: </a:t>
            </a:r>
            <a:r>
              <a:rPr lang="ru-RU" err="1"/>
              <a:t>At</a:t>
            </a:r>
            <a:r>
              <a:rPr lang="ru-RU"/>
              <a:t> </a:t>
            </a:r>
            <a:r>
              <a:rPr lang="ru-RU" err="1"/>
              <a:t>least</a:t>
            </a:r>
            <a:r>
              <a:rPr lang="ru-RU"/>
              <a:t> </a:t>
            </a:r>
            <a:r>
              <a:rPr lang="ru-RU" err="1"/>
              <a:t>one</a:t>
            </a:r>
            <a:r>
              <a:rPr lang="ru-RU"/>
              <a:t> β ≠ 0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/>
              <a:t>F‑</a:t>
            </a:r>
            <a:r>
              <a:rPr lang="ru-RU" err="1"/>
              <a:t>statistic</a:t>
            </a:r>
            <a:r>
              <a:rPr lang="ru-RU"/>
              <a:t> </a:t>
            </a:r>
            <a:r>
              <a:rPr lang="ru-RU" err="1"/>
              <a:t>and</a:t>
            </a:r>
            <a:r>
              <a:rPr lang="ru-RU"/>
              <a:t> p‑</a:t>
            </a:r>
            <a:r>
              <a:rPr lang="ru-RU" err="1"/>
              <a:t>value</a:t>
            </a:r>
            <a:r>
              <a:rPr lang="ru-RU"/>
              <a:t> </a:t>
            </a:r>
            <a:r>
              <a:rPr lang="ru-RU" err="1"/>
              <a:t>are</a:t>
            </a:r>
            <a:r>
              <a:rPr lang="ru-RU"/>
              <a:t> </a:t>
            </a:r>
            <a:r>
              <a:rPr lang="ru-RU" err="1"/>
              <a:t>given</a:t>
            </a:r>
            <a:r>
              <a:rPr lang="ru-RU"/>
              <a:t> </a:t>
            </a:r>
            <a:r>
              <a:rPr lang="ru-RU" err="1"/>
              <a:t>in</a:t>
            </a:r>
            <a:r>
              <a:rPr lang="ru-RU"/>
              <a:t> </a:t>
            </a:r>
            <a:r>
              <a:rPr lang="ru-RU" err="1"/>
              <a:t>the</a:t>
            </a:r>
            <a:r>
              <a:rPr lang="ru-RU"/>
              <a:t> </a:t>
            </a:r>
            <a:r>
              <a:rPr lang="ru-RU" err="1"/>
              <a:t>regression</a:t>
            </a:r>
            <a:r>
              <a:rPr lang="ru-RU"/>
              <a:t> </a:t>
            </a:r>
            <a:r>
              <a:rPr lang="ru-RU" err="1"/>
              <a:t>output</a:t>
            </a:r>
            <a:r>
              <a:rPr lang="ru-RU"/>
              <a:t>.</a:t>
            </a:r>
          </a:p>
          <a:p>
            <a:pPr marL="0" indent="0">
              <a:buNone/>
            </a:pPr>
            <a:r>
              <a:rPr lang="ru-RU" err="1"/>
              <a:t>If</a:t>
            </a:r>
            <a:r>
              <a:rPr lang="ru-RU"/>
              <a:t> p &lt; 0.05, </a:t>
            </a:r>
            <a:r>
              <a:rPr lang="ru-RU" err="1"/>
              <a:t>the</a:t>
            </a:r>
            <a:r>
              <a:rPr lang="ru-RU"/>
              <a:t> </a:t>
            </a:r>
            <a:r>
              <a:rPr lang="ru-RU" err="1"/>
              <a:t>model</a:t>
            </a:r>
            <a:r>
              <a:rPr lang="ru-RU"/>
              <a:t> </a:t>
            </a:r>
            <a:r>
              <a:rPr lang="ru-RU" err="1"/>
              <a:t>as</a:t>
            </a:r>
            <a:r>
              <a:rPr lang="ru-RU"/>
              <a:t> a </a:t>
            </a:r>
            <a:r>
              <a:rPr lang="ru-RU" err="1"/>
              <a:t>whole</a:t>
            </a:r>
            <a:r>
              <a:rPr lang="ru-RU"/>
              <a:t> 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significant</a:t>
            </a:r>
            <a:r>
              <a:rPr lang="ru-RU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279836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45F92F-78B2-A0F6-CC81-2D4B46C19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/>
          <a:lstStyle/>
          <a:p>
            <a:r>
              <a:rPr lang="ru-RU" b="1" err="1"/>
              <a:t>Individual</a:t>
            </a:r>
            <a:r>
              <a:rPr lang="ru-RU" b="1"/>
              <a:t> t‑</a:t>
            </a:r>
            <a:r>
              <a:rPr lang="ru-RU" b="1" err="1"/>
              <a:t>tests</a:t>
            </a:r>
            <a:r>
              <a:rPr lang="ru-RU" b="1"/>
              <a:t> </a:t>
            </a:r>
            <a:r>
              <a:rPr lang="ru-RU" b="1" err="1"/>
              <a:t>for</a:t>
            </a:r>
            <a:r>
              <a:rPr lang="ru-RU" b="1"/>
              <a:t> </a:t>
            </a:r>
            <a:r>
              <a:rPr lang="ru-RU" b="1" err="1"/>
              <a:t>Coefficients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269DAD-4551-4CBA-CFD6-77F48E91F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7745"/>
            <a:ext cx="10515600" cy="48192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err="1"/>
              <a:t>Each</a:t>
            </a:r>
            <a:r>
              <a:rPr lang="ru-RU"/>
              <a:t> </a:t>
            </a:r>
            <a:r>
              <a:rPr lang="ru-RU" err="1"/>
              <a:t>coefficient</a:t>
            </a:r>
            <a:r>
              <a:rPr lang="ru-RU"/>
              <a:t> </a:t>
            </a:r>
            <a:r>
              <a:rPr lang="ru-RU" err="1"/>
              <a:t>has</a:t>
            </a:r>
            <a:r>
              <a:rPr lang="ru-RU"/>
              <a:t> </a:t>
            </a:r>
            <a:r>
              <a:rPr lang="ru-RU" err="1"/>
              <a:t>its</a:t>
            </a:r>
            <a:r>
              <a:rPr lang="ru-RU"/>
              <a:t> </a:t>
            </a:r>
            <a:r>
              <a:rPr lang="ru-RU" err="1"/>
              <a:t>own</a:t>
            </a:r>
            <a:r>
              <a:rPr lang="ru-RU"/>
              <a:t> t‑</a:t>
            </a:r>
            <a:r>
              <a:rPr lang="ru-RU" err="1"/>
              <a:t>test</a:t>
            </a:r>
            <a:r>
              <a:rPr lang="ru-RU"/>
              <a:t>: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/>
              <a:t>H₀: β_j = 0  (</a:t>
            </a:r>
            <a:r>
              <a:rPr lang="ru-RU" err="1"/>
              <a:t>predictor</a:t>
            </a:r>
            <a:r>
              <a:rPr lang="ru-RU"/>
              <a:t> j </a:t>
            </a:r>
            <a:r>
              <a:rPr lang="ru-RU" err="1"/>
              <a:t>has</a:t>
            </a:r>
            <a:r>
              <a:rPr lang="ru-RU"/>
              <a:t> </a:t>
            </a:r>
            <a:r>
              <a:rPr lang="ru-RU" err="1"/>
              <a:t>no</a:t>
            </a:r>
            <a:r>
              <a:rPr lang="ru-RU"/>
              <a:t> </a:t>
            </a:r>
            <a:r>
              <a:rPr lang="ru-RU" err="1"/>
              <a:t>effect</a:t>
            </a:r>
            <a:r>
              <a:rPr lang="ru-RU"/>
              <a:t>, </a:t>
            </a:r>
            <a:r>
              <a:rPr lang="ru-RU" err="1"/>
              <a:t>given</a:t>
            </a:r>
            <a:r>
              <a:rPr lang="ru-RU"/>
              <a:t> </a:t>
            </a:r>
            <a:r>
              <a:rPr lang="ru-RU" err="1"/>
              <a:t>others</a:t>
            </a:r>
            <a:r>
              <a:rPr lang="ru-RU"/>
              <a:t> </a:t>
            </a:r>
            <a:r>
              <a:rPr lang="ru-RU" err="1"/>
              <a:t>in</a:t>
            </a:r>
            <a:r>
              <a:rPr lang="ru-RU"/>
              <a:t> </a:t>
            </a:r>
            <a:r>
              <a:rPr lang="ru-RU" err="1"/>
              <a:t>model</a:t>
            </a:r>
            <a:r>
              <a:rPr lang="ru-RU"/>
              <a:t>)</a:t>
            </a:r>
          </a:p>
          <a:p>
            <a:pPr marL="0" indent="0">
              <a:buNone/>
            </a:pPr>
            <a:r>
              <a:rPr lang="ru-RU"/>
              <a:t>H₁: β_j ≠ 0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/>
              <a:t>p‑</a:t>
            </a:r>
            <a:r>
              <a:rPr lang="ru-RU" err="1"/>
              <a:t>value</a:t>
            </a:r>
            <a:r>
              <a:rPr lang="ru-RU"/>
              <a:t> &lt; 0.05 → </a:t>
            </a:r>
            <a:r>
              <a:rPr lang="ru-RU" err="1"/>
              <a:t>that</a:t>
            </a:r>
            <a:r>
              <a:rPr lang="ru-RU"/>
              <a:t> </a:t>
            </a:r>
            <a:r>
              <a:rPr lang="ru-RU" err="1"/>
              <a:t>predictor</a:t>
            </a:r>
            <a:r>
              <a:rPr lang="ru-RU"/>
              <a:t> </a:t>
            </a:r>
            <a:r>
              <a:rPr lang="ru-RU" err="1"/>
              <a:t>contributes</a:t>
            </a:r>
            <a:r>
              <a:rPr lang="ru-RU"/>
              <a:t> </a:t>
            </a:r>
            <a:r>
              <a:rPr lang="ru-RU" err="1"/>
              <a:t>significantly</a:t>
            </a:r>
            <a:r>
              <a:rPr lang="ru-RU"/>
              <a:t>.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/>
              <a:t>WARNING: </a:t>
            </a:r>
            <a:r>
              <a:rPr lang="ru-RU" err="1"/>
              <a:t>If</a:t>
            </a:r>
            <a:r>
              <a:rPr lang="ru-RU"/>
              <a:t> </a:t>
            </a:r>
            <a:r>
              <a:rPr lang="ru-RU" err="1"/>
              <a:t>predictors</a:t>
            </a:r>
            <a:r>
              <a:rPr lang="ru-RU"/>
              <a:t> </a:t>
            </a:r>
            <a:r>
              <a:rPr lang="ru-RU" err="1"/>
              <a:t>are</a:t>
            </a:r>
            <a:r>
              <a:rPr lang="ru-RU"/>
              <a:t> </a:t>
            </a:r>
            <a:r>
              <a:rPr lang="ru-RU" err="1"/>
              <a:t>correlated</a:t>
            </a:r>
            <a:r>
              <a:rPr lang="ru-RU"/>
              <a:t>, </a:t>
            </a:r>
            <a:r>
              <a:rPr lang="ru-RU" err="1"/>
              <a:t>individual</a:t>
            </a:r>
            <a:r>
              <a:rPr lang="ru-RU"/>
              <a:t> </a:t>
            </a:r>
            <a:r>
              <a:rPr lang="ru-RU" err="1"/>
              <a:t>tests</a:t>
            </a:r>
            <a:r>
              <a:rPr lang="ru-RU"/>
              <a:t> </a:t>
            </a:r>
            <a:r>
              <a:rPr lang="ru-RU" err="1"/>
              <a:t>may</a:t>
            </a:r>
            <a:r>
              <a:rPr lang="ru-RU"/>
              <a:t> </a:t>
            </a:r>
            <a:r>
              <a:rPr lang="ru-RU" err="1"/>
              <a:t>be</a:t>
            </a:r>
            <a:r>
              <a:rPr lang="ru-RU"/>
              <a:t> </a:t>
            </a:r>
            <a:r>
              <a:rPr lang="ru-RU" err="1"/>
              <a:t>misleading</a:t>
            </a:r>
            <a:r>
              <a:rPr lang="ru-RU"/>
              <a:t>.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90332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8BCD22-B2D4-EC34-856A-3A10D09B8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5639"/>
          </a:xfrm>
        </p:spPr>
        <p:txBody>
          <a:bodyPr>
            <a:normAutofit fontScale="90000"/>
          </a:bodyPr>
          <a:lstStyle/>
          <a:p>
            <a:r>
              <a:rPr lang="ru-RU" b="1" err="1"/>
              <a:t>Multicollinearity</a:t>
            </a:r>
            <a:r>
              <a:rPr lang="ru-RU" b="1"/>
              <a:t> – </a:t>
            </a:r>
            <a:r>
              <a:rPr lang="ru-RU" b="1" err="1"/>
              <a:t>When</a:t>
            </a:r>
            <a:r>
              <a:rPr lang="ru-RU" b="1"/>
              <a:t> </a:t>
            </a:r>
            <a:r>
              <a:rPr lang="ru-RU" b="1" err="1"/>
              <a:t>Predictors</a:t>
            </a:r>
            <a:r>
              <a:rPr lang="ru-RU" b="1"/>
              <a:t> </a:t>
            </a:r>
            <a:r>
              <a:rPr lang="ru-RU" b="1" err="1"/>
              <a:t>Are</a:t>
            </a:r>
            <a:r>
              <a:rPr lang="ru-RU" b="1"/>
              <a:t> </a:t>
            </a:r>
            <a:r>
              <a:rPr lang="ru-RU" b="1" err="1"/>
              <a:t>Too</a:t>
            </a:r>
            <a:r>
              <a:rPr lang="ru-RU" b="1"/>
              <a:t> </a:t>
            </a:r>
            <a:r>
              <a:rPr lang="ru-RU" b="1" err="1"/>
              <a:t>Friendly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874F49-E506-23C6-63C6-CFC0A8205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6291"/>
            <a:ext cx="10515600" cy="468067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err="1"/>
              <a:t>Multicollinearity</a:t>
            </a:r>
            <a:r>
              <a:rPr lang="ru-RU"/>
              <a:t> = </a:t>
            </a:r>
            <a:r>
              <a:rPr lang="ru-RU" err="1"/>
              <a:t>high</a:t>
            </a:r>
            <a:r>
              <a:rPr lang="ru-RU"/>
              <a:t> </a:t>
            </a:r>
            <a:r>
              <a:rPr lang="ru-RU" err="1"/>
              <a:t>correlation</a:t>
            </a:r>
            <a:r>
              <a:rPr lang="ru-RU"/>
              <a:t> </a:t>
            </a:r>
            <a:r>
              <a:rPr lang="ru-RU" err="1"/>
              <a:t>among</a:t>
            </a:r>
            <a:r>
              <a:rPr lang="ru-RU"/>
              <a:t> </a:t>
            </a:r>
            <a:r>
              <a:rPr lang="ru-RU" err="1"/>
              <a:t>predictors</a:t>
            </a:r>
            <a:r>
              <a:rPr lang="ru-RU"/>
              <a:t>.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err="1"/>
              <a:t>Problems</a:t>
            </a:r>
            <a:r>
              <a:rPr lang="ru-RU"/>
              <a:t>:</a:t>
            </a:r>
          </a:p>
          <a:p>
            <a:pPr marL="0" indent="0">
              <a:buNone/>
            </a:pPr>
            <a:r>
              <a:rPr lang="ru-RU"/>
              <a:t>• </a:t>
            </a:r>
            <a:r>
              <a:rPr lang="ru-RU" err="1"/>
              <a:t>Coefficients</a:t>
            </a:r>
            <a:r>
              <a:rPr lang="ru-RU"/>
              <a:t> </a:t>
            </a:r>
            <a:r>
              <a:rPr lang="ru-RU" err="1"/>
              <a:t>become</a:t>
            </a:r>
            <a:r>
              <a:rPr lang="ru-RU"/>
              <a:t> </a:t>
            </a:r>
            <a:r>
              <a:rPr lang="ru-RU" err="1"/>
              <a:t>unstable</a:t>
            </a:r>
            <a:r>
              <a:rPr lang="ru-RU"/>
              <a:t> (</a:t>
            </a:r>
            <a:r>
              <a:rPr lang="ru-RU" err="1"/>
              <a:t>small</a:t>
            </a:r>
            <a:r>
              <a:rPr lang="ru-RU"/>
              <a:t> </a:t>
            </a:r>
            <a:r>
              <a:rPr lang="ru-RU" err="1"/>
              <a:t>changes</a:t>
            </a:r>
            <a:r>
              <a:rPr lang="ru-RU"/>
              <a:t> </a:t>
            </a:r>
            <a:r>
              <a:rPr lang="ru-RU" err="1"/>
              <a:t>in</a:t>
            </a:r>
            <a:r>
              <a:rPr lang="ru-RU"/>
              <a:t> </a:t>
            </a:r>
            <a:r>
              <a:rPr lang="ru-RU" err="1"/>
              <a:t>data</a:t>
            </a:r>
            <a:r>
              <a:rPr lang="ru-RU"/>
              <a:t> → </a:t>
            </a:r>
            <a:r>
              <a:rPr lang="ru-RU" err="1"/>
              <a:t>big</a:t>
            </a:r>
            <a:r>
              <a:rPr lang="ru-RU"/>
              <a:t> </a:t>
            </a:r>
            <a:r>
              <a:rPr lang="ru-RU" err="1"/>
              <a:t>changes</a:t>
            </a:r>
            <a:r>
              <a:rPr lang="ru-RU"/>
              <a:t>)</a:t>
            </a:r>
          </a:p>
          <a:p>
            <a:pPr marL="0" indent="0">
              <a:buNone/>
            </a:pPr>
            <a:r>
              <a:rPr lang="ru-RU"/>
              <a:t>• Standard </a:t>
            </a:r>
            <a:r>
              <a:rPr lang="ru-RU" err="1"/>
              <a:t>errors</a:t>
            </a:r>
            <a:r>
              <a:rPr lang="ru-RU"/>
              <a:t> </a:t>
            </a:r>
            <a:r>
              <a:rPr lang="ru-RU" err="1"/>
              <a:t>inflate</a:t>
            </a:r>
            <a:r>
              <a:rPr lang="ru-RU"/>
              <a:t> → </a:t>
            </a:r>
            <a:r>
              <a:rPr lang="ru-RU" err="1"/>
              <a:t>predictors</a:t>
            </a:r>
            <a:r>
              <a:rPr lang="ru-RU"/>
              <a:t> </a:t>
            </a:r>
            <a:r>
              <a:rPr lang="ru-RU" err="1"/>
              <a:t>may</a:t>
            </a:r>
            <a:r>
              <a:rPr lang="ru-RU"/>
              <a:t> </a:t>
            </a:r>
            <a:r>
              <a:rPr lang="ru-RU" err="1"/>
              <a:t>appear</a:t>
            </a:r>
            <a:r>
              <a:rPr lang="ru-RU"/>
              <a:t> </a:t>
            </a:r>
            <a:r>
              <a:rPr lang="ru-RU" err="1"/>
              <a:t>insignificant</a:t>
            </a:r>
            <a:endParaRPr lang="ru-RU"/>
          </a:p>
          <a:p>
            <a:pPr marL="0" indent="0">
              <a:buNone/>
            </a:pPr>
            <a:r>
              <a:rPr lang="ru-RU"/>
              <a:t>• </a:t>
            </a:r>
            <a:r>
              <a:rPr lang="ru-RU" err="1"/>
              <a:t>Difficult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interpret</a:t>
            </a:r>
            <a:r>
              <a:rPr lang="ru-RU"/>
              <a:t> </a:t>
            </a:r>
            <a:r>
              <a:rPr lang="ru-RU" err="1"/>
              <a:t>individual</a:t>
            </a:r>
            <a:r>
              <a:rPr lang="ru-RU"/>
              <a:t> </a:t>
            </a:r>
            <a:r>
              <a:rPr lang="ru-RU" err="1"/>
              <a:t>effects</a:t>
            </a:r>
            <a:endParaRPr lang="ru-RU"/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err="1"/>
              <a:t>Detect</a:t>
            </a:r>
            <a:r>
              <a:rPr lang="ru-RU"/>
              <a:t> </a:t>
            </a:r>
            <a:r>
              <a:rPr lang="ru-RU" err="1"/>
              <a:t>with</a:t>
            </a:r>
            <a:r>
              <a:rPr lang="ru-RU"/>
              <a:t> </a:t>
            </a:r>
            <a:r>
              <a:rPr lang="ru-RU" err="1"/>
              <a:t>Variance</a:t>
            </a:r>
            <a:r>
              <a:rPr lang="ru-RU"/>
              <a:t> </a:t>
            </a:r>
            <a:r>
              <a:rPr lang="ru-RU" err="1"/>
              <a:t>Inflation</a:t>
            </a:r>
            <a:r>
              <a:rPr lang="ru-RU"/>
              <a:t> </a:t>
            </a:r>
            <a:r>
              <a:rPr lang="ru-RU" err="1"/>
              <a:t>Factor</a:t>
            </a:r>
            <a:r>
              <a:rPr lang="ru-RU"/>
              <a:t> (VIF):</a:t>
            </a:r>
          </a:p>
          <a:p>
            <a:pPr marL="0" indent="0">
              <a:buNone/>
            </a:pPr>
            <a:r>
              <a:rPr lang="ru-RU" err="1"/>
              <a:t>VIF_j</a:t>
            </a:r>
            <a:r>
              <a:rPr lang="ru-RU"/>
              <a:t> = 1 / (1 – R²_j)  </a:t>
            </a:r>
            <a:r>
              <a:rPr lang="ru-RU" err="1"/>
              <a:t>where</a:t>
            </a:r>
            <a:r>
              <a:rPr lang="ru-RU"/>
              <a:t> R²_j 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from</a:t>
            </a:r>
            <a:r>
              <a:rPr lang="ru-RU"/>
              <a:t> </a:t>
            </a:r>
            <a:r>
              <a:rPr lang="ru-RU" err="1"/>
              <a:t>regressing</a:t>
            </a:r>
            <a:r>
              <a:rPr lang="ru-RU"/>
              <a:t> </a:t>
            </a:r>
            <a:r>
              <a:rPr lang="ru-RU" err="1"/>
              <a:t>x_j</a:t>
            </a:r>
            <a:r>
              <a:rPr lang="ru-RU"/>
              <a:t> </a:t>
            </a:r>
            <a:r>
              <a:rPr lang="ru-RU" err="1"/>
              <a:t>on</a:t>
            </a:r>
            <a:r>
              <a:rPr lang="ru-RU"/>
              <a:t> </a:t>
            </a:r>
            <a:r>
              <a:rPr lang="ru-RU" err="1"/>
              <a:t>all</a:t>
            </a:r>
            <a:r>
              <a:rPr lang="ru-RU"/>
              <a:t> </a:t>
            </a:r>
            <a:r>
              <a:rPr lang="ru-RU" err="1"/>
              <a:t>other</a:t>
            </a:r>
            <a:r>
              <a:rPr lang="ru-RU"/>
              <a:t> </a:t>
            </a:r>
            <a:r>
              <a:rPr lang="ru-RU" err="1"/>
              <a:t>x's</a:t>
            </a:r>
            <a:r>
              <a:rPr lang="ru-RU"/>
              <a:t>.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err="1"/>
              <a:t>Rule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thumb</a:t>
            </a:r>
            <a:r>
              <a:rPr lang="ru-RU"/>
              <a:t>: VIF &gt; 5–10 </a:t>
            </a:r>
            <a:r>
              <a:rPr lang="ru-RU" err="1"/>
              <a:t>indicates</a:t>
            </a:r>
            <a:r>
              <a:rPr lang="ru-RU"/>
              <a:t> </a:t>
            </a:r>
            <a:r>
              <a:rPr lang="ru-RU" err="1"/>
              <a:t>problematic</a:t>
            </a:r>
            <a:r>
              <a:rPr lang="ru-RU"/>
              <a:t> </a:t>
            </a:r>
            <a:r>
              <a:rPr lang="ru-RU" err="1"/>
              <a:t>multicollinearity</a:t>
            </a:r>
            <a:r>
              <a:rPr lang="ru-RU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579294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5123AD-FF9F-1805-BB94-D57C98C3F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5639"/>
          </a:xfrm>
        </p:spPr>
        <p:txBody>
          <a:bodyPr/>
          <a:lstStyle/>
          <a:p>
            <a:r>
              <a:rPr lang="ru-RU" b="1" err="1"/>
              <a:t>Categorical</a:t>
            </a:r>
            <a:r>
              <a:rPr lang="ru-RU" b="1"/>
              <a:t> </a:t>
            </a:r>
            <a:r>
              <a:rPr lang="ru-RU" b="1" err="1"/>
              <a:t>Predictors</a:t>
            </a:r>
            <a:r>
              <a:rPr lang="ru-RU" b="1"/>
              <a:t> – </a:t>
            </a:r>
            <a:r>
              <a:rPr lang="ru-RU" b="1" err="1"/>
              <a:t>Dummy</a:t>
            </a:r>
            <a:r>
              <a:rPr lang="ru-RU" b="1"/>
              <a:t> </a:t>
            </a:r>
            <a:r>
              <a:rPr lang="ru-RU" b="1" err="1"/>
              <a:t>Variables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2EC1FD-5ECF-959F-C60D-3171E5351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0764"/>
            <a:ext cx="10515600" cy="4916199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err="1"/>
              <a:t>Regression</a:t>
            </a:r>
            <a:r>
              <a:rPr lang="ru-RU"/>
              <a:t> </a:t>
            </a:r>
            <a:r>
              <a:rPr lang="ru-RU" err="1"/>
              <a:t>requires</a:t>
            </a:r>
            <a:r>
              <a:rPr lang="ru-RU"/>
              <a:t> </a:t>
            </a:r>
            <a:r>
              <a:rPr lang="ru-RU" err="1"/>
              <a:t>numerical</a:t>
            </a:r>
            <a:r>
              <a:rPr lang="ru-RU"/>
              <a:t> </a:t>
            </a:r>
            <a:r>
              <a:rPr lang="ru-RU" err="1"/>
              <a:t>inputs</a:t>
            </a:r>
            <a:r>
              <a:rPr lang="ru-RU"/>
              <a:t>.</a:t>
            </a:r>
          </a:p>
          <a:p>
            <a:pPr marL="0" indent="0">
              <a:buNone/>
            </a:pPr>
            <a:r>
              <a:rPr lang="ru-RU"/>
              <a:t>To </a:t>
            </a:r>
            <a:r>
              <a:rPr lang="ru-RU" err="1"/>
              <a:t>include</a:t>
            </a:r>
            <a:r>
              <a:rPr lang="ru-RU"/>
              <a:t> a </a:t>
            </a:r>
            <a:r>
              <a:rPr lang="ru-RU" err="1"/>
              <a:t>categorical</a:t>
            </a:r>
            <a:r>
              <a:rPr lang="ru-RU"/>
              <a:t> </a:t>
            </a:r>
            <a:r>
              <a:rPr lang="ru-RU" err="1"/>
              <a:t>variable</a:t>
            </a:r>
            <a:r>
              <a:rPr lang="ru-RU"/>
              <a:t> (</a:t>
            </a:r>
            <a:r>
              <a:rPr lang="ru-RU" err="1"/>
              <a:t>e.g</a:t>
            </a:r>
            <a:r>
              <a:rPr lang="ru-RU"/>
              <a:t>., </a:t>
            </a:r>
            <a:r>
              <a:rPr lang="ru-RU" err="1"/>
              <a:t>gender</a:t>
            </a:r>
            <a:r>
              <a:rPr lang="ru-RU"/>
              <a:t>, </a:t>
            </a:r>
            <a:r>
              <a:rPr lang="ru-RU" err="1"/>
              <a:t>major</a:t>
            </a:r>
            <a:r>
              <a:rPr lang="ru-RU"/>
              <a:t>), </a:t>
            </a:r>
            <a:r>
              <a:rPr lang="ru-RU" err="1"/>
              <a:t>create</a:t>
            </a:r>
            <a:r>
              <a:rPr lang="ru-RU"/>
              <a:t> </a:t>
            </a:r>
            <a:r>
              <a:rPr lang="ru-RU" err="1"/>
              <a:t>dummy</a:t>
            </a:r>
            <a:r>
              <a:rPr lang="ru-RU"/>
              <a:t> </a:t>
            </a:r>
            <a:r>
              <a:rPr lang="ru-RU" err="1"/>
              <a:t>variables</a:t>
            </a:r>
            <a:r>
              <a:rPr lang="ru-RU"/>
              <a:t>.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err="1"/>
              <a:t>Example</a:t>
            </a:r>
            <a:r>
              <a:rPr lang="ru-RU"/>
              <a:t>: </a:t>
            </a:r>
            <a:r>
              <a:rPr lang="ru-RU" err="1"/>
              <a:t>Gender</a:t>
            </a:r>
            <a:r>
              <a:rPr lang="ru-RU"/>
              <a:t> (</a:t>
            </a:r>
            <a:r>
              <a:rPr lang="ru-RU" err="1"/>
              <a:t>Male</a:t>
            </a:r>
            <a:r>
              <a:rPr lang="ru-RU"/>
              <a:t>, </a:t>
            </a:r>
            <a:r>
              <a:rPr lang="ru-RU" err="1"/>
              <a:t>Female</a:t>
            </a:r>
            <a:r>
              <a:rPr lang="ru-RU"/>
              <a:t>)</a:t>
            </a:r>
          </a:p>
          <a:p>
            <a:pPr marL="0" indent="0">
              <a:buNone/>
            </a:pPr>
            <a:r>
              <a:rPr lang="ru-RU" err="1"/>
              <a:t>Create</a:t>
            </a:r>
            <a:r>
              <a:rPr lang="ru-RU"/>
              <a:t> </a:t>
            </a:r>
            <a:r>
              <a:rPr lang="ru-RU" err="1"/>
              <a:t>one</a:t>
            </a:r>
            <a:r>
              <a:rPr lang="ru-RU"/>
              <a:t> </a:t>
            </a:r>
            <a:r>
              <a:rPr lang="ru-RU" err="1"/>
              <a:t>dummy</a:t>
            </a:r>
            <a:r>
              <a:rPr lang="ru-RU"/>
              <a:t>:</a:t>
            </a:r>
          </a:p>
          <a:p>
            <a:pPr marL="0" indent="0">
              <a:buNone/>
            </a:pPr>
            <a:r>
              <a:rPr lang="ru-RU"/>
              <a:t>• </a:t>
            </a:r>
            <a:r>
              <a:rPr lang="ru-RU" err="1"/>
              <a:t>is_female</a:t>
            </a:r>
            <a:r>
              <a:rPr lang="ru-RU"/>
              <a:t> = 1 </a:t>
            </a:r>
            <a:r>
              <a:rPr lang="ru-RU" err="1"/>
              <a:t>if</a:t>
            </a:r>
            <a:r>
              <a:rPr lang="ru-RU"/>
              <a:t> </a:t>
            </a:r>
            <a:r>
              <a:rPr lang="ru-RU" err="1"/>
              <a:t>female</a:t>
            </a:r>
            <a:r>
              <a:rPr lang="ru-RU"/>
              <a:t>, 0 </a:t>
            </a:r>
            <a:r>
              <a:rPr lang="ru-RU" err="1"/>
              <a:t>otherwise</a:t>
            </a:r>
            <a:endParaRPr lang="ru-RU"/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err="1"/>
              <a:t>Then</a:t>
            </a:r>
            <a:r>
              <a:rPr lang="ru-RU"/>
              <a:t> </a:t>
            </a:r>
            <a:r>
              <a:rPr lang="ru-RU" err="1"/>
              <a:t>model</a:t>
            </a:r>
            <a:r>
              <a:rPr lang="ru-RU"/>
              <a:t>: y = β₀ + β₁ × </a:t>
            </a:r>
            <a:r>
              <a:rPr lang="ru-RU" err="1"/>
              <a:t>is_female</a:t>
            </a:r>
            <a:r>
              <a:rPr lang="ru-RU"/>
              <a:t> + …  </a:t>
            </a:r>
          </a:p>
          <a:p>
            <a:pPr marL="0" indent="0">
              <a:buNone/>
            </a:pPr>
            <a:r>
              <a:rPr lang="ru-RU"/>
              <a:t>β₁ = </a:t>
            </a:r>
            <a:r>
              <a:rPr lang="ru-RU" err="1"/>
              <a:t>difference</a:t>
            </a:r>
            <a:r>
              <a:rPr lang="ru-RU"/>
              <a:t> </a:t>
            </a:r>
            <a:r>
              <a:rPr lang="ru-RU" err="1"/>
              <a:t>in</a:t>
            </a:r>
            <a:r>
              <a:rPr lang="ru-RU"/>
              <a:t> </a:t>
            </a:r>
            <a:r>
              <a:rPr lang="ru-RU" err="1"/>
              <a:t>mean</a:t>
            </a:r>
            <a:r>
              <a:rPr lang="ru-RU"/>
              <a:t> y </a:t>
            </a:r>
            <a:r>
              <a:rPr lang="ru-RU" err="1"/>
              <a:t>between</a:t>
            </a:r>
            <a:r>
              <a:rPr lang="ru-RU"/>
              <a:t> </a:t>
            </a:r>
            <a:r>
              <a:rPr lang="ru-RU" err="1"/>
              <a:t>females</a:t>
            </a:r>
            <a:r>
              <a:rPr lang="ru-RU"/>
              <a:t> </a:t>
            </a:r>
            <a:r>
              <a:rPr lang="ru-RU" err="1"/>
              <a:t>and</a:t>
            </a:r>
            <a:r>
              <a:rPr lang="ru-RU"/>
              <a:t> </a:t>
            </a:r>
            <a:r>
              <a:rPr lang="ru-RU" err="1"/>
              <a:t>males</a:t>
            </a:r>
            <a:r>
              <a:rPr lang="ru-RU"/>
              <a:t> (</a:t>
            </a:r>
            <a:r>
              <a:rPr lang="ru-RU" err="1"/>
              <a:t>reference</a:t>
            </a:r>
            <a:r>
              <a:rPr lang="ru-RU"/>
              <a:t> = </a:t>
            </a:r>
            <a:r>
              <a:rPr lang="ru-RU" err="1"/>
              <a:t>male</a:t>
            </a:r>
            <a:r>
              <a:rPr lang="ru-RU"/>
              <a:t>).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err="1"/>
              <a:t>Rule</a:t>
            </a:r>
            <a:r>
              <a:rPr lang="ru-RU"/>
              <a:t>: For k </a:t>
            </a:r>
            <a:r>
              <a:rPr lang="ru-RU" err="1"/>
              <a:t>categories</a:t>
            </a:r>
            <a:r>
              <a:rPr lang="ru-RU"/>
              <a:t>, </a:t>
            </a:r>
            <a:r>
              <a:rPr lang="ru-RU" err="1"/>
              <a:t>use</a:t>
            </a:r>
            <a:r>
              <a:rPr lang="ru-RU"/>
              <a:t> k‑1 </a:t>
            </a:r>
            <a:r>
              <a:rPr lang="ru-RU" err="1"/>
              <a:t>dummies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avoid</a:t>
            </a:r>
            <a:r>
              <a:rPr lang="ru-RU"/>
              <a:t> </a:t>
            </a:r>
            <a:r>
              <a:rPr lang="ru-RU" err="1"/>
              <a:t>perfect</a:t>
            </a:r>
            <a:r>
              <a:rPr lang="ru-RU"/>
              <a:t> </a:t>
            </a:r>
            <a:r>
              <a:rPr lang="ru-RU" err="1"/>
              <a:t>multicollinearity</a:t>
            </a:r>
            <a:r>
              <a:rPr lang="ru-RU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38205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AEC210-008C-9AA5-A570-84FF41AA6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/>
          <a:lstStyle/>
          <a:p>
            <a:r>
              <a:rPr lang="ru-RU" b="1"/>
              <a:t>Python – </a:t>
            </a:r>
            <a:r>
              <a:rPr lang="ru-RU" b="1" err="1"/>
              <a:t>Creating</a:t>
            </a:r>
            <a:r>
              <a:rPr lang="ru-RU" b="1"/>
              <a:t> </a:t>
            </a:r>
            <a:r>
              <a:rPr lang="ru-RU" b="1" err="1"/>
              <a:t>Dummy</a:t>
            </a:r>
            <a:r>
              <a:rPr lang="ru-RU" b="1"/>
              <a:t> </a:t>
            </a:r>
            <a:r>
              <a:rPr lang="ru-RU" b="1" err="1"/>
              <a:t>Variables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DCF6D5-4338-4AB9-8E6A-9DF15D88B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1709"/>
            <a:ext cx="10515600" cy="4625254"/>
          </a:xfrm>
        </p:spPr>
        <p:txBody>
          <a:bodyPr/>
          <a:lstStyle/>
          <a:p>
            <a:pPr marL="0" indent="0">
              <a:buNone/>
            </a:pPr>
            <a:r>
              <a:rPr lang="ru-RU" i="1"/>
              <a:t># </a:t>
            </a:r>
            <a:r>
              <a:rPr lang="ru-RU" i="1" err="1"/>
              <a:t>Suppose</a:t>
            </a:r>
            <a:r>
              <a:rPr lang="ru-RU" i="1"/>
              <a:t> </a:t>
            </a:r>
            <a:r>
              <a:rPr lang="ru-RU" i="1" err="1"/>
              <a:t>we</a:t>
            </a:r>
            <a:r>
              <a:rPr lang="ru-RU" i="1"/>
              <a:t> </a:t>
            </a:r>
            <a:r>
              <a:rPr lang="ru-RU" i="1" err="1"/>
              <a:t>have</a:t>
            </a:r>
            <a:r>
              <a:rPr lang="ru-RU" i="1"/>
              <a:t> a '</a:t>
            </a:r>
            <a:r>
              <a:rPr lang="ru-RU" i="1" err="1"/>
              <a:t>major</a:t>
            </a:r>
            <a:r>
              <a:rPr lang="ru-RU" i="1"/>
              <a:t>' </a:t>
            </a:r>
            <a:r>
              <a:rPr lang="ru-RU" i="1" err="1"/>
              <a:t>column</a:t>
            </a:r>
            <a:r>
              <a:rPr lang="ru-RU" i="1"/>
              <a:t> </a:t>
            </a:r>
            <a:r>
              <a:rPr lang="ru-RU" i="1" err="1"/>
              <a:t>with</a:t>
            </a:r>
            <a:r>
              <a:rPr lang="ru-RU" i="1"/>
              <a:t> 3 </a:t>
            </a:r>
            <a:r>
              <a:rPr lang="ru-RU" i="1" err="1"/>
              <a:t>categories</a:t>
            </a:r>
            <a:r>
              <a:rPr lang="ru-RU" i="1"/>
              <a:t>: 'CS', '</a:t>
            </a:r>
            <a:r>
              <a:rPr lang="ru-RU" i="1" err="1"/>
              <a:t>Eng</a:t>
            </a:r>
            <a:r>
              <a:rPr lang="ru-RU" i="1"/>
              <a:t>', '</a:t>
            </a:r>
            <a:r>
              <a:rPr lang="ru-RU" i="1" err="1"/>
              <a:t>Bus</a:t>
            </a:r>
            <a:r>
              <a:rPr lang="ru-RU" i="1"/>
              <a:t>'</a:t>
            </a:r>
            <a:endParaRPr lang="ru-RU"/>
          </a:p>
          <a:p>
            <a:pPr marL="0" indent="0">
              <a:buNone/>
            </a:pPr>
            <a:r>
              <a:rPr lang="ru-RU" err="1"/>
              <a:t>df</a:t>
            </a:r>
            <a:r>
              <a:rPr lang="ru-RU"/>
              <a:t>['</a:t>
            </a:r>
            <a:r>
              <a:rPr lang="ru-RU" err="1"/>
              <a:t>major</a:t>
            </a:r>
            <a:r>
              <a:rPr lang="ru-RU"/>
              <a:t>'] = </a:t>
            </a:r>
            <a:r>
              <a:rPr lang="ru-RU" err="1"/>
              <a:t>np.random.choice</a:t>
            </a:r>
            <a:r>
              <a:rPr lang="ru-RU"/>
              <a:t>(['CS', '</a:t>
            </a:r>
            <a:r>
              <a:rPr lang="ru-RU" err="1"/>
              <a:t>Eng</a:t>
            </a:r>
            <a:r>
              <a:rPr lang="ru-RU"/>
              <a:t>', '</a:t>
            </a:r>
            <a:r>
              <a:rPr lang="ru-RU" err="1"/>
              <a:t>Bus</a:t>
            </a:r>
            <a:r>
              <a:rPr lang="ru-RU"/>
              <a:t>'], </a:t>
            </a:r>
            <a:r>
              <a:rPr lang="ru-RU" err="1"/>
              <a:t>size</a:t>
            </a:r>
            <a:r>
              <a:rPr lang="ru-RU"/>
              <a:t>=100)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i="1"/>
              <a:t># </a:t>
            </a:r>
            <a:r>
              <a:rPr lang="ru-RU" i="1" err="1"/>
              <a:t>Create</a:t>
            </a:r>
            <a:r>
              <a:rPr lang="ru-RU" i="1"/>
              <a:t> </a:t>
            </a:r>
            <a:r>
              <a:rPr lang="ru-RU" i="1" err="1"/>
              <a:t>dummies</a:t>
            </a:r>
            <a:endParaRPr lang="ru-RU"/>
          </a:p>
          <a:p>
            <a:pPr marL="0" indent="0">
              <a:buNone/>
            </a:pPr>
            <a:r>
              <a:rPr lang="ru-RU" err="1"/>
              <a:t>dummies</a:t>
            </a:r>
            <a:r>
              <a:rPr lang="ru-RU"/>
              <a:t> = </a:t>
            </a:r>
            <a:r>
              <a:rPr lang="ru-RU" err="1"/>
              <a:t>pd.get_dummies</a:t>
            </a:r>
            <a:r>
              <a:rPr lang="ru-RU"/>
              <a:t>(</a:t>
            </a:r>
            <a:r>
              <a:rPr lang="ru-RU" err="1"/>
              <a:t>df</a:t>
            </a:r>
            <a:r>
              <a:rPr lang="ru-RU"/>
              <a:t>['</a:t>
            </a:r>
            <a:r>
              <a:rPr lang="ru-RU" err="1"/>
              <a:t>major</a:t>
            </a:r>
            <a:r>
              <a:rPr lang="ru-RU"/>
              <a:t>'], </a:t>
            </a:r>
            <a:r>
              <a:rPr lang="ru-RU" err="1"/>
              <a:t>prefix</a:t>
            </a:r>
            <a:r>
              <a:rPr lang="ru-RU"/>
              <a:t>='</a:t>
            </a:r>
            <a:r>
              <a:rPr lang="ru-RU" err="1"/>
              <a:t>major</a:t>
            </a:r>
            <a:r>
              <a:rPr lang="ru-RU"/>
              <a:t>', </a:t>
            </a:r>
            <a:r>
              <a:rPr lang="ru-RU" err="1"/>
              <a:t>drop_first</a:t>
            </a:r>
            <a:r>
              <a:rPr lang="ru-RU"/>
              <a:t>=True)</a:t>
            </a:r>
          </a:p>
          <a:p>
            <a:pPr marL="0" indent="0">
              <a:buNone/>
            </a:pPr>
            <a:r>
              <a:rPr lang="ru-RU" err="1"/>
              <a:t>df</a:t>
            </a:r>
            <a:r>
              <a:rPr lang="ru-RU"/>
              <a:t> = </a:t>
            </a:r>
            <a:r>
              <a:rPr lang="ru-RU" err="1"/>
              <a:t>pd.concat</a:t>
            </a:r>
            <a:r>
              <a:rPr lang="ru-RU"/>
              <a:t>([</a:t>
            </a:r>
            <a:r>
              <a:rPr lang="ru-RU" err="1"/>
              <a:t>df</a:t>
            </a:r>
            <a:r>
              <a:rPr lang="ru-RU"/>
              <a:t>, </a:t>
            </a:r>
            <a:r>
              <a:rPr lang="ru-RU" err="1"/>
              <a:t>dummies</a:t>
            </a:r>
            <a:r>
              <a:rPr lang="ru-RU"/>
              <a:t>], </a:t>
            </a:r>
            <a:r>
              <a:rPr lang="ru-RU" err="1"/>
              <a:t>axis</a:t>
            </a:r>
            <a:r>
              <a:rPr lang="ru-RU"/>
              <a:t>=1)</a:t>
            </a:r>
          </a:p>
        </p:txBody>
      </p:sp>
    </p:spTree>
    <p:extLst>
      <p:ext uri="{BB962C8B-B14F-4D97-AF65-F5344CB8AC3E}">
        <p14:creationId xmlns:p14="http://schemas.microsoft.com/office/powerpoint/2010/main" val="23607028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A1DD22-1B5B-7A95-D9D9-29E28C14F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/>
          <a:lstStyle/>
          <a:p>
            <a:r>
              <a:rPr lang="ru-RU" b="1" err="1"/>
              <a:t>Comparing</a:t>
            </a:r>
            <a:r>
              <a:rPr lang="ru-RU" b="1"/>
              <a:t> </a:t>
            </a:r>
            <a:r>
              <a:rPr lang="ru-RU" b="1" err="1"/>
              <a:t>Models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021FE8-6F3F-9B19-E219-8FE9EBAE4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4618"/>
            <a:ext cx="10515600" cy="490234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/>
              <a:t>We </a:t>
            </a:r>
            <a:r>
              <a:rPr lang="ru-RU" err="1"/>
              <a:t>often</a:t>
            </a:r>
            <a:r>
              <a:rPr lang="ru-RU"/>
              <a:t> </a:t>
            </a:r>
            <a:r>
              <a:rPr lang="ru-RU" err="1"/>
              <a:t>build</a:t>
            </a:r>
            <a:r>
              <a:rPr lang="ru-RU"/>
              <a:t> </a:t>
            </a:r>
            <a:r>
              <a:rPr lang="ru-RU" err="1"/>
              <a:t>several</a:t>
            </a:r>
            <a:r>
              <a:rPr lang="ru-RU"/>
              <a:t> </a:t>
            </a:r>
            <a:r>
              <a:rPr lang="ru-RU" err="1"/>
              <a:t>candidate</a:t>
            </a:r>
            <a:r>
              <a:rPr lang="ru-RU"/>
              <a:t> </a:t>
            </a:r>
            <a:r>
              <a:rPr lang="ru-RU" err="1"/>
              <a:t>models</a:t>
            </a:r>
            <a:r>
              <a:rPr lang="ru-RU"/>
              <a:t>.</a:t>
            </a:r>
          </a:p>
          <a:p>
            <a:pPr marL="0" indent="0">
              <a:buNone/>
            </a:pPr>
            <a:r>
              <a:rPr lang="ru-RU" err="1"/>
              <a:t>How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choose</a:t>
            </a:r>
            <a:r>
              <a:rPr lang="ru-RU"/>
              <a:t>?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err="1"/>
              <a:t>Metrics</a:t>
            </a:r>
            <a:r>
              <a:rPr lang="ru-RU"/>
              <a:t>:</a:t>
            </a:r>
          </a:p>
          <a:p>
            <a:pPr marL="0" indent="0">
              <a:buNone/>
            </a:pPr>
            <a:r>
              <a:rPr lang="ru-RU"/>
              <a:t>• </a:t>
            </a:r>
            <a:r>
              <a:rPr lang="ru-RU" err="1"/>
              <a:t>Adjusted</a:t>
            </a:r>
            <a:r>
              <a:rPr lang="ru-RU"/>
              <a:t> R² (</a:t>
            </a:r>
            <a:r>
              <a:rPr lang="ru-RU" err="1"/>
              <a:t>higher</a:t>
            </a:r>
            <a:r>
              <a:rPr lang="ru-RU"/>
              <a:t> 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better</a:t>
            </a:r>
            <a:r>
              <a:rPr lang="ru-RU"/>
              <a:t>)</a:t>
            </a:r>
          </a:p>
          <a:p>
            <a:pPr marL="0" indent="0">
              <a:buNone/>
            </a:pPr>
            <a:r>
              <a:rPr lang="ru-RU"/>
              <a:t>• AIC (</a:t>
            </a:r>
            <a:r>
              <a:rPr lang="ru-RU" err="1"/>
              <a:t>Akaike</a:t>
            </a:r>
            <a:r>
              <a:rPr lang="ru-RU"/>
              <a:t> Information </a:t>
            </a:r>
            <a:r>
              <a:rPr lang="ru-RU" err="1"/>
              <a:t>Criterion</a:t>
            </a:r>
            <a:r>
              <a:rPr lang="ru-RU"/>
              <a:t>) – </a:t>
            </a:r>
            <a:r>
              <a:rPr lang="ru-RU" err="1"/>
              <a:t>lower</a:t>
            </a:r>
            <a:r>
              <a:rPr lang="ru-RU"/>
              <a:t> 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better</a:t>
            </a:r>
            <a:endParaRPr lang="ru-RU"/>
          </a:p>
          <a:p>
            <a:pPr marL="0" indent="0">
              <a:buNone/>
            </a:pPr>
            <a:r>
              <a:rPr lang="ru-RU"/>
              <a:t>• BIC (</a:t>
            </a:r>
            <a:r>
              <a:rPr lang="ru-RU" err="1"/>
              <a:t>Bayesian</a:t>
            </a:r>
            <a:r>
              <a:rPr lang="ru-RU"/>
              <a:t> Information </a:t>
            </a:r>
            <a:r>
              <a:rPr lang="ru-RU" err="1"/>
              <a:t>Criterion</a:t>
            </a:r>
            <a:r>
              <a:rPr lang="ru-RU"/>
              <a:t>) – </a:t>
            </a:r>
            <a:r>
              <a:rPr lang="ru-RU" err="1"/>
              <a:t>lower</a:t>
            </a:r>
            <a:r>
              <a:rPr lang="ru-RU"/>
              <a:t> 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better</a:t>
            </a:r>
            <a:endParaRPr lang="ru-RU"/>
          </a:p>
          <a:p>
            <a:pPr marL="0" indent="0">
              <a:buNone/>
            </a:pPr>
            <a:r>
              <a:rPr lang="ru-RU"/>
              <a:t>• Cross‑</a:t>
            </a:r>
            <a:r>
              <a:rPr lang="ru-RU" err="1"/>
              <a:t>validation</a:t>
            </a:r>
            <a:r>
              <a:rPr lang="ru-RU"/>
              <a:t> </a:t>
            </a:r>
            <a:r>
              <a:rPr lang="ru-RU" err="1"/>
              <a:t>error</a:t>
            </a:r>
            <a:endParaRPr lang="ru-RU"/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/>
              <a:t>AIC/BIC </a:t>
            </a:r>
            <a:r>
              <a:rPr lang="ru-RU" err="1"/>
              <a:t>penalize</a:t>
            </a:r>
            <a:r>
              <a:rPr lang="ru-RU"/>
              <a:t> </a:t>
            </a:r>
            <a:r>
              <a:rPr lang="ru-RU" err="1"/>
              <a:t>extra</a:t>
            </a:r>
            <a:r>
              <a:rPr lang="ru-RU"/>
              <a:t> </a:t>
            </a:r>
            <a:r>
              <a:rPr lang="ru-RU" err="1"/>
              <a:t>parameters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avoid</a:t>
            </a:r>
            <a:r>
              <a:rPr lang="ru-RU"/>
              <a:t> </a:t>
            </a:r>
            <a:r>
              <a:rPr lang="ru-RU" err="1"/>
              <a:t>overfitting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57388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7C668A-511D-C7C8-B599-4620CA859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0111"/>
          </a:xfrm>
        </p:spPr>
        <p:txBody>
          <a:bodyPr>
            <a:normAutofit fontScale="90000"/>
          </a:bodyPr>
          <a:lstStyle/>
          <a:p>
            <a:r>
              <a:rPr lang="ru-RU" b="1"/>
              <a:t>Python – AIC </a:t>
            </a:r>
            <a:r>
              <a:rPr lang="ru-RU" b="1" err="1"/>
              <a:t>and</a:t>
            </a:r>
            <a:r>
              <a:rPr lang="ru-RU" b="1"/>
              <a:t> BIC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6B92E4-8640-A6AA-F0DF-63B11C00D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f"Simple</a:t>
            </a:r>
            <a:r>
              <a:rPr lang="ru-RU"/>
              <a:t> </a:t>
            </a:r>
            <a:r>
              <a:rPr lang="ru-RU" err="1"/>
              <a:t>model</a:t>
            </a:r>
            <a:r>
              <a:rPr lang="ru-RU"/>
              <a:t> AIC: {model.aic:.1f}, BIC: {model.bic:.1f}")</a:t>
            </a:r>
          </a:p>
          <a:p>
            <a:pPr marL="0" indent="0">
              <a:buNone/>
            </a:pPr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f"Multiple</a:t>
            </a:r>
            <a:r>
              <a:rPr lang="ru-RU"/>
              <a:t> </a:t>
            </a:r>
            <a:r>
              <a:rPr lang="ru-RU" err="1"/>
              <a:t>model</a:t>
            </a:r>
            <a:r>
              <a:rPr lang="ru-RU"/>
              <a:t> AIC: {model_multi.aic:.1f}, BIC: {model_multi.bic:.1f}")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43050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D19507-E861-CC3F-146D-92E2AC518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3348"/>
          </a:xfrm>
        </p:spPr>
        <p:txBody>
          <a:bodyPr>
            <a:normAutofit fontScale="90000"/>
          </a:bodyPr>
          <a:lstStyle/>
          <a:p>
            <a:r>
              <a:rPr lang="ru-RU" b="1" err="1"/>
              <a:t>Overfitting</a:t>
            </a:r>
            <a:r>
              <a:rPr lang="ru-RU" b="1"/>
              <a:t> – The </a:t>
            </a:r>
            <a:r>
              <a:rPr lang="ru-RU" b="1" err="1"/>
              <a:t>Danger</a:t>
            </a:r>
            <a:r>
              <a:rPr lang="ru-RU" b="1"/>
              <a:t> </a:t>
            </a:r>
            <a:r>
              <a:rPr lang="ru-RU" b="1" err="1"/>
              <a:t>of</a:t>
            </a:r>
            <a:r>
              <a:rPr lang="ru-RU" b="1"/>
              <a:t> </a:t>
            </a:r>
            <a:r>
              <a:rPr lang="ru-RU" b="1" err="1"/>
              <a:t>Too</a:t>
            </a:r>
            <a:r>
              <a:rPr lang="ru-RU" b="1"/>
              <a:t> </a:t>
            </a:r>
            <a:r>
              <a:rPr lang="ru-RU" b="1" err="1"/>
              <a:t>Many</a:t>
            </a:r>
            <a:r>
              <a:rPr lang="ru-RU" b="1"/>
              <a:t> </a:t>
            </a:r>
            <a:r>
              <a:rPr lang="ru-RU" b="1" err="1"/>
              <a:t>Predictors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6D242C-4D61-E6B2-0D27-BCC310CCD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8474"/>
            <a:ext cx="10515600" cy="488848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err="1"/>
              <a:t>Overfitting</a:t>
            </a:r>
            <a:r>
              <a:rPr lang="ru-RU"/>
              <a:t> = </a:t>
            </a:r>
            <a:r>
              <a:rPr lang="ru-RU" err="1"/>
              <a:t>model</a:t>
            </a:r>
            <a:r>
              <a:rPr lang="ru-RU"/>
              <a:t> </a:t>
            </a:r>
            <a:r>
              <a:rPr lang="ru-RU" err="1"/>
              <a:t>fits</a:t>
            </a:r>
            <a:r>
              <a:rPr lang="ru-RU"/>
              <a:t> </a:t>
            </a:r>
            <a:r>
              <a:rPr lang="ru-RU" err="1"/>
              <a:t>the</a:t>
            </a:r>
            <a:r>
              <a:rPr lang="ru-RU"/>
              <a:t> </a:t>
            </a:r>
            <a:r>
              <a:rPr lang="ru-RU" err="1"/>
              <a:t>training</a:t>
            </a:r>
            <a:r>
              <a:rPr lang="ru-RU"/>
              <a:t> </a:t>
            </a:r>
            <a:r>
              <a:rPr lang="ru-RU" err="1"/>
              <a:t>data</a:t>
            </a:r>
            <a:r>
              <a:rPr lang="ru-RU"/>
              <a:t> </a:t>
            </a:r>
            <a:r>
              <a:rPr lang="ru-RU" err="1"/>
              <a:t>too</a:t>
            </a:r>
            <a:r>
              <a:rPr lang="ru-RU"/>
              <a:t> </a:t>
            </a:r>
            <a:r>
              <a:rPr lang="ru-RU" err="1"/>
              <a:t>well</a:t>
            </a:r>
            <a:r>
              <a:rPr lang="ru-RU"/>
              <a:t>,</a:t>
            </a:r>
          </a:p>
          <a:p>
            <a:pPr marL="0" indent="0">
              <a:buNone/>
            </a:pPr>
            <a:r>
              <a:rPr lang="ru-RU"/>
              <a:t>             </a:t>
            </a:r>
            <a:r>
              <a:rPr lang="ru-RU" err="1"/>
              <a:t>but</a:t>
            </a:r>
            <a:r>
              <a:rPr lang="ru-RU"/>
              <a:t> </a:t>
            </a:r>
            <a:r>
              <a:rPr lang="ru-RU" err="1"/>
              <a:t>fails</a:t>
            </a:r>
            <a:r>
              <a:rPr lang="ru-RU"/>
              <a:t> </a:t>
            </a:r>
            <a:r>
              <a:rPr lang="ru-RU" err="1"/>
              <a:t>on</a:t>
            </a:r>
            <a:r>
              <a:rPr lang="ru-RU"/>
              <a:t> </a:t>
            </a:r>
            <a:r>
              <a:rPr lang="ru-RU" err="1"/>
              <a:t>new</a:t>
            </a:r>
            <a:r>
              <a:rPr lang="ru-RU"/>
              <a:t> </a:t>
            </a:r>
            <a:r>
              <a:rPr lang="ru-RU" err="1"/>
              <a:t>data</a:t>
            </a:r>
            <a:r>
              <a:rPr lang="ru-RU"/>
              <a:t>.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err="1"/>
              <a:t>Symptoms</a:t>
            </a:r>
            <a:r>
              <a:rPr lang="ru-RU"/>
              <a:t>:</a:t>
            </a:r>
          </a:p>
          <a:p>
            <a:pPr marL="0" indent="0">
              <a:buNone/>
            </a:pPr>
            <a:r>
              <a:rPr lang="ru-RU"/>
              <a:t>• </a:t>
            </a:r>
            <a:r>
              <a:rPr lang="ru-RU" err="1"/>
              <a:t>Very</a:t>
            </a:r>
            <a:r>
              <a:rPr lang="ru-RU"/>
              <a:t> </a:t>
            </a:r>
            <a:r>
              <a:rPr lang="ru-RU" err="1"/>
              <a:t>high</a:t>
            </a:r>
            <a:r>
              <a:rPr lang="ru-RU"/>
              <a:t> R² </a:t>
            </a:r>
            <a:r>
              <a:rPr lang="ru-RU" err="1"/>
              <a:t>but</a:t>
            </a:r>
            <a:r>
              <a:rPr lang="ru-RU"/>
              <a:t> </a:t>
            </a:r>
            <a:r>
              <a:rPr lang="ru-RU" err="1"/>
              <a:t>poor</a:t>
            </a:r>
            <a:r>
              <a:rPr lang="ru-RU"/>
              <a:t> </a:t>
            </a:r>
            <a:r>
              <a:rPr lang="ru-RU" err="1"/>
              <a:t>predictions</a:t>
            </a:r>
            <a:endParaRPr lang="ru-RU"/>
          </a:p>
          <a:p>
            <a:pPr marL="0" indent="0">
              <a:buNone/>
            </a:pPr>
            <a:r>
              <a:rPr lang="ru-RU"/>
              <a:t>• </a:t>
            </a:r>
            <a:r>
              <a:rPr lang="ru-RU" err="1"/>
              <a:t>Unreasonably</a:t>
            </a:r>
            <a:r>
              <a:rPr lang="ru-RU"/>
              <a:t> </a:t>
            </a:r>
            <a:r>
              <a:rPr lang="ru-RU" err="1"/>
              <a:t>large</a:t>
            </a:r>
            <a:r>
              <a:rPr lang="ru-RU"/>
              <a:t> </a:t>
            </a:r>
            <a:r>
              <a:rPr lang="ru-RU" err="1"/>
              <a:t>coefficients</a:t>
            </a:r>
            <a:endParaRPr lang="ru-RU"/>
          </a:p>
          <a:p>
            <a:pPr marL="0" indent="0">
              <a:buNone/>
            </a:pPr>
            <a:r>
              <a:rPr lang="ru-RU"/>
              <a:t>• </a:t>
            </a:r>
            <a:r>
              <a:rPr lang="ru-RU" err="1"/>
              <a:t>Many</a:t>
            </a:r>
            <a:r>
              <a:rPr lang="ru-RU"/>
              <a:t> </a:t>
            </a:r>
            <a:r>
              <a:rPr lang="ru-RU" err="1"/>
              <a:t>insignificant</a:t>
            </a:r>
            <a:r>
              <a:rPr lang="ru-RU"/>
              <a:t> </a:t>
            </a:r>
            <a:r>
              <a:rPr lang="ru-RU" err="1"/>
              <a:t>predictors</a:t>
            </a:r>
            <a:r>
              <a:rPr lang="ru-RU"/>
              <a:t> </a:t>
            </a:r>
            <a:r>
              <a:rPr lang="ru-RU" err="1"/>
              <a:t>still</a:t>
            </a:r>
            <a:r>
              <a:rPr lang="ru-RU"/>
              <a:t> </a:t>
            </a:r>
            <a:r>
              <a:rPr lang="ru-RU" err="1"/>
              <a:t>kept</a:t>
            </a:r>
            <a:endParaRPr lang="ru-RU"/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err="1"/>
              <a:t>Prevention</a:t>
            </a:r>
            <a:r>
              <a:rPr lang="ru-RU"/>
              <a:t>:</a:t>
            </a:r>
          </a:p>
          <a:p>
            <a:pPr marL="0" indent="0">
              <a:buNone/>
            </a:pPr>
            <a:r>
              <a:rPr lang="ru-RU"/>
              <a:t>• </a:t>
            </a:r>
            <a:r>
              <a:rPr lang="ru-RU" err="1"/>
              <a:t>Use</a:t>
            </a:r>
            <a:r>
              <a:rPr lang="ru-RU"/>
              <a:t> </a:t>
            </a:r>
            <a:r>
              <a:rPr lang="ru-RU" err="1"/>
              <a:t>adjusted</a:t>
            </a:r>
            <a:r>
              <a:rPr lang="ru-RU"/>
              <a:t> R², AIC, BIC</a:t>
            </a:r>
          </a:p>
          <a:p>
            <a:pPr marL="0" indent="0">
              <a:buNone/>
            </a:pPr>
            <a:r>
              <a:rPr lang="ru-RU"/>
              <a:t>• Cross‑</a:t>
            </a:r>
            <a:r>
              <a:rPr lang="ru-RU" err="1"/>
              <a:t>validation</a:t>
            </a:r>
            <a:endParaRPr lang="ru-RU"/>
          </a:p>
          <a:p>
            <a:pPr marL="0" indent="0">
              <a:buNone/>
            </a:pPr>
            <a:r>
              <a:rPr lang="ru-RU"/>
              <a:t>• </a:t>
            </a:r>
            <a:r>
              <a:rPr lang="ru-RU" err="1"/>
              <a:t>Keep</a:t>
            </a:r>
            <a:r>
              <a:rPr lang="ru-RU"/>
              <a:t> </a:t>
            </a:r>
            <a:r>
              <a:rPr lang="ru-RU" err="1"/>
              <a:t>it</a:t>
            </a:r>
            <a:r>
              <a:rPr lang="ru-RU"/>
              <a:t> </a:t>
            </a:r>
            <a:r>
              <a:rPr lang="ru-RU" err="1"/>
              <a:t>simple</a:t>
            </a:r>
            <a:r>
              <a:rPr lang="ru-RU"/>
              <a:t> (</a:t>
            </a:r>
            <a:r>
              <a:rPr lang="ru-RU" err="1"/>
              <a:t>Occam’s</a:t>
            </a:r>
            <a:r>
              <a:rPr lang="ru-RU"/>
              <a:t> </a:t>
            </a:r>
            <a:r>
              <a:rPr lang="ru-RU" err="1"/>
              <a:t>razor</a:t>
            </a:r>
            <a:r>
              <a:rPr lang="ru-RU"/>
              <a:t>)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6559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E5DA86-E5BB-5E8F-D675-EDA80331D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2511"/>
          </a:xfrm>
        </p:spPr>
        <p:txBody>
          <a:bodyPr/>
          <a:lstStyle/>
          <a:p>
            <a:r>
              <a:rPr lang="ru-RU" b="1"/>
              <a:t>Cross‑</a:t>
            </a:r>
            <a:r>
              <a:rPr lang="ru-RU" b="1" err="1"/>
              <a:t>Validation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DEFA83-EDA9-F684-DD25-5A3A5B09C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0036"/>
            <a:ext cx="10515600" cy="48469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err="1"/>
              <a:t>Split</a:t>
            </a:r>
            <a:r>
              <a:rPr lang="ru-RU"/>
              <a:t> </a:t>
            </a:r>
            <a:r>
              <a:rPr lang="ru-RU" err="1"/>
              <a:t>data</a:t>
            </a:r>
            <a:r>
              <a:rPr lang="ru-RU"/>
              <a:t> </a:t>
            </a:r>
            <a:r>
              <a:rPr lang="ru-RU" err="1"/>
              <a:t>into</a:t>
            </a:r>
            <a:r>
              <a:rPr lang="ru-RU"/>
              <a:t> </a:t>
            </a:r>
            <a:r>
              <a:rPr lang="ru-RU" err="1"/>
              <a:t>training</a:t>
            </a:r>
            <a:r>
              <a:rPr lang="ru-RU"/>
              <a:t> </a:t>
            </a:r>
            <a:r>
              <a:rPr lang="ru-RU" err="1"/>
              <a:t>and</a:t>
            </a:r>
            <a:r>
              <a:rPr lang="ru-RU"/>
              <a:t> </a:t>
            </a:r>
            <a:r>
              <a:rPr lang="ru-RU" err="1"/>
              <a:t>test</a:t>
            </a:r>
            <a:r>
              <a:rPr lang="ru-RU"/>
              <a:t> </a:t>
            </a:r>
            <a:r>
              <a:rPr lang="ru-RU" err="1"/>
              <a:t>sets</a:t>
            </a:r>
            <a:r>
              <a:rPr lang="ru-RU"/>
              <a:t>.</a:t>
            </a:r>
          </a:p>
          <a:p>
            <a:pPr marL="0" indent="0">
              <a:buNone/>
            </a:pPr>
            <a:r>
              <a:rPr lang="ru-RU" err="1"/>
              <a:t>Build</a:t>
            </a:r>
            <a:r>
              <a:rPr lang="ru-RU"/>
              <a:t> </a:t>
            </a:r>
            <a:r>
              <a:rPr lang="ru-RU" err="1"/>
              <a:t>model</a:t>
            </a:r>
            <a:r>
              <a:rPr lang="ru-RU"/>
              <a:t> </a:t>
            </a:r>
            <a:r>
              <a:rPr lang="ru-RU" err="1"/>
              <a:t>on</a:t>
            </a:r>
            <a:r>
              <a:rPr lang="ru-RU"/>
              <a:t> </a:t>
            </a:r>
            <a:r>
              <a:rPr lang="ru-RU" err="1"/>
              <a:t>training</a:t>
            </a:r>
            <a:r>
              <a:rPr lang="ru-RU"/>
              <a:t>, </a:t>
            </a:r>
            <a:r>
              <a:rPr lang="ru-RU" err="1"/>
              <a:t>evaluate</a:t>
            </a:r>
            <a:r>
              <a:rPr lang="ru-RU"/>
              <a:t> </a:t>
            </a:r>
            <a:r>
              <a:rPr lang="ru-RU" err="1"/>
              <a:t>on</a:t>
            </a:r>
            <a:r>
              <a:rPr lang="ru-RU"/>
              <a:t> </a:t>
            </a:r>
            <a:r>
              <a:rPr lang="ru-RU" err="1"/>
              <a:t>test</a:t>
            </a:r>
            <a:r>
              <a:rPr lang="ru-RU"/>
              <a:t>.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/>
              <a:t>k‑</a:t>
            </a:r>
            <a:r>
              <a:rPr lang="ru-RU" err="1"/>
              <a:t>fold</a:t>
            </a:r>
            <a:r>
              <a:rPr lang="ru-RU"/>
              <a:t> </a:t>
            </a:r>
            <a:r>
              <a:rPr lang="ru-RU" err="1"/>
              <a:t>cross‑validation</a:t>
            </a:r>
            <a:r>
              <a:rPr lang="ru-RU"/>
              <a:t>:</a:t>
            </a:r>
          </a:p>
          <a:p>
            <a:pPr marL="0" indent="0">
              <a:buNone/>
            </a:pPr>
            <a:r>
              <a:rPr lang="ru-RU"/>
              <a:t>• </a:t>
            </a:r>
            <a:r>
              <a:rPr lang="ru-RU" err="1"/>
              <a:t>Split</a:t>
            </a:r>
            <a:r>
              <a:rPr lang="ru-RU"/>
              <a:t> </a:t>
            </a:r>
            <a:r>
              <a:rPr lang="ru-RU" err="1"/>
              <a:t>data</a:t>
            </a:r>
            <a:r>
              <a:rPr lang="ru-RU"/>
              <a:t> </a:t>
            </a:r>
            <a:r>
              <a:rPr lang="ru-RU" err="1"/>
              <a:t>into</a:t>
            </a:r>
            <a:r>
              <a:rPr lang="ru-RU"/>
              <a:t> k </a:t>
            </a:r>
            <a:r>
              <a:rPr lang="ru-RU" err="1"/>
              <a:t>folds</a:t>
            </a:r>
            <a:endParaRPr lang="ru-RU"/>
          </a:p>
          <a:p>
            <a:pPr marL="0" indent="0">
              <a:buNone/>
            </a:pPr>
            <a:r>
              <a:rPr lang="ru-RU"/>
              <a:t>• </a:t>
            </a:r>
            <a:r>
              <a:rPr lang="ru-RU" err="1"/>
              <a:t>Train</a:t>
            </a:r>
            <a:r>
              <a:rPr lang="ru-RU"/>
              <a:t> </a:t>
            </a:r>
            <a:r>
              <a:rPr lang="ru-RU" err="1"/>
              <a:t>on</a:t>
            </a:r>
            <a:r>
              <a:rPr lang="ru-RU"/>
              <a:t> k‑1 </a:t>
            </a:r>
            <a:r>
              <a:rPr lang="ru-RU" err="1"/>
              <a:t>folds</a:t>
            </a:r>
            <a:r>
              <a:rPr lang="ru-RU"/>
              <a:t>, </a:t>
            </a:r>
            <a:r>
              <a:rPr lang="ru-RU" err="1"/>
              <a:t>test</a:t>
            </a:r>
            <a:r>
              <a:rPr lang="ru-RU"/>
              <a:t> </a:t>
            </a:r>
            <a:r>
              <a:rPr lang="ru-RU" err="1"/>
              <a:t>on</a:t>
            </a:r>
            <a:r>
              <a:rPr lang="ru-RU"/>
              <a:t> </a:t>
            </a:r>
            <a:r>
              <a:rPr lang="ru-RU" err="1"/>
              <a:t>remaining</a:t>
            </a:r>
            <a:r>
              <a:rPr lang="ru-RU"/>
              <a:t> </a:t>
            </a:r>
            <a:r>
              <a:rPr lang="ru-RU" err="1"/>
              <a:t>fold</a:t>
            </a:r>
            <a:endParaRPr lang="ru-RU"/>
          </a:p>
          <a:p>
            <a:pPr marL="0" indent="0">
              <a:buNone/>
            </a:pPr>
            <a:r>
              <a:rPr lang="ru-RU"/>
              <a:t>• </a:t>
            </a:r>
            <a:r>
              <a:rPr lang="ru-RU" err="1"/>
              <a:t>Repeat</a:t>
            </a:r>
            <a:r>
              <a:rPr lang="ru-RU"/>
              <a:t> k </a:t>
            </a:r>
            <a:r>
              <a:rPr lang="ru-RU" err="1"/>
              <a:t>times</a:t>
            </a:r>
            <a:r>
              <a:rPr lang="ru-RU"/>
              <a:t>, </a:t>
            </a:r>
            <a:r>
              <a:rPr lang="ru-RU" err="1"/>
              <a:t>average</a:t>
            </a:r>
            <a:r>
              <a:rPr lang="ru-RU"/>
              <a:t> </a:t>
            </a:r>
            <a:r>
              <a:rPr lang="ru-RU" err="1"/>
              <a:t>error</a:t>
            </a:r>
            <a:endParaRPr lang="ru-RU"/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err="1"/>
              <a:t>Gives</a:t>
            </a:r>
            <a:r>
              <a:rPr lang="ru-RU"/>
              <a:t> </a:t>
            </a:r>
            <a:r>
              <a:rPr lang="ru-RU" err="1"/>
              <a:t>honest</a:t>
            </a:r>
            <a:r>
              <a:rPr lang="ru-RU"/>
              <a:t> </a:t>
            </a:r>
            <a:r>
              <a:rPr lang="ru-RU" err="1"/>
              <a:t>estimate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predictive</a:t>
            </a:r>
            <a:r>
              <a:rPr lang="ru-RU"/>
              <a:t> </a:t>
            </a:r>
            <a:r>
              <a:rPr lang="ru-RU" err="1"/>
              <a:t>performance</a:t>
            </a:r>
            <a:r>
              <a:rPr lang="ru-RU"/>
              <a:t>.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88473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A73AB6-24EC-B022-BFD7-858FAFB2E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2402"/>
          </a:xfrm>
        </p:spPr>
        <p:txBody>
          <a:bodyPr>
            <a:normAutofit fontScale="90000"/>
          </a:bodyPr>
          <a:lstStyle/>
          <a:p>
            <a:r>
              <a:rPr lang="ru-RU" b="1"/>
              <a:t>Python – Simple </a:t>
            </a:r>
            <a:r>
              <a:rPr lang="ru-RU" b="1" err="1"/>
              <a:t>Train</a:t>
            </a:r>
            <a:r>
              <a:rPr lang="ru-RU" b="1"/>
              <a:t>/Test </a:t>
            </a:r>
            <a:r>
              <a:rPr lang="ru-RU" b="1" err="1"/>
              <a:t>Split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38E1BD-8AA1-A900-4934-5ADB80719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7636"/>
            <a:ext cx="10515600" cy="51816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err="1"/>
              <a:t>from</a:t>
            </a:r>
            <a:r>
              <a:rPr lang="ru-RU"/>
              <a:t> </a:t>
            </a:r>
            <a:r>
              <a:rPr lang="ru-RU" err="1"/>
              <a:t>sklearn.model_selection</a:t>
            </a:r>
            <a:r>
              <a:rPr lang="ru-RU"/>
              <a:t> </a:t>
            </a:r>
            <a:r>
              <a:rPr lang="ru-RU" err="1"/>
              <a:t>import</a:t>
            </a:r>
            <a:r>
              <a:rPr lang="ru-RU"/>
              <a:t> </a:t>
            </a:r>
            <a:r>
              <a:rPr lang="ru-RU" err="1"/>
              <a:t>train_test_split</a:t>
            </a:r>
            <a:endParaRPr lang="ru-RU"/>
          </a:p>
          <a:p>
            <a:pPr marL="0" indent="0">
              <a:buNone/>
            </a:pPr>
            <a:r>
              <a:rPr lang="ru-RU" err="1"/>
              <a:t>from</a:t>
            </a:r>
            <a:r>
              <a:rPr lang="ru-RU"/>
              <a:t> </a:t>
            </a:r>
            <a:r>
              <a:rPr lang="ru-RU" err="1"/>
              <a:t>sklearn.metrics</a:t>
            </a:r>
            <a:r>
              <a:rPr lang="ru-RU"/>
              <a:t> </a:t>
            </a:r>
            <a:r>
              <a:rPr lang="ru-RU" err="1"/>
              <a:t>import</a:t>
            </a:r>
            <a:r>
              <a:rPr lang="ru-RU"/>
              <a:t> </a:t>
            </a:r>
            <a:r>
              <a:rPr lang="ru-RU" err="1"/>
              <a:t>mean_squared_error</a:t>
            </a:r>
            <a:r>
              <a:rPr lang="ru-RU"/>
              <a:t>, r2_score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/>
              <a:t>X = </a:t>
            </a:r>
            <a:r>
              <a:rPr lang="ru-RU" err="1"/>
              <a:t>df</a:t>
            </a:r>
            <a:r>
              <a:rPr lang="ru-RU"/>
              <a:t>[['</a:t>
            </a:r>
            <a:r>
              <a:rPr lang="ru-RU" err="1"/>
              <a:t>study_hours</a:t>
            </a:r>
            <a:r>
              <a:rPr lang="ru-RU"/>
              <a:t>', '</a:t>
            </a:r>
            <a:r>
              <a:rPr lang="ru-RU" err="1"/>
              <a:t>sleep_hours</a:t>
            </a:r>
            <a:r>
              <a:rPr lang="ru-RU"/>
              <a:t>']]</a:t>
            </a:r>
          </a:p>
          <a:p>
            <a:pPr marL="0" indent="0">
              <a:buNone/>
            </a:pPr>
            <a:r>
              <a:rPr lang="ru-RU"/>
              <a:t>y = </a:t>
            </a:r>
            <a:r>
              <a:rPr lang="ru-RU" err="1"/>
              <a:t>df</a:t>
            </a:r>
            <a:r>
              <a:rPr lang="ru-RU"/>
              <a:t>['</a:t>
            </a:r>
            <a:r>
              <a:rPr lang="ru-RU" err="1"/>
              <a:t>exam_score</a:t>
            </a:r>
            <a:r>
              <a:rPr lang="ru-RU"/>
              <a:t>']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err="1"/>
              <a:t>X_train</a:t>
            </a:r>
            <a:r>
              <a:rPr lang="ru-RU"/>
              <a:t>, </a:t>
            </a:r>
            <a:r>
              <a:rPr lang="ru-RU" err="1"/>
              <a:t>X_test</a:t>
            </a:r>
            <a:r>
              <a:rPr lang="ru-RU"/>
              <a:t>, </a:t>
            </a:r>
            <a:r>
              <a:rPr lang="ru-RU" err="1"/>
              <a:t>y_train</a:t>
            </a:r>
            <a:r>
              <a:rPr lang="ru-RU"/>
              <a:t>, </a:t>
            </a:r>
            <a:r>
              <a:rPr lang="ru-RU" err="1"/>
              <a:t>y_test</a:t>
            </a:r>
            <a:r>
              <a:rPr lang="ru-RU"/>
              <a:t> = </a:t>
            </a:r>
            <a:r>
              <a:rPr lang="ru-RU" err="1"/>
              <a:t>train_test_split</a:t>
            </a:r>
            <a:r>
              <a:rPr lang="ru-RU"/>
              <a:t>(X, y, </a:t>
            </a:r>
            <a:r>
              <a:rPr lang="ru-RU" err="1"/>
              <a:t>test_size</a:t>
            </a:r>
            <a:r>
              <a:rPr lang="ru-RU"/>
              <a:t>=0.2, </a:t>
            </a:r>
            <a:r>
              <a:rPr lang="ru-RU" err="1"/>
              <a:t>random_state</a:t>
            </a:r>
            <a:r>
              <a:rPr lang="ru-RU"/>
              <a:t>=42)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i="1"/>
              <a:t># </a:t>
            </a:r>
            <a:r>
              <a:rPr lang="ru-RU" i="1" err="1"/>
              <a:t>Fit</a:t>
            </a:r>
            <a:r>
              <a:rPr lang="ru-RU" i="1"/>
              <a:t> </a:t>
            </a:r>
            <a:r>
              <a:rPr lang="ru-RU" i="1" err="1"/>
              <a:t>on</a:t>
            </a:r>
            <a:r>
              <a:rPr lang="ru-RU" i="1"/>
              <a:t> </a:t>
            </a:r>
            <a:r>
              <a:rPr lang="ru-RU" i="1" err="1"/>
              <a:t>train</a:t>
            </a:r>
            <a:endParaRPr lang="ru-RU"/>
          </a:p>
          <a:p>
            <a:pPr marL="0" indent="0">
              <a:buNone/>
            </a:pPr>
            <a:r>
              <a:rPr lang="ru-RU" err="1"/>
              <a:t>model_sk</a:t>
            </a:r>
            <a:r>
              <a:rPr lang="ru-RU"/>
              <a:t> = </a:t>
            </a:r>
            <a:r>
              <a:rPr lang="ru-RU" err="1"/>
              <a:t>sm.OLS</a:t>
            </a:r>
            <a:r>
              <a:rPr lang="ru-RU"/>
              <a:t>(</a:t>
            </a:r>
            <a:r>
              <a:rPr lang="ru-RU" err="1"/>
              <a:t>y_train</a:t>
            </a:r>
            <a:r>
              <a:rPr lang="ru-RU"/>
              <a:t>, </a:t>
            </a:r>
            <a:r>
              <a:rPr lang="ru-RU" err="1"/>
              <a:t>sm.add_constant</a:t>
            </a:r>
            <a:r>
              <a:rPr lang="ru-RU"/>
              <a:t>(</a:t>
            </a:r>
            <a:r>
              <a:rPr lang="ru-RU" err="1"/>
              <a:t>X_train</a:t>
            </a:r>
            <a:r>
              <a:rPr lang="ru-RU"/>
              <a:t>)).</a:t>
            </a:r>
            <a:r>
              <a:rPr lang="ru-RU" err="1"/>
              <a:t>fit</a:t>
            </a:r>
            <a:r>
              <a:rPr lang="ru-RU"/>
              <a:t>()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i="1"/>
              <a:t># </a:t>
            </a:r>
            <a:r>
              <a:rPr lang="ru-RU" i="1" err="1"/>
              <a:t>Predict</a:t>
            </a:r>
            <a:r>
              <a:rPr lang="ru-RU" i="1"/>
              <a:t> </a:t>
            </a:r>
            <a:r>
              <a:rPr lang="ru-RU" i="1" err="1"/>
              <a:t>on</a:t>
            </a:r>
            <a:r>
              <a:rPr lang="ru-RU" i="1"/>
              <a:t> </a:t>
            </a:r>
            <a:r>
              <a:rPr lang="ru-RU" i="1" err="1"/>
              <a:t>test</a:t>
            </a:r>
            <a:endParaRPr lang="ru-RU"/>
          </a:p>
          <a:p>
            <a:pPr marL="0" indent="0">
              <a:buNone/>
            </a:pPr>
            <a:r>
              <a:rPr lang="ru-RU" err="1"/>
              <a:t>y_pred</a:t>
            </a:r>
            <a:r>
              <a:rPr lang="ru-RU"/>
              <a:t> = </a:t>
            </a:r>
            <a:r>
              <a:rPr lang="ru-RU" err="1"/>
              <a:t>model_sk.predict</a:t>
            </a:r>
            <a:r>
              <a:rPr lang="ru-RU"/>
              <a:t>(</a:t>
            </a:r>
            <a:r>
              <a:rPr lang="ru-RU" err="1"/>
              <a:t>sm.add_constant</a:t>
            </a:r>
            <a:r>
              <a:rPr lang="ru-RU"/>
              <a:t>(</a:t>
            </a:r>
            <a:r>
              <a:rPr lang="ru-RU" err="1"/>
              <a:t>X_test</a:t>
            </a:r>
            <a:r>
              <a:rPr lang="ru-RU"/>
              <a:t>))</a:t>
            </a:r>
          </a:p>
          <a:p>
            <a:pPr marL="0" indent="0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f"Test</a:t>
            </a:r>
            <a:r>
              <a:rPr lang="ru-RU"/>
              <a:t> R²: {r2_score(</a:t>
            </a:r>
            <a:r>
              <a:rPr lang="ru-RU" err="1"/>
              <a:t>y_test</a:t>
            </a:r>
            <a:r>
              <a:rPr lang="ru-RU"/>
              <a:t>, </a:t>
            </a:r>
            <a:r>
              <a:rPr lang="ru-RU" err="1"/>
              <a:t>y_pred</a:t>
            </a:r>
            <a:r>
              <a:rPr lang="ru-RU"/>
              <a:t>):.3f}")</a:t>
            </a:r>
          </a:p>
          <a:p>
            <a:pPr marL="0" indent="0">
              <a:buNone/>
            </a:pPr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f"Test</a:t>
            </a:r>
            <a:r>
              <a:rPr lang="ru-RU"/>
              <a:t> RMSE: {</a:t>
            </a:r>
            <a:r>
              <a:rPr lang="ru-RU" err="1"/>
              <a:t>np.sqrt</a:t>
            </a:r>
            <a:r>
              <a:rPr lang="ru-RU"/>
              <a:t>(</a:t>
            </a:r>
            <a:r>
              <a:rPr lang="ru-RU" err="1"/>
              <a:t>mean_squared_error</a:t>
            </a:r>
            <a:r>
              <a:rPr lang="ru-RU"/>
              <a:t>(</a:t>
            </a:r>
            <a:r>
              <a:rPr lang="ru-RU" err="1"/>
              <a:t>y_test</a:t>
            </a:r>
            <a:r>
              <a:rPr lang="ru-RU"/>
              <a:t>, </a:t>
            </a:r>
            <a:r>
              <a:rPr lang="ru-RU" err="1"/>
              <a:t>y_pred</a:t>
            </a:r>
            <a:r>
              <a:rPr lang="ru-RU"/>
              <a:t>)):.3f}")</a:t>
            </a:r>
          </a:p>
        </p:txBody>
      </p:sp>
    </p:spTree>
    <p:extLst>
      <p:ext uri="{BB962C8B-B14F-4D97-AF65-F5344CB8AC3E}">
        <p14:creationId xmlns:p14="http://schemas.microsoft.com/office/powerpoint/2010/main" val="361434838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9A8D18DF04E7B24DB531D034DE08C523" ma:contentTypeVersion="3" ma:contentTypeDescription="Создание документа." ma:contentTypeScope="" ma:versionID="42e10639191b7e3b63d24bcf897b384e">
  <xsd:schema xmlns:xsd="http://www.w3.org/2001/XMLSchema" xmlns:xs="http://www.w3.org/2001/XMLSchema" xmlns:p="http://schemas.microsoft.com/office/2006/metadata/properties" xmlns:ns2="97039dda-64f8-41f1-b3d6-f92ff14c1096" targetNamespace="http://schemas.microsoft.com/office/2006/metadata/properties" ma:root="true" ma:fieldsID="5776f9c6e434ed901ab2dac168f69dd4" ns2:_="">
    <xsd:import namespace="97039dda-64f8-41f1-b3d6-f92ff14c10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039dda-64f8-41f1-b3d6-f92ff14c10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B06A236-7A0C-4F3B-9DF7-9CAA76D2EBB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7039dda-64f8-41f1-b3d6-f92ff14c109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AEDB0A7-1AEA-4EC2-BCAB-287A647A93B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C471372-D119-4BC8-9EB1-83DCAB19F763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36</Slides>
  <Notes>28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Тема Office</vt:lpstr>
      <vt:lpstr>DATA ANALYSIS CONCEPTS II: CORRELATION &amp; REGRESSION Modeling Relationships</vt:lpstr>
      <vt:lpstr>PowerPoint Presentation</vt:lpstr>
      <vt:lpstr>What is Correlation?</vt:lpstr>
      <vt:lpstr>Correlation Coefficient (r) – The Basics</vt:lpstr>
      <vt:lpstr>Interpreting r – Strength Guidelines</vt:lpstr>
      <vt:lpstr>Python – Scatter Plot &amp; Correlation</vt:lpstr>
      <vt:lpstr>Correlation ≠ Causation – The Golden Rule</vt:lpstr>
      <vt:lpstr>Spearman Rank Correlation – For Non‑linear Relationships</vt:lpstr>
      <vt:lpstr>Python – Spearman Correlation</vt:lpstr>
      <vt:lpstr>Python – Correlation Matrix &amp; Heatmap</vt:lpstr>
      <vt:lpstr>From Correlation to Prediction</vt:lpstr>
      <vt:lpstr>The Simple Linear Regression Model</vt:lpstr>
      <vt:lpstr>Least Squares – Fitting the Best Line</vt:lpstr>
      <vt:lpstr>Formulas for Slope and Intercept</vt:lpstr>
      <vt:lpstr>Python – Fitting Simple Linear Regression</vt:lpstr>
      <vt:lpstr>Dataset</vt:lpstr>
      <vt:lpstr>R‑squared – How Well Does the Line Fit?</vt:lpstr>
      <vt:lpstr>Visualizing the Regression Line</vt:lpstr>
      <vt:lpstr>Residuals – What the Line Misses</vt:lpstr>
      <vt:lpstr>Python – Residual Plot</vt:lpstr>
      <vt:lpstr>Assumptions of Linear Regression</vt:lpstr>
      <vt:lpstr>Confidence Intervals for Coefficients</vt:lpstr>
      <vt:lpstr>Multiple Regression</vt:lpstr>
      <vt:lpstr>The Multiple Regression Model</vt:lpstr>
      <vt:lpstr>Python – Fitting Multiple Regression</vt:lpstr>
      <vt:lpstr>Adjusted R‑squared</vt:lpstr>
      <vt:lpstr>Overall F‑test</vt:lpstr>
      <vt:lpstr>Individual t‑tests for Coefficients</vt:lpstr>
      <vt:lpstr>Multicollinearity – When Predictors Are Too Friendly</vt:lpstr>
      <vt:lpstr>Categorical Predictors – Dummy Variables</vt:lpstr>
      <vt:lpstr>Python – Creating Dummy Variables</vt:lpstr>
      <vt:lpstr>Comparing Models</vt:lpstr>
      <vt:lpstr>Python – AIC and BIC</vt:lpstr>
      <vt:lpstr>Overfitting – The Danger of Too Many Predictors</vt:lpstr>
      <vt:lpstr>Cross‑Validation</vt:lpstr>
      <vt:lpstr>Python – Simple Train/Test Split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Нағметова Анар Айдарбекқызы</dc:creator>
  <cp:revision>3</cp:revision>
  <dcterms:created xsi:type="dcterms:W3CDTF">2026-02-24T09:41:34Z</dcterms:created>
  <dcterms:modified xsi:type="dcterms:W3CDTF">2026-03-13T05:58:09Z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0x0101009A8D18DF04E7B24DB531D034DE08C523</vt:lpwstr>
  </property>
</Properties>
</file>