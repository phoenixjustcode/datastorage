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316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317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318" r:id="rId41"/>
    <p:sldId id="293" r:id="rId42"/>
    <p:sldId id="294" r:id="rId43"/>
    <p:sldId id="295" r:id="rId44"/>
    <p:sldId id="296" r:id="rId45"/>
    <p:sldId id="319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5" r:id="rId6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EAC497-6DA7-ADB7-697B-826FE2CF28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B22E72A-BBC4-BAA8-CDF2-35490BC2DA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E0C87F7-AEE9-4368-D9FF-95682ADA9F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67A5E-0DE0-4523-906C-3330D275823A}" type="datetimeFigureOut">
              <a:rPr lang="ru-RU" smtClean="0"/>
              <a:t>03.02.2026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11C9B6F-6C84-C26A-A119-CC8C66073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8956A9A-E748-AE51-5915-22B32CC28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99D2A-AD6C-470A-A5B1-65E73E7BAC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53125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2C7575-AD93-F55E-C87A-86AE23559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8844254-70EE-B696-B40B-5B6B741F00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4BB5379-01D0-890F-B6DC-8D9ACBEAF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67A5E-0DE0-4523-906C-3330D275823A}" type="datetimeFigureOut">
              <a:rPr lang="ru-RU" smtClean="0"/>
              <a:t>03.02.2026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52C4B4E-BDED-12A0-12C0-20E05B059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A1BD938-EB8B-6716-F1BB-F258A66D6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99D2A-AD6C-470A-A5B1-65E73E7BAC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67097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D5DFAA-88D6-9FC6-73A2-B6581920D2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2CCEDED-41D1-2B06-B590-B30533AF5E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587A3EA-9C48-E110-D7E0-FA6C006EB8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67A5E-0DE0-4523-906C-3330D275823A}" type="datetimeFigureOut">
              <a:rPr lang="ru-RU" smtClean="0"/>
              <a:t>03.02.2026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1E909D0-4E45-D602-4FE8-7EC58569B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E9AE14D-71E6-B77D-8C94-366462517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99D2A-AD6C-470A-A5B1-65E73E7BAC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67185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86E940-A61E-83BF-C8FB-681563CE6B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0414B7E-471C-EE62-C95D-6CFB8916DB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C084C20-DFE9-B4E5-061C-1E1D97818D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1114C66-4A5C-92FA-F878-190EE3474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67A5E-0DE0-4523-906C-3330D275823A}" type="datetimeFigureOut">
              <a:rPr lang="ru-RU" smtClean="0"/>
              <a:t>03.02.2026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CF0B2C2-F8F8-FD1A-9F25-D0C618908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6AE4BF4-1997-22C9-2AC7-6C60FB110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99D2A-AD6C-470A-A5B1-65E73E7BAC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51268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8FEC0C-2E12-3E89-DEA1-BB55407434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0624747-47F5-1778-3E71-E3EAAD05DD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DDBE356-AA30-0ECB-0EA8-DB14F43828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A243B25B-471E-03F7-E08A-D9E3E84353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1D3C3D62-AE22-D6E8-F3DC-914E344FD0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6A8B5248-3D55-C0FA-BD45-0A5535A3C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67A5E-0DE0-4523-906C-3330D275823A}" type="datetimeFigureOut">
              <a:rPr lang="ru-RU" smtClean="0"/>
              <a:t>03.02.2026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3600D8CE-B66C-AE34-A2DB-6BEA3F8AE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838346B2-C9E2-4CA8-19EC-A9A12C329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99D2A-AD6C-470A-A5B1-65E73E7BAC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464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C3C54B-45E2-DDA7-572A-4BBB48D821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408E588A-616E-8F09-FAD3-BBC002240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67A5E-0DE0-4523-906C-3330D275823A}" type="datetimeFigureOut">
              <a:rPr lang="ru-RU" smtClean="0"/>
              <a:t>03.02.2026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07F453C-FF87-904A-3BFC-A38754D348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95E01B9-DDF8-F701-734B-C96277C57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99D2A-AD6C-470A-A5B1-65E73E7BAC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62462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941643B1-2B58-9A91-3966-9BBF633C6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67A5E-0DE0-4523-906C-3330D275823A}" type="datetimeFigureOut">
              <a:rPr lang="ru-RU" smtClean="0"/>
              <a:t>03.02.2026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2ED19C31-C647-EA2F-3C58-C303ED1374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17A71F2-2229-BD3B-7D5B-81FC47C2C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99D2A-AD6C-470A-A5B1-65E73E7BAC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6715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15A934-6636-9239-752D-423441128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0E54B99-9506-47A7-F512-3DC11F9A4F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91E6785-E9B2-A1A0-75F5-FE8C6FF45A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8A32528-4774-25CF-7C38-59650056EF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67A5E-0DE0-4523-906C-3330D275823A}" type="datetimeFigureOut">
              <a:rPr lang="ru-RU" smtClean="0"/>
              <a:t>03.02.2026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BE2A056-46F8-05F8-7DF8-B6C60014D4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11C57B8-C7FF-002A-37BF-3FEBCE24B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99D2A-AD6C-470A-A5B1-65E73E7BAC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91330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425E10-CFAA-3C01-B443-70E9D1FBC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7CA9F475-DF94-364A-AB0F-5C2139F616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ADDC1A2-161D-645E-6C96-8A3A9193A3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2424ACD-57D9-0F58-7838-5220CBDA14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67A5E-0DE0-4523-906C-3330D275823A}" type="datetimeFigureOut">
              <a:rPr lang="ru-RU" smtClean="0"/>
              <a:t>03.02.2026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57A258B-158B-9A49-1D97-8D076BF21D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A109586-560D-C559-D137-810555772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99D2A-AD6C-470A-A5B1-65E73E7BAC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77905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345675-1F00-56FD-633A-51C147868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C19320E-E2E8-83FD-E69C-585A56331A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68188BF-B1EB-00A6-74BA-6C4329F4B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67A5E-0DE0-4523-906C-3330D275823A}" type="datetimeFigureOut">
              <a:rPr lang="ru-RU" smtClean="0"/>
              <a:t>03.02.2026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C6756F1-FA47-391A-1612-623A5D2D5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1383E43-3373-B5CE-1856-1EC863B42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99D2A-AD6C-470A-A5B1-65E73E7BAC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1981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FAE739F-9655-2675-8ED0-DF568911E7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33B5FD7-8E0C-A20F-5818-CEE9408694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37322A1-F719-89D8-D6C7-D196CF5EB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67A5E-0DE0-4523-906C-3330D275823A}" type="datetimeFigureOut">
              <a:rPr lang="ru-RU" smtClean="0"/>
              <a:t>03.02.2026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6BBDF08-8911-A257-8757-BFFB8F317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E8D12C1-ADDF-E9BB-B29A-076517DC9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99D2A-AD6C-470A-A5B1-65E73E7BAC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49479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F72260-3817-F2C1-5C87-8D20ABCF5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A8CC662-FD79-B03F-733C-C66EBCD05F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712A1FE-0546-BE36-B94D-A492AA9071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167A5E-0DE0-4523-906C-3330D275823A}" type="datetimeFigureOut">
              <a:rPr lang="ru-RU" smtClean="0"/>
              <a:t>03.02.2026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86B96AA-4E29-8F59-5FA8-77EB4EAA7B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F1A2B43-10B2-6F39-871D-943C6CD351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699D2A-AD6C-470A-A5B1-65E73E7BAC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87244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DF9DC1-26A9-E518-13C8-AE2F8B2CDE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801906"/>
          </a:xfrm>
        </p:spPr>
        <p:txBody>
          <a:bodyPr>
            <a:normAutofit/>
          </a:bodyPr>
          <a:lstStyle/>
          <a:p>
            <a:r>
              <a:rPr lang="ru-RU" sz="5000" b="1" dirty="0"/>
              <a:t>STATISTICAL FOUNDATIONS</a:t>
            </a:r>
            <a:br>
              <a:rPr lang="ru-RU" sz="5000" dirty="0"/>
            </a:br>
            <a:r>
              <a:rPr lang="ru-RU" sz="5000" i="1" dirty="0" err="1"/>
              <a:t>Understanding</a:t>
            </a:r>
            <a:r>
              <a:rPr lang="ru-RU" sz="5000" i="1" dirty="0"/>
              <a:t> Data </a:t>
            </a:r>
            <a:r>
              <a:rPr lang="ru-RU" sz="5000" i="1" dirty="0" err="1"/>
              <a:t>with</a:t>
            </a:r>
            <a:r>
              <a:rPr lang="ru-RU" sz="5000" i="1" dirty="0"/>
              <a:t> </a:t>
            </a:r>
            <a:r>
              <a:rPr lang="ru-RU" sz="5000" i="1" dirty="0" err="1"/>
              <a:t>Numbers</a:t>
            </a:r>
            <a:endParaRPr lang="ru-RU" sz="5000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6DAA3A8-5F56-E5AE-E8B7-9544450118B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b="1" dirty="0"/>
              <a:t>Week 3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036269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23ECD4-4F1E-59E9-3B5A-FE5200D759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What </a:t>
            </a:r>
            <a:r>
              <a:rPr lang="ru-RU" dirty="0" err="1"/>
              <a:t>Are</a:t>
            </a:r>
            <a:r>
              <a:rPr lang="ru-RU" dirty="0"/>
              <a:t> </a:t>
            </a:r>
            <a:r>
              <a:rPr lang="ru-RU" dirty="0" err="1"/>
              <a:t>Statistics</a:t>
            </a:r>
            <a:r>
              <a:rPr lang="ru-RU" dirty="0"/>
              <a:t>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9C93191-0C1F-224C-820E-D797B5D66D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Simple Definition:</a:t>
            </a:r>
            <a:br>
              <a:rPr lang="ru-RU" dirty="0"/>
            </a:br>
            <a:r>
              <a:rPr lang="ru-RU" dirty="0"/>
              <a:t>"</a:t>
            </a:r>
            <a:r>
              <a:rPr lang="ru-RU" dirty="0" err="1"/>
              <a:t>Statistics</a:t>
            </a:r>
            <a:r>
              <a:rPr lang="ru-RU" dirty="0"/>
              <a:t> </a:t>
            </a:r>
            <a:r>
              <a:rPr lang="ru-RU" dirty="0" err="1"/>
              <a:t>is</a:t>
            </a:r>
            <a:r>
              <a:rPr lang="ru-RU" dirty="0"/>
              <a:t> </a:t>
            </a:r>
            <a:r>
              <a:rPr lang="ru-RU" dirty="0" err="1"/>
              <a:t>the</a:t>
            </a:r>
            <a:r>
              <a:rPr lang="ru-RU" dirty="0"/>
              <a:t> </a:t>
            </a:r>
            <a:r>
              <a:rPr lang="ru-RU" dirty="0" err="1"/>
              <a:t>science</a:t>
            </a:r>
            <a:r>
              <a:rPr lang="ru-RU" dirty="0"/>
              <a:t> </a:t>
            </a:r>
            <a:r>
              <a:rPr lang="ru-RU" dirty="0" err="1"/>
              <a:t>of</a:t>
            </a:r>
            <a:r>
              <a:rPr lang="ru-RU" dirty="0"/>
              <a:t> </a:t>
            </a:r>
            <a:r>
              <a:rPr lang="ru-RU" dirty="0" err="1"/>
              <a:t>collecting</a:t>
            </a:r>
            <a:r>
              <a:rPr lang="ru-RU" dirty="0"/>
              <a:t>, </a:t>
            </a:r>
            <a:r>
              <a:rPr lang="ru-RU" dirty="0" err="1"/>
              <a:t>analyzing</a:t>
            </a:r>
            <a:r>
              <a:rPr lang="ru-RU" dirty="0"/>
              <a:t>, </a:t>
            </a:r>
            <a:r>
              <a:rPr lang="ru-RU" dirty="0" err="1"/>
              <a:t>interpreting</a:t>
            </a:r>
            <a:r>
              <a:rPr lang="ru-RU" dirty="0"/>
              <a:t>, </a:t>
            </a:r>
            <a:r>
              <a:rPr lang="ru-RU" dirty="0" err="1"/>
              <a:t>and</a:t>
            </a:r>
            <a:r>
              <a:rPr lang="ru-RU" dirty="0"/>
              <a:t> </a:t>
            </a:r>
            <a:r>
              <a:rPr lang="ru-RU" dirty="0" err="1"/>
              <a:t>presenting</a:t>
            </a:r>
            <a:r>
              <a:rPr lang="ru-RU" dirty="0"/>
              <a:t> </a:t>
            </a:r>
            <a:r>
              <a:rPr lang="ru-RU" dirty="0" err="1"/>
              <a:t>data</a:t>
            </a:r>
            <a:r>
              <a:rPr lang="ru-RU" dirty="0"/>
              <a:t>."</a:t>
            </a:r>
          </a:p>
          <a:p>
            <a:r>
              <a:rPr lang="en-US" b="1" dirty="0"/>
              <a:t>Example</a:t>
            </a:r>
            <a:r>
              <a:rPr lang="ru-RU" b="1" dirty="0"/>
              <a:t>:</a:t>
            </a:r>
            <a:br>
              <a:rPr lang="ru-RU" dirty="0"/>
            </a:br>
            <a:r>
              <a:rPr lang="en-US" i="1" dirty="0"/>
              <a:t>A bank analyzes loan repayment data to determine the probability that a customer will miss a payment.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028734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9996E7-9A62-EABB-796E-924170752E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Why</a:t>
            </a:r>
            <a:r>
              <a:rPr lang="ru-RU" dirty="0"/>
              <a:t> </a:t>
            </a:r>
            <a:r>
              <a:rPr lang="ru-RU" dirty="0" err="1"/>
              <a:t>Learn</a:t>
            </a:r>
            <a:r>
              <a:rPr lang="ru-RU" dirty="0"/>
              <a:t> </a:t>
            </a:r>
            <a:r>
              <a:rPr lang="ru-RU" dirty="0" err="1"/>
              <a:t>Statistics</a:t>
            </a:r>
            <a:r>
              <a:rPr lang="ru-RU" dirty="0"/>
              <a:t>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C85D9C4-EA3C-1282-FD84-67DB4E373F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 err="1"/>
              <a:t>Three</a:t>
            </a:r>
            <a:r>
              <a:rPr lang="ru-RU" b="1" dirty="0"/>
              <a:t> Real </a:t>
            </a:r>
            <a:r>
              <a:rPr lang="ru-RU" b="1" dirty="0" err="1"/>
              <a:t>Reasons</a:t>
            </a:r>
            <a:r>
              <a:rPr lang="ru-RU" b="1" dirty="0"/>
              <a:t>:</a:t>
            </a:r>
            <a:endParaRPr lang="ru-RU" dirty="0"/>
          </a:p>
          <a:p>
            <a:pPr lvl="0"/>
            <a:r>
              <a:rPr lang="ru-RU" b="1" dirty="0"/>
              <a:t>To </a:t>
            </a:r>
            <a:r>
              <a:rPr lang="ru-RU" b="1" dirty="0" err="1"/>
              <a:t>make</a:t>
            </a:r>
            <a:r>
              <a:rPr lang="ru-RU" b="1" dirty="0"/>
              <a:t> </a:t>
            </a:r>
            <a:r>
              <a:rPr lang="ru-RU" b="1" dirty="0" err="1"/>
              <a:t>better</a:t>
            </a:r>
            <a:r>
              <a:rPr lang="ru-RU" b="1" dirty="0"/>
              <a:t> </a:t>
            </a:r>
            <a:r>
              <a:rPr lang="ru-RU" b="1" dirty="0" err="1"/>
              <a:t>decisions</a:t>
            </a:r>
            <a:r>
              <a:rPr lang="ru-RU" dirty="0"/>
              <a:t> (</a:t>
            </a:r>
            <a:r>
              <a:rPr lang="ru-RU" dirty="0" err="1"/>
              <a:t>data-driven</a:t>
            </a:r>
            <a:r>
              <a:rPr lang="ru-RU" dirty="0"/>
              <a:t> </a:t>
            </a:r>
            <a:r>
              <a:rPr lang="ru-RU" dirty="0" err="1"/>
              <a:t>decisions</a:t>
            </a:r>
            <a:r>
              <a:rPr lang="ru-RU" dirty="0"/>
              <a:t>)</a:t>
            </a:r>
          </a:p>
          <a:p>
            <a:pPr lvl="0"/>
            <a:r>
              <a:rPr lang="ru-RU" b="1" dirty="0"/>
              <a:t>To </a:t>
            </a:r>
            <a:r>
              <a:rPr lang="ru-RU" b="1" dirty="0" err="1"/>
              <a:t>understand</a:t>
            </a:r>
            <a:r>
              <a:rPr lang="ru-RU" b="1" dirty="0"/>
              <a:t> </a:t>
            </a:r>
            <a:r>
              <a:rPr lang="ru-RU" b="1" dirty="0" err="1"/>
              <a:t>uncertainty</a:t>
            </a:r>
            <a:r>
              <a:rPr lang="ru-RU" dirty="0"/>
              <a:t> (</a:t>
            </a:r>
            <a:r>
              <a:rPr lang="ru-RU" dirty="0" err="1"/>
              <a:t>nothing</a:t>
            </a:r>
            <a:r>
              <a:rPr lang="ru-RU" dirty="0"/>
              <a:t> </a:t>
            </a:r>
            <a:r>
              <a:rPr lang="ru-RU" dirty="0" err="1"/>
              <a:t>is</a:t>
            </a:r>
            <a:r>
              <a:rPr lang="ru-RU" dirty="0"/>
              <a:t> 100% </a:t>
            </a:r>
            <a:r>
              <a:rPr lang="ru-RU" dirty="0" err="1"/>
              <a:t>certain</a:t>
            </a:r>
            <a:r>
              <a:rPr lang="ru-RU" dirty="0"/>
              <a:t>)</a:t>
            </a:r>
          </a:p>
          <a:p>
            <a:pPr lvl="0"/>
            <a:r>
              <a:rPr lang="ru-RU" b="1" dirty="0"/>
              <a:t>To </a:t>
            </a:r>
            <a:r>
              <a:rPr lang="ru-RU" b="1" dirty="0" err="1"/>
              <a:t>spot</a:t>
            </a:r>
            <a:r>
              <a:rPr lang="ru-RU" b="1" dirty="0"/>
              <a:t> </a:t>
            </a:r>
            <a:r>
              <a:rPr lang="ru-RU" b="1" dirty="0" err="1"/>
              <a:t>misleading</a:t>
            </a:r>
            <a:r>
              <a:rPr lang="ru-RU" b="1" dirty="0"/>
              <a:t> </a:t>
            </a:r>
            <a:r>
              <a:rPr lang="ru-RU" b="1" dirty="0" err="1"/>
              <a:t>information</a:t>
            </a:r>
            <a:r>
              <a:rPr lang="ru-RU" dirty="0"/>
              <a:t> (</a:t>
            </a:r>
            <a:r>
              <a:rPr lang="ru-RU" dirty="0" err="1"/>
              <a:t>don't</a:t>
            </a:r>
            <a:r>
              <a:rPr lang="ru-RU" dirty="0"/>
              <a:t> </a:t>
            </a:r>
            <a:r>
              <a:rPr lang="ru-RU" dirty="0" err="1"/>
              <a:t>be</a:t>
            </a:r>
            <a:r>
              <a:rPr lang="ru-RU" dirty="0"/>
              <a:t> </a:t>
            </a:r>
            <a:r>
              <a:rPr lang="ru-RU" dirty="0" err="1"/>
              <a:t>fooled</a:t>
            </a:r>
            <a:r>
              <a:rPr lang="ru-RU" dirty="0"/>
              <a:t> </a:t>
            </a:r>
            <a:r>
              <a:rPr lang="ru-RU" dirty="0" err="1"/>
              <a:t>by</a:t>
            </a:r>
            <a:r>
              <a:rPr lang="ru-RU" dirty="0"/>
              <a:t> </a:t>
            </a:r>
            <a:r>
              <a:rPr lang="ru-RU" dirty="0" err="1"/>
              <a:t>bad</a:t>
            </a:r>
            <a:r>
              <a:rPr lang="ru-RU" dirty="0"/>
              <a:t> </a:t>
            </a:r>
            <a:r>
              <a:rPr lang="ru-RU" dirty="0" err="1"/>
              <a:t>stats</a:t>
            </a:r>
            <a:r>
              <a:rPr lang="ru-RU" dirty="0"/>
              <a:t>)</a:t>
            </a:r>
            <a:endParaRPr lang="en-US" dirty="0"/>
          </a:p>
          <a:p>
            <a:pPr lvl="0"/>
            <a:endParaRPr lang="en-US" dirty="0"/>
          </a:p>
          <a:p>
            <a:pPr lvl="0"/>
            <a:endParaRPr lang="ru-RU" dirty="0"/>
          </a:p>
          <a:p>
            <a:r>
              <a:rPr lang="ru-RU" b="1" dirty="0" err="1"/>
              <a:t>Example</a:t>
            </a:r>
            <a:r>
              <a:rPr lang="ru-RU" b="1" dirty="0"/>
              <a:t>:</a:t>
            </a:r>
            <a:r>
              <a:rPr lang="ru-RU" dirty="0"/>
              <a:t> "4 </a:t>
            </a:r>
            <a:r>
              <a:rPr lang="ru-RU" dirty="0" err="1"/>
              <a:t>out</a:t>
            </a:r>
            <a:r>
              <a:rPr lang="ru-RU" dirty="0"/>
              <a:t> </a:t>
            </a:r>
            <a:r>
              <a:rPr lang="ru-RU" dirty="0" err="1"/>
              <a:t>of</a:t>
            </a:r>
            <a:r>
              <a:rPr lang="ru-RU" dirty="0"/>
              <a:t> 5 </a:t>
            </a:r>
            <a:r>
              <a:rPr lang="ru-RU" dirty="0" err="1"/>
              <a:t>dentists</a:t>
            </a:r>
            <a:r>
              <a:rPr lang="ru-RU" dirty="0"/>
              <a:t> </a:t>
            </a:r>
            <a:r>
              <a:rPr lang="ru-RU" dirty="0" err="1"/>
              <a:t>recommend</a:t>
            </a:r>
            <a:r>
              <a:rPr lang="ru-RU" dirty="0"/>
              <a:t>..." → What </a:t>
            </a:r>
            <a:r>
              <a:rPr lang="ru-RU" dirty="0" err="1"/>
              <a:t>does</a:t>
            </a:r>
            <a:r>
              <a:rPr lang="ru-RU" dirty="0"/>
              <a:t> </a:t>
            </a:r>
            <a:r>
              <a:rPr lang="ru-RU" dirty="0" err="1"/>
              <a:t>this</a:t>
            </a:r>
            <a:r>
              <a:rPr lang="ru-RU" dirty="0"/>
              <a:t> </a:t>
            </a:r>
            <a:r>
              <a:rPr lang="ru-RU" dirty="0" err="1"/>
              <a:t>really</a:t>
            </a:r>
            <a:r>
              <a:rPr lang="ru-RU" dirty="0"/>
              <a:t> </a:t>
            </a:r>
            <a:r>
              <a:rPr lang="ru-RU" dirty="0" err="1"/>
              <a:t>mean</a:t>
            </a:r>
            <a:r>
              <a:rPr lang="ru-RU" dirty="0"/>
              <a:t>?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732933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359F1B-245A-215C-DFF4-55104A04C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Two</a:t>
            </a:r>
            <a:r>
              <a:rPr lang="ru-RU" dirty="0"/>
              <a:t> </a:t>
            </a:r>
            <a:r>
              <a:rPr lang="ru-RU" dirty="0" err="1"/>
              <a:t>Main</a:t>
            </a:r>
            <a:r>
              <a:rPr lang="ru-RU" dirty="0"/>
              <a:t> </a:t>
            </a:r>
            <a:r>
              <a:rPr lang="ru-RU" dirty="0" err="1"/>
              <a:t>Types</a:t>
            </a:r>
            <a:r>
              <a:rPr lang="ru-RU" dirty="0"/>
              <a:t> </a:t>
            </a:r>
            <a:r>
              <a:rPr lang="ru-RU" dirty="0" err="1"/>
              <a:t>of</a:t>
            </a:r>
            <a:r>
              <a:rPr lang="ru-RU" dirty="0"/>
              <a:t> </a:t>
            </a:r>
            <a:r>
              <a:rPr lang="ru-RU" dirty="0" err="1"/>
              <a:t>Statistics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193B559-AF41-4A0E-ED1A-244CC4CE27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1. DESCRIPTIVE STATISTICS</a:t>
            </a:r>
            <a:r>
              <a:rPr lang="ru-RU" dirty="0"/>
              <a:t> (</a:t>
            </a:r>
            <a:r>
              <a:rPr lang="ru-RU" dirty="0" err="1"/>
              <a:t>Today's</a:t>
            </a:r>
            <a:r>
              <a:rPr lang="ru-RU" dirty="0"/>
              <a:t> </a:t>
            </a:r>
            <a:r>
              <a:rPr lang="ru-RU" dirty="0" err="1"/>
              <a:t>focus</a:t>
            </a:r>
            <a:r>
              <a:rPr lang="ru-RU" dirty="0"/>
              <a:t>)</a:t>
            </a:r>
          </a:p>
          <a:p>
            <a:pPr lvl="0"/>
            <a:r>
              <a:rPr lang="ru-RU" dirty="0" err="1"/>
              <a:t>Describes</a:t>
            </a:r>
            <a:r>
              <a:rPr lang="ru-RU" dirty="0"/>
              <a:t> </a:t>
            </a:r>
            <a:r>
              <a:rPr lang="ru-RU" dirty="0" err="1"/>
              <a:t>what</a:t>
            </a:r>
            <a:r>
              <a:rPr lang="ru-RU" dirty="0"/>
              <a:t> </a:t>
            </a:r>
            <a:r>
              <a:rPr lang="ru-RU" dirty="0" err="1"/>
              <a:t>the</a:t>
            </a:r>
            <a:r>
              <a:rPr lang="ru-RU" dirty="0"/>
              <a:t> </a:t>
            </a:r>
            <a:r>
              <a:rPr lang="ru-RU" dirty="0" err="1"/>
              <a:t>data</a:t>
            </a:r>
            <a:r>
              <a:rPr lang="ru-RU" dirty="0"/>
              <a:t> </a:t>
            </a:r>
            <a:r>
              <a:rPr lang="ru-RU" dirty="0" err="1"/>
              <a:t>shows</a:t>
            </a:r>
            <a:endParaRPr lang="ru-RU" dirty="0"/>
          </a:p>
          <a:p>
            <a:pPr lvl="0"/>
            <a:r>
              <a:rPr lang="ru-RU" dirty="0" err="1"/>
              <a:t>Summarizes</a:t>
            </a:r>
            <a:r>
              <a:rPr lang="ru-RU" dirty="0"/>
              <a:t> </a:t>
            </a:r>
            <a:r>
              <a:rPr lang="ru-RU" dirty="0" err="1"/>
              <a:t>and</a:t>
            </a:r>
            <a:r>
              <a:rPr lang="ru-RU" dirty="0"/>
              <a:t> </a:t>
            </a:r>
            <a:r>
              <a:rPr lang="ru-RU" dirty="0" err="1"/>
              <a:t>organizes</a:t>
            </a:r>
            <a:r>
              <a:rPr lang="ru-RU" dirty="0"/>
              <a:t> </a:t>
            </a:r>
            <a:r>
              <a:rPr lang="ru-RU" dirty="0" err="1"/>
              <a:t>data</a:t>
            </a:r>
            <a:endParaRPr lang="ru-RU" dirty="0"/>
          </a:p>
          <a:p>
            <a:pPr lvl="0"/>
            <a:r>
              <a:rPr lang="ru-RU" i="1" dirty="0" err="1"/>
              <a:t>Example</a:t>
            </a:r>
            <a:r>
              <a:rPr lang="ru-RU" i="1" dirty="0"/>
              <a:t>:</a:t>
            </a:r>
            <a:r>
              <a:rPr lang="ru-RU" dirty="0"/>
              <a:t> "The </a:t>
            </a:r>
            <a:r>
              <a:rPr lang="ru-RU" dirty="0" err="1"/>
              <a:t>average</a:t>
            </a:r>
            <a:r>
              <a:rPr lang="ru-RU" dirty="0"/>
              <a:t> </a:t>
            </a:r>
            <a:r>
              <a:rPr lang="ru-RU" dirty="0" err="1"/>
              <a:t>test</a:t>
            </a:r>
            <a:r>
              <a:rPr lang="ru-RU" dirty="0"/>
              <a:t> </a:t>
            </a:r>
            <a:r>
              <a:rPr lang="ru-RU" dirty="0" err="1"/>
              <a:t>score</a:t>
            </a:r>
            <a:r>
              <a:rPr lang="ru-RU" dirty="0"/>
              <a:t> </a:t>
            </a:r>
            <a:r>
              <a:rPr lang="ru-RU" dirty="0" err="1"/>
              <a:t>is</a:t>
            </a:r>
            <a:r>
              <a:rPr lang="ru-RU" dirty="0"/>
              <a:t> 75%"</a:t>
            </a:r>
          </a:p>
          <a:p>
            <a:r>
              <a:rPr lang="ru-RU" b="1" dirty="0"/>
              <a:t>2. INFERENTIAL STATISTICS</a:t>
            </a:r>
            <a:r>
              <a:rPr lang="ru-RU" dirty="0"/>
              <a:t> (</a:t>
            </a:r>
            <a:r>
              <a:rPr lang="ru-RU" dirty="0" err="1"/>
              <a:t>Weeks</a:t>
            </a:r>
            <a:r>
              <a:rPr lang="ru-RU" dirty="0"/>
              <a:t> 4-6)</a:t>
            </a:r>
          </a:p>
          <a:p>
            <a:pPr lvl="0"/>
            <a:r>
              <a:rPr lang="ru-RU" dirty="0" err="1"/>
              <a:t>Makes</a:t>
            </a:r>
            <a:r>
              <a:rPr lang="ru-RU" dirty="0"/>
              <a:t> </a:t>
            </a:r>
            <a:r>
              <a:rPr lang="ru-RU" dirty="0" err="1"/>
              <a:t>predictions</a:t>
            </a:r>
            <a:r>
              <a:rPr lang="ru-RU" dirty="0"/>
              <a:t> </a:t>
            </a:r>
            <a:r>
              <a:rPr lang="ru-RU" dirty="0" err="1"/>
              <a:t>from</a:t>
            </a:r>
            <a:r>
              <a:rPr lang="ru-RU" dirty="0"/>
              <a:t> </a:t>
            </a:r>
            <a:r>
              <a:rPr lang="ru-RU" dirty="0" err="1"/>
              <a:t>data</a:t>
            </a:r>
            <a:endParaRPr lang="ru-RU" dirty="0"/>
          </a:p>
          <a:p>
            <a:pPr lvl="0"/>
            <a:r>
              <a:rPr lang="ru-RU" dirty="0" err="1"/>
              <a:t>Draws</a:t>
            </a:r>
            <a:r>
              <a:rPr lang="ru-RU" dirty="0"/>
              <a:t> </a:t>
            </a:r>
            <a:r>
              <a:rPr lang="ru-RU" dirty="0" err="1"/>
              <a:t>conclusions</a:t>
            </a:r>
            <a:r>
              <a:rPr lang="ru-RU" dirty="0"/>
              <a:t> </a:t>
            </a:r>
            <a:r>
              <a:rPr lang="ru-RU" dirty="0" err="1"/>
              <a:t>about</a:t>
            </a:r>
            <a:r>
              <a:rPr lang="ru-RU" dirty="0"/>
              <a:t> </a:t>
            </a:r>
            <a:r>
              <a:rPr lang="ru-RU" dirty="0" err="1"/>
              <a:t>populations</a:t>
            </a:r>
            <a:endParaRPr lang="ru-RU" dirty="0"/>
          </a:p>
          <a:p>
            <a:pPr lvl="0"/>
            <a:r>
              <a:rPr lang="ru-RU" i="1" dirty="0" err="1"/>
              <a:t>Example</a:t>
            </a:r>
            <a:r>
              <a:rPr lang="ru-RU" i="1" dirty="0"/>
              <a:t>:</a:t>
            </a:r>
            <a:r>
              <a:rPr lang="ru-RU" dirty="0"/>
              <a:t> "</a:t>
            </a:r>
            <a:r>
              <a:rPr lang="ru-RU" dirty="0" err="1"/>
              <a:t>Students</a:t>
            </a:r>
            <a:r>
              <a:rPr lang="ru-RU" dirty="0"/>
              <a:t> </a:t>
            </a:r>
            <a:r>
              <a:rPr lang="ru-RU" dirty="0" err="1"/>
              <a:t>who</a:t>
            </a:r>
            <a:r>
              <a:rPr lang="ru-RU" dirty="0"/>
              <a:t> </a:t>
            </a:r>
            <a:r>
              <a:rPr lang="ru-RU" dirty="0" err="1"/>
              <a:t>study</a:t>
            </a:r>
            <a:r>
              <a:rPr lang="ru-RU" dirty="0"/>
              <a:t> 2+ </a:t>
            </a:r>
            <a:r>
              <a:rPr lang="ru-RU" dirty="0" err="1"/>
              <a:t>hours</a:t>
            </a:r>
            <a:r>
              <a:rPr lang="ru-RU" dirty="0"/>
              <a:t> </a:t>
            </a:r>
            <a:r>
              <a:rPr lang="ru-RU" dirty="0" err="1"/>
              <a:t>daily</a:t>
            </a:r>
            <a:r>
              <a:rPr lang="ru-RU" dirty="0"/>
              <a:t> </a:t>
            </a:r>
            <a:r>
              <a:rPr lang="ru-RU" dirty="0" err="1"/>
              <a:t>score</a:t>
            </a:r>
            <a:r>
              <a:rPr lang="ru-RU" dirty="0"/>
              <a:t> 20% </a:t>
            </a:r>
            <a:r>
              <a:rPr lang="ru-RU" dirty="0" err="1"/>
              <a:t>higher</a:t>
            </a:r>
            <a:r>
              <a:rPr lang="ru-RU" dirty="0"/>
              <a:t>"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283035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003B5C-1783-501A-0ED8-9723AE37D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Data </a:t>
            </a:r>
            <a:r>
              <a:rPr lang="ru-RU" dirty="0" err="1"/>
              <a:t>Types</a:t>
            </a:r>
            <a:r>
              <a:rPr lang="ru-RU" dirty="0"/>
              <a:t> - The Foundation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0C40E74-2233-1261-D8C8-E45DBB53F9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 err="1"/>
              <a:t>Two</a:t>
            </a:r>
            <a:r>
              <a:rPr lang="ru-RU" b="1" dirty="0"/>
              <a:t> </a:t>
            </a:r>
            <a:r>
              <a:rPr lang="ru-RU" b="1" dirty="0" err="1"/>
              <a:t>Main</a:t>
            </a:r>
            <a:r>
              <a:rPr lang="ru-RU" b="1" dirty="0"/>
              <a:t> </a:t>
            </a:r>
            <a:r>
              <a:rPr lang="ru-RU" b="1" dirty="0" err="1"/>
              <a:t>Categories</a:t>
            </a:r>
            <a:r>
              <a:rPr lang="ru-RU" b="1" dirty="0"/>
              <a:t>:</a:t>
            </a:r>
            <a:endParaRPr lang="ru-RU" dirty="0"/>
          </a:p>
          <a:p>
            <a:r>
              <a:rPr lang="ru-RU" b="1" dirty="0"/>
              <a:t>CATEGORICAL DATA:</a:t>
            </a:r>
            <a:endParaRPr lang="ru-RU" dirty="0"/>
          </a:p>
          <a:p>
            <a:pPr lvl="0"/>
            <a:r>
              <a:rPr lang="ru-RU" dirty="0" err="1"/>
              <a:t>Names</a:t>
            </a:r>
            <a:r>
              <a:rPr lang="ru-RU" dirty="0"/>
              <a:t>, </a:t>
            </a:r>
            <a:r>
              <a:rPr lang="ru-RU" dirty="0" err="1"/>
              <a:t>labels</a:t>
            </a:r>
            <a:r>
              <a:rPr lang="ru-RU" dirty="0"/>
              <a:t>, </a:t>
            </a:r>
            <a:r>
              <a:rPr lang="ru-RU" dirty="0" err="1"/>
              <a:t>categories</a:t>
            </a:r>
            <a:endParaRPr lang="ru-RU" dirty="0"/>
          </a:p>
          <a:p>
            <a:pPr lvl="0"/>
            <a:r>
              <a:rPr lang="ru-RU" i="1" dirty="0" err="1"/>
              <a:t>Examples</a:t>
            </a:r>
            <a:r>
              <a:rPr lang="ru-RU" i="1" dirty="0"/>
              <a:t>:</a:t>
            </a:r>
            <a:r>
              <a:rPr lang="ru-RU" dirty="0"/>
              <a:t> </a:t>
            </a:r>
            <a:r>
              <a:rPr lang="ru-RU" dirty="0" err="1"/>
              <a:t>Gender</a:t>
            </a:r>
            <a:r>
              <a:rPr lang="ru-RU" dirty="0"/>
              <a:t>, Country, Color</a:t>
            </a:r>
          </a:p>
          <a:p>
            <a:r>
              <a:rPr lang="ru-RU" b="1" dirty="0"/>
              <a:t>NUMERICAL DATA:</a:t>
            </a:r>
            <a:endParaRPr lang="ru-RU" dirty="0"/>
          </a:p>
          <a:p>
            <a:pPr lvl="0"/>
            <a:r>
              <a:rPr lang="ru-RU" dirty="0" err="1"/>
              <a:t>Numbers</a:t>
            </a:r>
            <a:r>
              <a:rPr lang="ru-RU" dirty="0"/>
              <a:t> </a:t>
            </a:r>
            <a:r>
              <a:rPr lang="ru-RU" dirty="0" err="1"/>
              <a:t>that</a:t>
            </a:r>
            <a:r>
              <a:rPr lang="ru-RU" dirty="0"/>
              <a:t> </a:t>
            </a:r>
            <a:r>
              <a:rPr lang="ru-RU" dirty="0" err="1"/>
              <a:t>can</a:t>
            </a:r>
            <a:r>
              <a:rPr lang="ru-RU" dirty="0"/>
              <a:t> </a:t>
            </a:r>
            <a:r>
              <a:rPr lang="ru-RU" dirty="0" err="1"/>
              <a:t>be</a:t>
            </a:r>
            <a:r>
              <a:rPr lang="ru-RU" dirty="0"/>
              <a:t> </a:t>
            </a:r>
            <a:r>
              <a:rPr lang="ru-RU" dirty="0" err="1"/>
              <a:t>measured</a:t>
            </a:r>
            <a:r>
              <a:rPr lang="ru-RU" dirty="0"/>
              <a:t>/</a:t>
            </a:r>
            <a:r>
              <a:rPr lang="ru-RU" dirty="0" err="1"/>
              <a:t>counted</a:t>
            </a:r>
            <a:endParaRPr lang="ru-RU" dirty="0"/>
          </a:p>
          <a:p>
            <a:pPr lvl="0"/>
            <a:r>
              <a:rPr lang="ru-RU" i="1" dirty="0" err="1"/>
              <a:t>Examples</a:t>
            </a:r>
            <a:r>
              <a:rPr lang="ru-RU" i="1" dirty="0"/>
              <a:t>:</a:t>
            </a:r>
            <a:r>
              <a:rPr lang="ru-RU" dirty="0"/>
              <a:t> </a:t>
            </a:r>
            <a:r>
              <a:rPr lang="ru-RU" dirty="0" err="1"/>
              <a:t>Age</a:t>
            </a:r>
            <a:r>
              <a:rPr lang="ru-RU" dirty="0"/>
              <a:t>, </a:t>
            </a:r>
            <a:r>
              <a:rPr lang="ru-RU" dirty="0" err="1"/>
              <a:t>Height</a:t>
            </a:r>
            <a:r>
              <a:rPr lang="ru-RU" dirty="0"/>
              <a:t>, Price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593142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34EB97-AE48-A6AF-8830-95942A4521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Numerical</a:t>
            </a:r>
            <a:r>
              <a:rPr lang="ru-RU" dirty="0"/>
              <a:t> Data </a:t>
            </a:r>
            <a:r>
              <a:rPr lang="ru-RU" dirty="0" err="1"/>
              <a:t>Subtypes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1E7BD3D-CC37-9B26-72A4-674F70F912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DISCRETE DATA:</a:t>
            </a:r>
            <a:endParaRPr lang="ru-RU" dirty="0"/>
          </a:p>
          <a:p>
            <a:pPr lvl="0"/>
            <a:r>
              <a:rPr lang="ru-RU" dirty="0" err="1"/>
              <a:t>Countable</a:t>
            </a:r>
            <a:r>
              <a:rPr lang="ru-RU" dirty="0"/>
              <a:t> </a:t>
            </a:r>
            <a:r>
              <a:rPr lang="ru-RU" dirty="0" err="1"/>
              <a:t>items</a:t>
            </a:r>
            <a:endParaRPr lang="ru-RU" dirty="0"/>
          </a:p>
          <a:p>
            <a:pPr lvl="0"/>
            <a:r>
              <a:rPr lang="ru-RU" i="1" dirty="0" err="1"/>
              <a:t>Examples</a:t>
            </a:r>
            <a:r>
              <a:rPr lang="ru-RU" i="1" dirty="0"/>
              <a:t>:</a:t>
            </a:r>
            <a:r>
              <a:rPr lang="ru-RU" dirty="0"/>
              <a:t> Number </a:t>
            </a:r>
            <a:r>
              <a:rPr lang="ru-RU" dirty="0" err="1"/>
              <a:t>of</a:t>
            </a:r>
            <a:r>
              <a:rPr lang="ru-RU" dirty="0"/>
              <a:t> </a:t>
            </a:r>
            <a:r>
              <a:rPr lang="ru-RU" dirty="0" err="1"/>
              <a:t>students</a:t>
            </a:r>
            <a:r>
              <a:rPr lang="ru-RU" dirty="0"/>
              <a:t>, </a:t>
            </a:r>
            <a:r>
              <a:rPr lang="ru-RU" dirty="0" err="1"/>
              <a:t>Cars</a:t>
            </a:r>
            <a:r>
              <a:rPr lang="ru-RU" dirty="0"/>
              <a:t> </a:t>
            </a:r>
            <a:r>
              <a:rPr lang="ru-RU" dirty="0" err="1"/>
              <a:t>in</a:t>
            </a:r>
            <a:r>
              <a:rPr lang="ru-RU" dirty="0"/>
              <a:t> </a:t>
            </a:r>
            <a:r>
              <a:rPr lang="ru-RU" dirty="0" err="1"/>
              <a:t>parking</a:t>
            </a:r>
            <a:r>
              <a:rPr lang="ru-RU" dirty="0"/>
              <a:t> </a:t>
            </a:r>
            <a:r>
              <a:rPr lang="ru-RU" dirty="0" err="1"/>
              <a:t>lot</a:t>
            </a:r>
            <a:endParaRPr lang="ru-RU" dirty="0"/>
          </a:p>
          <a:p>
            <a:r>
              <a:rPr lang="ru-RU" b="1" dirty="0"/>
              <a:t>CONTINUOUS DATA:</a:t>
            </a:r>
            <a:endParaRPr lang="ru-RU" dirty="0"/>
          </a:p>
          <a:p>
            <a:pPr lvl="0"/>
            <a:r>
              <a:rPr lang="ru-RU" dirty="0" err="1"/>
              <a:t>Measurable</a:t>
            </a:r>
            <a:r>
              <a:rPr lang="ru-RU" dirty="0"/>
              <a:t> </a:t>
            </a:r>
            <a:r>
              <a:rPr lang="ru-RU" dirty="0" err="1"/>
              <a:t>quantities</a:t>
            </a:r>
            <a:endParaRPr lang="ru-RU" dirty="0"/>
          </a:p>
          <a:p>
            <a:pPr lvl="0"/>
            <a:r>
              <a:rPr lang="ru-RU" i="1" dirty="0" err="1"/>
              <a:t>Examples</a:t>
            </a:r>
            <a:r>
              <a:rPr lang="ru-RU" i="1" dirty="0"/>
              <a:t>:</a:t>
            </a:r>
            <a:r>
              <a:rPr lang="ru-RU" dirty="0"/>
              <a:t> </a:t>
            </a:r>
            <a:r>
              <a:rPr lang="ru-RU" dirty="0" err="1"/>
              <a:t>Temperature</a:t>
            </a:r>
            <a:r>
              <a:rPr lang="ru-RU" dirty="0"/>
              <a:t>, Time, </a:t>
            </a:r>
            <a:r>
              <a:rPr lang="ru-RU" dirty="0" err="1"/>
              <a:t>Weight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3491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449B69-EACE-0700-7F2C-D3137B6D9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Categorical</a:t>
            </a:r>
            <a:r>
              <a:rPr lang="ru-RU" dirty="0"/>
              <a:t> Data </a:t>
            </a:r>
            <a:r>
              <a:rPr lang="ru-RU" dirty="0" err="1"/>
              <a:t>Subtypes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3B73E7B-27CA-C61F-2C0A-546E13FA18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NOMINAL DATA:</a:t>
            </a:r>
            <a:endParaRPr lang="ru-RU" dirty="0"/>
          </a:p>
          <a:p>
            <a:pPr lvl="0"/>
            <a:r>
              <a:rPr lang="ru-RU" dirty="0" err="1"/>
              <a:t>Categories</a:t>
            </a:r>
            <a:r>
              <a:rPr lang="ru-RU" dirty="0"/>
              <a:t> </a:t>
            </a:r>
            <a:r>
              <a:rPr lang="ru-RU" dirty="0" err="1"/>
              <a:t>without</a:t>
            </a:r>
            <a:r>
              <a:rPr lang="ru-RU" dirty="0"/>
              <a:t> </a:t>
            </a:r>
            <a:r>
              <a:rPr lang="ru-RU" dirty="0" err="1"/>
              <a:t>order</a:t>
            </a:r>
            <a:endParaRPr lang="ru-RU" dirty="0"/>
          </a:p>
          <a:p>
            <a:pPr lvl="0"/>
            <a:r>
              <a:rPr lang="ru-RU" i="1" dirty="0" err="1"/>
              <a:t>Examples</a:t>
            </a:r>
            <a:r>
              <a:rPr lang="ru-RU" i="1" dirty="0"/>
              <a:t>:</a:t>
            </a:r>
            <a:r>
              <a:rPr lang="ru-RU" dirty="0"/>
              <a:t> </a:t>
            </a:r>
            <a:r>
              <a:rPr lang="ru-RU" dirty="0" err="1"/>
              <a:t>Colors</a:t>
            </a:r>
            <a:r>
              <a:rPr lang="ru-RU" dirty="0"/>
              <a:t>, </a:t>
            </a:r>
            <a:r>
              <a:rPr lang="ru-RU" dirty="0" err="1"/>
              <a:t>Gender</a:t>
            </a:r>
            <a:r>
              <a:rPr lang="ru-RU" dirty="0"/>
              <a:t>, </a:t>
            </a:r>
            <a:r>
              <a:rPr lang="ru-RU" dirty="0" err="1"/>
              <a:t>Countries</a:t>
            </a:r>
            <a:endParaRPr lang="ru-RU" dirty="0"/>
          </a:p>
          <a:p>
            <a:r>
              <a:rPr lang="ru-RU" b="1" dirty="0"/>
              <a:t>ORDINAL DATA:</a:t>
            </a:r>
            <a:endParaRPr lang="ru-RU" dirty="0"/>
          </a:p>
          <a:p>
            <a:pPr lvl="0"/>
            <a:r>
              <a:rPr lang="ru-RU" dirty="0" err="1"/>
              <a:t>Categories</a:t>
            </a:r>
            <a:r>
              <a:rPr lang="ru-RU" dirty="0"/>
              <a:t> </a:t>
            </a:r>
            <a:r>
              <a:rPr lang="ru-RU" dirty="0" err="1"/>
              <a:t>with</a:t>
            </a:r>
            <a:r>
              <a:rPr lang="ru-RU" dirty="0"/>
              <a:t> </a:t>
            </a:r>
            <a:r>
              <a:rPr lang="ru-RU" dirty="0" err="1"/>
              <a:t>order</a:t>
            </a:r>
            <a:r>
              <a:rPr lang="ru-RU" dirty="0"/>
              <a:t>/</a:t>
            </a:r>
            <a:r>
              <a:rPr lang="ru-RU" dirty="0" err="1"/>
              <a:t>ranking</a:t>
            </a:r>
            <a:endParaRPr lang="ru-RU" dirty="0"/>
          </a:p>
          <a:p>
            <a:pPr lvl="0"/>
            <a:r>
              <a:rPr lang="ru-RU" i="1" dirty="0" err="1"/>
              <a:t>Examples</a:t>
            </a:r>
            <a:r>
              <a:rPr lang="ru-RU" i="1" dirty="0"/>
              <a:t>:</a:t>
            </a:r>
            <a:r>
              <a:rPr lang="ru-RU" dirty="0"/>
              <a:t> Survey </a:t>
            </a:r>
            <a:r>
              <a:rPr lang="ru-RU" dirty="0" err="1"/>
              <a:t>ratings</a:t>
            </a:r>
            <a:r>
              <a:rPr lang="ru-RU" dirty="0"/>
              <a:t> (Poor/Fair/Good), Education </a:t>
            </a:r>
            <a:r>
              <a:rPr lang="ru-RU" dirty="0" err="1"/>
              <a:t>level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991731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5F0B38-3B9C-6CB5-866D-4AB55B9F8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Let's</a:t>
            </a:r>
            <a:r>
              <a:rPr lang="ru-RU" dirty="0"/>
              <a:t> </a:t>
            </a:r>
            <a:r>
              <a:rPr lang="ru-RU" dirty="0" err="1"/>
              <a:t>Practice</a:t>
            </a:r>
            <a:r>
              <a:rPr lang="ru-RU" dirty="0"/>
              <a:t> - </a:t>
            </a:r>
            <a:r>
              <a:rPr lang="ru-RU" dirty="0" err="1"/>
              <a:t>Identify</a:t>
            </a:r>
            <a:r>
              <a:rPr lang="ru-RU" dirty="0"/>
              <a:t> Data Type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9FB8A3E-383F-38C5-B54A-F6FF427721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What </a:t>
            </a:r>
            <a:r>
              <a:rPr lang="ru-RU" b="1" dirty="0" err="1"/>
              <a:t>type</a:t>
            </a:r>
            <a:r>
              <a:rPr lang="ru-RU" b="1" dirty="0"/>
              <a:t> </a:t>
            </a:r>
            <a:r>
              <a:rPr lang="ru-RU" b="1" dirty="0" err="1"/>
              <a:t>of</a:t>
            </a:r>
            <a:r>
              <a:rPr lang="ru-RU" b="1" dirty="0"/>
              <a:t> </a:t>
            </a:r>
            <a:r>
              <a:rPr lang="ru-RU" b="1" dirty="0" err="1"/>
              <a:t>data</a:t>
            </a:r>
            <a:r>
              <a:rPr lang="ru-RU" b="1" dirty="0"/>
              <a:t> </a:t>
            </a:r>
            <a:r>
              <a:rPr lang="ru-RU" b="1" dirty="0" err="1"/>
              <a:t>is</a:t>
            </a:r>
            <a:r>
              <a:rPr lang="ru-RU" b="1" dirty="0"/>
              <a:t> </a:t>
            </a:r>
            <a:r>
              <a:rPr lang="ru-RU" b="1" dirty="0" err="1"/>
              <a:t>each</a:t>
            </a:r>
            <a:r>
              <a:rPr lang="ru-RU" b="1" dirty="0"/>
              <a:t>?</a:t>
            </a:r>
            <a:endParaRPr lang="ru-RU" dirty="0"/>
          </a:p>
          <a:p>
            <a:pPr lvl="0"/>
            <a:r>
              <a:rPr lang="ru-RU" dirty="0" err="1"/>
              <a:t>Student</a:t>
            </a:r>
            <a:r>
              <a:rPr lang="ru-RU" dirty="0"/>
              <a:t> ID </a:t>
            </a:r>
            <a:r>
              <a:rPr lang="ru-RU" dirty="0" err="1"/>
              <a:t>numbers</a:t>
            </a:r>
            <a:r>
              <a:rPr lang="ru-RU" dirty="0"/>
              <a:t> </a:t>
            </a:r>
          </a:p>
          <a:p>
            <a:pPr lvl="0"/>
            <a:r>
              <a:rPr lang="ru-RU" dirty="0" err="1"/>
              <a:t>Exam</a:t>
            </a:r>
            <a:r>
              <a:rPr lang="ru-RU" dirty="0"/>
              <a:t> </a:t>
            </a:r>
            <a:r>
              <a:rPr lang="ru-RU" dirty="0" err="1"/>
              <a:t>scores</a:t>
            </a:r>
            <a:r>
              <a:rPr lang="ru-RU" dirty="0"/>
              <a:t> (A, B, C, D, F) </a:t>
            </a:r>
          </a:p>
          <a:p>
            <a:pPr lvl="0"/>
            <a:r>
              <a:rPr lang="ru-RU" dirty="0"/>
              <a:t>Number </a:t>
            </a:r>
            <a:r>
              <a:rPr lang="ru-RU" dirty="0" err="1"/>
              <a:t>of</a:t>
            </a:r>
            <a:r>
              <a:rPr lang="ru-RU" dirty="0"/>
              <a:t> </a:t>
            </a:r>
            <a:r>
              <a:rPr lang="ru-RU" dirty="0" err="1"/>
              <a:t>books</a:t>
            </a:r>
            <a:r>
              <a:rPr lang="ru-RU" dirty="0"/>
              <a:t> </a:t>
            </a:r>
            <a:r>
              <a:rPr lang="ru-RU" dirty="0" err="1"/>
              <a:t>read</a:t>
            </a:r>
            <a:r>
              <a:rPr lang="ru-RU" dirty="0"/>
              <a:t> </a:t>
            </a:r>
          </a:p>
          <a:p>
            <a:pPr lvl="0"/>
            <a:r>
              <a:rPr lang="ru-RU" dirty="0"/>
              <a:t>Time </a:t>
            </a:r>
            <a:r>
              <a:rPr lang="ru-RU" dirty="0" err="1"/>
              <a:t>to</a:t>
            </a:r>
            <a:r>
              <a:rPr lang="ru-RU" dirty="0"/>
              <a:t> </a:t>
            </a:r>
            <a:r>
              <a:rPr lang="ru-RU" dirty="0" err="1"/>
              <a:t>complete</a:t>
            </a:r>
            <a:r>
              <a:rPr lang="ru-RU" dirty="0"/>
              <a:t> </a:t>
            </a:r>
            <a:r>
              <a:rPr lang="ru-RU" dirty="0" err="1"/>
              <a:t>exam</a:t>
            </a:r>
            <a:r>
              <a:rPr lang="ru-RU" dirty="0"/>
              <a:t> </a:t>
            </a:r>
          </a:p>
          <a:p>
            <a:r>
              <a:rPr lang="ru-RU" dirty="0" err="1"/>
              <a:t>Favorite</a:t>
            </a:r>
            <a:r>
              <a:rPr lang="ru-RU" dirty="0"/>
              <a:t> </a:t>
            </a:r>
            <a:r>
              <a:rPr lang="ru-RU" dirty="0" err="1"/>
              <a:t>movie</a:t>
            </a:r>
            <a:r>
              <a:rPr lang="ru-RU" dirty="0"/>
              <a:t> </a:t>
            </a:r>
            <a:r>
              <a:rPr lang="ru-RU" dirty="0" err="1"/>
              <a:t>genre</a:t>
            </a:r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11150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7DCDD2-F929-5D7A-A8FB-B94130420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D4751E-9E9F-DD00-63D6-8E6A725E79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Let's</a:t>
            </a:r>
            <a:r>
              <a:rPr lang="ru-RU" dirty="0"/>
              <a:t> </a:t>
            </a:r>
            <a:r>
              <a:rPr lang="ru-RU" dirty="0" err="1"/>
              <a:t>Practice</a:t>
            </a:r>
            <a:r>
              <a:rPr lang="ru-RU" dirty="0"/>
              <a:t> - </a:t>
            </a:r>
            <a:r>
              <a:rPr lang="ru-RU" dirty="0" err="1"/>
              <a:t>Identify</a:t>
            </a:r>
            <a:r>
              <a:rPr lang="ru-RU" dirty="0"/>
              <a:t> Data Type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7B9E6B3-A5AE-C698-968B-582EB13308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What </a:t>
            </a:r>
            <a:r>
              <a:rPr lang="ru-RU" b="1" dirty="0" err="1"/>
              <a:t>type</a:t>
            </a:r>
            <a:r>
              <a:rPr lang="ru-RU" b="1" dirty="0"/>
              <a:t> </a:t>
            </a:r>
            <a:r>
              <a:rPr lang="ru-RU" b="1" dirty="0" err="1"/>
              <a:t>of</a:t>
            </a:r>
            <a:r>
              <a:rPr lang="ru-RU" b="1" dirty="0"/>
              <a:t> </a:t>
            </a:r>
            <a:r>
              <a:rPr lang="ru-RU" b="1" dirty="0" err="1"/>
              <a:t>data</a:t>
            </a:r>
            <a:r>
              <a:rPr lang="ru-RU" b="1" dirty="0"/>
              <a:t> </a:t>
            </a:r>
            <a:r>
              <a:rPr lang="ru-RU" b="1" dirty="0" err="1"/>
              <a:t>is</a:t>
            </a:r>
            <a:r>
              <a:rPr lang="ru-RU" b="1" dirty="0"/>
              <a:t> </a:t>
            </a:r>
            <a:r>
              <a:rPr lang="ru-RU" b="1" dirty="0" err="1"/>
              <a:t>each</a:t>
            </a:r>
            <a:r>
              <a:rPr lang="ru-RU" b="1" dirty="0"/>
              <a:t>?</a:t>
            </a:r>
            <a:endParaRPr lang="ru-RU" dirty="0"/>
          </a:p>
          <a:p>
            <a:pPr lvl="0"/>
            <a:r>
              <a:rPr lang="ru-RU" dirty="0" err="1"/>
              <a:t>Student</a:t>
            </a:r>
            <a:r>
              <a:rPr lang="ru-RU" dirty="0"/>
              <a:t> ID </a:t>
            </a:r>
            <a:r>
              <a:rPr lang="ru-RU" dirty="0" err="1"/>
              <a:t>numbers</a:t>
            </a:r>
            <a:r>
              <a:rPr lang="ru-RU" dirty="0"/>
              <a:t> → </a:t>
            </a:r>
            <a:r>
              <a:rPr lang="ru-RU" b="1" dirty="0" err="1"/>
              <a:t>Nominal</a:t>
            </a:r>
            <a:r>
              <a:rPr lang="ru-RU" dirty="0"/>
              <a:t> (</a:t>
            </a:r>
            <a:r>
              <a:rPr lang="ru-RU" dirty="0" err="1"/>
              <a:t>just</a:t>
            </a:r>
            <a:r>
              <a:rPr lang="ru-RU" dirty="0"/>
              <a:t> </a:t>
            </a:r>
            <a:r>
              <a:rPr lang="ru-RU" dirty="0" err="1"/>
              <a:t>labels</a:t>
            </a:r>
            <a:r>
              <a:rPr lang="ru-RU" dirty="0"/>
              <a:t>)</a:t>
            </a:r>
          </a:p>
          <a:p>
            <a:pPr lvl="0"/>
            <a:r>
              <a:rPr lang="ru-RU" dirty="0" err="1"/>
              <a:t>Exam</a:t>
            </a:r>
            <a:r>
              <a:rPr lang="ru-RU" dirty="0"/>
              <a:t> </a:t>
            </a:r>
            <a:r>
              <a:rPr lang="ru-RU" dirty="0" err="1"/>
              <a:t>scores</a:t>
            </a:r>
            <a:r>
              <a:rPr lang="ru-RU" dirty="0"/>
              <a:t> (A, B, C, D, F) → </a:t>
            </a:r>
            <a:r>
              <a:rPr lang="ru-RU" b="1" dirty="0" err="1"/>
              <a:t>Ordinal</a:t>
            </a:r>
            <a:r>
              <a:rPr lang="ru-RU" dirty="0"/>
              <a:t> (</a:t>
            </a:r>
            <a:r>
              <a:rPr lang="ru-RU" dirty="0" err="1"/>
              <a:t>has</a:t>
            </a:r>
            <a:r>
              <a:rPr lang="ru-RU" dirty="0"/>
              <a:t> </a:t>
            </a:r>
            <a:r>
              <a:rPr lang="ru-RU" dirty="0" err="1"/>
              <a:t>order</a:t>
            </a:r>
            <a:r>
              <a:rPr lang="ru-RU" dirty="0"/>
              <a:t>)</a:t>
            </a:r>
          </a:p>
          <a:p>
            <a:pPr lvl="0"/>
            <a:r>
              <a:rPr lang="ru-RU" dirty="0"/>
              <a:t>Number </a:t>
            </a:r>
            <a:r>
              <a:rPr lang="ru-RU" dirty="0" err="1"/>
              <a:t>of</a:t>
            </a:r>
            <a:r>
              <a:rPr lang="ru-RU" dirty="0"/>
              <a:t> </a:t>
            </a:r>
            <a:r>
              <a:rPr lang="ru-RU" dirty="0" err="1"/>
              <a:t>books</a:t>
            </a:r>
            <a:r>
              <a:rPr lang="ru-RU" dirty="0"/>
              <a:t> </a:t>
            </a:r>
            <a:r>
              <a:rPr lang="ru-RU" dirty="0" err="1"/>
              <a:t>read</a:t>
            </a:r>
            <a:r>
              <a:rPr lang="ru-RU" dirty="0"/>
              <a:t> → </a:t>
            </a:r>
            <a:r>
              <a:rPr lang="ru-RU" b="1" dirty="0" err="1"/>
              <a:t>Discrete</a:t>
            </a:r>
            <a:r>
              <a:rPr lang="ru-RU" b="1" dirty="0"/>
              <a:t> </a:t>
            </a:r>
            <a:r>
              <a:rPr lang="ru-RU" b="1" dirty="0" err="1"/>
              <a:t>numerical</a:t>
            </a:r>
            <a:endParaRPr lang="ru-RU" dirty="0"/>
          </a:p>
          <a:p>
            <a:pPr lvl="0"/>
            <a:r>
              <a:rPr lang="ru-RU" dirty="0"/>
              <a:t>Time </a:t>
            </a:r>
            <a:r>
              <a:rPr lang="ru-RU" dirty="0" err="1"/>
              <a:t>to</a:t>
            </a:r>
            <a:r>
              <a:rPr lang="ru-RU" dirty="0"/>
              <a:t> </a:t>
            </a:r>
            <a:r>
              <a:rPr lang="ru-RU" dirty="0" err="1"/>
              <a:t>complete</a:t>
            </a:r>
            <a:r>
              <a:rPr lang="ru-RU" dirty="0"/>
              <a:t> </a:t>
            </a:r>
            <a:r>
              <a:rPr lang="ru-RU" dirty="0" err="1"/>
              <a:t>exam</a:t>
            </a:r>
            <a:r>
              <a:rPr lang="ru-RU" dirty="0"/>
              <a:t> → </a:t>
            </a:r>
            <a:r>
              <a:rPr lang="ru-RU" b="1" dirty="0" err="1"/>
              <a:t>Continuous</a:t>
            </a:r>
            <a:r>
              <a:rPr lang="ru-RU" b="1" dirty="0"/>
              <a:t> </a:t>
            </a:r>
            <a:r>
              <a:rPr lang="ru-RU" b="1" dirty="0" err="1"/>
              <a:t>numerical</a:t>
            </a:r>
            <a:endParaRPr lang="ru-RU" dirty="0"/>
          </a:p>
          <a:p>
            <a:r>
              <a:rPr lang="ru-RU" dirty="0" err="1"/>
              <a:t>Favorite</a:t>
            </a:r>
            <a:r>
              <a:rPr lang="ru-RU" dirty="0"/>
              <a:t> </a:t>
            </a:r>
            <a:r>
              <a:rPr lang="ru-RU" dirty="0" err="1"/>
              <a:t>movie</a:t>
            </a:r>
            <a:r>
              <a:rPr lang="ru-RU" dirty="0"/>
              <a:t> </a:t>
            </a:r>
            <a:r>
              <a:rPr lang="ru-RU" dirty="0" err="1"/>
              <a:t>genre</a:t>
            </a:r>
            <a:r>
              <a:rPr lang="ru-RU" dirty="0"/>
              <a:t> → </a:t>
            </a:r>
            <a:r>
              <a:rPr lang="ru-RU" b="1" dirty="0" err="1"/>
              <a:t>Nominal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201563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18DFF3-7924-2661-2B21-148E06745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The </a:t>
            </a:r>
            <a:r>
              <a:rPr lang="ru-RU" dirty="0" err="1"/>
              <a:t>Need</a:t>
            </a:r>
            <a:r>
              <a:rPr lang="ru-RU" dirty="0"/>
              <a:t> </a:t>
            </a:r>
            <a:r>
              <a:rPr lang="ru-RU" dirty="0" err="1"/>
              <a:t>for</a:t>
            </a:r>
            <a:r>
              <a:rPr lang="ru-RU" dirty="0"/>
              <a:t> </a:t>
            </a:r>
            <a:r>
              <a:rPr lang="ru-RU" dirty="0" err="1"/>
              <a:t>Summary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DC9ECD2-6985-988F-5558-F6534A69E5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 err="1"/>
              <a:t>Problem</a:t>
            </a:r>
            <a:r>
              <a:rPr lang="ru-RU" b="1" dirty="0"/>
              <a:t>:</a:t>
            </a:r>
            <a:r>
              <a:rPr lang="ru-RU" dirty="0"/>
              <a:t> We </a:t>
            </a:r>
            <a:r>
              <a:rPr lang="ru-RU" dirty="0" err="1"/>
              <a:t>have</a:t>
            </a:r>
            <a:r>
              <a:rPr lang="ru-RU" dirty="0"/>
              <a:t> 1,000 </a:t>
            </a:r>
            <a:r>
              <a:rPr lang="ru-RU" dirty="0" err="1"/>
              <a:t>test</a:t>
            </a:r>
            <a:r>
              <a:rPr lang="ru-RU" dirty="0"/>
              <a:t> </a:t>
            </a:r>
            <a:r>
              <a:rPr lang="ru-RU" dirty="0" err="1"/>
              <a:t>scores</a:t>
            </a:r>
            <a:r>
              <a:rPr lang="ru-RU" dirty="0"/>
              <a:t>. </a:t>
            </a:r>
            <a:r>
              <a:rPr lang="ru-RU" dirty="0" err="1"/>
              <a:t>How</a:t>
            </a:r>
            <a:r>
              <a:rPr lang="ru-RU" dirty="0"/>
              <a:t> </a:t>
            </a:r>
            <a:r>
              <a:rPr lang="ru-RU" dirty="0" err="1"/>
              <a:t>do</a:t>
            </a:r>
            <a:r>
              <a:rPr lang="ru-RU" dirty="0"/>
              <a:t> </a:t>
            </a:r>
            <a:r>
              <a:rPr lang="ru-RU" dirty="0" err="1"/>
              <a:t>we</a:t>
            </a:r>
            <a:r>
              <a:rPr lang="ru-RU" dirty="0"/>
              <a:t> </a:t>
            </a:r>
            <a:r>
              <a:rPr lang="ru-RU" dirty="0" err="1"/>
              <a:t>describe</a:t>
            </a:r>
            <a:r>
              <a:rPr lang="ru-RU" dirty="0"/>
              <a:t> </a:t>
            </a:r>
            <a:r>
              <a:rPr lang="ru-RU" dirty="0" err="1"/>
              <a:t>them</a:t>
            </a:r>
            <a:r>
              <a:rPr lang="ru-RU" dirty="0"/>
              <a:t>?</a:t>
            </a:r>
          </a:p>
          <a:p>
            <a:r>
              <a:rPr lang="ru-RU" b="1" dirty="0" err="1"/>
              <a:t>Without</a:t>
            </a:r>
            <a:r>
              <a:rPr lang="ru-RU" b="1" dirty="0"/>
              <a:t> </a:t>
            </a:r>
            <a:r>
              <a:rPr lang="ru-RU" b="1" dirty="0" err="1"/>
              <a:t>statistics</a:t>
            </a:r>
            <a:r>
              <a:rPr lang="ru-RU" b="1" dirty="0"/>
              <a:t>:</a:t>
            </a:r>
            <a:r>
              <a:rPr lang="ru-RU" dirty="0"/>
              <a:t> "</a:t>
            </a:r>
            <a:r>
              <a:rPr lang="ru-RU" dirty="0" err="1"/>
              <a:t>Some</a:t>
            </a:r>
            <a:r>
              <a:rPr lang="ru-RU" dirty="0"/>
              <a:t> </a:t>
            </a:r>
            <a:r>
              <a:rPr lang="ru-RU" dirty="0" err="1"/>
              <a:t>are</a:t>
            </a:r>
            <a:r>
              <a:rPr lang="ru-RU" dirty="0"/>
              <a:t> </a:t>
            </a:r>
            <a:r>
              <a:rPr lang="ru-RU" dirty="0" err="1"/>
              <a:t>high</a:t>
            </a:r>
            <a:r>
              <a:rPr lang="ru-RU" dirty="0"/>
              <a:t>, </a:t>
            </a:r>
            <a:r>
              <a:rPr lang="ru-RU" dirty="0" err="1"/>
              <a:t>some</a:t>
            </a:r>
            <a:r>
              <a:rPr lang="ru-RU" dirty="0"/>
              <a:t> </a:t>
            </a:r>
            <a:r>
              <a:rPr lang="ru-RU" dirty="0" err="1"/>
              <a:t>are</a:t>
            </a:r>
            <a:r>
              <a:rPr lang="ru-RU" dirty="0"/>
              <a:t> </a:t>
            </a:r>
            <a:r>
              <a:rPr lang="ru-RU" dirty="0" err="1"/>
              <a:t>low</a:t>
            </a:r>
            <a:r>
              <a:rPr lang="ru-RU" dirty="0"/>
              <a:t>, </a:t>
            </a:r>
            <a:r>
              <a:rPr lang="ru-RU" dirty="0" err="1"/>
              <a:t>most</a:t>
            </a:r>
            <a:r>
              <a:rPr lang="ru-RU" dirty="0"/>
              <a:t> </a:t>
            </a:r>
            <a:r>
              <a:rPr lang="ru-RU" dirty="0" err="1"/>
              <a:t>are</a:t>
            </a:r>
            <a:r>
              <a:rPr lang="ru-RU" dirty="0"/>
              <a:t> </a:t>
            </a:r>
            <a:r>
              <a:rPr lang="ru-RU" dirty="0" err="1"/>
              <a:t>in</a:t>
            </a:r>
            <a:r>
              <a:rPr lang="ru-RU" dirty="0"/>
              <a:t> </a:t>
            </a:r>
            <a:r>
              <a:rPr lang="ru-RU" dirty="0" err="1"/>
              <a:t>the</a:t>
            </a:r>
            <a:r>
              <a:rPr lang="ru-RU" dirty="0"/>
              <a:t> </a:t>
            </a:r>
            <a:r>
              <a:rPr lang="ru-RU" dirty="0" err="1"/>
              <a:t>middle</a:t>
            </a:r>
            <a:r>
              <a:rPr lang="ru-RU" dirty="0"/>
              <a:t>"</a:t>
            </a:r>
            <a:br>
              <a:rPr lang="ru-RU" dirty="0"/>
            </a:br>
            <a:r>
              <a:rPr lang="ru-RU" b="1" dirty="0"/>
              <a:t>With </a:t>
            </a:r>
            <a:r>
              <a:rPr lang="ru-RU" b="1" dirty="0" err="1"/>
              <a:t>statistics</a:t>
            </a:r>
            <a:r>
              <a:rPr lang="ru-RU" b="1" dirty="0"/>
              <a:t>:</a:t>
            </a:r>
            <a:r>
              <a:rPr lang="ru-RU" dirty="0"/>
              <a:t> "</a:t>
            </a:r>
            <a:r>
              <a:rPr lang="ru-RU" dirty="0" err="1"/>
              <a:t>Mean</a:t>
            </a:r>
            <a:r>
              <a:rPr lang="ru-RU" dirty="0"/>
              <a:t> = 75, SD = 10, </a:t>
            </a:r>
            <a:r>
              <a:rPr lang="ru-RU" dirty="0" err="1"/>
              <a:t>range</a:t>
            </a:r>
            <a:r>
              <a:rPr lang="ru-RU" dirty="0"/>
              <a:t> = 40-100"</a:t>
            </a:r>
          </a:p>
          <a:p>
            <a:r>
              <a:rPr lang="ru-RU" b="1" dirty="0" err="1"/>
              <a:t>Statistics</a:t>
            </a:r>
            <a:r>
              <a:rPr lang="ru-RU" b="1" dirty="0"/>
              <a:t> </a:t>
            </a:r>
            <a:r>
              <a:rPr lang="ru-RU" b="1" dirty="0" err="1"/>
              <a:t>give</a:t>
            </a:r>
            <a:r>
              <a:rPr lang="ru-RU" b="1" dirty="0"/>
              <a:t> </a:t>
            </a:r>
            <a:r>
              <a:rPr lang="ru-RU" b="1" dirty="0" err="1"/>
              <a:t>us</a:t>
            </a:r>
            <a:r>
              <a:rPr lang="ru-RU" b="1" dirty="0"/>
              <a:t> </a:t>
            </a:r>
            <a:r>
              <a:rPr lang="en-US" b="1" dirty="0"/>
              <a:t>understandable</a:t>
            </a:r>
            <a:r>
              <a:rPr lang="ru-RU" b="1" dirty="0"/>
              <a:t> </a:t>
            </a:r>
            <a:r>
              <a:rPr lang="ru-RU" b="1" dirty="0" err="1"/>
              <a:t>language</a:t>
            </a:r>
            <a:r>
              <a:rPr lang="ru-RU" b="1" dirty="0"/>
              <a:t>!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640077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3B6750-7BAA-12D7-65E2-8F83D393FA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Three</a:t>
            </a:r>
            <a:r>
              <a:rPr lang="ru-RU" dirty="0"/>
              <a:t> </a:t>
            </a:r>
            <a:r>
              <a:rPr lang="ru-RU" dirty="0" err="1"/>
              <a:t>Questions</a:t>
            </a:r>
            <a:r>
              <a:rPr lang="ru-RU" dirty="0"/>
              <a:t> </a:t>
            </a:r>
            <a:r>
              <a:rPr lang="ru-RU" dirty="0" err="1"/>
              <a:t>Statistics</a:t>
            </a:r>
            <a:r>
              <a:rPr lang="ru-RU" dirty="0"/>
              <a:t> </a:t>
            </a:r>
            <a:r>
              <a:rPr lang="ru-RU" dirty="0" err="1"/>
              <a:t>Answers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AE55E9E-7AE7-3EA5-DDC6-02579316DC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ru-RU" b="1" dirty="0" err="1"/>
              <a:t>About</a:t>
            </a:r>
            <a:r>
              <a:rPr lang="ru-RU" b="1" dirty="0"/>
              <a:t> </a:t>
            </a:r>
            <a:r>
              <a:rPr lang="ru-RU" b="1" dirty="0" err="1"/>
              <a:t>any</a:t>
            </a:r>
            <a:r>
              <a:rPr lang="ru-RU" b="1" dirty="0"/>
              <a:t> </a:t>
            </a:r>
            <a:r>
              <a:rPr lang="ru-RU" b="1" dirty="0" err="1"/>
              <a:t>dataset</a:t>
            </a:r>
            <a:r>
              <a:rPr lang="ru-RU" b="1" dirty="0"/>
              <a:t>, </a:t>
            </a:r>
            <a:r>
              <a:rPr lang="ru-RU" b="1" dirty="0" err="1"/>
              <a:t>we</a:t>
            </a:r>
            <a:r>
              <a:rPr lang="ru-RU" b="1" dirty="0"/>
              <a:t> </a:t>
            </a:r>
            <a:r>
              <a:rPr lang="ru-RU" b="1" dirty="0" err="1"/>
              <a:t>want</a:t>
            </a:r>
            <a:r>
              <a:rPr lang="ru-RU" b="1" dirty="0"/>
              <a:t> </a:t>
            </a:r>
            <a:r>
              <a:rPr lang="ru-RU" b="1" dirty="0" err="1"/>
              <a:t>to</a:t>
            </a:r>
            <a:r>
              <a:rPr lang="ru-RU" b="1" dirty="0"/>
              <a:t> </a:t>
            </a:r>
            <a:r>
              <a:rPr lang="ru-RU" b="1" dirty="0" err="1"/>
              <a:t>know</a:t>
            </a:r>
            <a:r>
              <a:rPr lang="ru-RU" b="1" dirty="0"/>
              <a:t>:</a:t>
            </a:r>
            <a:endParaRPr lang="ru-RU" dirty="0"/>
          </a:p>
          <a:p>
            <a:pPr lvl="0"/>
            <a:r>
              <a:rPr lang="ru-RU" b="1" dirty="0" err="1"/>
              <a:t>Where</a:t>
            </a:r>
            <a:r>
              <a:rPr lang="ru-RU" b="1" dirty="0"/>
              <a:t> </a:t>
            </a:r>
            <a:r>
              <a:rPr lang="ru-RU" b="1" dirty="0" err="1"/>
              <a:t>is</a:t>
            </a:r>
            <a:r>
              <a:rPr lang="ru-RU" b="1" dirty="0"/>
              <a:t> </a:t>
            </a:r>
            <a:r>
              <a:rPr lang="ru-RU" b="1" dirty="0" err="1"/>
              <a:t>the</a:t>
            </a:r>
            <a:r>
              <a:rPr lang="ru-RU" b="1" dirty="0"/>
              <a:t> </a:t>
            </a:r>
            <a:r>
              <a:rPr lang="ru-RU" b="1" dirty="0" err="1"/>
              <a:t>center</a:t>
            </a:r>
            <a:r>
              <a:rPr lang="ru-RU" b="1" dirty="0"/>
              <a:t>?</a:t>
            </a:r>
            <a:r>
              <a:rPr lang="ru-RU" dirty="0"/>
              <a:t> (Central </a:t>
            </a:r>
            <a:r>
              <a:rPr lang="ru-RU" dirty="0" err="1"/>
              <a:t>tendency</a:t>
            </a:r>
            <a:r>
              <a:rPr lang="ru-RU" dirty="0"/>
              <a:t>)</a:t>
            </a:r>
          </a:p>
          <a:p>
            <a:pPr lvl="0"/>
            <a:r>
              <a:rPr lang="ru-RU" b="1" dirty="0" err="1"/>
              <a:t>How</a:t>
            </a:r>
            <a:r>
              <a:rPr lang="ru-RU" b="1" dirty="0"/>
              <a:t> </a:t>
            </a:r>
            <a:r>
              <a:rPr lang="ru-RU" b="1" dirty="0" err="1"/>
              <a:t>spread</a:t>
            </a:r>
            <a:r>
              <a:rPr lang="ru-RU" b="1" dirty="0"/>
              <a:t> </a:t>
            </a:r>
            <a:r>
              <a:rPr lang="ru-RU" b="1" dirty="0" err="1"/>
              <a:t>out</a:t>
            </a:r>
            <a:r>
              <a:rPr lang="ru-RU" b="1" dirty="0"/>
              <a:t> </a:t>
            </a:r>
            <a:r>
              <a:rPr lang="ru-RU" b="1" dirty="0" err="1"/>
              <a:t>is</a:t>
            </a:r>
            <a:r>
              <a:rPr lang="ru-RU" b="1" dirty="0"/>
              <a:t> </a:t>
            </a:r>
            <a:r>
              <a:rPr lang="ru-RU" b="1" dirty="0" err="1"/>
              <a:t>it</a:t>
            </a:r>
            <a:r>
              <a:rPr lang="ru-RU" b="1" dirty="0"/>
              <a:t>?</a:t>
            </a:r>
            <a:r>
              <a:rPr lang="ru-RU" dirty="0"/>
              <a:t> (</a:t>
            </a:r>
            <a:r>
              <a:rPr lang="ru-RU" dirty="0" err="1"/>
              <a:t>Variability</a:t>
            </a:r>
            <a:r>
              <a:rPr lang="ru-RU" dirty="0"/>
              <a:t>)</a:t>
            </a:r>
          </a:p>
          <a:p>
            <a:pPr lvl="0"/>
            <a:r>
              <a:rPr lang="ru-RU" b="1" dirty="0"/>
              <a:t>What </a:t>
            </a:r>
            <a:r>
              <a:rPr lang="ru-RU" b="1" dirty="0" err="1"/>
              <a:t>shape</a:t>
            </a:r>
            <a:r>
              <a:rPr lang="ru-RU" b="1" dirty="0"/>
              <a:t> </a:t>
            </a:r>
            <a:r>
              <a:rPr lang="ru-RU" b="1" dirty="0" err="1"/>
              <a:t>does</a:t>
            </a:r>
            <a:r>
              <a:rPr lang="ru-RU" b="1" dirty="0"/>
              <a:t> </a:t>
            </a:r>
            <a:r>
              <a:rPr lang="ru-RU" b="1" dirty="0" err="1"/>
              <a:t>it</a:t>
            </a:r>
            <a:r>
              <a:rPr lang="ru-RU" b="1" dirty="0"/>
              <a:t> </a:t>
            </a:r>
            <a:r>
              <a:rPr lang="ru-RU" b="1" dirty="0" err="1"/>
              <a:t>have</a:t>
            </a:r>
            <a:r>
              <a:rPr lang="ru-RU" b="1" dirty="0"/>
              <a:t>?</a:t>
            </a:r>
            <a:r>
              <a:rPr lang="ru-RU" dirty="0"/>
              <a:t> (Distribution)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573834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82FD3C-D9F6-B5F3-018A-A123C356A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Measures</a:t>
            </a:r>
            <a:r>
              <a:rPr lang="ru-RU" dirty="0"/>
              <a:t> </a:t>
            </a:r>
            <a:r>
              <a:rPr lang="ru-RU" dirty="0" err="1"/>
              <a:t>of</a:t>
            </a:r>
            <a:r>
              <a:rPr lang="ru-RU" dirty="0"/>
              <a:t> Center - The </a:t>
            </a:r>
            <a:r>
              <a:rPr lang="ru-RU" dirty="0" err="1"/>
              <a:t>Mean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6550090-6BAC-A384-211F-2B03E02153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Common </a:t>
            </a:r>
            <a:r>
              <a:rPr lang="ru-RU" b="1" dirty="0" err="1"/>
              <a:t>name</a:t>
            </a:r>
            <a:r>
              <a:rPr lang="ru-RU" b="1" dirty="0"/>
              <a:t>: </a:t>
            </a:r>
            <a:r>
              <a:rPr lang="ru-RU" dirty="0"/>
              <a:t>AVERAGE</a:t>
            </a:r>
            <a:endParaRPr lang="en-US" dirty="0"/>
          </a:p>
          <a:p>
            <a:r>
              <a:rPr lang="ru-RU" b="1" dirty="0"/>
              <a:t>Formula:</a:t>
            </a:r>
            <a:r>
              <a:rPr lang="ru-RU" dirty="0"/>
              <a:t> </a:t>
            </a:r>
            <a:r>
              <a:rPr lang="ru-RU" dirty="0" err="1"/>
              <a:t>Add</a:t>
            </a:r>
            <a:r>
              <a:rPr lang="ru-RU" dirty="0"/>
              <a:t> </a:t>
            </a:r>
            <a:r>
              <a:rPr lang="ru-RU" dirty="0" err="1"/>
              <a:t>all</a:t>
            </a:r>
            <a:r>
              <a:rPr lang="ru-RU" dirty="0"/>
              <a:t> </a:t>
            </a:r>
            <a:r>
              <a:rPr lang="ru-RU" dirty="0" err="1"/>
              <a:t>values</a:t>
            </a:r>
            <a:r>
              <a:rPr lang="ru-RU" dirty="0"/>
              <a:t>, </a:t>
            </a:r>
            <a:r>
              <a:rPr lang="ru-RU" dirty="0" err="1"/>
              <a:t>divide</a:t>
            </a:r>
            <a:r>
              <a:rPr lang="ru-RU" dirty="0"/>
              <a:t> </a:t>
            </a:r>
            <a:r>
              <a:rPr lang="ru-RU" dirty="0" err="1"/>
              <a:t>by</a:t>
            </a:r>
            <a:r>
              <a:rPr lang="ru-RU" dirty="0"/>
              <a:t> </a:t>
            </a:r>
            <a:r>
              <a:rPr lang="ru-RU" dirty="0" err="1"/>
              <a:t>count</a:t>
            </a:r>
            <a:endParaRPr lang="ru-RU" dirty="0"/>
          </a:p>
          <a:p>
            <a:r>
              <a:rPr lang="ru-RU" dirty="0" err="1"/>
              <a:t>Mean</a:t>
            </a:r>
            <a:r>
              <a:rPr lang="ru-RU" dirty="0"/>
              <a:t>=Number </a:t>
            </a:r>
            <a:r>
              <a:rPr lang="ru-RU" dirty="0" err="1"/>
              <a:t>of</a:t>
            </a:r>
            <a:r>
              <a:rPr lang="ru-RU" dirty="0"/>
              <a:t> </a:t>
            </a:r>
            <a:r>
              <a:rPr lang="ru-RU" dirty="0" err="1"/>
              <a:t>valuesSum</a:t>
            </a:r>
            <a:r>
              <a:rPr lang="ru-RU" dirty="0"/>
              <a:t> </a:t>
            </a:r>
            <a:r>
              <a:rPr lang="ru-RU" dirty="0" err="1"/>
              <a:t>of</a:t>
            </a:r>
            <a:r>
              <a:rPr lang="ru-RU" dirty="0"/>
              <a:t> </a:t>
            </a:r>
            <a:r>
              <a:rPr lang="ru-RU" dirty="0" err="1"/>
              <a:t>all</a:t>
            </a:r>
            <a:r>
              <a:rPr lang="ru-RU" dirty="0"/>
              <a:t> </a:t>
            </a:r>
            <a:r>
              <a:rPr lang="ru-RU" dirty="0" err="1"/>
              <a:t>values</a:t>
            </a:r>
            <a:r>
              <a:rPr lang="ru-RU" dirty="0"/>
              <a:t> </a:t>
            </a:r>
          </a:p>
          <a:p>
            <a:r>
              <a:rPr lang="ru-RU" b="1" dirty="0" err="1"/>
              <a:t>Example</a:t>
            </a:r>
            <a:r>
              <a:rPr lang="ru-RU" b="1" dirty="0"/>
              <a:t>:</a:t>
            </a:r>
            <a:r>
              <a:rPr lang="ru-RU" dirty="0"/>
              <a:t> Test </a:t>
            </a:r>
            <a:r>
              <a:rPr lang="ru-RU" dirty="0" err="1"/>
              <a:t>scores</a:t>
            </a:r>
            <a:r>
              <a:rPr lang="ru-RU" dirty="0"/>
              <a:t>: 80, 85, 90</a:t>
            </a:r>
          </a:p>
          <a:p>
            <a:r>
              <a:rPr lang="ru-RU" dirty="0" err="1"/>
              <a:t>Mean</a:t>
            </a:r>
            <a:r>
              <a:rPr lang="ru-RU" dirty="0"/>
              <a:t>=380+85+90=3255=85</a:t>
            </a:r>
          </a:p>
        </p:txBody>
      </p:sp>
    </p:spTree>
    <p:extLst>
      <p:ext uri="{BB962C8B-B14F-4D97-AF65-F5344CB8AC3E}">
        <p14:creationId xmlns:p14="http://schemas.microsoft.com/office/powerpoint/2010/main" val="5674075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D73040-EB77-D9A7-08C0-FA6EA1A978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Python - </a:t>
            </a:r>
            <a:r>
              <a:rPr lang="ru-RU" dirty="0" err="1"/>
              <a:t>Calculating</a:t>
            </a:r>
            <a:r>
              <a:rPr lang="ru-RU" dirty="0"/>
              <a:t> </a:t>
            </a:r>
            <a:r>
              <a:rPr lang="ru-RU" dirty="0" err="1"/>
              <a:t>Mean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9099E0F-8EE0-F4F6-421A-71F33CEE83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atinLnBrk="1"/>
            <a:r>
              <a:rPr lang="ru-RU" b="1" i="1" dirty="0"/>
              <a:t># Simple </a:t>
            </a:r>
            <a:r>
              <a:rPr lang="ru-RU" b="1" i="1" dirty="0" err="1"/>
              <a:t>way</a:t>
            </a:r>
            <a:endParaRPr lang="en-US" b="1" dirty="0"/>
          </a:p>
          <a:p>
            <a:pPr marL="0" indent="0" latinLnBrk="1">
              <a:buNone/>
            </a:pPr>
            <a:r>
              <a:rPr lang="ru-RU" i="1" dirty="0" err="1"/>
              <a:t>scores</a:t>
            </a:r>
            <a:r>
              <a:rPr lang="ru-RU" i="1" dirty="0"/>
              <a:t> = [80, 85, 90]</a:t>
            </a:r>
          </a:p>
          <a:p>
            <a:pPr marL="0" indent="0" latinLnBrk="1">
              <a:buNone/>
            </a:pPr>
            <a:r>
              <a:rPr lang="ru-RU" i="1" dirty="0" err="1"/>
              <a:t>mean_score</a:t>
            </a:r>
            <a:r>
              <a:rPr lang="ru-RU" i="1" dirty="0"/>
              <a:t> = </a:t>
            </a:r>
            <a:r>
              <a:rPr lang="ru-RU" i="1" dirty="0" err="1"/>
              <a:t>sum</a:t>
            </a:r>
            <a:r>
              <a:rPr lang="ru-RU" i="1" dirty="0"/>
              <a:t>(</a:t>
            </a:r>
            <a:r>
              <a:rPr lang="ru-RU" i="1" dirty="0" err="1"/>
              <a:t>scores</a:t>
            </a:r>
            <a:r>
              <a:rPr lang="ru-RU" i="1" dirty="0"/>
              <a:t>) / </a:t>
            </a:r>
            <a:r>
              <a:rPr lang="ru-RU" i="1" dirty="0" err="1"/>
              <a:t>len</a:t>
            </a:r>
            <a:r>
              <a:rPr lang="ru-RU" i="1" dirty="0"/>
              <a:t>(</a:t>
            </a:r>
            <a:r>
              <a:rPr lang="ru-RU" i="1" dirty="0" err="1"/>
              <a:t>scores</a:t>
            </a:r>
            <a:r>
              <a:rPr lang="ru-RU" i="1" dirty="0"/>
              <a:t>)</a:t>
            </a:r>
          </a:p>
          <a:p>
            <a:pPr marL="0" indent="0" latinLnBrk="1">
              <a:buNone/>
            </a:pPr>
            <a:r>
              <a:rPr lang="ru-RU" i="1" dirty="0" err="1"/>
              <a:t>print</a:t>
            </a:r>
            <a:r>
              <a:rPr lang="ru-RU" i="1" dirty="0"/>
              <a:t>(</a:t>
            </a:r>
            <a:r>
              <a:rPr lang="ru-RU" i="1" dirty="0" err="1"/>
              <a:t>f"Mean</a:t>
            </a:r>
            <a:r>
              <a:rPr lang="ru-RU" i="1" dirty="0"/>
              <a:t>: {</a:t>
            </a:r>
            <a:r>
              <a:rPr lang="ru-RU" i="1" dirty="0" err="1"/>
              <a:t>mean_score</a:t>
            </a:r>
            <a:r>
              <a:rPr lang="ru-RU" i="1" dirty="0"/>
              <a:t>}")</a:t>
            </a:r>
          </a:p>
          <a:p>
            <a:pPr latinLnBrk="1"/>
            <a:r>
              <a:rPr lang="ru-RU" dirty="0"/>
              <a:t> </a:t>
            </a:r>
          </a:p>
          <a:p>
            <a:pPr latinLnBrk="1"/>
            <a:r>
              <a:rPr lang="ru-RU" b="1" i="1" dirty="0"/>
              <a:t># </a:t>
            </a:r>
            <a:r>
              <a:rPr lang="ru-RU" b="1" i="1" dirty="0" err="1"/>
              <a:t>Using</a:t>
            </a:r>
            <a:r>
              <a:rPr lang="ru-RU" b="1" i="1" dirty="0"/>
              <a:t> </a:t>
            </a:r>
            <a:r>
              <a:rPr lang="ru-RU" b="1" i="1" dirty="0" err="1"/>
              <a:t>NumPy</a:t>
            </a:r>
            <a:r>
              <a:rPr lang="ru-RU" b="1" i="1" dirty="0"/>
              <a:t> (</a:t>
            </a:r>
            <a:r>
              <a:rPr lang="ru-RU" b="1" i="1" dirty="0" err="1"/>
              <a:t>better</a:t>
            </a:r>
            <a:r>
              <a:rPr lang="ru-RU" b="1" i="1" dirty="0"/>
              <a:t> </a:t>
            </a:r>
            <a:r>
              <a:rPr lang="ru-RU" b="1" i="1" dirty="0" err="1"/>
              <a:t>for</a:t>
            </a:r>
            <a:r>
              <a:rPr lang="ru-RU" b="1" i="1" dirty="0"/>
              <a:t> </a:t>
            </a:r>
            <a:r>
              <a:rPr lang="ru-RU" b="1" i="1" dirty="0" err="1"/>
              <a:t>larger</a:t>
            </a:r>
            <a:r>
              <a:rPr lang="ru-RU" b="1" i="1" dirty="0"/>
              <a:t> </a:t>
            </a:r>
            <a:r>
              <a:rPr lang="ru-RU" b="1" i="1" dirty="0" err="1"/>
              <a:t>datasets</a:t>
            </a:r>
            <a:r>
              <a:rPr lang="ru-RU" b="1" i="1" dirty="0"/>
              <a:t>)</a:t>
            </a:r>
            <a:endParaRPr lang="ru-RU" b="1" dirty="0"/>
          </a:p>
          <a:p>
            <a:pPr marL="0" indent="0" latinLnBrk="1">
              <a:buNone/>
            </a:pPr>
            <a:r>
              <a:rPr lang="ru-RU" i="1" dirty="0" err="1"/>
              <a:t>import</a:t>
            </a:r>
            <a:r>
              <a:rPr lang="ru-RU" i="1" dirty="0"/>
              <a:t> </a:t>
            </a:r>
            <a:r>
              <a:rPr lang="ru-RU" i="1" dirty="0" err="1"/>
              <a:t>numpy</a:t>
            </a:r>
            <a:r>
              <a:rPr lang="ru-RU" i="1" dirty="0"/>
              <a:t> </a:t>
            </a:r>
            <a:r>
              <a:rPr lang="ru-RU" i="1" dirty="0" err="1"/>
              <a:t>as</a:t>
            </a:r>
            <a:r>
              <a:rPr lang="ru-RU" i="1" dirty="0"/>
              <a:t> </a:t>
            </a:r>
            <a:r>
              <a:rPr lang="ru-RU" i="1" dirty="0" err="1"/>
              <a:t>np</a:t>
            </a:r>
            <a:endParaRPr lang="ru-RU" i="1" dirty="0"/>
          </a:p>
          <a:p>
            <a:pPr marL="0" indent="0" latinLnBrk="1">
              <a:buNone/>
            </a:pPr>
            <a:r>
              <a:rPr lang="ru-RU" i="1" dirty="0" err="1"/>
              <a:t>scores</a:t>
            </a:r>
            <a:r>
              <a:rPr lang="ru-RU" i="1" dirty="0"/>
              <a:t> = [80, 85, 90]</a:t>
            </a:r>
          </a:p>
          <a:p>
            <a:pPr marL="0" indent="0" latinLnBrk="1">
              <a:buNone/>
            </a:pPr>
            <a:r>
              <a:rPr lang="ru-RU" i="1" dirty="0" err="1"/>
              <a:t>mean_score</a:t>
            </a:r>
            <a:r>
              <a:rPr lang="ru-RU" i="1" dirty="0"/>
              <a:t> = </a:t>
            </a:r>
            <a:r>
              <a:rPr lang="ru-RU" i="1" dirty="0" err="1"/>
              <a:t>np.mean</a:t>
            </a:r>
            <a:r>
              <a:rPr lang="ru-RU" i="1" dirty="0"/>
              <a:t>(</a:t>
            </a:r>
            <a:r>
              <a:rPr lang="ru-RU" i="1" dirty="0" err="1"/>
              <a:t>scores</a:t>
            </a:r>
            <a:r>
              <a:rPr lang="ru-RU" i="1" dirty="0"/>
              <a:t>)</a:t>
            </a:r>
          </a:p>
          <a:p>
            <a:pPr marL="0" indent="0" latinLnBrk="1">
              <a:buNone/>
            </a:pPr>
            <a:r>
              <a:rPr lang="ru-RU" i="1" dirty="0" err="1"/>
              <a:t>print</a:t>
            </a:r>
            <a:r>
              <a:rPr lang="ru-RU" i="1" dirty="0"/>
              <a:t>(</a:t>
            </a:r>
            <a:r>
              <a:rPr lang="ru-RU" i="1" dirty="0" err="1"/>
              <a:t>f"Mean</a:t>
            </a:r>
            <a:r>
              <a:rPr lang="ru-RU" i="1" dirty="0"/>
              <a:t>: {</a:t>
            </a:r>
            <a:r>
              <a:rPr lang="ru-RU" i="1" dirty="0" err="1"/>
              <a:t>mean_score</a:t>
            </a:r>
            <a:r>
              <a:rPr lang="ru-RU" i="1" dirty="0"/>
              <a:t>}")</a:t>
            </a:r>
          </a:p>
        </p:txBody>
      </p:sp>
    </p:spTree>
    <p:extLst>
      <p:ext uri="{BB962C8B-B14F-4D97-AF65-F5344CB8AC3E}">
        <p14:creationId xmlns:p14="http://schemas.microsoft.com/office/powerpoint/2010/main" val="8700208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A4C83C-37B8-F7F6-BAC4-B978C10F4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The </a:t>
            </a:r>
            <a:r>
              <a:rPr lang="ru-RU" dirty="0" err="1"/>
              <a:t>Problem</a:t>
            </a:r>
            <a:r>
              <a:rPr lang="ru-RU" dirty="0"/>
              <a:t> </a:t>
            </a:r>
            <a:r>
              <a:rPr lang="ru-RU" dirty="0" err="1"/>
              <a:t>with</a:t>
            </a:r>
            <a:r>
              <a:rPr lang="ru-RU" dirty="0"/>
              <a:t> </a:t>
            </a:r>
            <a:r>
              <a:rPr lang="ru-RU" dirty="0" err="1"/>
              <a:t>Mean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9B36AA2-838D-50D7-69A3-1C8058856F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b="1" dirty="0" err="1"/>
              <a:t>Mean</a:t>
            </a:r>
            <a:r>
              <a:rPr lang="ru-RU" b="1" dirty="0"/>
              <a:t> </a:t>
            </a:r>
            <a:r>
              <a:rPr lang="ru-RU" b="1" dirty="0" err="1"/>
              <a:t>is</a:t>
            </a:r>
            <a:r>
              <a:rPr lang="ru-RU" b="1" dirty="0"/>
              <a:t> </a:t>
            </a:r>
            <a:r>
              <a:rPr lang="ru-RU" b="1" dirty="0" err="1"/>
              <a:t>sensitive</a:t>
            </a:r>
            <a:r>
              <a:rPr lang="ru-RU" b="1" dirty="0"/>
              <a:t> </a:t>
            </a:r>
            <a:r>
              <a:rPr lang="ru-RU" b="1" dirty="0" err="1"/>
              <a:t>to</a:t>
            </a:r>
            <a:r>
              <a:rPr lang="ru-RU" b="1" dirty="0"/>
              <a:t> </a:t>
            </a:r>
            <a:r>
              <a:rPr lang="ru-RU" b="1" dirty="0" err="1"/>
              <a:t>extreme</a:t>
            </a:r>
            <a:r>
              <a:rPr lang="ru-RU" b="1" dirty="0"/>
              <a:t> </a:t>
            </a:r>
            <a:r>
              <a:rPr lang="ru-RU" b="1" dirty="0" err="1"/>
              <a:t>values</a:t>
            </a:r>
            <a:r>
              <a:rPr lang="ru-RU" b="1" dirty="0"/>
              <a:t>!</a:t>
            </a:r>
            <a:endParaRPr lang="ru-RU" dirty="0"/>
          </a:p>
          <a:p>
            <a:pPr marL="0" indent="0">
              <a:buNone/>
            </a:pPr>
            <a:r>
              <a:rPr lang="ru-RU" b="1" dirty="0" err="1"/>
              <a:t>Example</a:t>
            </a:r>
            <a:r>
              <a:rPr lang="ru-RU" b="1" dirty="0"/>
              <a:t>:</a:t>
            </a:r>
            <a:r>
              <a:rPr lang="ru-RU" dirty="0"/>
              <a:t> House </a:t>
            </a:r>
            <a:r>
              <a:rPr lang="ru-RU" dirty="0" err="1"/>
              <a:t>prices</a:t>
            </a:r>
            <a:r>
              <a:rPr lang="ru-RU" dirty="0"/>
              <a:t> </a:t>
            </a:r>
            <a:r>
              <a:rPr lang="ru-RU" dirty="0" err="1"/>
              <a:t>on</a:t>
            </a:r>
            <a:r>
              <a:rPr lang="ru-RU" dirty="0"/>
              <a:t> a </a:t>
            </a:r>
            <a:r>
              <a:rPr lang="ru-RU" dirty="0" err="1"/>
              <a:t>street</a:t>
            </a:r>
            <a:r>
              <a:rPr lang="ru-RU" dirty="0"/>
              <a:t>:</a:t>
            </a:r>
          </a:p>
          <a:p>
            <a:pPr lvl="0"/>
            <a:r>
              <a:rPr lang="ru-RU" dirty="0"/>
              <a:t>House 1: $200,000</a:t>
            </a:r>
          </a:p>
          <a:p>
            <a:pPr lvl="0"/>
            <a:r>
              <a:rPr lang="ru-RU" dirty="0"/>
              <a:t>House 2: $220,000</a:t>
            </a:r>
          </a:p>
          <a:p>
            <a:pPr lvl="0"/>
            <a:r>
              <a:rPr lang="ru-RU" dirty="0"/>
              <a:t>House 3: $240,000</a:t>
            </a:r>
          </a:p>
          <a:p>
            <a:pPr lvl="0"/>
            <a:r>
              <a:rPr lang="ru-RU" dirty="0"/>
              <a:t>House 4: $250,000</a:t>
            </a:r>
          </a:p>
          <a:p>
            <a:pPr lvl="0"/>
            <a:r>
              <a:rPr lang="ru-RU" dirty="0"/>
              <a:t>House 5: $2,000,000</a:t>
            </a:r>
          </a:p>
          <a:p>
            <a:pPr marL="0" indent="0">
              <a:buNone/>
            </a:pPr>
            <a:r>
              <a:rPr lang="ru-RU" b="1" dirty="0" err="1"/>
              <a:t>Mean</a:t>
            </a:r>
            <a:r>
              <a:rPr lang="ru-RU" b="1" dirty="0"/>
              <a:t> =</a:t>
            </a:r>
            <a:r>
              <a:rPr lang="ru-RU" dirty="0"/>
              <a:t> ($200K + $220K + $240K + $250K + $2M) / 5 = </a:t>
            </a:r>
            <a:r>
              <a:rPr lang="ru-RU" b="1" dirty="0"/>
              <a:t>$582,000</a:t>
            </a:r>
            <a:endParaRPr lang="ru-RU" dirty="0"/>
          </a:p>
          <a:p>
            <a:pPr marL="0" indent="0">
              <a:buNone/>
            </a:pPr>
            <a:r>
              <a:rPr lang="ru-RU" b="1" dirty="0" err="1"/>
              <a:t>Is</a:t>
            </a:r>
            <a:r>
              <a:rPr lang="ru-RU" b="1" dirty="0"/>
              <a:t> $582,000 </a:t>
            </a:r>
            <a:r>
              <a:rPr lang="ru-RU" b="1" dirty="0" err="1"/>
              <a:t>typical</a:t>
            </a:r>
            <a:r>
              <a:rPr lang="ru-RU" b="1" dirty="0"/>
              <a:t>? NO!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491128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C2B507-2971-7509-B530-AFEA874141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Measures</a:t>
            </a:r>
            <a:r>
              <a:rPr lang="ru-RU" dirty="0"/>
              <a:t> </a:t>
            </a:r>
            <a:r>
              <a:rPr lang="ru-RU" dirty="0" err="1"/>
              <a:t>of</a:t>
            </a:r>
            <a:r>
              <a:rPr lang="ru-RU" dirty="0"/>
              <a:t> Center - The </a:t>
            </a:r>
            <a:r>
              <a:rPr lang="ru-RU" dirty="0" err="1"/>
              <a:t>Median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3D0134F-D0E0-A2F1-DD19-503754A234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Definition:</a:t>
            </a:r>
            <a:r>
              <a:rPr lang="ru-RU" dirty="0"/>
              <a:t> The </a:t>
            </a:r>
            <a:r>
              <a:rPr lang="ru-RU" dirty="0" err="1"/>
              <a:t>middle</a:t>
            </a:r>
            <a:r>
              <a:rPr lang="ru-RU" dirty="0"/>
              <a:t> </a:t>
            </a:r>
            <a:r>
              <a:rPr lang="ru-RU" dirty="0" err="1"/>
              <a:t>value</a:t>
            </a:r>
            <a:r>
              <a:rPr lang="ru-RU" dirty="0"/>
              <a:t> </a:t>
            </a:r>
            <a:r>
              <a:rPr lang="ru-RU" dirty="0" err="1"/>
              <a:t>when</a:t>
            </a:r>
            <a:r>
              <a:rPr lang="ru-RU" dirty="0"/>
              <a:t> </a:t>
            </a:r>
            <a:r>
              <a:rPr lang="ru-RU" dirty="0" err="1"/>
              <a:t>data</a:t>
            </a:r>
            <a:r>
              <a:rPr lang="ru-RU" dirty="0"/>
              <a:t> </a:t>
            </a:r>
            <a:r>
              <a:rPr lang="ru-RU" dirty="0" err="1"/>
              <a:t>is</a:t>
            </a:r>
            <a:r>
              <a:rPr lang="ru-RU" dirty="0"/>
              <a:t> </a:t>
            </a:r>
            <a:r>
              <a:rPr lang="ru-RU" dirty="0" err="1"/>
              <a:t>sorted</a:t>
            </a:r>
            <a:endParaRPr lang="ru-RU" dirty="0"/>
          </a:p>
          <a:p>
            <a:r>
              <a:rPr lang="ru-RU" b="1" dirty="0" err="1"/>
              <a:t>How</a:t>
            </a:r>
            <a:r>
              <a:rPr lang="ru-RU" b="1" dirty="0"/>
              <a:t> </a:t>
            </a:r>
            <a:r>
              <a:rPr lang="ru-RU" b="1" dirty="0" err="1"/>
              <a:t>to</a:t>
            </a:r>
            <a:r>
              <a:rPr lang="ru-RU" b="1" dirty="0"/>
              <a:t> </a:t>
            </a:r>
            <a:r>
              <a:rPr lang="ru-RU" b="1" dirty="0" err="1"/>
              <a:t>find</a:t>
            </a:r>
            <a:r>
              <a:rPr lang="ru-RU" b="1" dirty="0"/>
              <a:t> </a:t>
            </a:r>
            <a:r>
              <a:rPr lang="ru-RU" b="1" dirty="0" err="1"/>
              <a:t>it</a:t>
            </a:r>
            <a:r>
              <a:rPr lang="ru-RU" b="1" dirty="0"/>
              <a:t>:</a:t>
            </a:r>
            <a:endParaRPr lang="ru-RU" dirty="0"/>
          </a:p>
          <a:p>
            <a:pPr lvl="0"/>
            <a:r>
              <a:rPr lang="ru-RU" dirty="0" err="1"/>
              <a:t>Sort</a:t>
            </a:r>
            <a:r>
              <a:rPr lang="ru-RU" dirty="0"/>
              <a:t> </a:t>
            </a:r>
            <a:r>
              <a:rPr lang="ru-RU" dirty="0" err="1"/>
              <a:t>data</a:t>
            </a:r>
            <a:r>
              <a:rPr lang="ru-RU" dirty="0"/>
              <a:t> </a:t>
            </a:r>
            <a:r>
              <a:rPr lang="ru-RU" dirty="0" err="1"/>
              <a:t>from</a:t>
            </a:r>
            <a:r>
              <a:rPr lang="ru-RU" dirty="0"/>
              <a:t> </a:t>
            </a:r>
            <a:r>
              <a:rPr lang="ru-RU" dirty="0" err="1"/>
              <a:t>smallest</a:t>
            </a:r>
            <a:r>
              <a:rPr lang="ru-RU" dirty="0"/>
              <a:t> </a:t>
            </a:r>
            <a:r>
              <a:rPr lang="ru-RU" dirty="0" err="1"/>
              <a:t>to</a:t>
            </a:r>
            <a:r>
              <a:rPr lang="ru-RU" dirty="0"/>
              <a:t> </a:t>
            </a:r>
            <a:r>
              <a:rPr lang="ru-RU" dirty="0" err="1"/>
              <a:t>largest</a:t>
            </a:r>
            <a:endParaRPr lang="ru-RU" dirty="0"/>
          </a:p>
          <a:p>
            <a:pPr lvl="0"/>
            <a:r>
              <a:rPr lang="ru-RU" dirty="0" err="1"/>
              <a:t>Find</a:t>
            </a:r>
            <a:r>
              <a:rPr lang="ru-RU" dirty="0"/>
              <a:t> </a:t>
            </a:r>
            <a:r>
              <a:rPr lang="ru-RU" dirty="0" err="1"/>
              <a:t>the</a:t>
            </a:r>
            <a:r>
              <a:rPr lang="ru-RU" dirty="0"/>
              <a:t> </a:t>
            </a:r>
            <a:r>
              <a:rPr lang="ru-RU" dirty="0" err="1"/>
              <a:t>middle</a:t>
            </a:r>
            <a:r>
              <a:rPr lang="ru-RU" dirty="0"/>
              <a:t> </a:t>
            </a:r>
            <a:r>
              <a:rPr lang="ru-RU" dirty="0" err="1"/>
              <a:t>position</a:t>
            </a:r>
            <a:endParaRPr lang="ru-RU" dirty="0"/>
          </a:p>
          <a:p>
            <a:r>
              <a:rPr lang="ru-RU" b="1" dirty="0" err="1"/>
              <a:t>Example</a:t>
            </a:r>
            <a:r>
              <a:rPr lang="ru-RU" b="1" dirty="0"/>
              <a:t>:</a:t>
            </a:r>
            <a:r>
              <a:rPr lang="ru-RU" dirty="0"/>
              <a:t> 3, 1, 7, 4, 2</a:t>
            </a:r>
          </a:p>
          <a:p>
            <a:pPr lvl="0"/>
            <a:r>
              <a:rPr lang="ru-RU" dirty="0" err="1"/>
              <a:t>Sort</a:t>
            </a:r>
            <a:r>
              <a:rPr lang="ru-RU" dirty="0"/>
              <a:t>: 1, 2, 3, 4, 7</a:t>
            </a:r>
          </a:p>
          <a:p>
            <a:pPr lvl="0"/>
            <a:r>
              <a:rPr lang="ru-RU" dirty="0"/>
              <a:t>Middle: 3 ← </a:t>
            </a:r>
            <a:r>
              <a:rPr lang="ru-RU" b="1" dirty="0" err="1"/>
              <a:t>Median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310626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0D67D4-06CB-EE3F-60A3-B99DE9381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Median</a:t>
            </a:r>
            <a:r>
              <a:rPr lang="ru-RU" dirty="0"/>
              <a:t> </a:t>
            </a:r>
            <a:r>
              <a:rPr lang="ru-RU" dirty="0" err="1"/>
              <a:t>with</a:t>
            </a:r>
            <a:r>
              <a:rPr lang="ru-RU" dirty="0"/>
              <a:t> </a:t>
            </a:r>
            <a:r>
              <a:rPr lang="ru-RU" dirty="0" err="1"/>
              <a:t>Even</a:t>
            </a:r>
            <a:r>
              <a:rPr lang="ru-RU" dirty="0"/>
              <a:t> Number </a:t>
            </a:r>
            <a:r>
              <a:rPr lang="ru-RU" dirty="0" err="1"/>
              <a:t>of</a:t>
            </a:r>
            <a:r>
              <a:rPr lang="ru-RU" dirty="0"/>
              <a:t> </a:t>
            </a:r>
            <a:r>
              <a:rPr lang="ru-RU" dirty="0" err="1"/>
              <a:t>Values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CE78591-170D-F124-E33E-B780C3700A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 err="1"/>
              <a:t>When</a:t>
            </a:r>
            <a:r>
              <a:rPr lang="ru-RU" b="1" dirty="0"/>
              <a:t> </a:t>
            </a:r>
            <a:r>
              <a:rPr lang="ru-RU" b="1" dirty="0" err="1"/>
              <a:t>we</a:t>
            </a:r>
            <a:r>
              <a:rPr lang="ru-RU" b="1" dirty="0"/>
              <a:t> </a:t>
            </a:r>
            <a:r>
              <a:rPr lang="ru-RU" b="1" dirty="0" err="1"/>
              <a:t>have</a:t>
            </a:r>
            <a:r>
              <a:rPr lang="ru-RU" b="1" dirty="0"/>
              <a:t> </a:t>
            </a:r>
            <a:r>
              <a:rPr lang="ru-RU" b="1" dirty="0" err="1"/>
              <a:t>even</a:t>
            </a:r>
            <a:r>
              <a:rPr lang="ru-RU" b="1" dirty="0"/>
              <a:t> </a:t>
            </a:r>
            <a:r>
              <a:rPr lang="ru-RU" b="1" dirty="0" err="1"/>
              <a:t>count</a:t>
            </a:r>
            <a:r>
              <a:rPr lang="ru-RU" b="1" dirty="0"/>
              <a:t>, </a:t>
            </a:r>
            <a:r>
              <a:rPr lang="ru-RU" b="1" dirty="0" err="1"/>
              <a:t>take</a:t>
            </a:r>
            <a:r>
              <a:rPr lang="ru-RU" b="1" dirty="0"/>
              <a:t> </a:t>
            </a:r>
            <a:r>
              <a:rPr lang="ru-RU" b="1" dirty="0" err="1"/>
              <a:t>average</a:t>
            </a:r>
            <a:r>
              <a:rPr lang="ru-RU" b="1" dirty="0"/>
              <a:t> </a:t>
            </a:r>
            <a:r>
              <a:rPr lang="ru-RU" b="1" dirty="0" err="1"/>
              <a:t>of</a:t>
            </a:r>
            <a:r>
              <a:rPr lang="ru-RU" b="1" dirty="0"/>
              <a:t> </a:t>
            </a:r>
            <a:r>
              <a:rPr lang="ru-RU" b="1" dirty="0" err="1"/>
              <a:t>two</a:t>
            </a:r>
            <a:r>
              <a:rPr lang="ru-RU" b="1" dirty="0"/>
              <a:t> </a:t>
            </a:r>
            <a:r>
              <a:rPr lang="ru-RU" b="1" dirty="0" err="1"/>
              <a:t>middle</a:t>
            </a:r>
            <a:r>
              <a:rPr lang="ru-RU" b="1" dirty="0"/>
              <a:t> </a:t>
            </a:r>
            <a:r>
              <a:rPr lang="ru-RU" b="1" dirty="0" err="1"/>
              <a:t>values</a:t>
            </a:r>
            <a:endParaRPr lang="ru-RU" dirty="0"/>
          </a:p>
          <a:p>
            <a:r>
              <a:rPr lang="ru-RU" b="1" dirty="0" err="1"/>
              <a:t>Example</a:t>
            </a:r>
            <a:r>
              <a:rPr lang="ru-RU" b="1" dirty="0"/>
              <a:t>:</a:t>
            </a:r>
            <a:r>
              <a:rPr lang="ru-RU" dirty="0"/>
              <a:t> 5, 2, 8, 4</a:t>
            </a:r>
          </a:p>
          <a:p>
            <a:pPr lvl="0"/>
            <a:r>
              <a:rPr lang="ru-RU" dirty="0" err="1"/>
              <a:t>Sort</a:t>
            </a:r>
            <a:r>
              <a:rPr lang="ru-RU" dirty="0"/>
              <a:t>: 2, 4, 5, 8</a:t>
            </a:r>
          </a:p>
          <a:p>
            <a:pPr lvl="0"/>
            <a:r>
              <a:rPr lang="ru-RU" dirty="0" err="1"/>
              <a:t>Two</a:t>
            </a:r>
            <a:r>
              <a:rPr lang="ru-RU" dirty="0"/>
              <a:t> </a:t>
            </a:r>
            <a:r>
              <a:rPr lang="ru-RU" dirty="0" err="1"/>
              <a:t>middle</a:t>
            </a:r>
            <a:r>
              <a:rPr lang="ru-RU" dirty="0"/>
              <a:t> </a:t>
            </a:r>
            <a:r>
              <a:rPr lang="ru-RU" dirty="0" err="1"/>
              <a:t>values</a:t>
            </a:r>
            <a:r>
              <a:rPr lang="ru-RU" dirty="0"/>
              <a:t>: 4 </a:t>
            </a:r>
            <a:r>
              <a:rPr lang="ru-RU" dirty="0" err="1"/>
              <a:t>and</a:t>
            </a:r>
            <a:r>
              <a:rPr lang="ru-RU" dirty="0"/>
              <a:t> 5</a:t>
            </a:r>
          </a:p>
          <a:p>
            <a:r>
              <a:rPr lang="ru-RU" dirty="0" err="1"/>
              <a:t>Median</a:t>
            </a:r>
            <a:r>
              <a:rPr lang="ru-RU" dirty="0"/>
              <a:t> = (4 + 5) / 2 = 4.5</a:t>
            </a:r>
          </a:p>
        </p:txBody>
      </p:sp>
    </p:spTree>
    <p:extLst>
      <p:ext uri="{BB962C8B-B14F-4D97-AF65-F5344CB8AC3E}">
        <p14:creationId xmlns:p14="http://schemas.microsoft.com/office/powerpoint/2010/main" val="10874600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DF1D78-EFD0-3C24-8FD2-3150ADC18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Python - </a:t>
            </a:r>
            <a:r>
              <a:rPr lang="ru-RU" dirty="0" err="1"/>
              <a:t>Calculating</a:t>
            </a:r>
            <a:r>
              <a:rPr lang="ru-RU" dirty="0"/>
              <a:t> </a:t>
            </a:r>
            <a:r>
              <a:rPr lang="ru-RU" dirty="0" err="1"/>
              <a:t>Median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378413F-0956-D160-F99E-DCB0F2FB61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atinLnBrk="1"/>
            <a:r>
              <a:rPr lang="ru-RU" dirty="0" err="1"/>
              <a:t>import</a:t>
            </a:r>
            <a:r>
              <a:rPr lang="ru-RU" dirty="0"/>
              <a:t> </a:t>
            </a:r>
            <a:r>
              <a:rPr lang="ru-RU" dirty="0" err="1"/>
              <a:t>numpy</a:t>
            </a:r>
            <a:r>
              <a:rPr lang="ru-RU" dirty="0"/>
              <a:t> </a:t>
            </a:r>
            <a:r>
              <a:rPr lang="ru-RU" dirty="0" err="1"/>
              <a:t>as</a:t>
            </a:r>
            <a:r>
              <a:rPr lang="ru-RU" dirty="0"/>
              <a:t> </a:t>
            </a:r>
            <a:r>
              <a:rPr lang="ru-RU" dirty="0" err="1"/>
              <a:t>np</a:t>
            </a:r>
            <a:endParaRPr lang="ru-RU" dirty="0"/>
          </a:p>
          <a:p>
            <a:pPr marL="0" indent="0" latinLnBrk="1">
              <a:buNone/>
            </a:pPr>
            <a:endParaRPr lang="ru-RU" dirty="0"/>
          </a:p>
          <a:p>
            <a:pPr latinLnBrk="1"/>
            <a:r>
              <a:rPr lang="ru-RU" b="1" i="1" dirty="0"/>
              <a:t># </a:t>
            </a:r>
            <a:r>
              <a:rPr lang="en-US" b="1" i="1" dirty="0"/>
              <a:t>Example 1 </a:t>
            </a:r>
            <a:r>
              <a:rPr lang="ru-RU" b="1" i="1" dirty="0" err="1"/>
              <a:t>Odd</a:t>
            </a:r>
            <a:r>
              <a:rPr lang="ru-RU" b="1" i="1" dirty="0"/>
              <a:t> </a:t>
            </a:r>
            <a:r>
              <a:rPr lang="ru-RU" b="1" i="1" dirty="0" err="1"/>
              <a:t>number</a:t>
            </a:r>
            <a:r>
              <a:rPr lang="ru-RU" b="1" i="1" dirty="0"/>
              <a:t> </a:t>
            </a:r>
            <a:r>
              <a:rPr lang="ru-RU" b="1" i="1" dirty="0" err="1"/>
              <a:t>of</a:t>
            </a:r>
            <a:r>
              <a:rPr lang="ru-RU" b="1" i="1" dirty="0"/>
              <a:t> </a:t>
            </a:r>
            <a:r>
              <a:rPr lang="ru-RU" b="1" i="1" dirty="0" err="1"/>
              <a:t>values</a:t>
            </a:r>
            <a:endParaRPr lang="ru-RU" b="1" dirty="0"/>
          </a:p>
          <a:p>
            <a:pPr marL="0" indent="0" latinLnBrk="1">
              <a:buNone/>
            </a:pPr>
            <a:r>
              <a:rPr lang="ru-RU" i="1" dirty="0" err="1"/>
              <a:t>scores_odd</a:t>
            </a:r>
            <a:r>
              <a:rPr lang="ru-RU" i="1" dirty="0"/>
              <a:t> = [80, 85, 90]</a:t>
            </a:r>
          </a:p>
          <a:p>
            <a:pPr marL="0" indent="0" latinLnBrk="1">
              <a:buNone/>
            </a:pPr>
            <a:r>
              <a:rPr lang="ru-RU" i="1" dirty="0" err="1"/>
              <a:t>median_odd</a:t>
            </a:r>
            <a:r>
              <a:rPr lang="ru-RU" i="1" dirty="0"/>
              <a:t> = </a:t>
            </a:r>
            <a:r>
              <a:rPr lang="ru-RU" i="1" dirty="0" err="1"/>
              <a:t>np.median</a:t>
            </a:r>
            <a:r>
              <a:rPr lang="ru-RU" i="1" dirty="0"/>
              <a:t>(</a:t>
            </a:r>
            <a:r>
              <a:rPr lang="ru-RU" i="1" dirty="0" err="1"/>
              <a:t>scores_odd</a:t>
            </a:r>
            <a:r>
              <a:rPr lang="ru-RU" i="1" dirty="0"/>
              <a:t>)</a:t>
            </a:r>
          </a:p>
          <a:p>
            <a:pPr marL="0" indent="0" latinLnBrk="1">
              <a:buNone/>
            </a:pPr>
            <a:r>
              <a:rPr lang="ru-RU" i="1" dirty="0" err="1"/>
              <a:t>print</a:t>
            </a:r>
            <a:r>
              <a:rPr lang="ru-RU" i="1" dirty="0"/>
              <a:t>(</a:t>
            </a:r>
            <a:r>
              <a:rPr lang="ru-RU" i="1" dirty="0" err="1"/>
              <a:t>f"Median</a:t>
            </a:r>
            <a:r>
              <a:rPr lang="ru-RU" i="1" dirty="0"/>
              <a:t> (</a:t>
            </a:r>
            <a:r>
              <a:rPr lang="ru-RU" i="1" dirty="0" err="1"/>
              <a:t>odd</a:t>
            </a:r>
            <a:r>
              <a:rPr lang="ru-RU" i="1" dirty="0"/>
              <a:t>): {</a:t>
            </a:r>
            <a:r>
              <a:rPr lang="ru-RU" i="1" dirty="0" err="1"/>
              <a:t>median_odd</a:t>
            </a:r>
            <a:r>
              <a:rPr lang="ru-RU" i="1" dirty="0"/>
              <a:t>}")  </a:t>
            </a:r>
          </a:p>
          <a:p>
            <a:pPr latinLnBrk="1"/>
            <a:r>
              <a:rPr lang="ru-RU" b="1" i="1" dirty="0"/>
              <a:t># </a:t>
            </a:r>
            <a:r>
              <a:rPr lang="en-US" b="1" i="1" dirty="0"/>
              <a:t>Example 2 </a:t>
            </a:r>
            <a:r>
              <a:rPr lang="ru-RU" b="1" i="1" dirty="0" err="1"/>
              <a:t>Even</a:t>
            </a:r>
            <a:r>
              <a:rPr lang="ru-RU" b="1" i="1" dirty="0"/>
              <a:t> </a:t>
            </a:r>
            <a:r>
              <a:rPr lang="ru-RU" b="1" i="1" dirty="0" err="1"/>
              <a:t>number</a:t>
            </a:r>
            <a:r>
              <a:rPr lang="ru-RU" b="1" i="1" dirty="0"/>
              <a:t> </a:t>
            </a:r>
            <a:r>
              <a:rPr lang="ru-RU" b="1" i="1" dirty="0" err="1"/>
              <a:t>of</a:t>
            </a:r>
            <a:r>
              <a:rPr lang="ru-RU" b="1" i="1" dirty="0"/>
              <a:t> </a:t>
            </a:r>
            <a:r>
              <a:rPr lang="ru-RU" b="1" i="1" dirty="0" err="1"/>
              <a:t>values</a:t>
            </a:r>
            <a:r>
              <a:rPr lang="ru-RU" b="1" i="1" dirty="0"/>
              <a:t>  </a:t>
            </a:r>
            <a:endParaRPr lang="ru-RU" b="1" dirty="0"/>
          </a:p>
          <a:p>
            <a:pPr marL="0" indent="0" latinLnBrk="1">
              <a:buNone/>
            </a:pPr>
            <a:r>
              <a:rPr lang="ru-RU" i="1" dirty="0" err="1"/>
              <a:t>scores_even</a:t>
            </a:r>
            <a:r>
              <a:rPr lang="ru-RU" i="1" dirty="0"/>
              <a:t> = [80, 85, 90, 95]</a:t>
            </a:r>
          </a:p>
          <a:p>
            <a:pPr marL="0" indent="0" latinLnBrk="1">
              <a:buNone/>
            </a:pPr>
            <a:r>
              <a:rPr lang="ru-RU" i="1" dirty="0" err="1"/>
              <a:t>median_even</a:t>
            </a:r>
            <a:r>
              <a:rPr lang="ru-RU" i="1" dirty="0"/>
              <a:t> = </a:t>
            </a:r>
            <a:r>
              <a:rPr lang="ru-RU" i="1" dirty="0" err="1"/>
              <a:t>np.median</a:t>
            </a:r>
            <a:r>
              <a:rPr lang="ru-RU" i="1" dirty="0"/>
              <a:t>(</a:t>
            </a:r>
            <a:r>
              <a:rPr lang="ru-RU" i="1" dirty="0" err="1"/>
              <a:t>scores_even</a:t>
            </a:r>
            <a:r>
              <a:rPr lang="ru-RU" i="1" dirty="0"/>
              <a:t>)</a:t>
            </a:r>
          </a:p>
          <a:p>
            <a:pPr marL="0" indent="0" latinLnBrk="1">
              <a:buNone/>
            </a:pPr>
            <a:r>
              <a:rPr lang="ru-RU" i="1" dirty="0" err="1"/>
              <a:t>print</a:t>
            </a:r>
            <a:r>
              <a:rPr lang="ru-RU" i="1" dirty="0"/>
              <a:t>(</a:t>
            </a:r>
            <a:r>
              <a:rPr lang="ru-RU" i="1" dirty="0" err="1"/>
              <a:t>f"Median</a:t>
            </a:r>
            <a:r>
              <a:rPr lang="ru-RU" i="1" dirty="0"/>
              <a:t> (</a:t>
            </a:r>
            <a:r>
              <a:rPr lang="ru-RU" i="1" dirty="0" err="1"/>
              <a:t>even</a:t>
            </a:r>
            <a:r>
              <a:rPr lang="ru-RU" i="1" dirty="0"/>
              <a:t>): {</a:t>
            </a:r>
            <a:r>
              <a:rPr lang="ru-RU" i="1" dirty="0" err="1"/>
              <a:t>median_even</a:t>
            </a:r>
            <a:r>
              <a:rPr lang="ru-RU" i="1" dirty="0"/>
              <a:t>}")</a:t>
            </a:r>
          </a:p>
        </p:txBody>
      </p:sp>
    </p:spTree>
    <p:extLst>
      <p:ext uri="{BB962C8B-B14F-4D97-AF65-F5344CB8AC3E}">
        <p14:creationId xmlns:p14="http://schemas.microsoft.com/office/powerpoint/2010/main" val="21732728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5B83A0-8C6B-2172-AE3A-0DC9471E2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Measures</a:t>
            </a:r>
            <a:r>
              <a:rPr lang="ru-RU" dirty="0"/>
              <a:t> </a:t>
            </a:r>
            <a:r>
              <a:rPr lang="ru-RU" dirty="0" err="1"/>
              <a:t>of</a:t>
            </a:r>
            <a:r>
              <a:rPr lang="ru-RU" dirty="0"/>
              <a:t> Center - The Mode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6037807-203D-67B5-E3DC-BCE7ECD8CE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Definition:</a:t>
            </a:r>
            <a:r>
              <a:rPr lang="ru-RU" dirty="0"/>
              <a:t> The </a:t>
            </a:r>
            <a:r>
              <a:rPr lang="ru-RU" dirty="0" err="1"/>
              <a:t>value</a:t>
            </a:r>
            <a:r>
              <a:rPr lang="ru-RU" dirty="0"/>
              <a:t> </a:t>
            </a:r>
            <a:r>
              <a:rPr lang="ru-RU" dirty="0" err="1"/>
              <a:t>that</a:t>
            </a:r>
            <a:r>
              <a:rPr lang="ru-RU" dirty="0"/>
              <a:t> </a:t>
            </a:r>
            <a:r>
              <a:rPr lang="ru-RU" dirty="0" err="1"/>
              <a:t>appears</a:t>
            </a:r>
            <a:r>
              <a:rPr lang="ru-RU" dirty="0"/>
              <a:t> </a:t>
            </a:r>
            <a:r>
              <a:rPr lang="ru-RU" dirty="0" err="1"/>
              <a:t>most</a:t>
            </a:r>
            <a:r>
              <a:rPr lang="ru-RU" dirty="0"/>
              <a:t> </a:t>
            </a:r>
            <a:r>
              <a:rPr lang="ru-RU" dirty="0" err="1"/>
              <a:t>frequently</a:t>
            </a:r>
            <a:endParaRPr lang="ru-RU" dirty="0"/>
          </a:p>
          <a:p>
            <a:r>
              <a:rPr lang="ru-RU" b="1" dirty="0" err="1"/>
              <a:t>Example</a:t>
            </a:r>
            <a:r>
              <a:rPr lang="ru-RU" b="1" dirty="0"/>
              <a:t>:</a:t>
            </a:r>
            <a:r>
              <a:rPr lang="ru-RU" dirty="0"/>
              <a:t> Test </a:t>
            </a:r>
            <a:r>
              <a:rPr lang="ru-RU" dirty="0" err="1"/>
              <a:t>scores</a:t>
            </a:r>
            <a:r>
              <a:rPr lang="ru-RU" dirty="0"/>
              <a:t>: 80, 85, 85, 90, 95</a:t>
            </a:r>
          </a:p>
          <a:p>
            <a:pPr lvl="0"/>
            <a:r>
              <a:rPr lang="ru-RU" dirty="0"/>
              <a:t>80 </a:t>
            </a:r>
            <a:r>
              <a:rPr lang="ru-RU" dirty="0" err="1"/>
              <a:t>appears</a:t>
            </a:r>
            <a:r>
              <a:rPr lang="ru-RU" dirty="0"/>
              <a:t> 1 </a:t>
            </a:r>
            <a:r>
              <a:rPr lang="ru-RU" dirty="0" err="1"/>
              <a:t>time</a:t>
            </a:r>
            <a:endParaRPr lang="ru-RU" dirty="0"/>
          </a:p>
          <a:p>
            <a:pPr lvl="0"/>
            <a:r>
              <a:rPr lang="ru-RU" dirty="0"/>
              <a:t>85 </a:t>
            </a:r>
            <a:r>
              <a:rPr lang="ru-RU" dirty="0" err="1"/>
              <a:t>appears</a:t>
            </a:r>
            <a:r>
              <a:rPr lang="ru-RU" dirty="0"/>
              <a:t> 2 </a:t>
            </a:r>
            <a:r>
              <a:rPr lang="ru-RU" dirty="0" err="1"/>
              <a:t>times</a:t>
            </a:r>
            <a:r>
              <a:rPr lang="ru-RU" dirty="0"/>
              <a:t> ← </a:t>
            </a:r>
            <a:r>
              <a:rPr lang="ru-RU" b="1" dirty="0"/>
              <a:t>MOST FREQUENT</a:t>
            </a:r>
            <a:endParaRPr lang="ru-RU" dirty="0"/>
          </a:p>
          <a:p>
            <a:pPr lvl="0"/>
            <a:r>
              <a:rPr lang="ru-RU" dirty="0"/>
              <a:t>90 </a:t>
            </a:r>
            <a:r>
              <a:rPr lang="ru-RU" dirty="0" err="1"/>
              <a:t>appears</a:t>
            </a:r>
            <a:r>
              <a:rPr lang="ru-RU" dirty="0"/>
              <a:t> 1 </a:t>
            </a:r>
            <a:r>
              <a:rPr lang="ru-RU" dirty="0" err="1"/>
              <a:t>time</a:t>
            </a:r>
            <a:endParaRPr lang="ru-RU" dirty="0"/>
          </a:p>
          <a:p>
            <a:pPr lvl="0"/>
            <a:r>
              <a:rPr lang="ru-RU" dirty="0"/>
              <a:t>95 </a:t>
            </a:r>
            <a:r>
              <a:rPr lang="ru-RU" dirty="0" err="1"/>
              <a:t>appears</a:t>
            </a:r>
            <a:r>
              <a:rPr lang="ru-RU" dirty="0"/>
              <a:t> 1 </a:t>
            </a:r>
            <a:r>
              <a:rPr lang="ru-RU" dirty="0" err="1"/>
              <a:t>time</a:t>
            </a:r>
            <a:endParaRPr lang="ru-RU" dirty="0"/>
          </a:p>
          <a:p>
            <a:r>
              <a:rPr lang="ru-RU" b="1" dirty="0"/>
              <a:t>Mode = 85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118393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897E78-B8B6-0D15-BEA4-C7F2CB747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When</a:t>
            </a:r>
            <a:r>
              <a:rPr lang="ru-RU" dirty="0"/>
              <a:t> </a:t>
            </a:r>
            <a:r>
              <a:rPr lang="ru-RU" dirty="0" err="1"/>
              <a:t>to</a:t>
            </a:r>
            <a:r>
              <a:rPr lang="ru-RU" dirty="0"/>
              <a:t> </a:t>
            </a:r>
            <a:r>
              <a:rPr lang="ru-RU" dirty="0" err="1"/>
              <a:t>Use</a:t>
            </a:r>
            <a:r>
              <a:rPr lang="ru-RU" dirty="0"/>
              <a:t> </a:t>
            </a:r>
            <a:r>
              <a:rPr lang="ru-RU" dirty="0" err="1"/>
              <a:t>Mean</a:t>
            </a:r>
            <a:r>
              <a:rPr lang="ru-RU" dirty="0"/>
              <a:t>, </a:t>
            </a:r>
            <a:r>
              <a:rPr lang="ru-RU" dirty="0" err="1"/>
              <a:t>Median</a:t>
            </a:r>
            <a:r>
              <a:rPr lang="ru-RU" dirty="0"/>
              <a:t>, </a:t>
            </a:r>
            <a:r>
              <a:rPr lang="ru-RU" dirty="0" err="1"/>
              <a:t>or</a:t>
            </a:r>
            <a:r>
              <a:rPr lang="ru-RU" dirty="0"/>
              <a:t> Mode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EB4F305-E0A0-6ABB-5A95-48777E5F1B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dirty="0"/>
              <a:t>GUIDELINES:</a:t>
            </a:r>
            <a:endParaRPr lang="ru-RU" dirty="0"/>
          </a:p>
          <a:p>
            <a:pPr lvl="0"/>
            <a:r>
              <a:rPr lang="ru-RU" b="1" dirty="0" err="1"/>
              <a:t>Use</a:t>
            </a:r>
            <a:r>
              <a:rPr lang="ru-RU" b="1" dirty="0"/>
              <a:t> MEAN</a:t>
            </a:r>
            <a:r>
              <a:rPr lang="ru-RU" dirty="0"/>
              <a:t> </a:t>
            </a:r>
            <a:r>
              <a:rPr lang="ru-RU" dirty="0" err="1"/>
              <a:t>when</a:t>
            </a:r>
            <a:r>
              <a:rPr lang="ru-RU" dirty="0"/>
              <a:t> </a:t>
            </a:r>
            <a:r>
              <a:rPr lang="ru-RU" dirty="0" err="1"/>
              <a:t>data</a:t>
            </a:r>
            <a:r>
              <a:rPr lang="ru-RU" dirty="0"/>
              <a:t> </a:t>
            </a:r>
            <a:r>
              <a:rPr lang="ru-RU" dirty="0" err="1"/>
              <a:t>is</a:t>
            </a:r>
            <a:r>
              <a:rPr lang="ru-RU" dirty="0"/>
              <a:t> </a:t>
            </a:r>
            <a:r>
              <a:rPr lang="ru-RU" dirty="0" err="1"/>
              <a:t>symmetric</a:t>
            </a:r>
            <a:r>
              <a:rPr lang="ru-RU" dirty="0"/>
              <a:t> </a:t>
            </a:r>
            <a:r>
              <a:rPr lang="ru-RU" dirty="0" err="1"/>
              <a:t>with</a:t>
            </a:r>
            <a:r>
              <a:rPr lang="ru-RU" dirty="0"/>
              <a:t> </a:t>
            </a:r>
            <a:r>
              <a:rPr lang="ru-RU" dirty="0" err="1"/>
              <a:t>no</a:t>
            </a:r>
            <a:r>
              <a:rPr lang="ru-RU" dirty="0"/>
              <a:t> </a:t>
            </a:r>
            <a:r>
              <a:rPr lang="ru-RU" dirty="0" err="1"/>
              <a:t>outliers</a:t>
            </a:r>
            <a:endParaRPr lang="ru-RU" dirty="0"/>
          </a:p>
          <a:p>
            <a:pPr lvl="0"/>
            <a:r>
              <a:rPr lang="ru-RU" b="1" dirty="0" err="1"/>
              <a:t>Use</a:t>
            </a:r>
            <a:r>
              <a:rPr lang="ru-RU" b="1" dirty="0"/>
              <a:t> MEDIAN</a:t>
            </a:r>
            <a:r>
              <a:rPr lang="ru-RU" dirty="0"/>
              <a:t> </a:t>
            </a:r>
            <a:r>
              <a:rPr lang="ru-RU" dirty="0" err="1"/>
              <a:t>when</a:t>
            </a:r>
            <a:r>
              <a:rPr lang="ru-RU" dirty="0"/>
              <a:t> </a:t>
            </a:r>
            <a:r>
              <a:rPr lang="ru-RU" dirty="0" err="1"/>
              <a:t>data</a:t>
            </a:r>
            <a:r>
              <a:rPr lang="ru-RU" dirty="0"/>
              <a:t> </a:t>
            </a:r>
            <a:r>
              <a:rPr lang="ru-RU" dirty="0" err="1"/>
              <a:t>has</a:t>
            </a:r>
            <a:r>
              <a:rPr lang="ru-RU" dirty="0"/>
              <a:t> </a:t>
            </a:r>
            <a:r>
              <a:rPr lang="ru-RU" dirty="0" err="1"/>
              <a:t>outliers</a:t>
            </a:r>
            <a:r>
              <a:rPr lang="ru-RU" dirty="0"/>
              <a:t> </a:t>
            </a:r>
            <a:r>
              <a:rPr lang="ru-RU" dirty="0" err="1"/>
              <a:t>or</a:t>
            </a:r>
            <a:r>
              <a:rPr lang="ru-RU" dirty="0"/>
              <a:t> </a:t>
            </a:r>
            <a:r>
              <a:rPr lang="ru-RU" dirty="0" err="1"/>
              <a:t>is</a:t>
            </a:r>
            <a:r>
              <a:rPr lang="ru-RU" dirty="0"/>
              <a:t> </a:t>
            </a:r>
            <a:r>
              <a:rPr lang="ru-RU" dirty="0" err="1"/>
              <a:t>skewed</a:t>
            </a:r>
            <a:endParaRPr lang="ru-RU" dirty="0"/>
          </a:p>
          <a:p>
            <a:pPr lvl="0"/>
            <a:r>
              <a:rPr lang="ru-RU" b="1" dirty="0" err="1"/>
              <a:t>Use</a:t>
            </a:r>
            <a:r>
              <a:rPr lang="ru-RU" b="1" dirty="0"/>
              <a:t> MODE</a:t>
            </a:r>
            <a:r>
              <a:rPr lang="ru-RU" dirty="0"/>
              <a:t> </a:t>
            </a:r>
            <a:r>
              <a:rPr lang="ru-RU" dirty="0" err="1"/>
              <a:t>for</a:t>
            </a:r>
            <a:r>
              <a:rPr lang="ru-RU" dirty="0"/>
              <a:t> </a:t>
            </a:r>
            <a:r>
              <a:rPr lang="ru-RU" dirty="0" err="1"/>
              <a:t>categorical</a:t>
            </a:r>
            <a:r>
              <a:rPr lang="ru-RU" dirty="0"/>
              <a:t> </a:t>
            </a:r>
            <a:r>
              <a:rPr lang="ru-RU" dirty="0" err="1"/>
              <a:t>data</a:t>
            </a:r>
            <a:r>
              <a:rPr lang="ru-RU" dirty="0"/>
              <a:t> </a:t>
            </a:r>
            <a:r>
              <a:rPr lang="ru-RU" dirty="0" err="1"/>
              <a:t>or</a:t>
            </a:r>
            <a:r>
              <a:rPr lang="ru-RU" dirty="0"/>
              <a:t> </a:t>
            </a:r>
            <a:r>
              <a:rPr lang="ru-RU" dirty="0" err="1"/>
              <a:t>finding</a:t>
            </a:r>
            <a:r>
              <a:rPr lang="ru-RU" dirty="0"/>
              <a:t> </a:t>
            </a:r>
            <a:r>
              <a:rPr lang="ru-RU" dirty="0" err="1"/>
              <a:t>most</a:t>
            </a:r>
            <a:r>
              <a:rPr lang="ru-RU" dirty="0"/>
              <a:t> </a:t>
            </a:r>
            <a:r>
              <a:rPr lang="ru-RU" dirty="0" err="1"/>
              <a:t>popular</a:t>
            </a:r>
            <a:r>
              <a:rPr lang="ru-RU" dirty="0"/>
              <a:t> </a:t>
            </a:r>
            <a:r>
              <a:rPr lang="ru-RU" dirty="0" err="1"/>
              <a:t>item</a:t>
            </a:r>
            <a:endParaRPr lang="ru-RU" dirty="0"/>
          </a:p>
          <a:p>
            <a:r>
              <a:rPr lang="ru-RU" b="1" dirty="0" err="1"/>
              <a:t>Remember</a:t>
            </a:r>
            <a:r>
              <a:rPr lang="ru-RU" b="1" dirty="0"/>
              <a:t>:</a:t>
            </a:r>
            <a:r>
              <a:rPr lang="ru-RU" dirty="0"/>
              <a:t> </a:t>
            </a:r>
            <a:r>
              <a:rPr lang="ru-RU" dirty="0" err="1"/>
              <a:t>Different</a:t>
            </a:r>
            <a:r>
              <a:rPr lang="ru-RU" dirty="0"/>
              <a:t> </a:t>
            </a:r>
            <a:r>
              <a:rPr lang="ru-RU" dirty="0" err="1"/>
              <a:t>situations</a:t>
            </a:r>
            <a:r>
              <a:rPr lang="ru-RU" dirty="0"/>
              <a:t> </a:t>
            </a:r>
            <a:r>
              <a:rPr lang="ru-RU" dirty="0" err="1"/>
              <a:t>need</a:t>
            </a:r>
            <a:r>
              <a:rPr lang="ru-RU" dirty="0"/>
              <a:t> </a:t>
            </a:r>
            <a:r>
              <a:rPr lang="ru-RU" dirty="0" err="1"/>
              <a:t>different</a:t>
            </a:r>
            <a:r>
              <a:rPr lang="ru-RU" dirty="0"/>
              <a:t> </a:t>
            </a:r>
            <a:r>
              <a:rPr lang="ru-RU" dirty="0" err="1"/>
              <a:t>measures</a:t>
            </a:r>
            <a:r>
              <a:rPr lang="ru-RU" dirty="0"/>
              <a:t>!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420927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5A3BD7-CB9A-A174-D31A-0C4AE64EC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Real </a:t>
            </a:r>
            <a:r>
              <a:rPr lang="ru-RU" dirty="0" err="1"/>
              <a:t>Example</a:t>
            </a:r>
            <a:r>
              <a:rPr lang="ru-RU" dirty="0"/>
              <a:t> - </a:t>
            </a:r>
            <a:r>
              <a:rPr lang="ru-RU" dirty="0" err="1"/>
              <a:t>Salaries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5F97CD8-55F4-92C6-0D6C-7BA3762083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Small </a:t>
            </a:r>
            <a:r>
              <a:rPr lang="ru-RU" b="1" dirty="0" err="1"/>
              <a:t>company</a:t>
            </a:r>
            <a:r>
              <a:rPr lang="ru-RU" b="1" dirty="0"/>
              <a:t> </a:t>
            </a:r>
            <a:r>
              <a:rPr lang="ru-RU" b="1" dirty="0" err="1"/>
              <a:t>salaries</a:t>
            </a:r>
            <a:r>
              <a:rPr lang="ru-RU" b="1" dirty="0"/>
              <a:t>:</a:t>
            </a:r>
            <a:endParaRPr lang="ru-RU" dirty="0"/>
          </a:p>
          <a:p>
            <a:pPr lvl="0"/>
            <a:r>
              <a:rPr lang="ru-RU" dirty="0" err="1"/>
              <a:t>Employee</a:t>
            </a:r>
            <a:r>
              <a:rPr lang="ru-RU" dirty="0"/>
              <a:t> 1: $40,000</a:t>
            </a:r>
          </a:p>
          <a:p>
            <a:pPr lvl="0"/>
            <a:r>
              <a:rPr lang="ru-RU" dirty="0" err="1"/>
              <a:t>Employee</a:t>
            </a:r>
            <a:r>
              <a:rPr lang="ru-RU" dirty="0"/>
              <a:t> 2: $45,000</a:t>
            </a:r>
          </a:p>
          <a:p>
            <a:pPr lvl="0"/>
            <a:r>
              <a:rPr lang="ru-RU" dirty="0" err="1"/>
              <a:t>Employee</a:t>
            </a:r>
            <a:r>
              <a:rPr lang="ru-RU" dirty="0"/>
              <a:t> 3: $50,000</a:t>
            </a:r>
          </a:p>
          <a:p>
            <a:pPr lvl="0"/>
            <a:r>
              <a:rPr lang="ru-RU" dirty="0" err="1"/>
              <a:t>Employee</a:t>
            </a:r>
            <a:r>
              <a:rPr lang="ru-RU" dirty="0"/>
              <a:t> 4: $55,000</a:t>
            </a:r>
          </a:p>
          <a:p>
            <a:r>
              <a:rPr lang="ru-RU" dirty="0"/>
              <a:t>CEO: $400,000</a:t>
            </a:r>
          </a:p>
        </p:txBody>
      </p:sp>
    </p:spTree>
    <p:extLst>
      <p:ext uri="{BB962C8B-B14F-4D97-AF65-F5344CB8AC3E}">
        <p14:creationId xmlns:p14="http://schemas.microsoft.com/office/powerpoint/2010/main" val="4460109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8FDD2F-8178-A68F-073C-1DE01C4AF5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F7BA86-5BEB-296D-DC37-C7F9C8A0E8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Real </a:t>
            </a:r>
            <a:r>
              <a:rPr lang="ru-RU" dirty="0" err="1"/>
              <a:t>Example</a:t>
            </a:r>
            <a:r>
              <a:rPr lang="ru-RU" dirty="0"/>
              <a:t> - </a:t>
            </a:r>
            <a:r>
              <a:rPr lang="ru-RU" dirty="0" err="1"/>
              <a:t>Salaries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BE29877-14FE-57BA-8C5D-BDE15E789D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b="1" dirty="0"/>
              <a:t>Small </a:t>
            </a:r>
            <a:r>
              <a:rPr lang="ru-RU" b="1" dirty="0" err="1"/>
              <a:t>company</a:t>
            </a:r>
            <a:r>
              <a:rPr lang="ru-RU" b="1" dirty="0"/>
              <a:t> </a:t>
            </a:r>
            <a:r>
              <a:rPr lang="ru-RU" b="1" dirty="0" err="1"/>
              <a:t>salaries</a:t>
            </a:r>
            <a:r>
              <a:rPr lang="ru-RU" b="1" dirty="0"/>
              <a:t>:</a:t>
            </a:r>
            <a:endParaRPr lang="ru-RU" dirty="0"/>
          </a:p>
          <a:p>
            <a:pPr lvl="0"/>
            <a:r>
              <a:rPr lang="ru-RU" dirty="0" err="1"/>
              <a:t>Employee</a:t>
            </a:r>
            <a:r>
              <a:rPr lang="ru-RU" dirty="0"/>
              <a:t> 1: $40,000</a:t>
            </a:r>
          </a:p>
          <a:p>
            <a:pPr lvl="0"/>
            <a:r>
              <a:rPr lang="ru-RU" dirty="0" err="1"/>
              <a:t>Employee</a:t>
            </a:r>
            <a:r>
              <a:rPr lang="ru-RU" dirty="0"/>
              <a:t> 2: $45,000</a:t>
            </a:r>
          </a:p>
          <a:p>
            <a:pPr lvl="0"/>
            <a:r>
              <a:rPr lang="ru-RU" dirty="0" err="1"/>
              <a:t>Employee</a:t>
            </a:r>
            <a:r>
              <a:rPr lang="ru-RU" dirty="0"/>
              <a:t> 3: $50,000</a:t>
            </a:r>
          </a:p>
          <a:p>
            <a:pPr lvl="0"/>
            <a:r>
              <a:rPr lang="ru-RU" dirty="0" err="1"/>
              <a:t>Employee</a:t>
            </a:r>
            <a:r>
              <a:rPr lang="ru-RU" dirty="0"/>
              <a:t> 4: $55,000</a:t>
            </a:r>
          </a:p>
          <a:p>
            <a:r>
              <a:rPr lang="ru-RU" dirty="0"/>
              <a:t>CEO: $400,000</a:t>
            </a:r>
            <a:endParaRPr lang="en-US" dirty="0"/>
          </a:p>
          <a:p>
            <a:r>
              <a:rPr lang="ru-RU" b="1" dirty="0" err="1"/>
              <a:t>Which</a:t>
            </a:r>
            <a:r>
              <a:rPr lang="ru-RU" b="1" dirty="0"/>
              <a:t> </a:t>
            </a:r>
            <a:r>
              <a:rPr lang="ru-RU" b="1" dirty="0" err="1"/>
              <a:t>is</a:t>
            </a:r>
            <a:r>
              <a:rPr lang="ru-RU" b="1" dirty="0"/>
              <a:t> </a:t>
            </a:r>
            <a:r>
              <a:rPr lang="ru-RU" b="1" dirty="0" err="1"/>
              <a:t>better</a:t>
            </a:r>
            <a:r>
              <a:rPr lang="ru-RU" b="1" dirty="0"/>
              <a:t>?</a:t>
            </a:r>
            <a:endParaRPr lang="ru-RU" dirty="0"/>
          </a:p>
          <a:p>
            <a:pPr lvl="0"/>
            <a:r>
              <a:rPr lang="ru-RU" dirty="0" err="1"/>
              <a:t>Mean</a:t>
            </a:r>
            <a:r>
              <a:rPr lang="ru-RU" dirty="0"/>
              <a:t>: $118,000 (</a:t>
            </a:r>
            <a:r>
              <a:rPr lang="ru-RU" dirty="0" err="1"/>
              <a:t>misleading</a:t>
            </a:r>
            <a:r>
              <a:rPr lang="ru-RU" dirty="0"/>
              <a:t>!)</a:t>
            </a:r>
          </a:p>
          <a:p>
            <a:pPr lvl="0"/>
            <a:r>
              <a:rPr lang="ru-RU" dirty="0" err="1"/>
              <a:t>Median</a:t>
            </a:r>
            <a:r>
              <a:rPr lang="ru-RU" dirty="0"/>
              <a:t>: $50,000 (</a:t>
            </a:r>
            <a:r>
              <a:rPr lang="ru-RU" dirty="0" err="1"/>
              <a:t>better</a:t>
            </a:r>
            <a:r>
              <a:rPr lang="ru-RU" dirty="0"/>
              <a:t> </a:t>
            </a:r>
            <a:r>
              <a:rPr lang="ru-RU" dirty="0" err="1"/>
              <a:t>representation</a:t>
            </a:r>
            <a:r>
              <a:rPr lang="ru-RU" dirty="0"/>
              <a:t>)</a:t>
            </a:r>
          </a:p>
          <a:p>
            <a:r>
              <a:rPr lang="ru-RU" dirty="0"/>
              <a:t>Mode: No </a:t>
            </a:r>
            <a:r>
              <a:rPr lang="ru-RU" dirty="0" err="1"/>
              <a:t>mode</a:t>
            </a:r>
            <a:r>
              <a:rPr lang="ru-RU" dirty="0"/>
              <a:t> (</a:t>
            </a:r>
            <a:r>
              <a:rPr lang="ru-RU" dirty="0" err="1"/>
              <a:t>all</a:t>
            </a:r>
            <a:r>
              <a:rPr lang="ru-RU" dirty="0"/>
              <a:t> </a:t>
            </a:r>
            <a:r>
              <a:rPr lang="ru-RU" dirty="0" err="1"/>
              <a:t>different</a:t>
            </a:r>
            <a:r>
              <a:rPr lang="ru-RU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6608669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E0BBB0-E3D7-9817-F0D7-7B5A7ADF3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Measures</a:t>
            </a:r>
            <a:r>
              <a:rPr lang="ru-RU" dirty="0"/>
              <a:t> </a:t>
            </a:r>
            <a:r>
              <a:rPr lang="ru-RU" dirty="0" err="1"/>
              <a:t>of</a:t>
            </a:r>
            <a:r>
              <a:rPr lang="ru-RU" dirty="0"/>
              <a:t> </a:t>
            </a:r>
            <a:r>
              <a:rPr lang="ru-RU" dirty="0" err="1"/>
              <a:t>Spread</a:t>
            </a:r>
            <a:r>
              <a:rPr lang="ru-RU" dirty="0"/>
              <a:t> - </a:t>
            </a:r>
            <a:r>
              <a:rPr lang="ru-RU" dirty="0" err="1"/>
              <a:t>Why</a:t>
            </a:r>
            <a:r>
              <a:rPr lang="ru-RU" dirty="0"/>
              <a:t> We </a:t>
            </a:r>
            <a:r>
              <a:rPr lang="ru-RU" dirty="0" err="1"/>
              <a:t>Need</a:t>
            </a:r>
            <a:r>
              <a:rPr lang="ru-RU" dirty="0"/>
              <a:t> </a:t>
            </a:r>
            <a:r>
              <a:rPr lang="ru-RU" dirty="0" err="1"/>
              <a:t>Them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F27137E-72FF-5AFC-1DB7-54F4671C51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 err="1"/>
              <a:t>Two</a:t>
            </a:r>
            <a:r>
              <a:rPr lang="ru-RU" b="1" dirty="0"/>
              <a:t> </a:t>
            </a:r>
            <a:r>
              <a:rPr lang="ru-RU" b="1" dirty="0" err="1"/>
              <a:t>datasets</a:t>
            </a:r>
            <a:r>
              <a:rPr lang="ru-RU" b="1" dirty="0"/>
              <a:t> </a:t>
            </a:r>
            <a:r>
              <a:rPr lang="ru-RU" b="1" dirty="0" err="1"/>
              <a:t>with</a:t>
            </a:r>
            <a:r>
              <a:rPr lang="ru-RU" b="1" dirty="0"/>
              <a:t> </a:t>
            </a:r>
            <a:r>
              <a:rPr lang="ru-RU" b="1" dirty="0" err="1"/>
              <a:t>same</a:t>
            </a:r>
            <a:r>
              <a:rPr lang="ru-RU" b="1" dirty="0"/>
              <a:t> </a:t>
            </a:r>
            <a:r>
              <a:rPr lang="ru-RU" b="1" dirty="0" err="1"/>
              <a:t>mean</a:t>
            </a:r>
            <a:r>
              <a:rPr lang="ru-RU" b="1" dirty="0"/>
              <a:t>:</a:t>
            </a:r>
            <a:endParaRPr lang="ru-RU" dirty="0"/>
          </a:p>
          <a:p>
            <a:pPr lvl="0"/>
            <a:r>
              <a:rPr lang="ru-RU" dirty="0" err="1"/>
              <a:t>Dataset</a:t>
            </a:r>
            <a:r>
              <a:rPr lang="ru-RU" dirty="0"/>
              <a:t> A: 70, 75, 80 (</a:t>
            </a:r>
            <a:r>
              <a:rPr lang="ru-RU" dirty="0" err="1"/>
              <a:t>mean</a:t>
            </a:r>
            <a:r>
              <a:rPr lang="ru-RU" dirty="0"/>
              <a:t> = 75)</a:t>
            </a:r>
          </a:p>
          <a:p>
            <a:pPr lvl="0"/>
            <a:r>
              <a:rPr lang="ru-RU" dirty="0" err="1"/>
              <a:t>Dataset</a:t>
            </a:r>
            <a:r>
              <a:rPr lang="ru-RU" dirty="0"/>
              <a:t> B: 50, 75, 100 (</a:t>
            </a:r>
            <a:r>
              <a:rPr lang="ru-RU" dirty="0" err="1"/>
              <a:t>mean</a:t>
            </a:r>
            <a:r>
              <a:rPr lang="ru-RU" dirty="0"/>
              <a:t> = 75)</a:t>
            </a:r>
          </a:p>
          <a:p>
            <a:r>
              <a:rPr lang="ru-RU" b="1" dirty="0" err="1"/>
              <a:t>Same</a:t>
            </a:r>
            <a:r>
              <a:rPr lang="ru-RU" b="1" dirty="0"/>
              <a:t> </a:t>
            </a:r>
            <a:r>
              <a:rPr lang="ru-RU" b="1" dirty="0" err="1"/>
              <a:t>center</a:t>
            </a:r>
            <a:r>
              <a:rPr lang="ru-RU" b="1" dirty="0"/>
              <a:t>, </a:t>
            </a:r>
            <a:r>
              <a:rPr lang="ru-RU" b="1" dirty="0" err="1"/>
              <a:t>but</a:t>
            </a:r>
            <a:r>
              <a:rPr lang="ru-RU" b="1" dirty="0"/>
              <a:t> VERY </a:t>
            </a:r>
            <a:r>
              <a:rPr lang="ru-RU" b="1" dirty="0" err="1"/>
              <a:t>different</a:t>
            </a:r>
            <a:r>
              <a:rPr lang="ru-RU" b="1" dirty="0"/>
              <a:t> </a:t>
            </a:r>
            <a:r>
              <a:rPr lang="ru-RU" b="1" dirty="0" err="1"/>
              <a:t>spread</a:t>
            </a:r>
            <a:r>
              <a:rPr lang="ru-RU" b="1" dirty="0"/>
              <a:t>!</a:t>
            </a:r>
            <a:br>
              <a:rPr lang="ru-RU" dirty="0"/>
            </a:br>
            <a:r>
              <a:rPr lang="ru-RU" dirty="0"/>
              <a:t>We </a:t>
            </a:r>
            <a:r>
              <a:rPr lang="ru-RU" dirty="0" err="1"/>
              <a:t>need</a:t>
            </a:r>
            <a:r>
              <a:rPr lang="ru-RU" dirty="0"/>
              <a:t> </a:t>
            </a:r>
            <a:r>
              <a:rPr lang="ru-RU" dirty="0" err="1"/>
              <a:t>measures</a:t>
            </a:r>
            <a:r>
              <a:rPr lang="ru-RU" dirty="0"/>
              <a:t> </a:t>
            </a:r>
            <a:r>
              <a:rPr lang="ru-RU" dirty="0" err="1"/>
              <a:t>of</a:t>
            </a:r>
            <a:r>
              <a:rPr lang="ru-RU" dirty="0"/>
              <a:t> </a:t>
            </a:r>
            <a:r>
              <a:rPr lang="ru-RU" dirty="0" err="1"/>
              <a:t>variability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878427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CF1DEC-6CB7-236C-9351-BD6534BED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Simplest</a:t>
            </a:r>
            <a:r>
              <a:rPr lang="ru-RU" dirty="0"/>
              <a:t> </a:t>
            </a:r>
            <a:r>
              <a:rPr lang="ru-RU" dirty="0" err="1"/>
              <a:t>Measure</a:t>
            </a:r>
            <a:r>
              <a:rPr lang="ru-RU" dirty="0"/>
              <a:t> - Range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121B66E-77EE-5C14-B758-A02BE554CA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dirty="0"/>
              <a:t>Formula:</a:t>
            </a:r>
            <a:r>
              <a:rPr lang="ru-RU" dirty="0"/>
              <a:t> Range = </a:t>
            </a:r>
            <a:r>
              <a:rPr lang="ru-RU" dirty="0" err="1"/>
              <a:t>Maximum</a:t>
            </a:r>
            <a:r>
              <a:rPr lang="ru-RU" dirty="0"/>
              <a:t> - </a:t>
            </a:r>
            <a:r>
              <a:rPr lang="ru-RU" dirty="0" err="1"/>
              <a:t>Minimum</a:t>
            </a:r>
            <a:endParaRPr lang="ru-RU" dirty="0"/>
          </a:p>
          <a:p>
            <a:pPr marL="0" indent="0">
              <a:buNone/>
            </a:pPr>
            <a:r>
              <a:rPr lang="ru-RU" b="1" dirty="0" err="1"/>
              <a:t>Example</a:t>
            </a:r>
            <a:r>
              <a:rPr lang="ru-RU" b="1" dirty="0"/>
              <a:t>:</a:t>
            </a:r>
            <a:endParaRPr lang="ru-RU" dirty="0"/>
          </a:p>
          <a:p>
            <a:pPr lvl="0"/>
            <a:r>
              <a:rPr lang="ru-RU" dirty="0" err="1"/>
              <a:t>Dataset</a:t>
            </a:r>
            <a:r>
              <a:rPr lang="ru-RU" dirty="0"/>
              <a:t> A: 70, 75, 80 → Range = 80 - 70 = 10</a:t>
            </a:r>
          </a:p>
          <a:p>
            <a:pPr lvl="0"/>
            <a:r>
              <a:rPr lang="ru-RU" dirty="0" err="1"/>
              <a:t>Dataset</a:t>
            </a:r>
            <a:r>
              <a:rPr lang="ru-RU" dirty="0"/>
              <a:t> B: 50, 75, 100 → Range = 100 - 50 = 50</a:t>
            </a:r>
          </a:p>
          <a:p>
            <a:pPr marL="0" indent="0">
              <a:buNone/>
            </a:pPr>
            <a:r>
              <a:rPr lang="ru-RU" b="1" dirty="0" err="1"/>
              <a:t>Problem</a:t>
            </a:r>
            <a:r>
              <a:rPr lang="ru-RU" b="1" dirty="0"/>
              <a:t>:</a:t>
            </a:r>
            <a:r>
              <a:rPr lang="ru-RU" dirty="0"/>
              <a:t> Range </a:t>
            </a:r>
            <a:r>
              <a:rPr lang="ru-RU" dirty="0" err="1"/>
              <a:t>only</a:t>
            </a:r>
            <a:r>
              <a:rPr lang="ru-RU" dirty="0"/>
              <a:t> </a:t>
            </a:r>
            <a:r>
              <a:rPr lang="ru-RU" dirty="0" err="1"/>
              <a:t>uses</a:t>
            </a:r>
            <a:r>
              <a:rPr lang="ru-RU" dirty="0"/>
              <a:t> </a:t>
            </a:r>
            <a:r>
              <a:rPr lang="ru-RU" dirty="0" err="1"/>
              <a:t>two</a:t>
            </a:r>
            <a:r>
              <a:rPr lang="ru-RU" dirty="0"/>
              <a:t> </a:t>
            </a:r>
            <a:r>
              <a:rPr lang="ru-RU" dirty="0" err="1"/>
              <a:t>values</a:t>
            </a:r>
            <a:r>
              <a:rPr lang="ru-RU" dirty="0"/>
              <a:t>, </a:t>
            </a:r>
            <a:r>
              <a:rPr lang="ru-RU" dirty="0" err="1"/>
              <a:t>ignores</a:t>
            </a:r>
            <a:r>
              <a:rPr lang="ru-RU" dirty="0"/>
              <a:t> </a:t>
            </a:r>
            <a:r>
              <a:rPr lang="ru-RU" dirty="0" err="1"/>
              <a:t>the</a:t>
            </a:r>
            <a:r>
              <a:rPr lang="ru-RU" dirty="0"/>
              <a:t> </a:t>
            </a:r>
            <a:r>
              <a:rPr lang="ru-RU" dirty="0" err="1"/>
              <a:t>rest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132759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990273-093C-F66C-2F01-2DF5A5544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Better</a:t>
            </a:r>
            <a:r>
              <a:rPr lang="ru-RU" dirty="0"/>
              <a:t> </a:t>
            </a:r>
            <a:r>
              <a:rPr lang="ru-RU" dirty="0" err="1"/>
              <a:t>Measure</a:t>
            </a:r>
            <a:r>
              <a:rPr lang="ru-RU" dirty="0"/>
              <a:t> - </a:t>
            </a:r>
            <a:r>
              <a:rPr lang="ru-RU" dirty="0" err="1"/>
              <a:t>Variance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6167626-E474-8EFD-04A3-6E48488090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 err="1"/>
              <a:t>Idea</a:t>
            </a:r>
            <a:r>
              <a:rPr lang="ru-RU" b="1" dirty="0"/>
              <a:t>:</a:t>
            </a:r>
            <a:r>
              <a:rPr lang="ru-RU" dirty="0"/>
              <a:t> </a:t>
            </a:r>
            <a:r>
              <a:rPr lang="ru-RU" dirty="0" err="1"/>
              <a:t>How</a:t>
            </a:r>
            <a:r>
              <a:rPr lang="ru-RU" dirty="0"/>
              <a:t> </a:t>
            </a:r>
            <a:r>
              <a:rPr lang="ru-RU" dirty="0" err="1"/>
              <a:t>far</a:t>
            </a:r>
            <a:r>
              <a:rPr lang="ru-RU" dirty="0"/>
              <a:t> </a:t>
            </a:r>
            <a:r>
              <a:rPr lang="ru-RU" dirty="0" err="1"/>
              <a:t>are</a:t>
            </a:r>
            <a:r>
              <a:rPr lang="ru-RU" dirty="0"/>
              <a:t> </a:t>
            </a:r>
            <a:r>
              <a:rPr lang="ru-RU" dirty="0" err="1"/>
              <a:t>values</a:t>
            </a:r>
            <a:r>
              <a:rPr lang="ru-RU" dirty="0"/>
              <a:t> </a:t>
            </a:r>
            <a:r>
              <a:rPr lang="ru-RU" dirty="0" err="1"/>
              <a:t>from</a:t>
            </a:r>
            <a:r>
              <a:rPr lang="ru-RU" dirty="0"/>
              <a:t> </a:t>
            </a:r>
            <a:r>
              <a:rPr lang="ru-RU" dirty="0" err="1"/>
              <a:t>the</a:t>
            </a:r>
            <a:r>
              <a:rPr lang="ru-RU" dirty="0"/>
              <a:t> </a:t>
            </a:r>
            <a:r>
              <a:rPr lang="ru-RU" dirty="0" err="1"/>
              <a:t>mean</a:t>
            </a:r>
            <a:r>
              <a:rPr lang="ru-RU" dirty="0"/>
              <a:t>, </a:t>
            </a:r>
            <a:r>
              <a:rPr lang="ru-RU" dirty="0" err="1"/>
              <a:t>on</a:t>
            </a:r>
            <a:r>
              <a:rPr lang="ru-RU" dirty="0"/>
              <a:t> </a:t>
            </a:r>
            <a:r>
              <a:rPr lang="ru-RU" dirty="0" err="1"/>
              <a:t>average</a:t>
            </a:r>
            <a:r>
              <a:rPr lang="ru-RU" dirty="0"/>
              <a:t>?</a:t>
            </a:r>
          </a:p>
          <a:p>
            <a:r>
              <a:rPr lang="ru-RU" b="1" dirty="0" err="1"/>
              <a:t>Steps</a:t>
            </a:r>
            <a:r>
              <a:rPr lang="ru-RU" b="1" dirty="0"/>
              <a:t>:</a:t>
            </a:r>
            <a:endParaRPr lang="ru-RU" dirty="0"/>
          </a:p>
          <a:p>
            <a:pPr lvl="0"/>
            <a:r>
              <a:rPr lang="ru-RU" dirty="0" err="1"/>
              <a:t>Find</a:t>
            </a:r>
            <a:r>
              <a:rPr lang="ru-RU" dirty="0"/>
              <a:t> </a:t>
            </a:r>
            <a:r>
              <a:rPr lang="ru-RU" dirty="0" err="1"/>
              <a:t>mean</a:t>
            </a:r>
            <a:endParaRPr lang="ru-RU" dirty="0"/>
          </a:p>
          <a:p>
            <a:pPr lvl="0"/>
            <a:r>
              <a:rPr lang="ru-RU" dirty="0" err="1"/>
              <a:t>Find</a:t>
            </a:r>
            <a:r>
              <a:rPr lang="ru-RU" dirty="0"/>
              <a:t> </a:t>
            </a:r>
            <a:r>
              <a:rPr lang="ru-RU" dirty="0" err="1"/>
              <a:t>differences</a:t>
            </a:r>
            <a:r>
              <a:rPr lang="ru-RU" dirty="0"/>
              <a:t> </a:t>
            </a:r>
            <a:r>
              <a:rPr lang="ru-RU" dirty="0" err="1"/>
              <a:t>from</a:t>
            </a:r>
            <a:r>
              <a:rPr lang="ru-RU" dirty="0"/>
              <a:t> </a:t>
            </a:r>
            <a:r>
              <a:rPr lang="ru-RU" dirty="0" err="1"/>
              <a:t>mean</a:t>
            </a:r>
            <a:endParaRPr lang="ru-RU" dirty="0"/>
          </a:p>
          <a:p>
            <a:pPr lvl="0"/>
            <a:r>
              <a:rPr lang="ru-RU" dirty="0"/>
              <a:t>Square </a:t>
            </a:r>
            <a:r>
              <a:rPr lang="ru-RU" dirty="0" err="1"/>
              <a:t>the</a:t>
            </a:r>
            <a:r>
              <a:rPr lang="ru-RU" dirty="0"/>
              <a:t> </a:t>
            </a:r>
            <a:r>
              <a:rPr lang="ru-RU" dirty="0" err="1"/>
              <a:t>differences</a:t>
            </a:r>
            <a:r>
              <a:rPr lang="ru-RU" dirty="0"/>
              <a:t> (</a:t>
            </a:r>
            <a:r>
              <a:rPr lang="ru-RU" dirty="0" err="1"/>
              <a:t>removes</a:t>
            </a:r>
            <a:r>
              <a:rPr lang="ru-RU" dirty="0"/>
              <a:t> </a:t>
            </a:r>
            <a:r>
              <a:rPr lang="ru-RU" dirty="0" err="1"/>
              <a:t>negatives</a:t>
            </a:r>
            <a:r>
              <a:rPr lang="ru-RU" dirty="0"/>
              <a:t>)</a:t>
            </a:r>
          </a:p>
          <a:p>
            <a:pPr lvl="0"/>
            <a:r>
              <a:rPr lang="ru-RU" dirty="0" err="1"/>
              <a:t>Average</a:t>
            </a:r>
            <a:r>
              <a:rPr lang="ru-RU" dirty="0"/>
              <a:t> </a:t>
            </a:r>
            <a:r>
              <a:rPr lang="ru-RU" dirty="0" err="1"/>
              <a:t>the</a:t>
            </a:r>
            <a:r>
              <a:rPr lang="ru-RU" dirty="0"/>
              <a:t> </a:t>
            </a:r>
            <a:r>
              <a:rPr lang="ru-RU" dirty="0" err="1"/>
              <a:t>squared</a:t>
            </a:r>
            <a:r>
              <a:rPr lang="ru-RU" dirty="0"/>
              <a:t> </a:t>
            </a:r>
            <a:r>
              <a:rPr lang="ru-RU" dirty="0" err="1"/>
              <a:t>differences</a:t>
            </a:r>
            <a:endParaRPr lang="ru-RU" dirty="0"/>
          </a:p>
          <a:p>
            <a:r>
              <a:rPr lang="ru-RU" b="1" dirty="0"/>
              <a:t>Formula:</a:t>
            </a:r>
            <a:endParaRPr lang="ru-RU" dirty="0"/>
          </a:p>
          <a:p>
            <a:r>
              <a:rPr lang="ru-RU" dirty="0" err="1"/>
              <a:t>Variance</a:t>
            </a:r>
            <a:r>
              <a:rPr lang="ru-RU" dirty="0"/>
              <a:t>=</a:t>
            </a:r>
            <a:r>
              <a:rPr lang="ru-RU" i="1" dirty="0"/>
              <a:t>n−1∑(</a:t>
            </a:r>
            <a:r>
              <a:rPr lang="ru-RU" i="1" dirty="0" err="1"/>
              <a:t>value−mean</a:t>
            </a:r>
            <a:r>
              <a:rPr lang="ru-RU" i="1" dirty="0"/>
              <a:t>)2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965398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A57F1F-3E92-6545-6285-D3DBEF775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Variance</a:t>
            </a:r>
            <a:r>
              <a:rPr lang="ru-RU" dirty="0"/>
              <a:t> </a:t>
            </a:r>
            <a:r>
              <a:rPr lang="ru-RU" dirty="0" err="1"/>
              <a:t>Example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B9B5A35-A61B-1006-ECD9-6389B305E3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Data:</a:t>
            </a:r>
            <a:r>
              <a:rPr lang="ru-RU" dirty="0"/>
              <a:t> 70, 75, 80</a:t>
            </a:r>
          </a:p>
          <a:p>
            <a:pPr lvl="0"/>
            <a:r>
              <a:rPr lang="ru-RU" dirty="0" err="1"/>
              <a:t>Mean</a:t>
            </a:r>
            <a:r>
              <a:rPr lang="ru-RU" dirty="0"/>
              <a:t> = 75</a:t>
            </a:r>
          </a:p>
          <a:p>
            <a:pPr lvl="0"/>
            <a:r>
              <a:rPr lang="ru-RU" dirty="0" err="1"/>
              <a:t>Differences</a:t>
            </a:r>
            <a:r>
              <a:rPr lang="ru-RU" dirty="0"/>
              <a:t>: -5, 0, +5</a:t>
            </a:r>
          </a:p>
          <a:p>
            <a:pPr lvl="0"/>
            <a:r>
              <a:rPr lang="ru-RU" dirty="0" err="1"/>
              <a:t>Squared</a:t>
            </a:r>
            <a:r>
              <a:rPr lang="ru-RU" dirty="0"/>
              <a:t>: 25, 0, 25</a:t>
            </a:r>
          </a:p>
          <a:p>
            <a:pPr lvl="0"/>
            <a:r>
              <a:rPr lang="ru-RU" dirty="0" err="1"/>
              <a:t>Sum</a:t>
            </a:r>
            <a:r>
              <a:rPr lang="ru-RU" dirty="0"/>
              <a:t> = 50</a:t>
            </a:r>
          </a:p>
          <a:p>
            <a:pPr lvl="0"/>
            <a:r>
              <a:rPr lang="ru-RU" dirty="0" err="1"/>
              <a:t>Variance</a:t>
            </a:r>
            <a:r>
              <a:rPr lang="ru-RU" dirty="0"/>
              <a:t> = 50 / (3-1) = 25</a:t>
            </a:r>
          </a:p>
          <a:p>
            <a:r>
              <a:rPr lang="ru-RU" b="1" dirty="0" err="1"/>
              <a:t>Interpretation</a:t>
            </a:r>
            <a:r>
              <a:rPr lang="ru-RU" b="1" dirty="0"/>
              <a:t>:</a:t>
            </a:r>
            <a:r>
              <a:rPr lang="ru-RU" dirty="0"/>
              <a:t> </a:t>
            </a:r>
            <a:r>
              <a:rPr lang="ru-RU" dirty="0" err="1"/>
              <a:t>Higher</a:t>
            </a:r>
            <a:r>
              <a:rPr lang="ru-RU" dirty="0"/>
              <a:t> </a:t>
            </a:r>
            <a:r>
              <a:rPr lang="ru-RU" dirty="0" err="1"/>
              <a:t>variance</a:t>
            </a:r>
            <a:r>
              <a:rPr lang="ru-RU" dirty="0"/>
              <a:t> = </a:t>
            </a:r>
            <a:r>
              <a:rPr lang="ru-RU" dirty="0" err="1"/>
              <a:t>more</a:t>
            </a:r>
            <a:r>
              <a:rPr lang="ru-RU" dirty="0"/>
              <a:t> </a:t>
            </a:r>
            <a:r>
              <a:rPr lang="ru-RU" dirty="0" err="1"/>
              <a:t>spread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677292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043C6F-3FEA-8408-EC98-48A94E8C6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Most</a:t>
            </a:r>
            <a:r>
              <a:rPr lang="ru-RU" dirty="0"/>
              <a:t> Common </a:t>
            </a:r>
            <a:r>
              <a:rPr lang="ru-RU" dirty="0" err="1"/>
              <a:t>Measure</a:t>
            </a:r>
            <a:r>
              <a:rPr lang="ru-RU" dirty="0"/>
              <a:t> - Standard </a:t>
            </a:r>
            <a:r>
              <a:rPr lang="ru-RU" dirty="0" err="1"/>
              <a:t>Deviation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758D5F4-1353-8932-DF38-B00207AB88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 err="1"/>
              <a:t>Problem</a:t>
            </a:r>
            <a:r>
              <a:rPr lang="ru-RU" b="1" dirty="0"/>
              <a:t> </a:t>
            </a:r>
            <a:r>
              <a:rPr lang="ru-RU" b="1" dirty="0" err="1"/>
              <a:t>with</a:t>
            </a:r>
            <a:r>
              <a:rPr lang="ru-RU" b="1" dirty="0"/>
              <a:t> </a:t>
            </a:r>
            <a:r>
              <a:rPr lang="ru-RU" b="1" dirty="0" err="1"/>
              <a:t>variance</a:t>
            </a:r>
            <a:r>
              <a:rPr lang="ru-RU" b="1" dirty="0"/>
              <a:t>:</a:t>
            </a:r>
            <a:r>
              <a:rPr lang="ru-RU" dirty="0"/>
              <a:t> </a:t>
            </a:r>
            <a:r>
              <a:rPr lang="ru-RU" dirty="0" err="1"/>
              <a:t>Units</a:t>
            </a:r>
            <a:r>
              <a:rPr lang="ru-RU" dirty="0"/>
              <a:t> </a:t>
            </a:r>
            <a:r>
              <a:rPr lang="ru-RU" dirty="0" err="1"/>
              <a:t>are</a:t>
            </a:r>
            <a:r>
              <a:rPr lang="ru-RU" dirty="0"/>
              <a:t> </a:t>
            </a:r>
            <a:r>
              <a:rPr lang="ru-RU" dirty="0" err="1"/>
              <a:t>squared</a:t>
            </a:r>
            <a:r>
              <a:rPr lang="ru-RU" dirty="0"/>
              <a:t> (</a:t>
            </a:r>
            <a:r>
              <a:rPr lang="ru-RU" dirty="0" err="1"/>
              <a:t>hard</a:t>
            </a:r>
            <a:r>
              <a:rPr lang="ru-RU" dirty="0"/>
              <a:t> </a:t>
            </a:r>
            <a:r>
              <a:rPr lang="ru-RU" dirty="0" err="1"/>
              <a:t>to</a:t>
            </a:r>
            <a:r>
              <a:rPr lang="ru-RU" dirty="0"/>
              <a:t> </a:t>
            </a:r>
            <a:r>
              <a:rPr lang="ru-RU" dirty="0" err="1"/>
              <a:t>interpret</a:t>
            </a:r>
            <a:r>
              <a:rPr lang="ru-RU" dirty="0"/>
              <a:t>)</a:t>
            </a:r>
          </a:p>
          <a:p>
            <a:r>
              <a:rPr lang="ru-RU" b="1" dirty="0"/>
              <a:t>Solution:</a:t>
            </a:r>
            <a:r>
              <a:rPr lang="ru-RU" dirty="0"/>
              <a:t> Take </a:t>
            </a:r>
            <a:r>
              <a:rPr lang="ru-RU" dirty="0" err="1"/>
              <a:t>square</a:t>
            </a:r>
            <a:r>
              <a:rPr lang="ru-RU" dirty="0"/>
              <a:t> </a:t>
            </a:r>
            <a:r>
              <a:rPr lang="ru-RU" dirty="0" err="1"/>
              <a:t>root</a:t>
            </a:r>
            <a:r>
              <a:rPr lang="ru-RU" dirty="0"/>
              <a:t> </a:t>
            </a:r>
            <a:r>
              <a:rPr lang="ru-RU" dirty="0" err="1"/>
              <a:t>of</a:t>
            </a:r>
            <a:r>
              <a:rPr lang="ru-RU" dirty="0"/>
              <a:t> </a:t>
            </a:r>
            <a:r>
              <a:rPr lang="ru-RU" dirty="0" err="1"/>
              <a:t>variance</a:t>
            </a:r>
            <a:endParaRPr lang="ru-RU" dirty="0"/>
          </a:p>
          <a:p>
            <a:r>
              <a:rPr lang="ru-RU" b="1" dirty="0"/>
              <a:t>Formula:</a:t>
            </a:r>
            <a:endParaRPr lang="ru-RU" dirty="0"/>
          </a:p>
          <a:p>
            <a:r>
              <a:rPr lang="ru-RU" dirty="0"/>
              <a:t>Standard </a:t>
            </a:r>
            <a:r>
              <a:rPr lang="ru-RU" dirty="0" err="1"/>
              <a:t>Deviation</a:t>
            </a:r>
            <a:r>
              <a:rPr lang="ru-RU" dirty="0"/>
              <a:t>=</a:t>
            </a:r>
            <a:r>
              <a:rPr lang="ru-RU" dirty="0" err="1"/>
              <a:t>Variance</a:t>
            </a:r>
            <a:r>
              <a:rPr lang="ru-RU" dirty="0"/>
              <a:t> </a:t>
            </a:r>
          </a:p>
          <a:p>
            <a:r>
              <a:rPr lang="ru-RU" b="1" dirty="0" err="1"/>
              <a:t>Example</a:t>
            </a:r>
            <a:r>
              <a:rPr lang="ru-RU" b="1" dirty="0"/>
              <a:t>:</a:t>
            </a:r>
            <a:r>
              <a:rPr lang="ru-RU" dirty="0"/>
              <a:t> </a:t>
            </a:r>
            <a:r>
              <a:rPr lang="ru-RU" dirty="0" err="1"/>
              <a:t>Variance</a:t>
            </a:r>
            <a:r>
              <a:rPr lang="ru-RU" dirty="0"/>
              <a:t> = 25 → SD = √25 = 5</a:t>
            </a:r>
          </a:p>
          <a:p>
            <a:r>
              <a:rPr lang="ru-RU" b="1" dirty="0" err="1"/>
              <a:t>Units</a:t>
            </a:r>
            <a:r>
              <a:rPr lang="ru-RU" b="1" dirty="0"/>
              <a:t>:</a:t>
            </a:r>
            <a:r>
              <a:rPr lang="ru-RU" dirty="0"/>
              <a:t> </a:t>
            </a:r>
            <a:r>
              <a:rPr lang="ru-RU" dirty="0" err="1"/>
              <a:t>Same</a:t>
            </a:r>
            <a:r>
              <a:rPr lang="ru-RU" dirty="0"/>
              <a:t> </a:t>
            </a:r>
            <a:r>
              <a:rPr lang="ru-RU" dirty="0" err="1"/>
              <a:t>as</a:t>
            </a:r>
            <a:r>
              <a:rPr lang="ru-RU" dirty="0"/>
              <a:t> </a:t>
            </a:r>
            <a:r>
              <a:rPr lang="ru-RU" dirty="0" err="1"/>
              <a:t>original</a:t>
            </a:r>
            <a:r>
              <a:rPr lang="ru-RU" dirty="0"/>
              <a:t> </a:t>
            </a:r>
            <a:r>
              <a:rPr lang="ru-RU" dirty="0" err="1"/>
              <a:t>data</a:t>
            </a:r>
            <a:r>
              <a:rPr lang="ru-RU" dirty="0"/>
              <a:t> (</a:t>
            </a:r>
            <a:r>
              <a:rPr lang="ru-RU" dirty="0" err="1"/>
              <a:t>easier</a:t>
            </a:r>
            <a:r>
              <a:rPr lang="ru-RU" dirty="0"/>
              <a:t> </a:t>
            </a:r>
            <a:r>
              <a:rPr lang="ru-RU" dirty="0" err="1"/>
              <a:t>to</a:t>
            </a:r>
            <a:r>
              <a:rPr lang="ru-RU" dirty="0"/>
              <a:t> </a:t>
            </a:r>
            <a:r>
              <a:rPr lang="ru-RU" dirty="0" err="1"/>
              <a:t>understand</a:t>
            </a:r>
            <a:r>
              <a:rPr lang="ru-RU" dirty="0"/>
              <a:t>!)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739617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5C81A7-6DE7-1AEB-76A3-BB25A3CA6F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Python - </a:t>
            </a:r>
            <a:r>
              <a:rPr lang="ru-RU" dirty="0" err="1"/>
              <a:t>Calculating</a:t>
            </a:r>
            <a:r>
              <a:rPr lang="ru-RU" dirty="0"/>
              <a:t> </a:t>
            </a:r>
            <a:r>
              <a:rPr lang="ru-RU" dirty="0" err="1"/>
              <a:t>Spread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E7FB01C-25DA-7F67-B7A3-F5D7122C52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 latinLnBrk="1">
              <a:buNone/>
            </a:pPr>
            <a:r>
              <a:rPr lang="ru-RU" i="1" dirty="0" err="1"/>
              <a:t>import</a:t>
            </a:r>
            <a:r>
              <a:rPr lang="ru-RU" i="1" dirty="0"/>
              <a:t> </a:t>
            </a:r>
            <a:r>
              <a:rPr lang="ru-RU" i="1" dirty="0" err="1"/>
              <a:t>numpy</a:t>
            </a:r>
            <a:r>
              <a:rPr lang="ru-RU" i="1" dirty="0"/>
              <a:t> </a:t>
            </a:r>
            <a:r>
              <a:rPr lang="ru-RU" i="1" dirty="0" err="1"/>
              <a:t>as</a:t>
            </a:r>
            <a:r>
              <a:rPr lang="ru-RU" i="1" dirty="0"/>
              <a:t> </a:t>
            </a:r>
            <a:r>
              <a:rPr lang="ru-RU" i="1" dirty="0" err="1"/>
              <a:t>np</a:t>
            </a:r>
            <a:endParaRPr lang="ru-RU" i="1" dirty="0"/>
          </a:p>
          <a:p>
            <a:pPr marL="0" indent="0" latinLnBrk="1">
              <a:buNone/>
            </a:pPr>
            <a:r>
              <a:rPr lang="ru-RU" i="1" dirty="0" err="1"/>
              <a:t>data</a:t>
            </a:r>
            <a:r>
              <a:rPr lang="ru-RU" i="1" dirty="0"/>
              <a:t> = [70, 75, 80]</a:t>
            </a:r>
          </a:p>
          <a:p>
            <a:pPr marL="0" indent="0" latinLnBrk="1">
              <a:buNone/>
            </a:pPr>
            <a:r>
              <a:rPr lang="ru-RU" b="1" i="1" dirty="0"/>
              <a:t># Range</a:t>
            </a:r>
          </a:p>
          <a:p>
            <a:pPr marL="0" indent="0" latinLnBrk="1">
              <a:buNone/>
            </a:pPr>
            <a:r>
              <a:rPr lang="ru-RU" i="1" dirty="0" err="1"/>
              <a:t>data_range</a:t>
            </a:r>
            <a:r>
              <a:rPr lang="ru-RU" i="1" dirty="0"/>
              <a:t> = </a:t>
            </a:r>
            <a:r>
              <a:rPr lang="ru-RU" i="1" dirty="0" err="1"/>
              <a:t>max</a:t>
            </a:r>
            <a:r>
              <a:rPr lang="ru-RU" i="1" dirty="0"/>
              <a:t>(</a:t>
            </a:r>
            <a:r>
              <a:rPr lang="ru-RU" i="1" dirty="0" err="1"/>
              <a:t>data</a:t>
            </a:r>
            <a:r>
              <a:rPr lang="ru-RU" i="1" dirty="0"/>
              <a:t>) - </a:t>
            </a:r>
            <a:r>
              <a:rPr lang="ru-RU" i="1" dirty="0" err="1"/>
              <a:t>min</a:t>
            </a:r>
            <a:r>
              <a:rPr lang="ru-RU" i="1" dirty="0"/>
              <a:t>(</a:t>
            </a:r>
            <a:r>
              <a:rPr lang="ru-RU" i="1" dirty="0" err="1"/>
              <a:t>data</a:t>
            </a:r>
            <a:r>
              <a:rPr lang="ru-RU" i="1" dirty="0"/>
              <a:t>)</a:t>
            </a:r>
          </a:p>
          <a:p>
            <a:pPr marL="0" indent="0" latinLnBrk="1">
              <a:buNone/>
            </a:pPr>
            <a:r>
              <a:rPr lang="ru-RU" i="1" dirty="0" err="1"/>
              <a:t>print</a:t>
            </a:r>
            <a:r>
              <a:rPr lang="ru-RU" i="1" dirty="0"/>
              <a:t>(</a:t>
            </a:r>
            <a:r>
              <a:rPr lang="ru-RU" i="1" dirty="0" err="1"/>
              <a:t>f"Range</a:t>
            </a:r>
            <a:r>
              <a:rPr lang="ru-RU" i="1" dirty="0"/>
              <a:t>: {</a:t>
            </a:r>
            <a:r>
              <a:rPr lang="ru-RU" i="1" dirty="0" err="1"/>
              <a:t>data_range</a:t>
            </a:r>
            <a:r>
              <a:rPr lang="ru-RU" i="1" dirty="0"/>
              <a:t>}")  </a:t>
            </a:r>
          </a:p>
          <a:p>
            <a:pPr marL="0" indent="0" latinLnBrk="1">
              <a:buNone/>
            </a:pPr>
            <a:r>
              <a:rPr lang="ru-RU" b="1" i="1" dirty="0"/>
              <a:t># </a:t>
            </a:r>
            <a:r>
              <a:rPr lang="ru-RU" b="1" i="1" dirty="0" err="1"/>
              <a:t>Variance</a:t>
            </a:r>
            <a:endParaRPr lang="ru-RU" b="1" i="1" dirty="0"/>
          </a:p>
          <a:p>
            <a:pPr marL="0" indent="0" latinLnBrk="1">
              <a:buNone/>
            </a:pPr>
            <a:r>
              <a:rPr lang="ru-RU" i="1" dirty="0" err="1"/>
              <a:t>variance</a:t>
            </a:r>
            <a:r>
              <a:rPr lang="ru-RU" i="1" dirty="0"/>
              <a:t> = </a:t>
            </a:r>
            <a:r>
              <a:rPr lang="ru-RU" i="1" dirty="0" err="1"/>
              <a:t>np.var</a:t>
            </a:r>
            <a:r>
              <a:rPr lang="ru-RU" i="1" dirty="0"/>
              <a:t>(</a:t>
            </a:r>
            <a:r>
              <a:rPr lang="ru-RU" i="1" dirty="0" err="1"/>
              <a:t>data</a:t>
            </a:r>
            <a:r>
              <a:rPr lang="ru-RU" i="1" dirty="0"/>
              <a:t>, </a:t>
            </a:r>
            <a:r>
              <a:rPr lang="ru-RU" i="1" dirty="0" err="1"/>
              <a:t>ddof</a:t>
            </a:r>
            <a:r>
              <a:rPr lang="ru-RU" i="1" dirty="0"/>
              <a:t>=1)  # </a:t>
            </a:r>
            <a:r>
              <a:rPr lang="ru-RU" i="1" dirty="0" err="1"/>
              <a:t>ddof</a:t>
            </a:r>
            <a:r>
              <a:rPr lang="ru-RU" i="1" dirty="0"/>
              <a:t>=1 </a:t>
            </a:r>
            <a:r>
              <a:rPr lang="ru-RU" i="1" dirty="0" err="1"/>
              <a:t>for</a:t>
            </a:r>
            <a:r>
              <a:rPr lang="ru-RU" i="1" dirty="0"/>
              <a:t> </a:t>
            </a:r>
            <a:r>
              <a:rPr lang="ru-RU" i="1" dirty="0" err="1"/>
              <a:t>sample</a:t>
            </a:r>
            <a:r>
              <a:rPr lang="ru-RU" i="1" dirty="0"/>
              <a:t> </a:t>
            </a:r>
            <a:r>
              <a:rPr lang="ru-RU" i="1" dirty="0" err="1"/>
              <a:t>variance</a:t>
            </a:r>
            <a:endParaRPr lang="ru-RU" i="1" dirty="0"/>
          </a:p>
          <a:p>
            <a:pPr marL="0" indent="0" latinLnBrk="1">
              <a:buNone/>
            </a:pPr>
            <a:r>
              <a:rPr lang="ru-RU" i="1" dirty="0" err="1"/>
              <a:t>print</a:t>
            </a:r>
            <a:r>
              <a:rPr lang="ru-RU" i="1" dirty="0"/>
              <a:t>(</a:t>
            </a:r>
            <a:r>
              <a:rPr lang="ru-RU" i="1" dirty="0" err="1"/>
              <a:t>f"Variance</a:t>
            </a:r>
            <a:r>
              <a:rPr lang="ru-RU" i="1" dirty="0"/>
              <a:t>: {</a:t>
            </a:r>
            <a:r>
              <a:rPr lang="ru-RU" i="1" dirty="0" err="1"/>
              <a:t>variance</a:t>
            </a:r>
            <a:r>
              <a:rPr lang="ru-RU" i="1" dirty="0"/>
              <a:t>}")  </a:t>
            </a:r>
          </a:p>
          <a:p>
            <a:pPr marL="0" indent="0" latinLnBrk="1">
              <a:buNone/>
            </a:pPr>
            <a:r>
              <a:rPr lang="ru-RU" b="1" i="1" dirty="0"/>
              <a:t># Standard </a:t>
            </a:r>
            <a:r>
              <a:rPr lang="ru-RU" b="1" i="1" dirty="0" err="1"/>
              <a:t>Deviation</a:t>
            </a:r>
            <a:endParaRPr lang="ru-RU" b="1" i="1" dirty="0"/>
          </a:p>
          <a:p>
            <a:pPr marL="0" indent="0" latinLnBrk="1">
              <a:buNone/>
            </a:pPr>
            <a:r>
              <a:rPr lang="ru-RU" i="1" dirty="0" err="1"/>
              <a:t>std_dev</a:t>
            </a:r>
            <a:r>
              <a:rPr lang="ru-RU" i="1" dirty="0"/>
              <a:t> = </a:t>
            </a:r>
            <a:r>
              <a:rPr lang="ru-RU" i="1" dirty="0" err="1"/>
              <a:t>np.std</a:t>
            </a:r>
            <a:r>
              <a:rPr lang="ru-RU" i="1" dirty="0"/>
              <a:t>(</a:t>
            </a:r>
            <a:r>
              <a:rPr lang="ru-RU" i="1" dirty="0" err="1"/>
              <a:t>data</a:t>
            </a:r>
            <a:r>
              <a:rPr lang="ru-RU" i="1" dirty="0"/>
              <a:t>, </a:t>
            </a:r>
            <a:r>
              <a:rPr lang="ru-RU" i="1" dirty="0" err="1"/>
              <a:t>ddof</a:t>
            </a:r>
            <a:r>
              <a:rPr lang="ru-RU" i="1" dirty="0"/>
              <a:t>=1)</a:t>
            </a:r>
          </a:p>
          <a:p>
            <a:pPr marL="0" indent="0">
              <a:buNone/>
            </a:pPr>
            <a:r>
              <a:rPr lang="ru-RU" i="1" dirty="0" err="1"/>
              <a:t>print</a:t>
            </a:r>
            <a:r>
              <a:rPr lang="ru-RU" i="1" dirty="0"/>
              <a:t>(</a:t>
            </a:r>
            <a:r>
              <a:rPr lang="ru-RU" i="1" dirty="0" err="1"/>
              <a:t>f"Standard</a:t>
            </a:r>
            <a:r>
              <a:rPr lang="ru-RU" i="1" dirty="0"/>
              <a:t> </a:t>
            </a:r>
            <a:r>
              <a:rPr lang="ru-RU" i="1" dirty="0" err="1"/>
              <a:t>Deviation</a:t>
            </a:r>
            <a:r>
              <a:rPr lang="ru-RU" i="1" dirty="0"/>
              <a:t>: {</a:t>
            </a:r>
            <a:r>
              <a:rPr lang="ru-RU" i="1" dirty="0" err="1"/>
              <a:t>std_dev</a:t>
            </a:r>
            <a:r>
              <a:rPr lang="ru-RU" i="1" dirty="0"/>
              <a:t>}")  </a:t>
            </a:r>
          </a:p>
        </p:txBody>
      </p:sp>
    </p:spTree>
    <p:extLst>
      <p:ext uri="{BB962C8B-B14F-4D97-AF65-F5344CB8AC3E}">
        <p14:creationId xmlns:p14="http://schemas.microsoft.com/office/powerpoint/2010/main" val="1449367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7FC72A-4D81-C141-2C98-C279921D5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Interpreting</a:t>
            </a:r>
            <a:r>
              <a:rPr lang="ru-RU" dirty="0"/>
              <a:t> Standard </a:t>
            </a:r>
            <a:r>
              <a:rPr lang="ru-RU" dirty="0" err="1"/>
              <a:t>Deviation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5FB8DB4-50A8-CA23-B4E3-8AC0ED803C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dirty="0" err="1"/>
              <a:t>Rule</a:t>
            </a:r>
            <a:r>
              <a:rPr lang="ru-RU" b="1" dirty="0"/>
              <a:t> </a:t>
            </a:r>
            <a:r>
              <a:rPr lang="ru-RU" b="1" dirty="0" err="1"/>
              <a:t>of</a:t>
            </a:r>
            <a:r>
              <a:rPr lang="ru-RU" b="1" dirty="0"/>
              <a:t> </a:t>
            </a:r>
            <a:r>
              <a:rPr lang="ru-RU" b="1" dirty="0" err="1"/>
              <a:t>Thumb</a:t>
            </a:r>
            <a:r>
              <a:rPr lang="ru-RU" b="1" dirty="0"/>
              <a:t> </a:t>
            </a:r>
            <a:r>
              <a:rPr lang="ru-RU" b="1" dirty="0" err="1"/>
              <a:t>for</a:t>
            </a:r>
            <a:r>
              <a:rPr lang="ru-RU" b="1" dirty="0"/>
              <a:t> </a:t>
            </a:r>
            <a:r>
              <a:rPr lang="ru-RU" b="1" dirty="0" err="1"/>
              <a:t>Normal</a:t>
            </a:r>
            <a:r>
              <a:rPr lang="ru-RU" b="1" dirty="0"/>
              <a:t> Data:</a:t>
            </a:r>
            <a:endParaRPr lang="ru-RU" dirty="0"/>
          </a:p>
          <a:p>
            <a:pPr lvl="0"/>
            <a:r>
              <a:rPr lang="ru-RU" dirty="0" err="1"/>
              <a:t>About</a:t>
            </a:r>
            <a:r>
              <a:rPr lang="ru-RU" dirty="0"/>
              <a:t> 68% </a:t>
            </a:r>
            <a:r>
              <a:rPr lang="ru-RU" dirty="0" err="1"/>
              <a:t>of</a:t>
            </a:r>
            <a:r>
              <a:rPr lang="ru-RU" dirty="0"/>
              <a:t> </a:t>
            </a:r>
            <a:r>
              <a:rPr lang="ru-RU" dirty="0" err="1"/>
              <a:t>values</a:t>
            </a:r>
            <a:r>
              <a:rPr lang="ru-RU" dirty="0"/>
              <a:t> </a:t>
            </a:r>
            <a:r>
              <a:rPr lang="ru-RU" dirty="0" err="1"/>
              <a:t>within</a:t>
            </a:r>
            <a:r>
              <a:rPr lang="ru-RU" dirty="0"/>
              <a:t> 1 SD </a:t>
            </a:r>
            <a:r>
              <a:rPr lang="ru-RU" dirty="0" err="1"/>
              <a:t>of</a:t>
            </a:r>
            <a:r>
              <a:rPr lang="ru-RU" dirty="0"/>
              <a:t> </a:t>
            </a:r>
            <a:r>
              <a:rPr lang="ru-RU" dirty="0" err="1"/>
              <a:t>mean</a:t>
            </a:r>
            <a:endParaRPr lang="ru-RU" dirty="0"/>
          </a:p>
          <a:p>
            <a:pPr lvl="0"/>
            <a:r>
              <a:rPr lang="ru-RU" dirty="0" err="1"/>
              <a:t>About</a:t>
            </a:r>
            <a:r>
              <a:rPr lang="ru-RU" dirty="0"/>
              <a:t> 95% </a:t>
            </a:r>
            <a:r>
              <a:rPr lang="ru-RU" dirty="0" err="1"/>
              <a:t>of</a:t>
            </a:r>
            <a:r>
              <a:rPr lang="ru-RU" dirty="0"/>
              <a:t> </a:t>
            </a:r>
            <a:r>
              <a:rPr lang="ru-RU" dirty="0" err="1"/>
              <a:t>values</a:t>
            </a:r>
            <a:r>
              <a:rPr lang="ru-RU" dirty="0"/>
              <a:t> </a:t>
            </a:r>
            <a:r>
              <a:rPr lang="ru-RU" dirty="0" err="1"/>
              <a:t>within</a:t>
            </a:r>
            <a:r>
              <a:rPr lang="ru-RU" dirty="0"/>
              <a:t> 2 </a:t>
            </a:r>
            <a:r>
              <a:rPr lang="ru-RU" dirty="0" err="1"/>
              <a:t>SDs</a:t>
            </a:r>
            <a:r>
              <a:rPr lang="ru-RU" dirty="0"/>
              <a:t> </a:t>
            </a:r>
            <a:r>
              <a:rPr lang="ru-RU" dirty="0" err="1"/>
              <a:t>of</a:t>
            </a:r>
            <a:r>
              <a:rPr lang="ru-RU" dirty="0"/>
              <a:t> </a:t>
            </a:r>
            <a:r>
              <a:rPr lang="ru-RU" dirty="0" err="1"/>
              <a:t>mean</a:t>
            </a:r>
            <a:endParaRPr lang="ru-RU" dirty="0"/>
          </a:p>
          <a:p>
            <a:pPr lvl="0"/>
            <a:r>
              <a:rPr lang="ru-RU" dirty="0" err="1"/>
              <a:t>About</a:t>
            </a:r>
            <a:r>
              <a:rPr lang="ru-RU" dirty="0"/>
              <a:t> 99.7% </a:t>
            </a:r>
            <a:r>
              <a:rPr lang="ru-RU" dirty="0" err="1"/>
              <a:t>of</a:t>
            </a:r>
            <a:r>
              <a:rPr lang="ru-RU" dirty="0"/>
              <a:t> </a:t>
            </a:r>
            <a:r>
              <a:rPr lang="ru-RU" dirty="0" err="1"/>
              <a:t>values</a:t>
            </a:r>
            <a:r>
              <a:rPr lang="ru-RU" dirty="0"/>
              <a:t> </a:t>
            </a:r>
            <a:r>
              <a:rPr lang="ru-RU" dirty="0" err="1"/>
              <a:t>within</a:t>
            </a:r>
            <a:r>
              <a:rPr lang="ru-RU" dirty="0"/>
              <a:t> 3 </a:t>
            </a:r>
            <a:r>
              <a:rPr lang="ru-RU" dirty="0" err="1"/>
              <a:t>SDs</a:t>
            </a:r>
            <a:r>
              <a:rPr lang="ru-RU" dirty="0"/>
              <a:t> </a:t>
            </a:r>
            <a:r>
              <a:rPr lang="ru-RU" dirty="0" err="1"/>
              <a:t>of</a:t>
            </a:r>
            <a:r>
              <a:rPr lang="ru-RU" dirty="0"/>
              <a:t> </a:t>
            </a:r>
            <a:r>
              <a:rPr lang="ru-RU" dirty="0" err="1"/>
              <a:t>mean</a:t>
            </a:r>
            <a:endParaRPr lang="ru-RU" dirty="0"/>
          </a:p>
          <a:p>
            <a:pPr marL="0" indent="0">
              <a:buNone/>
            </a:pPr>
            <a:r>
              <a:rPr lang="ru-RU" b="1" dirty="0" err="1"/>
              <a:t>Example</a:t>
            </a:r>
            <a:r>
              <a:rPr lang="ru-RU" b="1" dirty="0"/>
              <a:t>:</a:t>
            </a:r>
            <a:r>
              <a:rPr lang="ru-RU" dirty="0"/>
              <a:t> Test </a:t>
            </a:r>
            <a:r>
              <a:rPr lang="ru-RU" dirty="0" err="1"/>
              <a:t>scores</a:t>
            </a:r>
            <a:r>
              <a:rPr lang="ru-RU" dirty="0"/>
              <a:t>, </a:t>
            </a:r>
            <a:r>
              <a:rPr lang="ru-RU" dirty="0" err="1"/>
              <a:t>mean</a:t>
            </a:r>
            <a:r>
              <a:rPr lang="ru-RU" dirty="0"/>
              <a:t> = 75, SD = 10</a:t>
            </a:r>
          </a:p>
          <a:p>
            <a:pPr lvl="0"/>
            <a:r>
              <a:rPr lang="ru-RU" dirty="0"/>
              <a:t>68% </a:t>
            </a:r>
            <a:r>
              <a:rPr lang="ru-RU" dirty="0" err="1"/>
              <a:t>of</a:t>
            </a:r>
            <a:r>
              <a:rPr lang="ru-RU" dirty="0"/>
              <a:t> </a:t>
            </a:r>
            <a:r>
              <a:rPr lang="ru-RU" dirty="0" err="1"/>
              <a:t>scores</a:t>
            </a:r>
            <a:r>
              <a:rPr lang="ru-RU" dirty="0"/>
              <a:t> </a:t>
            </a:r>
            <a:r>
              <a:rPr lang="ru-RU" dirty="0" err="1"/>
              <a:t>between</a:t>
            </a:r>
            <a:r>
              <a:rPr lang="ru-RU" dirty="0"/>
              <a:t> 65-85</a:t>
            </a:r>
          </a:p>
          <a:p>
            <a:pPr lvl="0"/>
            <a:r>
              <a:rPr lang="ru-RU" dirty="0"/>
              <a:t>95% </a:t>
            </a:r>
            <a:r>
              <a:rPr lang="ru-RU" dirty="0" err="1"/>
              <a:t>of</a:t>
            </a:r>
            <a:r>
              <a:rPr lang="ru-RU" dirty="0"/>
              <a:t> </a:t>
            </a:r>
            <a:r>
              <a:rPr lang="ru-RU" dirty="0" err="1"/>
              <a:t>scores</a:t>
            </a:r>
            <a:r>
              <a:rPr lang="ru-RU" dirty="0"/>
              <a:t> </a:t>
            </a:r>
            <a:r>
              <a:rPr lang="ru-RU" dirty="0" err="1"/>
              <a:t>between</a:t>
            </a:r>
            <a:r>
              <a:rPr lang="ru-RU" dirty="0"/>
              <a:t> 55-95</a:t>
            </a:r>
          </a:p>
          <a:p>
            <a:pPr lvl="0"/>
            <a:r>
              <a:rPr lang="ru-RU" dirty="0"/>
              <a:t>99.7% </a:t>
            </a:r>
            <a:r>
              <a:rPr lang="ru-RU" dirty="0" err="1"/>
              <a:t>of</a:t>
            </a:r>
            <a:r>
              <a:rPr lang="ru-RU" dirty="0"/>
              <a:t> </a:t>
            </a:r>
            <a:r>
              <a:rPr lang="ru-RU" dirty="0" err="1"/>
              <a:t>scores</a:t>
            </a:r>
            <a:r>
              <a:rPr lang="ru-RU" dirty="0"/>
              <a:t> </a:t>
            </a:r>
            <a:r>
              <a:rPr lang="ru-RU" dirty="0" err="1"/>
              <a:t>between</a:t>
            </a:r>
            <a:r>
              <a:rPr lang="ru-RU" dirty="0"/>
              <a:t> 45-105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0240457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3EF81F-E485-C4FC-5D26-A5644BF0B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Quartiles</a:t>
            </a:r>
            <a:r>
              <a:rPr lang="ru-RU" dirty="0"/>
              <a:t> - </a:t>
            </a:r>
            <a:r>
              <a:rPr lang="ru-RU" dirty="0" err="1"/>
              <a:t>Dividing</a:t>
            </a:r>
            <a:r>
              <a:rPr lang="ru-RU" dirty="0"/>
              <a:t> Data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CA49F28-22D0-999D-7ECB-493CD57723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dirty="0" err="1"/>
              <a:t>Quartiles</a:t>
            </a:r>
            <a:r>
              <a:rPr lang="ru-RU" b="1" dirty="0"/>
              <a:t> </a:t>
            </a:r>
            <a:r>
              <a:rPr lang="ru-RU" b="1" dirty="0" err="1"/>
              <a:t>split</a:t>
            </a:r>
            <a:r>
              <a:rPr lang="ru-RU" b="1" dirty="0"/>
              <a:t> </a:t>
            </a:r>
            <a:r>
              <a:rPr lang="ru-RU" b="1" dirty="0" err="1"/>
              <a:t>data</a:t>
            </a:r>
            <a:r>
              <a:rPr lang="ru-RU" b="1" dirty="0"/>
              <a:t> </a:t>
            </a:r>
            <a:r>
              <a:rPr lang="ru-RU" b="1" dirty="0" err="1"/>
              <a:t>into</a:t>
            </a:r>
            <a:r>
              <a:rPr lang="ru-RU" b="1" dirty="0"/>
              <a:t> </a:t>
            </a:r>
            <a:r>
              <a:rPr lang="ru-RU" b="1" dirty="0" err="1"/>
              <a:t>quarters</a:t>
            </a:r>
            <a:r>
              <a:rPr lang="ru-RU" b="1" dirty="0"/>
              <a:t>:</a:t>
            </a:r>
            <a:endParaRPr lang="ru-RU" dirty="0"/>
          </a:p>
          <a:p>
            <a:pPr lvl="0"/>
            <a:r>
              <a:rPr lang="ru-RU" b="1" dirty="0"/>
              <a:t>Q1 (First </a:t>
            </a:r>
            <a:r>
              <a:rPr lang="ru-RU" b="1" dirty="0" err="1"/>
              <a:t>quartile</a:t>
            </a:r>
            <a:r>
              <a:rPr lang="ru-RU" b="1" dirty="0"/>
              <a:t>):</a:t>
            </a:r>
            <a:r>
              <a:rPr lang="ru-RU" dirty="0"/>
              <a:t> 25% </a:t>
            </a:r>
            <a:r>
              <a:rPr lang="ru-RU" dirty="0" err="1"/>
              <a:t>of</a:t>
            </a:r>
            <a:r>
              <a:rPr lang="ru-RU" dirty="0"/>
              <a:t> </a:t>
            </a:r>
            <a:r>
              <a:rPr lang="ru-RU" dirty="0" err="1"/>
              <a:t>data</a:t>
            </a:r>
            <a:r>
              <a:rPr lang="ru-RU" dirty="0"/>
              <a:t> </a:t>
            </a:r>
            <a:r>
              <a:rPr lang="ru-RU" dirty="0" err="1"/>
              <a:t>below</a:t>
            </a:r>
            <a:r>
              <a:rPr lang="ru-RU" dirty="0"/>
              <a:t> </a:t>
            </a:r>
            <a:r>
              <a:rPr lang="ru-RU" dirty="0" err="1"/>
              <a:t>this</a:t>
            </a:r>
            <a:r>
              <a:rPr lang="ru-RU" dirty="0"/>
              <a:t> </a:t>
            </a:r>
            <a:r>
              <a:rPr lang="ru-RU" dirty="0" err="1"/>
              <a:t>value</a:t>
            </a:r>
            <a:endParaRPr lang="ru-RU" dirty="0"/>
          </a:p>
          <a:p>
            <a:pPr lvl="0"/>
            <a:r>
              <a:rPr lang="ru-RU" b="1" dirty="0"/>
              <a:t>Q2 (Second </a:t>
            </a:r>
            <a:r>
              <a:rPr lang="ru-RU" b="1" dirty="0" err="1"/>
              <a:t>quartile</a:t>
            </a:r>
            <a:r>
              <a:rPr lang="ru-RU" b="1" dirty="0"/>
              <a:t>):</a:t>
            </a:r>
            <a:r>
              <a:rPr lang="ru-RU" dirty="0"/>
              <a:t> 50% </a:t>
            </a:r>
            <a:r>
              <a:rPr lang="ru-RU" dirty="0" err="1"/>
              <a:t>of</a:t>
            </a:r>
            <a:r>
              <a:rPr lang="ru-RU" dirty="0"/>
              <a:t> </a:t>
            </a:r>
            <a:r>
              <a:rPr lang="ru-RU" dirty="0" err="1"/>
              <a:t>data</a:t>
            </a:r>
            <a:r>
              <a:rPr lang="ru-RU" dirty="0"/>
              <a:t> </a:t>
            </a:r>
            <a:r>
              <a:rPr lang="ru-RU" dirty="0" err="1"/>
              <a:t>below</a:t>
            </a:r>
            <a:r>
              <a:rPr lang="ru-RU" dirty="0"/>
              <a:t> = </a:t>
            </a:r>
            <a:r>
              <a:rPr lang="ru-RU" b="1" dirty="0" err="1"/>
              <a:t>Median</a:t>
            </a:r>
            <a:endParaRPr lang="ru-RU" dirty="0"/>
          </a:p>
          <a:p>
            <a:pPr lvl="0"/>
            <a:r>
              <a:rPr lang="ru-RU" b="1" dirty="0"/>
              <a:t>Q3 (</a:t>
            </a:r>
            <a:r>
              <a:rPr lang="ru-RU" b="1" dirty="0" err="1"/>
              <a:t>Third</a:t>
            </a:r>
            <a:r>
              <a:rPr lang="ru-RU" b="1" dirty="0"/>
              <a:t> </a:t>
            </a:r>
            <a:r>
              <a:rPr lang="ru-RU" b="1" dirty="0" err="1"/>
              <a:t>quartile</a:t>
            </a:r>
            <a:r>
              <a:rPr lang="ru-RU" b="1" dirty="0"/>
              <a:t>):</a:t>
            </a:r>
            <a:r>
              <a:rPr lang="ru-RU" dirty="0"/>
              <a:t> 75% </a:t>
            </a:r>
            <a:r>
              <a:rPr lang="ru-RU" dirty="0" err="1"/>
              <a:t>of</a:t>
            </a:r>
            <a:r>
              <a:rPr lang="ru-RU" dirty="0"/>
              <a:t> </a:t>
            </a:r>
            <a:r>
              <a:rPr lang="ru-RU" dirty="0" err="1"/>
              <a:t>data</a:t>
            </a:r>
            <a:r>
              <a:rPr lang="ru-RU" dirty="0"/>
              <a:t> </a:t>
            </a:r>
            <a:r>
              <a:rPr lang="ru-RU" dirty="0" err="1"/>
              <a:t>below</a:t>
            </a:r>
            <a:r>
              <a:rPr lang="ru-RU" dirty="0"/>
              <a:t> </a:t>
            </a:r>
            <a:r>
              <a:rPr lang="ru-RU" dirty="0" err="1"/>
              <a:t>this</a:t>
            </a:r>
            <a:r>
              <a:rPr lang="ru-RU" dirty="0"/>
              <a:t> </a:t>
            </a:r>
            <a:r>
              <a:rPr lang="ru-RU" dirty="0" err="1"/>
              <a:t>value</a:t>
            </a:r>
            <a:endParaRPr lang="ru-RU" dirty="0"/>
          </a:p>
          <a:p>
            <a:pPr marL="0" indent="0">
              <a:buNone/>
            </a:pPr>
            <a:r>
              <a:rPr lang="ru-RU" b="1" dirty="0" err="1"/>
              <a:t>Example</a:t>
            </a:r>
            <a:r>
              <a:rPr lang="ru-RU" b="1" dirty="0"/>
              <a:t>:</a:t>
            </a:r>
            <a:r>
              <a:rPr lang="ru-RU" dirty="0"/>
              <a:t> Test </a:t>
            </a:r>
            <a:r>
              <a:rPr lang="ru-RU" dirty="0" err="1"/>
              <a:t>scores</a:t>
            </a:r>
            <a:r>
              <a:rPr lang="ru-RU" dirty="0"/>
              <a:t> </a:t>
            </a:r>
            <a:r>
              <a:rPr lang="ru-RU" dirty="0" err="1"/>
              <a:t>out</a:t>
            </a:r>
            <a:r>
              <a:rPr lang="ru-RU" dirty="0"/>
              <a:t> </a:t>
            </a:r>
            <a:r>
              <a:rPr lang="ru-RU" dirty="0" err="1"/>
              <a:t>of</a:t>
            </a:r>
            <a:r>
              <a:rPr lang="ru-RU" dirty="0"/>
              <a:t> 100</a:t>
            </a:r>
          </a:p>
          <a:p>
            <a:pPr lvl="0"/>
            <a:r>
              <a:rPr lang="ru-RU" dirty="0"/>
              <a:t>Q1 = 65 (25% </a:t>
            </a:r>
            <a:r>
              <a:rPr lang="ru-RU" dirty="0" err="1"/>
              <a:t>scored</a:t>
            </a:r>
            <a:r>
              <a:rPr lang="ru-RU" dirty="0"/>
              <a:t> </a:t>
            </a:r>
            <a:r>
              <a:rPr lang="ru-RU" dirty="0" err="1"/>
              <a:t>below</a:t>
            </a:r>
            <a:r>
              <a:rPr lang="ru-RU" dirty="0"/>
              <a:t> 65)</a:t>
            </a:r>
          </a:p>
          <a:p>
            <a:pPr lvl="0"/>
            <a:r>
              <a:rPr lang="ru-RU" dirty="0"/>
              <a:t>Q2 = 75 (50% </a:t>
            </a:r>
            <a:r>
              <a:rPr lang="ru-RU" dirty="0" err="1"/>
              <a:t>scored</a:t>
            </a:r>
            <a:r>
              <a:rPr lang="ru-RU" dirty="0"/>
              <a:t> </a:t>
            </a:r>
            <a:r>
              <a:rPr lang="ru-RU" dirty="0" err="1"/>
              <a:t>below</a:t>
            </a:r>
            <a:r>
              <a:rPr lang="ru-RU" dirty="0"/>
              <a:t> 75)</a:t>
            </a:r>
          </a:p>
          <a:p>
            <a:pPr lvl="0"/>
            <a:r>
              <a:rPr lang="ru-RU" dirty="0"/>
              <a:t>Q3 = 85 (75% </a:t>
            </a:r>
            <a:r>
              <a:rPr lang="ru-RU" dirty="0" err="1"/>
              <a:t>scored</a:t>
            </a:r>
            <a:r>
              <a:rPr lang="ru-RU" dirty="0"/>
              <a:t> </a:t>
            </a:r>
            <a:r>
              <a:rPr lang="ru-RU" dirty="0" err="1"/>
              <a:t>below</a:t>
            </a:r>
            <a:r>
              <a:rPr lang="ru-RU" dirty="0"/>
              <a:t> 85)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5274840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0FB560-212E-593C-ED2A-3B6097F38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Interquartile</a:t>
            </a:r>
            <a:r>
              <a:rPr lang="ru-RU" dirty="0"/>
              <a:t> Range (IQR)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2ECA2FA-00AF-847E-DCE7-8175C3AC9B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dirty="0"/>
              <a:t>IQR = Q3 - Q1</a:t>
            </a:r>
            <a:endParaRPr lang="ru-RU" dirty="0"/>
          </a:p>
          <a:p>
            <a:pPr marL="0" indent="0">
              <a:buNone/>
            </a:pPr>
            <a:r>
              <a:rPr lang="ru-RU" b="1" dirty="0" err="1"/>
              <a:t>Why</a:t>
            </a:r>
            <a:r>
              <a:rPr lang="ru-RU" b="1" dirty="0"/>
              <a:t> IQR </a:t>
            </a:r>
            <a:r>
              <a:rPr lang="ru-RU" b="1" dirty="0" err="1"/>
              <a:t>is</a:t>
            </a:r>
            <a:r>
              <a:rPr lang="ru-RU" b="1" dirty="0"/>
              <a:t> </a:t>
            </a:r>
            <a:r>
              <a:rPr lang="ru-RU" b="1" dirty="0" err="1"/>
              <a:t>useful</a:t>
            </a:r>
            <a:r>
              <a:rPr lang="ru-RU" b="1" dirty="0"/>
              <a:t>:</a:t>
            </a:r>
            <a:endParaRPr lang="ru-RU" dirty="0"/>
          </a:p>
          <a:p>
            <a:pPr lvl="0"/>
            <a:r>
              <a:rPr lang="ru-RU" dirty="0" err="1"/>
              <a:t>Measures</a:t>
            </a:r>
            <a:r>
              <a:rPr lang="ru-RU" dirty="0"/>
              <a:t> </a:t>
            </a:r>
            <a:r>
              <a:rPr lang="ru-RU" dirty="0" err="1"/>
              <a:t>spread</a:t>
            </a:r>
            <a:r>
              <a:rPr lang="ru-RU" dirty="0"/>
              <a:t> </a:t>
            </a:r>
            <a:r>
              <a:rPr lang="ru-RU" dirty="0" err="1"/>
              <a:t>of</a:t>
            </a:r>
            <a:r>
              <a:rPr lang="ru-RU" dirty="0"/>
              <a:t> </a:t>
            </a:r>
            <a:r>
              <a:rPr lang="ru-RU" dirty="0" err="1"/>
              <a:t>middle</a:t>
            </a:r>
            <a:r>
              <a:rPr lang="ru-RU" dirty="0"/>
              <a:t> 50% </a:t>
            </a:r>
            <a:r>
              <a:rPr lang="ru-RU" dirty="0" err="1"/>
              <a:t>of</a:t>
            </a:r>
            <a:r>
              <a:rPr lang="ru-RU" dirty="0"/>
              <a:t> </a:t>
            </a:r>
            <a:r>
              <a:rPr lang="ru-RU" dirty="0" err="1"/>
              <a:t>data</a:t>
            </a:r>
            <a:endParaRPr lang="ru-RU" dirty="0"/>
          </a:p>
          <a:p>
            <a:pPr lvl="0"/>
            <a:r>
              <a:rPr lang="ru-RU" dirty="0" err="1"/>
              <a:t>Not</a:t>
            </a:r>
            <a:r>
              <a:rPr lang="ru-RU" dirty="0"/>
              <a:t> </a:t>
            </a:r>
            <a:r>
              <a:rPr lang="ru-RU" dirty="0" err="1"/>
              <a:t>affected</a:t>
            </a:r>
            <a:r>
              <a:rPr lang="ru-RU" dirty="0"/>
              <a:t> </a:t>
            </a:r>
            <a:r>
              <a:rPr lang="ru-RU" dirty="0" err="1"/>
              <a:t>by</a:t>
            </a:r>
            <a:r>
              <a:rPr lang="ru-RU" dirty="0"/>
              <a:t> </a:t>
            </a:r>
            <a:r>
              <a:rPr lang="ru-RU" dirty="0" err="1"/>
              <a:t>extreme</a:t>
            </a:r>
            <a:r>
              <a:rPr lang="ru-RU" dirty="0"/>
              <a:t> </a:t>
            </a:r>
            <a:r>
              <a:rPr lang="ru-RU" dirty="0" err="1"/>
              <a:t>values</a:t>
            </a:r>
            <a:r>
              <a:rPr lang="ru-RU" dirty="0"/>
              <a:t> (</a:t>
            </a:r>
            <a:r>
              <a:rPr lang="ru-RU" dirty="0" err="1"/>
              <a:t>unlike</a:t>
            </a:r>
            <a:r>
              <a:rPr lang="ru-RU" dirty="0"/>
              <a:t> </a:t>
            </a:r>
            <a:r>
              <a:rPr lang="ru-RU" dirty="0" err="1"/>
              <a:t>range</a:t>
            </a:r>
            <a:r>
              <a:rPr lang="ru-RU" dirty="0"/>
              <a:t>)</a:t>
            </a:r>
          </a:p>
          <a:p>
            <a:pPr lvl="0"/>
            <a:r>
              <a:rPr lang="ru-RU" dirty="0" err="1"/>
              <a:t>Used</a:t>
            </a:r>
            <a:r>
              <a:rPr lang="ru-RU" dirty="0"/>
              <a:t> </a:t>
            </a:r>
            <a:r>
              <a:rPr lang="ru-RU" dirty="0" err="1"/>
              <a:t>to</a:t>
            </a:r>
            <a:r>
              <a:rPr lang="ru-RU" dirty="0"/>
              <a:t> </a:t>
            </a:r>
            <a:r>
              <a:rPr lang="ru-RU" dirty="0" err="1"/>
              <a:t>identify</a:t>
            </a:r>
            <a:r>
              <a:rPr lang="ru-RU" dirty="0"/>
              <a:t> </a:t>
            </a:r>
            <a:r>
              <a:rPr lang="ru-RU" dirty="0" err="1"/>
              <a:t>outliers</a:t>
            </a:r>
            <a:endParaRPr lang="ru-RU" dirty="0"/>
          </a:p>
          <a:p>
            <a:pPr marL="0" indent="0">
              <a:buNone/>
            </a:pPr>
            <a:r>
              <a:rPr lang="ru-RU" b="1" dirty="0" err="1"/>
              <a:t>Example</a:t>
            </a:r>
            <a:r>
              <a:rPr lang="ru-RU" b="1" dirty="0"/>
              <a:t>:</a:t>
            </a:r>
            <a:r>
              <a:rPr lang="ru-RU" dirty="0"/>
              <a:t> Q3 = 85, Q1 = 65 → IQR = 20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9095810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171760-4755-3D2F-E559-95896ADFC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Five</a:t>
            </a:r>
            <a:r>
              <a:rPr lang="ru-RU" dirty="0"/>
              <a:t>-Number </a:t>
            </a:r>
            <a:r>
              <a:rPr lang="ru-RU" dirty="0" err="1"/>
              <a:t>Summary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CA76AD1-A779-5939-D567-902489637C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dirty="0" err="1"/>
              <a:t>Complete</a:t>
            </a:r>
            <a:r>
              <a:rPr lang="ru-RU" b="1" dirty="0"/>
              <a:t> </a:t>
            </a:r>
            <a:r>
              <a:rPr lang="ru-RU" b="1" dirty="0" err="1"/>
              <a:t>picture</a:t>
            </a:r>
            <a:r>
              <a:rPr lang="ru-RU" b="1" dirty="0"/>
              <a:t> </a:t>
            </a:r>
            <a:r>
              <a:rPr lang="ru-RU" b="1" dirty="0" err="1"/>
              <a:t>of</a:t>
            </a:r>
            <a:r>
              <a:rPr lang="ru-RU" b="1" dirty="0"/>
              <a:t> </a:t>
            </a:r>
            <a:r>
              <a:rPr lang="ru-RU" b="1" dirty="0" err="1"/>
              <a:t>distribution</a:t>
            </a:r>
            <a:r>
              <a:rPr lang="ru-RU" b="1" dirty="0"/>
              <a:t>:</a:t>
            </a:r>
            <a:endParaRPr lang="ru-RU" dirty="0"/>
          </a:p>
          <a:p>
            <a:pPr lvl="0"/>
            <a:r>
              <a:rPr lang="ru-RU" b="1" dirty="0" err="1"/>
              <a:t>Minimum</a:t>
            </a:r>
            <a:r>
              <a:rPr lang="ru-RU" b="1" dirty="0"/>
              <a:t>:</a:t>
            </a:r>
            <a:r>
              <a:rPr lang="ru-RU" dirty="0"/>
              <a:t> </a:t>
            </a:r>
            <a:r>
              <a:rPr lang="ru-RU" dirty="0" err="1"/>
              <a:t>Smallest</a:t>
            </a:r>
            <a:r>
              <a:rPr lang="ru-RU" dirty="0"/>
              <a:t> </a:t>
            </a:r>
            <a:r>
              <a:rPr lang="ru-RU" dirty="0" err="1"/>
              <a:t>value</a:t>
            </a:r>
            <a:endParaRPr lang="ru-RU" dirty="0"/>
          </a:p>
          <a:p>
            <a:pPr lvl="0"/>
            <a:r>
              <a:rPr lang="ru-RU" b="1" dirty="0"/>
              <a:t>Q1:</a:t>
            </a:r>
            <a:r>
              <a:rPr lang="ru-RU" dirty="0"/>
              <a:t> 25th </a:t>
            </a:r>
            <a:r>
              <a:rPr lang="ru-RU" dirty="0" err="1"/>
              <a:t>percentile</a:t>
            </a:r>
            <a:endParaRPr lang="ru-RU" dirty="0"/>
          </a:p>
          <a:p>
            <a:pPr lvl="0"/>
            <a:r>
              <a:rPr lang="ru-RU" b="1" dirty="0" err="1"/>
              <a:t>Median</a:t>
            </a:r>
            <a:r>
              <a:rPr lang="ru-RU" b="1" dirty="0"/>
              <a:t>:</a:t>
            </a:r>
            <a:r>
              <a:rPr lang="ru-RU" dirty="0"/>
              <a:t> 50th </a:t>
            </a:r>
            <a:r>
              <a:rPr lang="ru-RU" dirty="0" err="1"/>
              <a:t>percentile</a:t>
            </a:r>
            <a:endParaRPr lang="ru-RU" dirty="0"/>
          </a:p>
          <a:p>
            <a:pPr lvl="0"/>
            <a:r>
              <a:rPr lang="ru-RU" b="1" dirty="0"/>
              <a:t>Q3:</a:t>
            </a:r>
            <a:r>
              <a:rPr lang="ru-RU" dirty="0"/>
              <a:t> 75th </a:t>
            </a:r>
            <a:r>
              <a:rPr lang="ru-RU" dirty="0" err="1"/>
              <a:t>percentile</a:t>
            </a:r>
            <a:endParaRPr lang="ru-RU" dirty="0"/>
          </a:p>
          <a:p>
            <a:pPr lvl="0"/>
            <a:r>
              <a:rPr lang="ru-RU" b="1" dirty="0" err="1"/>
              <a:t>Maximum</a:t>
            </a:r>
            <a:r>
              <a:rPr lang="ru-RU" b="1" dirty="0"/>
              <a:t>:</a:t>
            </a:r>
            <a:r>
              <a:rPr lang="ru-RU" dirty="0"/>
              <a:t> </a:t>
            </a:r>
            <a:r>
              <a:rPr lang="ru-RU" dirty="0" err="1"/>
              <a:t>Largest</a:t>
            </a:r>
            <a:r>
              <a:rPr lang="ru-RU" dirty="0"/>
              <a:t> </a:t>
            </a:r>
            <a:r>
              <a:rPr lang="ru-RU" dirty="0" err="1"/>
              <a:t>value</a:t>
            </a:r>
            <a:endParaRPr lang="ru-RU" dirty="0"/>
          </a:p>
          <a:p>
            <a:pPr marL="0" indent="0">
              <a:buNone/>
            </a:pPr>
            <a:r>
              <a:rPr lang="ru-RU" b="1" dirty="0" err="1"/>
              <a:t>Example</a:t>
            </a:r>
            <a:r>
              <a:rPr lang="ru-RU" b="1" dirty="0"/>
              <a:t>:</a:t>
            </a:r>
            <a:r>
              <a:rPr lang="ru-RU" dirty="0"/>
              <a:t> Test </a:t>
            </a:r>
            <a:r>
              <a:rPr lang="ru-RU" dirty="0" err="1"/>
              <a:t>scores</a:t>
            </a:r>
            <a:r>
              <a:rPr lang="ru-RU" dirty="0"/>
              <a:t>: </a:t>
            </a:r>
            <a:r>
              <a:rPr lang="ru-RU" dirty="0" err="1"/>
              <a:t>Min</a:t>
            </a:r>
            <a:r>
              <a:rPr lang="ru-RU" dirty="0"/>
              <a:t>=40, Q1=65, </a:t>
            </a:r>
            <a:r>
              <a:rPr lang="ru-RU" dirty="0" err="1"/>
              <a:t>Median</a:t>
            </a:r>
            <a:r>
              <a:rPr lang="ru-RU" dirty="0"/>
              <a:t>=75, Q3=85, Max=100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2385037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B0FF31-78E8-C986-3F27-D2E3EE934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Python - </a:t>
            </a:r>
            <a:r>
              <a:rPr lang="ru-RU" dirty="0" err="1"/>
              <a:t>Five</a:t>
            </a:r>
            <a:r>
              <a:rPr lang="ru-RU" dirty="0"/>
              <a:t>-Number </a:t>
            </a:r>
            <a:r>
              <a:rPr lang="ru-RU" dirty="0" err="1"/>
              <a:t>Summary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BEE1BDE-BF4C-7172-CA0E-57BBD933A5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 latinLnBrk="1">
              <a:buNone/>
            </a:pPr>
            <a:r>
              <a:rPr lang="ru-RU" i="1" dirty="0" err="1"/>
              <a:t>import</a:t>
            </a:r>
            <a:r>
              <a:rPr lang="ru-RU" i="1" dirty="0"/>
              <a:t> </a:t>
            </a:r>
            <a:r>
              <a:rPr lang="ru-RU" i="1" dirty="0" err="1"/>
              <a:t>numpy</a:t>
            </a:r>
            <a:r>
              <a:rPr lang="ru-RU" i="1" dirty="0"/>
              <a:t> </a:t>
            </a:r>
            <a:r>
              <a:rPr lang="ru-RU" i="1" dirty="0" err="1"/>
              <a:t>as</a:t>
            </a:r>
            <a:r>
              <a:rPr lang="ru-RU" i="1" dirty="0"/>
              <a:t> </a:t>
            </a:r>
            <a:r>
              <a:rPr lang="ru-RU" i="1" dirty="0" err="1"/>
              <a:t>np</a:t>
            </a:r>
            <a:endParaRPr lang="ru-RU" i="1" dirty="0"/>
          </a:p>
          <a:p>
            <a:pPr marL="0" indent="0" latinLnBrk="1">
              <a:buNone/>
            </a:pPr>
            <a:r>
              <a:rPr lang="ru-RU" i="1" dirty="0" err="1"/>
              <a:t>scores</a:t>
            </a:r>
            <a:r>
              <a:rPr lang="ru-RU" i="1" dirty="0"/>
              <a:t> = [40, 50, 65, 70, 75, 80, 85, 90, 95, 100]</a:t>
            </a:r>
          </a:p>
          <a:p>
            <a:pPr marL="0" indent="0" latinLnBrk="1">
              <a:buNone/>
            </a:pPr>
            <a:r>
              <a:rPr lang="ru-RU" i="1" dirty="0" err="1"/>
              <a:t>five_number</a:t>
            </a:r>
            <a:r>
              <a:rPr lang="ru-RU" i="1" dirty="0"/>
              <a:t> = {</a:t>
            </a:r>
          </a:p>
          <a:p>
            <a:pPr marL="0" indent="0" latinLnBrk="1">
              <a:buNone/>
            </a:pPr>
            <a:r>
              <a:rPr lang="ru-RU" i="1" dirty="0"/>
              <a:t>    '</a:t>
            </a:r>
            <a:r>
              <a:rPr lang="ru-RU" i="1" dirty="0" err="1"/>
              <a:t>Min</a:t>
            </a:r>
            <a:r>
              <a:rPr lang="ru-RU" i="1" dirty="0"/>
              <a:t>': </a:t>
            </a:r>
            <a:r>
              <a:rPr lang="ru-RU" i="1" dirty="0" err="1"/>
              <a:t>np.min</a:t>
            </a:r>
            <a:r>
              <a:rPr lang="ru-RU" i="1" dirty="0"/>
              <a:t>(</a:t>
            </a:r>
            <a:r>
              <a:rPr lang="ru-RU" i="1" dirty="0" err="1"/>
              <a:t>scores</a:t>
            </a:r>
            <a:r>
              <a:rPr lang="ru-RU" i="1" dirty="0"/>
              <a:t>),</a:t>
            </a:r>
          </a:p>
          <a:p>
            <a:pPr marL="0" indent="0" latinLnBrk="1">
              <a:buNone/>
            </a:pPr>
            <a:r>
              <a:rPr lang="ru-RU" i="1" dirty="0"/>
              <a:t>    'Q1': </a:t>
            </a:r>
            <a:r>
              <a:rPr lang="ru-RU" i="1" dirty="0" err="1"/>
              <a:t>np.percentile</a:t>
            </a:r>
            <a:r>
              <a:rPr lang="ru-RU" i="1" dirty="0"/>
              <a:t>(</a:t>
            </a:r>
            <a:r>
              <a:rPr lang="ru-RU" i="1" dirty="0" err="1"/>
              <a:t>scores</a:t>
            </a:r>
            <a:r>
              <a:rPr lang="ru-RU" i="1" dirty="0"/>
              <a:t>, 25),</a:t>
            </a:r>
          </a:p>
          <a:p>
            <a:pPr marL="0" indent="0" latinLnBrk="1">
              <a:buNone/>
            </a:pPr>
            <a:r>
              <a:rPr lang="ru-RU" i="1" dirty="0"/>
              <a:t>    '</a:t>
            </a:r>
            <a:r>
              <a:rPr lang="ru-RU" i="1" dirty="0" err="1"/>
              <a:t>Median</a:t>
            </a:r>
            <a:r>
              <a:rPr lang="ru-RU" i="1" dirty="0"/>
              <a:t>': </a:t>
            </a:r>
            <a:r>
              <a:rPr lang="ru-RU" i="1" dirty="0" err="1"/>
              <a:t>np.median</a:t>
            </a:r>
            <a:r>
              <a:rPr lang="ru-RU" i="1" dirty="0"/>
              <a:t>(</a:t>
            </a:r>
            <a:r>
              <a:rPr lang="ru-RU" i="1" dirty="0" err="1"/>
              <a:t>scores</a:t>
            </a:r>
            <a:r>
              <a:rPr lang="ru-RU" i="1" dirty="0"/>
              <a:t>),</a:t>
            </a:r>
          </a:p>
          <a:p>
            <a:pPr marL="0" indent="0" latinLnBrk="1">
              <a:buNone/>
            </a:pPr>
            <a:r>
              <a:rPr lang="ru-RU" i="1" dirty="0"/>
              <a:t>    'Q3': </a:t>
            </a:r>
            <a:r>
              <a:rPr lang="ru-RU" i="1" dirty="0" err="1"/>
              <a:t>np.percentile</a:t>
            </a:r>
            <a:r>
              <a:rPr lang="ru-RU" i="1" dirty="0"/>
              <a:t>(</a:t>
            </a:r>
            <a:r>
              <a:rPr lang="ru-RU" i="1" dirty="0" err="1"/>
              <a:t>scores</a:t>
            </a:r>
            <a:r>
              <a:rPr lang="ru-RU" i="1" dirty="0"/>
              <a:t>, 75),</a:t>
            </a:r>
          </a:p>
          <a:p>
            <a:pPr marL="0" indent="0" latinLnBrk="1">
              <a:buNone/>
            </a:pPr>
            <a:r>
              <a:rPr lang="ru-RU" i="1" dirty="0"/>
              <a:t>    'Max': </a:t>
            </a:r>
            <a:r>
              <a:rPr lang="ru-RU" i="1" dirty="0" err="1"/>
              <a:t>np.max</a:t>
            </a:r>
            <a:r>
              <a:rPr lang="ru-RU" i="1" dirty="0"/>
              <a:t>(</a:t>
            </a:r>
            <a:r>
              <a:rPr lang="ru-RU" i="1" dirty="0" err="1"/>
              <a:t>scores</a:t>
            </a:r>
            <a:r>
              <a:rPr lang="ru-RU" i="1" dirty="0"/>
              <a:t>)</a:t>
            </a:r>
          </a:p>
          <a:p>
            <a:pPr marL="0" indent="0" latinLnBrk="1">
              <a:buNone/>
            </a:pPr>
            <a:r>
              <a:rPr lang="ru-RU" i="1" dirty="0"/>
              <a:t>}</a:t>
            </a:r>
          </a:p>
          <a:p>
            <a:pPr marL="0" indent="0" latinLnBrk="1">
              <a:buNone/>
            </a:pPr>
            <a:r>
              <a:rPr lang="ru-RU" i="1" dirty="0" err="1"/>
              <a:t>print</a:t>
            </a:r>
            <a:r>
              <a:rPr lang="ru-RU" i="1" dirty="0"/>
              <a:t>("</a:t>
            </a:r>
            <a:r>
              <a:rPr lang="ru-RU" i="1" dirty="0" err="1"/>
              <a:t>Five</a:t>
            </a:r>
            <a:r>
              <a:rPr lang="ru-RU" i="1" dirty="0"/>
              <a:t>-Number </a:t>
            </a:r>
            <a:r>
              <a:rPr lang="ru-RU" i="1" dirty="0" err="1"/>
              <a:t>Summary</a:t>
            </a:r>
            <a:r>
              <a:rPr lang="ru-RU" i="1" dirty="0"/>
              <a:t>:")</a:t>
            </a:r>
          </a:p>
          <a:p>
            <a:pPr marL="0" indent="0" latinLnBrk="1">
              <a:buNone/>
            </a:pPr>
            <a:r>
              <a:rPr lang="ru-RU" i="1" dirty="0" err="1"/>
              <a:t>for</a:t>
            </a:r>
            <a:r>
              <a:rPr lang="ru-RU" i="1" dirty="0"/>
              <a:t> </a:t>
            </a:r>
            <a:r>
              <a:rPr lang="ru-RU" i="1" dirty="0" err="1"/>
              <a:t>key</a:t>
            </a:r>
            <a:r>
              <a:rPr lang="ru-RU" i="1" dirty="0"/>
              <a:t>, </a:t>
            </a:r>
            <a:r>
              <a:rPr lang="ru-RU" i="1" dirty="0" err="1"/>
              <a:t>value</a:t>
            </a:r>
            <a:r>
              <a:rPr lang="ru-RU" i="1" dirty="0"/>
              <a:t> </a:t>
            </a:r>
            <a:r>
              <a:rPr lang="ru-RU" i="1" dirty="0" err="1"/>
              <a:t>in</a:t>
            </a:r>
            <a:r>
              <a:rPr lang="ru-RU" i="1" dirty="0"/>
              <a:t> </a:t>
            </a:r>
            <a:r>
              <a:rPr lang="ru-RU" i="1" dirty="0" err="1"/>
              <a:t>five_number.items</a:t>
            </a:r>
            <a:r>
              <a:rPr lang="ru-RU" i="1" dirty="0"/>
              <a:t>():</a:t>
            </a:r>
          </a:p>
          <a:p>
            <a:pPr marL="0" indent="0" latinLnBrk="1">
              <a:buNone/>
            </a:pPr>
            <a:r>
              <a:rPr lang="ru-RU" i="1" dirty="0"/>
              <a:t>    </a:t>
            </a:r>
            <a:r>
              <a:rPr lang="ru-RU" i="1" dirty="0" err="1"/>
              <a:t>print</a:t>
            </a:r>
            <a:r>
              <a:rPr lang="ru-RU" i="1" dirty="0"/>
              <a:t>(f"{</a:t>
            </a:r>
            <a:r>
              <a:rPr lang="ru-RU" i="1" dirty="0" err="1"/>
              <a:t>key</a:t>
            </a:r>
            <a:r>
              <a:rPr lang="ru-RU" i="1" dirty="0"/>
              <a:t>}: {</a:t>
            </a:r>
            <a:r>
              <a:rPr lang="ru-RU" i="1" dirty="0" err="1"/>
              <a:t>value</a:t>
            </a:r>
            <a:r>
              <a:rPr lang="ru-RU" i="1" dirty="0"/>
              <a:t>}")</a:t>
            </a:r>
          </a:p>
          <a:p>
            <a:pPr marL="0" indent="0">
              <a:buNone/>
            </a:pPr>
            <a:endParaRPr lang="ru-RU" i="1" dirty="0"/>
          </a:p>
        </p:txBody>
      </p:sp>
    </p:spTree>
    <p:extLst>
      <p:ext uri="{BB962C8B-B14F-4D97-AF65-F5344CB8AC3E}">
        <p14:creationId xmlns:p14="http://schemas.microsoft.com/office/powerpoint/2010/main" val="116964764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1FFCD1-DD6A-7EF6-D4F1-20DAAA05C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Outliers</a:t>
            </a:r>
            <a:r>
              <a:rPr lang="ru-RU" dirty="0"/>
              <a:t> - What </a:t>
            </a:r>
            <a:r>
              <a:rPr lang="ru-RU" dirty="0" err="1"/>
              <a:t>Are</a:t>
            </a:r>
            <a:r>
              <a:rPr lang="ru-RU" dirty="0"/>
              <a:t> </a:t>
            </a:r>
            <a:r>
              <a:rPr lang="ru-RU" dirty="0" err="1"/>
              <a:t>They</a:t>
            </a:r>
            <a:r>
              <a:rPr lang="ru-RU" dirty="0"/>
              <a:t>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AF9FC3E-FE34-F076-C9E7-0C21D8BEA1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dirty="0" err="1"/>
              <a:t>Outlier</a:t>
            </a:r>
            <a:r>
              <a:rPr lang="ru-RU" b="1" dirty="0"/>
              <a:t>:</a:t>
            </a:r>
            <a:r>
              <a:rPr lang="ru-RU" dirty="0"/>
              <a:t> A </a:t>
            </a:r>
            <a:r>
              <a:rPr lang="ru-RU" dirty="0" err="1"/>
              <a:t>value</a:t>
            </a:r>
            <a:r>
              <a:rPr lang="ru-RU" dirty="0"/>
              <a:t> </a:t>
            </a:r>
            <a:r>
              <a:rPr lang="ru-RU" dirty="0" err="1"/>
              <a:t>that's</a:t>
            </a:r>
            <a:r>
              <a:rPr lang="ru-RU" dirty="0"/>
              <a:t> </a:t>
            </a:r>
            <a:r>
              <a:rPr lang="ru-RU" dirty="0" err="1"/>
              <a:t>very</a:t>
            </a:r>
            <a:r>
              <a:rPr lang="ru-RU" dirty="0"/>
              <a:t> </a:t>
            </a:r>
            <a:r>
              <a:rPr lang="ru-RU" dirty="0" err="1"/>
              <a:t>different</a:t>
            </a:r>
            <a:r>
              <a:rPr lang="ru-RU" dirty="0"/>
              <a:t> </a:t>
            </a:r>
            <a:r>
              <a:rPr lang="ru-RU" dirty="0" err="1"/>
              <a:t>from</a:t>
            </a:r>
            <a:r>
              <a:rPr lang="ru-RU" dirty="0"/>
              <a:t> </a:t>
            </a:r>
            <a:r>
              <a:rPr lang="ru-RU" dirty="0" err="1"/>
              <a:t>others</a:t>
            </a:r>
            <a:endParaRPr lang="ru-RU" dirty="0"/>
          </a:p>
          <a:p>
            <a:r>
              <a:rPr lang="ru-RU" b="1" dirty="0" err="1"/>
              <a:t>Why</a:t>
            </a:r>
            <a:r>
              <a:rPr lang="ru-RU" b="1" dirty="0"/>
              <a:t> </a:t>
            </a:r>
            <a:r>
              <a:rPr lang="ru-RU" b="1" dirty="0" err="1"/>
              <a:t>check</a:t>
            </a:r>
            <a:r>
              <a:rPr lang="ru-RU" b="1" dirty="0"/>
              <a:t> </a:t>
            </a:r>
            <a:r>
              <a:rPr lang="ru-RU" b="1" dirty="0" err="1"/>
              <a:t>for</a:t>
            </a:r>
            <a:r>
              <a:rPr lang="ru-RU" b="1" dirty="0"/>
              <a:t> </a:t>
            </a:r>
            <a:r>
              <a:rPr lang="ru-RU" b="1" dirty="0" err="1"/>
              <a:t>outliers</a:t>
            </a:r>
            <a:r>
              <a:rPr lang="ru-RU" b="1" dirty="0"/>
              <a:t>?</a:t>
            </a:r>
            <a:endParaRPr lang="ru-RU" dirty="0"/>
          </a:p>
          <a:p>
            <a:pPr lvl="0"/>
            <a:r>
              <a:rPr lang="ru-RU" dirty="0" err="1"/>
              <a:t>Could</a:t>
            </a:r>
            <a:r>
              <a:rPr lang="ru-RU" dirty="0"/>
              <a:t> </a:t>
            </a:r>
            <a:r>
              <a:rPr lang="ru-RU" dirty="0" err="1"/>
              <a:t>be</a:t>
            </a:r>
            <a:r>
              <a:rPr lang="ru-RU" dirty="0"/>
              <a:t> </a:t>
            </a:r>
            <a:r>
              <a:rPr lang="ru-RU" dirty="0" err="1"/>
              <a:t>data</a:t>
            </a:r>
            <a:r>
              <a:rPr lang="ru-RU" dirty="0"/>
              <a:t> </a:t>
            </a:r>
            <a:r>
              <a:rPr lang="ru-RU" dirty="0" err="1"/>
              <a:t>entry</a:t>
            </a:r>
            <a:r>
              <a:rPr lang="ru-RU" dirty="0"/>
              <a:t> </a:t>
            </a:r>
            <a:r>
              <a:rPr lang="ru-RU" dirty="0" err="1"/>
              <a:t>errors</a:t>
            </a:r>
            <a:endParaRPr lang="ru-RU" dirty="0"/>
          </a:p>
          <a:p>
            <a:pPr lvl="0"/>
            <a:r>
              <a:rPr lang="ru-RU" dirty="0" err="1"/>
              <a:t>Could</a:t>
            </a:r>
            <a:r>
              <a:rPr lang="ru-RU" dirty="0"/>
              <a:t> </a:t>
            </a:r>
            <a:r>
              <a:rPr lang="ru-RU" dirty="0" err="1"/>
              <a:t>be</a:t>
            </a:r>
            <a:r>
              <a:rPr lang="ru-RU" dirty="0"/>
              <a:t> </a:t>
            </a:r>
            <a:r>
              <a:rPr lang="ru-RU" dirty="0" err="1"/>
              <a:t>important</a:t>
            </a:r>
            <a:r>
              <a:rPr lang="ru-RU" dirty="0"/>
              <a:t> </a:t>
            </a:r>
            <a:r>
              <a:rPr lang="ru-RU" dirty="0" err="1"/>
              <a:t>signals</a:t>
            </a:r>
            <a:endParaRPr lang="ru-RU" dirty="0"/>
          </a:p>
          <a:p>
            <a:pPr lvl="0"/>
            <a:r>
              <a:rPr lang="ru-RU" dirty="0" err="1"/>
              <a:t>Can</a:t>
            </a:r>
            <a:r>
              <a:rPr lang="ru-RU" dirty="0"/>
              <a:t> </a:t>
            </a:r>
            <a:r>
              <a:rPr lang="ru-RU" dirty="0" err="1"/>
              <a:t>affect</a:t>
            </a:r>
            <a:r>
              <a:rPr lang="ru-RU" dirty="0"/>
              <a:t> </a:t>
            </a:r>
            <a:r>
              <a:rPr lang="ru-RU" dirty="0" err="1"/>
              <a:t>statistics</a:t>
            </a:r>
            <a:r>
              <a:rPr lang="ru-RU" dirty="0"/>
              <a:t> (</a:t>
            </a:r>
            <a:r>
              <a:rPr lang="ru-RU" dirty="0" err="1"/>
              <a:t>especially</a:t>
            </a:r>
            <a:r>
              <a:rPr lang="ru-RU" dirty="0"/>
              <a:t> </a:t>
            </a:r>
            <a:r>
              <a:rPr lang="ru-RU" dirty="0" err="1"/>
              <a:t>mean</a:t>
            </a:r>
            <a:r>
              <a:rPr lang="ru-RU" dirty="0"/>
              <a:t>)</a:t>
            </a:r>
          </a:p>
          <a:p>
            <a:pPr marL="0" indent="0">
              <a:buNone/>
            </a:pPr>
            <a:r>
              <a:rPr lang="ru-RU" b="1" dirty="0" err="1"/>
              <a:t>Example</a:t>
            </a:r>
            <a:r>
              <a:rPr lang="ru-RU" b="1" dirty="0"/>
              <a:t>:</a:t>
            </a:r>
            <a:r>
              <a:rPr lang="ru-RU" dirty="0"/>
              <a:t> In </a:t>
            </a:r>
            <a:r>
              <a:rPr lang="ru-RU" dirty="0" err="1"/>
              <a:t>test</a:t>
            </a:r>
            <a:r>
              <a:rPr lang="ru-RU" dirty="0"/>
              <a:t> </a:t>
            </a:r>
            <a:r>
              <a:rPr lang="ru-RU" dirty="0" err="1"/>
              <a:t>scores</a:t>
            </a:r>
            <a:r>
              <a:rPr lang="ru-RU" dirty="0"/>
              <a:t>: 40, 75, 76, 78, 80, 82, </a:t>
            </a:r>
            <a:r>
              <a:rPr lang="ru-RU" b="1" dirty="0"/>
              <a:t>150</a:t>
            </a:r>
            <a:endParaRPr lang="ru-RU" dirty="0"/>
          </a:p>
          <a:p>
            <a:r>
              <a:rPr lang="ru-RU" dirty="0"/>
              <a:t>150 </a:t>
            </a:r>
            <a:r>
              <a:rPr lang="ru-RU" dirty="0" err="1"/>
              <a:t>is</a:t>
            </a:r>
            <a:r>
              <a:rPr lang="ru-RU" dirty="0"/>
              <a:t> </a:t>
            </a:r>
            <a:r>
              <a:rPr lang="ru-RU" dirty="0" err="1"/>
              <a:t>likely</a:t>
            </a:r>
            <a:r>
              <a:rPr lang="ru-RU" dirty="0"/>
              <a:t> </a:t>
            </a:r>
            <a:r>
              <a:rPr lang="ru-RU" dirty="0" err="1"/>
              <a:t>an</a:t>
            </a:r>
            <a:r>
              <a:rPr lang="ru-RU" dirty="0"/>
              <a:t> </a:t>
            </a:r>
            <a:r>
              <a:rPr lang="ru-RU" dirty="0" err="1"/>
              <a:t>outlier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77999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AA3262-3DA5-D52A-B84C-9CC9E7DB9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Finding</a:t>
            </a:r>
            <a:r>
              <a:rPr lang="ru-RU" dirty="0"/>
              <a:t> </a:t>
            </a:r>
            <a:r>
              <a:rPr lang="ru-RU" dirty="0" err="1"/>
              <a:t>Outliers</a:t>
            </a:r>
            <a:r>
              <a:rPr lang="ru-RU" dirty="0"/>
              <a:t> </a:t>
            </a:r>
            <a:r>
              <a:rPr lang="ru-RU" dirty="0" err="1"/>
              <a:t>with</a:t>
            </a:r>
            <a:r>
              <a:rPr lang="ru-RU" dirty="0"/>
              <a:t> IQR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707A71C-1751-9C56-DA6E-4BD5DE5D00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dirty="0"/>
              <a:t>Common </a:t>
            </a:r>
            <a:r>
              <a:rPr lang="ru-RU" b="1" dirty="0" err="1"/>
              <a:t>rule</a:t>
            </a:r>
            <a:r>
              <a:rPr lang="ru-RU" b="1" dirty="0"/>
              <a:t>:</a:t>
            </a:r>
            <a:r>
              <a:rPr lang="ru-RU" dirty="0"/>
              <a:t> </a:t>
            </a:r>
            <a:r>
              <a:rPr lang="ru-RU" dirty="0" err="1"/>
              <a:t>Values</a:t>
            </a:r>
            <a:r>
              <a:rPr lang="ru-RU" dirty="0"/>
              <a:t> </a:t>
            </a:r>
            <a:r>
              <a:rPr lang="ru-RU" dirty="0" err="1"/>
              <a:t>outside</a:t>
            </a:r>
            <a:r>
              <a:rPr lang="ru-RU" dirty="0"/>
              <a:t> </a:t>
            </a:r>
            <a:r>
              <a:rPr lang="ru-RU" dirty="0" err="1"/>
              <a:t>this</a:t>
            </a:r>
            <a:r>
              <a:rPr lang="ru-RU" dirty="0"/>
              <a:t> </a:t>
            </a:r>
            <a:r>
              <a:rPr lang="ru-RU" dirty="0" err="1"/>
              <a:t>range</a:t>
            </a:r>
            <a:r>
              <a:rPr lang="ru-RU" dirty="0"/>
              <a:t> </a:t>
            </a:r>
            <a:r>
              <a:rPr lang="ru-RU" dirty="0" err="1"/>
              <a:t>are</a:t>
            </a:r>
            <a:r>
              <a:rPr lang="ru-RU" dirty="0"/>
              <a:t> </a:t>
            </a:r>
            <a:r>
              <a:rPr lang="ru-RU" dirty="0" err="1"/>
              <a:t>outliers</a:t>
            </a:r>
            <a:r>
              <a:rPr lang="ru-RU" dirty="0"/>
              <a:t>:</a:t>
            </a:r>
          </a:p>
          <a:p>
            <a:pPr lvl="0"/>
            <a:r>
              <a:rPr lang="ru-RU" dirty="0" err="1"/>
              <a:t>Lower</a:t>
            </a:r>
            <a:r>
              <a:rPr lang="ru-RU" dirty="0"/>
              <a:t> </a:t>
            </a:r>
            <a:r>
              <a:rPr lang="ru-RU" dirty="0" err="1"/>
              <a:t>bound</a:t>
            </a:r>
            <a:r>
              <a:rPr lang="ru-RU" dirty="0"/>
              <a:t> = Q1 - 1.5 × IQR</a:t>
            </a:r>
          </a:p>
          <a:p>
            <a:pPr lvl="0"/>
            <a:r>
              <a:rPr lang="ru-RU" dirty="0" err="1"/>
              <a:t>Upper</a:t>
            </a:r>
            <a:r>
              <a:rPr lang="ru-RU" dirty="0"/>
              <a:t> </a:t>
            </a:r>
            <a:r>
              <a:rPr lang="ru-RU" dirty="0" err="1"/>
              <a:t>bound</a:t>
            </a:r>
            <a:r>
              <a:rPr lang="ru-RU" dirty="0"/>
              <a:t> = Q3 + 1.5 × IQR</a:t>
            </a:r>
          </a:p>
          <a:p>
            <a:pPr marL="0" indent="0">
              <a:buNone/>
            </a:pPr>
            <a:r>
              <a:rPr lang="ru-RU" b="1" dirty="0" err="1"/>
              <a:t>Example</a:t>
            </a:r>
            <a:r>
              <a:rPr lang="ru-RU" b="1" dirty="0"/>
              <a:t>:</a:t>
            </a:r>
            <a:r>
              <a:rPr lang="ru-RU" dirty="0"/>
              <a:t> Q1=65, Q3=85, IQR=20</a:t>
            </a:r>
          </a:p>
          <a:p>
            <a:pPr lvl="0"/>
            <a:r>
              <a:rPr lang="ru-RU" dirty="0" err="1"/>
              <a:t>Lower</a:t>
            </a:r>
            <a:r>
              <a:rPr lang="ru-RU" dirty="0"/>
              <a:t> </a:t>
            </a:r>
            <a:r>
              <a:rPr lang="ru-RU" dirty="0" err="1"/>
              <a:t>bound</a:t>
            </a:r>
            <a:r>
              <a:rPr lang="ru-RU" dirty="0"/>
              <a:t> = 65 - 1.5×20 = 35</a:t>
            </a:r>
          </a:p>
          <a:p>
            <a:pPr lvl="0"/>
            <a:r>
              <a:rPr lang="ru-RU" dirty="0" err="1"/>
              <a:t>Upper</a:t>
            </a:r>
            <a:r>
              <a:rPr lang="ru-RU" dirty="0"/>
              <a:t> </a:t>
            </a:r>
            <a:r>
              <a:rPr lang="ru-RU" dirty="0" err="1"/>
              <a:t>bound</a:t>
            </a:r>
            <a:r>
              <a:rPr lang="ru-RU" dirty="0"/>
              <a:t> = 85 + 1.5×20 = 115</a:t>
            </a:r>
          </a:p>
          <a:p>
            <a:pPr lvl="0"/>
            <a:r>
              <a:rPr lang="ru-RU" dirty="0" err="1"/>
              <a:t>Values</a:t>
            </a:r>
            <a:r>
              <a:rPr lang="ru-RU" dirty="0"/>
              <a:t> </a:t>
            </a:r>
            <a:r>
              <a:rPr lang="ru-RU" dirty="0" err="1"/>
              <a:t>below</a:t>
            </a:r>
            <a:r>
              <a:rPr lang="ru-RU" dirty="0"/>
              <a:t> 35 </a:t>
            </a:r>
            <a:r>
              <a:rPr lang="ru-RU" dirty="0" err="1"/>
              <a:t>or</a:t>
            </a:r>
            <a:r>
              <a:rPr lang="ru-RU" dirty="0"/>
              <a:t> </a:t>
            </a:r>
            <a:r>
              <a:rPr lang="ru-RU" dirty="0" err="1"/>
              <a:t>above</a:t>
            </a:r>
            <a:r>
              <a:rPr lang="ru-RU" dirty="0"/>
              <a:t> 115 </a:t>
            </a:r>
            <a:r>
              <a:rPr lang="ru-RU" dirty="0" err="1"/>
              <a:t>are</a:t>
            </a:r>
            <a:r>
              <a:rPr lang="ru-RU" dirty="0"/>
              <a:t> </a:t>
            </a:r>
            <a:r>
              <a:rPr lang="ru-RU" dirty="0" err="1"/>
              <a:t>outliers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3506104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EB4CE9-2AA0-0EA6-15F1-26BA3B257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Distribution </a:t>
            </a:r>
            <a:r>
              <a:rPr lang="ru-RU" dirty="0" err="1"/>
              <a:t>Shapes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631B888-4228-8D0E-23D7-27D6A874F3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 err="1"/>
              <a:t>Three</a:t>
            </a:r>
            <a:r>
              <a:rPr lang="ru-RU" b="1" dirty="0"/>
              <a:t> </a:t>
            </a:r>
            <a:r>
              <a:rPr lang="ru-RU" b="1" dirty="0" err="1"/>
              <a:t>main</a:t>
            </a:r>
            <a:r>
              <a:rPr lang="ru-RU" b="1" dirty="0"/>
              <a:t> </a:t>
            </a:r>
            <a:r>
              <a:rPr lang="ru-RU" b="1" dirty="0" err="1"/>
              <a:t>shapes</a:t>
            </a:r>
            <a:r>
              <a:rPr lang="ru-RU" b="1" dirty="0"/>
              <a:t>:</a:t>
            </a:r>
            <a:endParaRPr lang="ru-RU" dirty="0"/>
          </a:p>
          <a:p>
            <a:pPr lvl="0"/>
            <a:r>
              <a:rPr lang="ru-RU" b="1" dirty="0" err="1"/>
              <a:t>Symmetric</a:t>
            </a:r>
            <a:r>
              <a:rPr lang="ru-RU" b="1" dirty="0"/>
              <a:t>:</a:t>
            </a:r>
            <a:r>
              <a:rPr lang="ru-RU" dirty="0"/>
              <a:t> </a:t>
            </a:r>
            <a:r>
              <a:rPr lang="ru-RU" dirty="0" err="1"/>
              <a:t>Balanced</a:t>
            </a:r>
            <a:r>
              <a:rPr lang="ru-RU" dirty="0"/>
              <a:t> </a:t>
            </a:r>
            <a:r>
              <a:rPr lang="ru-RU" dirty="0" err="1"/>
              <a:t>on</a:t>
            </a:r>
            <a:r>
              <a:rPr lang="ru-RU" dirty="0"/>
              <a:t> </a:t>
            </a:r>
            <a:r>
              <a:rPr lang="ru-RU" dirty="0" err="1"/>
              <a:t>both</a:t>
            </a:r>
            <a:r>
              <a:rPr lang="ru-RU" dirty="0"/>
              <a:t> </a:t>
            </a:r>
            <a:r>
              <a:rPr lang="ru-RU" dirty="0" err="1"/>
              <a:t>sides</a:t>
            </a:r>
            <a:r>
              <a:rPr lang="ru-RU" dirty="0"/>
              <a:t> (</a:t>
            </a:r>
            <a:r>
              <a:rPr lang="ru-RU" dirty="0" err="1"/>
              <a:t>like</a:t>
            </a:r>
            <a:r>
              <a:rPr lang="ru-RU" dirty="0"/>
              <a:t> </a:t>
            </a:r>
            <a:r>
              <a:rPr lang="ru-RU" dirty="0" err="1"/>
              <a:t>normal</a:t>
            </a:r>
            <a:r>
              <a:rPr lang="ru-RU" dirty="0"/>
              <a:t> </a:t>
            </a:r>
            <a:r>
              <a:rPr lang="ru-RU" dirty="0" err="1"/>
              <a:t>distribution</a:t>
            </a:r>
            <a:r>
              <a:rPr lang="ru-RU" dirty="0"/>
              <a:t>)</a:t>
            </a:r>
          </a:p>
          <a:p>
            <a:pPr lvl="0"/>
            <a:r>
              <a:rPr lang="ru-RU" b="1" dirty="0" err="1"/>
              <a:t>Right-skewed</a:t>
            </a:r>
            <a:r>
              <a:rPr lang="ru-RU" b="1" dirty="0"/>
              <a:t>:</a:t>
            </a:r>
            <a:r>
              <a:rPr lang="ru-RU" dirty="0"/>
              <a:t> </a:t>
            </a:r>
            <a:r>
              <a:rPr lang="ru-RU" dirty="0" err="1"/>
              <a:t>Tail</a:t>
            </a:r>
            <a:r>
              <a:rPr lang="ru-RU" dirty="0"/>
              <a:t> </a:t>
            </a:r>
            <a:r>
              <a:rPr lang="ru-RU" dirty="0" err="1"/>
              <a:t>extends</a:t>
            </a:r>
            <a:r>
              <a:rPr lang="ru-RU" dirty="0"/>
              <a:t> </a:t>
            </a:r>
            <a:r>
              <a:rPr lang="ru-RU" dirty="0" err="1"/>
              <a:t>to</a:t>
            </a:r>
            <a:r>
              <a:rPr lang="ru-RU" dirty="0"/>
              <a:t> </a:t>
            </a:r>
            <a:r>
              <a:rPr lang="ru-RU" dirty="0" err="1"/>
              <a:t>right</a:t>
            </a:r>
            <a:r>
              <a:rPr lang="ru-RU" dirty="0"/>
              <a:t> (</a:t>
            </a:r>
            <a:r>
              <a:rPr lang="ru-RU" dirty="0" err="1"/>
              <a:t>mean</a:t>
            </a:r>
            <a:r>
              <a:rPr lang="ru-RU" dirty="0"/>
              <a:t> &gt; </a:t>
            </a:r>
            <a:r>
              <a:rPr lang="ru-RU" dirty="0" err="1"/>
              <a:t>median</a:t>
            </a:r>
            <a:r>
              <a:rPr lang="ru-RU" dirty="0"/>
              <a:t>)</a:t>
            </a:r>
          </a:p>
          <a:p>
            <a:pPr lvl="0"/>
            <a:r>
              <a:rPr lang="ru-RU" b="1" dirty="0" err="1"/>
              <a:t>Left-skewed</a:t>
            </a:r>
            <a:r>
              <a:rPr lang="ru-RU" b="1" dirty="0"/>
              <a:t>:</a:t>
            </a:r>
            <a:r>
              <a:rPr lang="ru-RU" dirty="0"/>
              <a:t> </a:t>
            </a:r>
            <a:r>
              <a:rPr lang="ru-RU" dirty="0" err="1"/>
              <a:t>Tail</a:t>
            </a:r>
            <a:r>
              <a:rPr lang="ru-RU" dirty="0"/>
              <a:t> </a:t>
            </a:r>
            <a:r>
              <a:rPr lang="ru-RU" dirty="0" err="1"/>
              <a:t>extends</a:t>
            </a:r>
            <a:r>
              <a:rPr lang="ru-RU" dirty="0"/>
              <a:t> </a:t>
            </a:r>
            <a:r>
              <a:rPr lang="ru-RU" dirty="0" err="1"/>
              <a:t>to</a:t>
            </a:r>
            <a:r>
              <a:rPr lang="ru-RU" dirty="0"/>
              <a:t> </a:t>
            </a:r>
            <a:r>
              <a:rPr lang="ru-RU" dirty="0" err="1"/>
              <a:t>left</a:t>
            </a:r>
            <a:r>
              <a:rPr lang="ru-RU" dirty="0"/>
              <a:t> (</a:t>
            </a:r>
            <a:r>
              <a:rPr lang="ru-RU" dirty="0" err="1"/>
              <a:t>mean</a:t>
            </a:r>
            <a:r>
              <a:rPr lang="ru-RU" dirty="0"/>
              <a:t> &lt; </a:t>
            </a:r>
            <a:r>
              <a:rPr lang="ru-RU" dirty="0" err="1"/>
              <a:t>median</a:t>
            </a:r>
            <a:r>
              <a:rPr lang="ru-RU" dirty="0"/>
              <a:t>)</a:t>
            </a:r>
          </a:p>
          <a:p>
            <a:r>
              <a:rPr lang="ru-RU" b="1" dirty="0"/>
              <a:t>Visual:</a:t>
            </a:r>
            <a:endParaRPr lang="ru-RU" dirty="0"/>
          </a:p>
          <a:p>
            <a:pPr latinLnBrk="1"/>
            <a:r>
              <a:rPr lang="ru-RU" dirty="0" err="1"/>
              <a:t>Symmetric</a:t>
            </a:r>
            <a:r>
              <a:rPr lang="ru-RU" dirty="0"/>
              <a:t>:    /\      </a:t>
            </a:r>
            <a:r>
              <a:rPr lang="ru-RU" dirty="0" err="1"/>
              <a:t>Right-skewed</a:t>
            </a:r>
            <a:r>
              <a:rPr lang="ru-RU" dirty="0"/>
              <a:t>: /|     </a:t>
            </a:r>
            <a:r>
              <a:rPr lang="ru-RU" dirty="0" err="1"/>
              <a:t>Left-skewed</a:t>
            </a:r>
            <a:r>
              <a:rPr lang="ru-RU" dirty="0"/>
              <a:t>: |\</a:t>
            </a:r>
          </a:p>
        </p:txBody>
      </p:sp>
    </p:spTree>
    <p:extLst>
      <p:ext uri="{BB962C8B-B14F-4D97-AF65-F5344CB8AC3E}">
        <p14:creationId xmlns:p14="http://schemas.microsoft.com/office/powerpoint/2010/main" val="254338111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D55614-058F-E915-F3B1-AB72BADF69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Real </a:t>
            </a:r>
            <a:r>
              <a:rPr lang="ru-RU" dirty="0" err="1"/>
              <a:t>Examples</a:t>
            </a:r>
            <a:r>
              <a:rPr lang="ru-RU" dirty="0"/>
              <a:t> </a:t>
            </a:r>
            <a:r>
              <a:rPr lang="ru-RU" dirty="0" err="1"/>
              <a:t>of</a:t>
            </a:r>
            <a:r>
              <a:rPr lang="ru-RU" dirty="0"/>
              <a:t> </a:t>
            </a:r>
            <a:r>
              <a:rPr lang="ru-RU" dirty="0" err="1"/>
              <a:t>Each</a:t>
            </a:r>
            <a:r>
              <a:rPr lang="ru-RU" dirty="0"/>
              <a:t> </a:t>
            </a:r>
            <a:r>
              <a:rPr lang="ru-RU" dirty="0" err="1"/>
              <a:t>Shape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D6B30BD-3E3B-6EBA-DBA1-AEC696A3CA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b="1" dirty="0" err="1"/>
              <a:t>Symmetric</a:t>
            </a:r>
            <a:r>
              <a:rPr lang="ru-RU" b="1" dirty="0"/>
              <a:t> (</a:t>
            </a:r>
            <a:r>
              <a:rPr lang="ru-RU" b="1" dirty="0" err="1"/>
              <a:t>Normal</a:t>
            </a:r>
            <a:r>
              <a:rPr lang="ru-RU" b="1" dirty="0"/>
              <a:t>):</a:t>
            </a:r>
            <a:endParaRPr lang="ru-RU" dirty="0"/>
          </a:p>
          <a:p>
            <a:pPr lvl="0"/>
            <a:r>
              <a:rPr lang="ru-RU" dirty="0" err="1"/>
              <a:t>Heights</a:t>
            </a:r>
            <a:r>
              <a:rPr lang="ru-RU" dirty="0"/>
              <a:t> </a:t>
            </a:r>
            <a:r>
              <a:rPr lang="ru-RU" dirty="0" err="1"/>
              <a:t>of</a:t>
            </a:r>
            <a:r>
              <a:rPr lang="ru-RU" dirty="0"/>
              <a:t> </a:t>
            </a:r>
            <a:r>
              <a:rPr lang="ru-RU" dirty="0" err="1"/>
              <a:t>adult</a:t>
            </a:r>
            <a:r>
              <a:rPr lang="ru-RU" dirty="0"/>
              <a:t> </a:t>
            </a:r>
            <a:r>
              <a:rPr lang="ru-RU" dirty="0" err="1"/>
              <a:t>humans</a:t>
            </a:r>
            <a:endParaRPr lang="ru-RU" dirty="0"/>
          </a:p>
          <a:p>
            <a:pPr lvl="0"/>
            <a:r>
              <a:rPr lang="ru-RU" dirty="0" err="1"/>
              <a:t>Measurement</a:t>
            </a:r>
            <a:r>
              <a:rPr lang="ru-RU" dirty="0"/>
              <a:t> </a:t>
            </a:r>
            <a:r>
              <a:rPr lang="ru-RU" dirty="0" err="1"/>
              <a:t>errors</a:t>
            </a:r>
            <a:endParaRPr lang="ru-RU" dirty="0"/>
          </a:p>
          <a:p>
            <a:pPr lvl="0"/>
            <a:r>
              <a:rPr lang="ru-RU" dirty="0"/>
              <a:t>Test </a:t>
            </a:r>
            <a:r>
              <a:rPr lang="ru-RU" dirty="0" err="1"/>
              <a:t>scores</a:t>
            </a:r>
            <a:r>
              <a:rPr lang="ru-RU" dirty="0"/>
              <a:t> (</a:t>
            </a:r>
            <a:r>
              <a:rPr lang="ru-RU" dirty="0" err="1"/>
              <a:t>well-designed</a:t>
            </a:r>
            <a:r>
              <a:rPr lang="ru-RU" dirty="0"/>
              <a:t> </a:t>
            </a:r>
            <a:r>
              <a:rPr lang="ru-RU" dirty="0" err="1"/>
              <a:t>test</a:t>
            </a:r>
            <a:r>
              <a:rPr lang="ru-RU" dirty="0"/>
              <a:t>)</a:t>
            </a:r>
          </a:p>
          <a:p>
            <a:r>
              <a:rPr lang="ru-RU" b="1" dirty="0" err="1"/>
              <a:t>Right-skewed</a:t>
            </a:r>
            <a:r>
              <a:rPr lang="ru-RU" b="1" dirty="0"/>
              <a:t>:</a:t>
            </a:r>
            <a:endParaRPr lang="ru-RU" dirty="0"/>
          </a:p>
          <a:p>
            <a:pPr lvl="0"/>
            <a:r>
              <a:rPr lang="ru-RU" dirty="0" err="1"/>
              <a:t>Income</a:t>
            </a:r>
            <a:r>
              <a:rPr lang="ru-RU" dirty="0"/>
              <a:t> (</a:t>
            </a:r>
            <a:r>
              <a:rPr lang="ru-RU" dirty="0" err="1"/>
              <a:t>few</a:t>
            </a:r>
            <a:r>
              <a:rPr lang="ru-RU" dirty="0"/>
              <a:t> </a:t>
            </a:r>
            <a:r>
              <a:rPr lang="ru-RU" dirty="0" err="1"/>
              <a:t>very</a:t>
            </a:r>
            <a:r>
              <a:rPr lang="ru-RU" dirty="0"/>
              <a:t> </a:t>
            </a:r>
            <a:r>
              <a:rPr lang="ru-RU" dirty="0" err="1"/>
              <a:t>high</a:t>
            </a:r>
            <a:r>
              <a:rPr lang="ru-RU" dirty="0"/>
              <a:t> </a:t>
            </a:r>
            <a:r>
              <a:rPr lang="ru-RU" dirty="0" err="1"/>
              <a:t>earners</a:t>
            </a:r>
            <a:r>
              <a:rPr lang="ru-RU" dirty="0"/>
              <a:t>)</a:t>
            </a:r>
          </a:p>
          <a:p>
            <a:pPr lvl="0"/>
            <a:r>
              <a:rPr lang="ru-RU" dirty="0"/>
              <a:t>House </a:t>
            </a:r>
            <a:r>
              <a:rPr lang="ru-RU" dirty="0" err="1"/>
              <a:t>prices</a:t>
            </a:r>
            <a:endParaRPr lang="ru-RU" dirty="0"/>
          </a:p>
          <a:p>
            <a:pPr lvl="0"/>
            <a:r>
              <a:rPr lang="ru-RU" dirty="0"/>
              <a:t>Hospital </a:t>
            </a:r>
            <a:r>
              <a:rPr lang="ru-RU" dirty="0" err="1"/>
              <a:t>stays</a:t>
            </a:r>
            <a:r>
              <a:rPr lang="ru-RU" dirty="0"/>
              <a:t> (</a:t>
            </a:r>
            <a:r>
              <a:rPr lang="ru-RU" dirty="0" err="1"/>
              <a:t>most</a:t>
            </a:r>
            <a:r>
              <a:rPr lang="ru-RU" dirty="0"/>
              <a:t> </a:t>
            </a:r>
            <a:r>
              <a:rPr lang="ru-RU" dirty="0" err="1"/>
              <a:t>short</a:t>
            </a:r>
            <a:r>
              <a:rPr lang="ru-RU" dirty="0"/>
              <a:t>, </a:t>
            </a:r>
            <a:r>
              <a:rPr lang="ru-RU" dirty="0" err="1"/>
              <a:t>few</a:t>
            </a:r>
            <a:r>
              <a:rPr lang="ru-RU" dirty="0"/>
              <a:t> </a:t>
            </a:r>
            <a:r>
              <a:rPr lang="ru-RU" dirty="0" err="1"/>
              <a:t>very</a:t>
            </a:r>
            <a:r>
              <a:rPr lang="ru-RU" dirty="0"/>
              <a:t> </a:t>
            </a:r>
            <a:r>
              <a:rPr lang="ru-RU" dirty="0" err="1"/>
              <a:t>long</a:t>
            </a:r>
            <a:r>
              <a:rPr lang="ru-RU" dirty="0"/>
              <a:t>)</a:t>
            </a:r>
          </a:p>
          <a:p>
            <a:r>
              <a:rPr lang="ru-RU" b="1" dirty="0" err="1"/>
              <a:t>Left-skewed</a:t>
            </a:r>
            <a:r>
              <a:rPr lang="ru-RU" b="1" dirty="0"/>
              <a:t>:</a:t>
            </a:r>
            <a:endParaRPr lang="ru-RU" dirty="0"/>
          </a:p>
          <a:p>
            <a:pPr lvl="0"/>
            <a:r>
              <a:rPr lang="ru-RU" dirty="0" err="1"/>
              <a:t>Age</a:t>
            </a:r>
            <a:r>
              <a:rPr lang="ru-RU" dirty="0"/>
              <a:t> </a:t>
            </a:r>
            <a:r>
              <a:rPr lang="ru-RU" dirty="0" err="1"/>
              <a:t>at</a:t>
            </a:r>
            <a:r>
              <a:rPr lang="ru-RU" dirty="0"/>
              <a:t> </a:t>
            </a:r>
            <a:r>
              <a:rPr lang="ru-RU" dirty="0" err="1"/>
              <a:t>retirement</a:t>
            </a:r>
            <a:endParaRPr lang="ru-RU" dirty="0"/>
          </a:p>
          <a:p>
            <a:pPr lvl="0"/>
            <a:r>
              <a:rPr lang="ru-RU" dirty="0" err="1"/>
              <a:t>Exam</a:t>
            </a:r>
            <a:r>
              <a:rPr lang="ru-RU" dirty="0"/>
              <a:t> </a:t>
            </a:r>
            <a:r>
              <a:rPr lang="ru-RU" dirty="0" err="1"/>
              <a:t>scores</a:t>
            </a:r>
            <a:r>
              <a:rPr lang="ru-RU" dirty="0"/>
              <a:t> (</a:t>
            </a:r>
            <a:r>
              <a:rPr lang="ru-RU" dirty="0" err="1"/>
              <a:t>if</a:t>
            </a:r>
            <a:r>
              <a:rPr lang="ru-RU" dirty="0"/>
              <a:t> </a:t>
            </a:r>
            <a:r>
              <a:rPr lang="ru-RU" dirty="0" err="1"/>
              <a:t>exam</a:t>
            </a:r>
            <a:r>
              <a:rPr lang="ru-RU" dirty="0"/>
              <a:t> </a:t>
            </a:r>
            <a:r>
              <a:rPr lang="ru-RU" dirty="0" err="1"/>
              <a:t>is</a:t>
            </a:r>
            <a:r>
              <a:rPr lang="ru-RU" dirty="0"/>
              <a:t> </a:t>
            </a:r>
            <a:r>
              <a:rPr lang="ru-RU" dirty="0" err="1"/>
              <a:t>too</a:t>
            </a:r>
            <a:r>
              <a:rPr lang="ru-RU" dirty="0"/>
              <a:t> </a:t>
            </a:r>
            <a:r>
              <a:rPr lang="ru-RU" dirty="0" err="1"/>
              <a:t>easy</a:t>
            </a:r>
            <a:r>
              <a:rPr lang="ru-RU" dirty="0"/>
              <a:t>)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8313717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5DA456-76EF-BDCF-328C-DE6988C48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The </a:t>
            </a:r>
            <a:r>
              <a:rPr lang="ru-RU" dirty="0" err="1"/>
              <a:t>Normal</a:t>
            </a:r>
            <a:r>
              <a:rPr lang="ru-RU" dirty="0"/>
              <a:t> Distribution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72E6EBC-61CE-4485-7F63-0D082991FD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 err="1"/>
              <a:t>Also</a:t>
            </a:r>
            <a:r>
              <a:rPr lang="ru-RU" b="1" dirty="0"/>
              <a:t> </a:t>
            </a:r>
            <a:r>
              <a:rPr lang="ru-RU" b="1" dirty="0" err="1"/>
              <a:t>called</a:t>
            </a:r>
            <a:r>
              <a:rPr lang="ru-RU" b="1" dirty="0"/>
              <a:t>: "Bell </a:t>
            </a:r>
            <a:r>
              <a:rPr lang="ru-RU" b="1" dirty="0" err="1"/>
              <a:t>curve</a:t>
            </a:r>
            <a:r>
              <a:rPr lang="ru-RU" b="1" dirty="0"/>
              <a:t>"</a:t>
            </a:r>
            <a:endParaRPr lang="ru-RU" dirty="0"/>
          </a:p>
          <a:p>
            <a:r>
              <a:rPr lang="ru-RU" b="1" dirty="0" err="1"/>
              <a:t>Characteristics</a:t>
            </a:r>
            <a:r>
              <a:rPr lang="ru-RU" b="1" dirty="0"/>
              <a:t>:</a:t>
            </a:r>
            <a:endParaRPr lang="ru-RU" dirty="0"/>
          </a:p>
          <a:p>
            <a:pPr lvl="0"/>
            <a:r>
              <a:rPr lang="ru-RU" dirty="0" err="1"/>
              <a:t>Symmetric</a:t>
            </a:r>
            <a:endParaRPr lang="ru-RU" dirty="0"/>
          </a:p>
          <a:p>
            <a:pPr lvl="0"/>
            <a:r>
              <a:rPr lang="ru-RU" dirty="0" err="1"/>
              <a:t>Mean</a:t>
            </a:r>
            <a:r>
              <a:rPr lang="ru-RU" dirty="0"/>
              <a:t> = </a:t>
            </a:r>
            <a:r>
              <a:rPr lang="ru-RU" dirty="0" err="1"/>
              <a:t>Median</a:t>
            </a:r>
            <a:r>
              <a:rPr lang="ru-RU" dirty="0"/>
              <a:t> = Mode</a:t>
            </a:r>
          </a:p>
          <a:p>
            <a:pPr lvl="0"/>
            <a:r>
              <a:rPr lang="ru-RU" dirty="0" err="1"/>
              <a:t>Follows</a:t>
            </a:r>
            <a:r>
              <a:rPr lang="ru-RU" dirty="0"/>
              <a:t> 68-95-99.7 </a:t>
            </a:r>
            <a:r>
              <a:rPr lang="ru-RU" dirty="0" err="1"/>
              <a:t>rule</a:t>
            </a:r>
            <a:endParaRPr lang="ru-RU" dirty="0"/>
          </a:p>
          <a:p>
            <a:pPr lvl="0"/>
            <a:r>
              <a:rPr lang="ru-RU" dirty="0" err="1"/>
              <a:t>Many</a:t>
            </a:r>
            <a:r>
              <a:rPr lang="ru-RU" dirty="0"/>
              <a:t> </a:t>
            </a:r>
            <a:r>
              <a:rPr lang="ru-RU" dirty="0" err="1"/>
              <a:t>natural</a:t>
            </a:r>
            <a:r>
              <a:rPr lang="ru-RU" dirty="0"/>
              <a:t> </a:t>
            </a:r>
            <a:r>
              <a:rPr lang="ru-RU" dirty="0" err="1"/>
              <a:t>phenomena</a:t>
            </a:r>
            <a:r>
              <a:rPr lang="ru-RU" dirty="0"/>
              <a:t> </a:t>
            </a:r>
            <a:r>
              <a:rPr lang="ru-RU" dirty="0" err="1"/>
              <a:t>are</a:t>
            </a:r>
            <a:r>
              <a:rPr lang="ru-RU" dirty="0"/>
              <a:t> </a:t>
            </a:r>
            <a:r>
              <a:rPr lang="ru-RU" dirty="0" err="1"/>
              <a:t>approximately</a:t>
            </a:r>
            <a:r>
              <a:rPr lang="ru-RU" dirty="0"/>
              <a:t> </a:t>
            </a:r>
            <a:r>
              <a:rPr lang="ru-RU" dirty="0" err="1"/>
              <a:t>normal</a:t>
            </a:r>
            <a:endParaRPr lang="ru-RU" dirty="0"/>
          </a:p>
          <a:p>
            <a:r>
              <a:rPr lang="ru-RU" b="1" dirty="0"/>
              <a:t>Formula (</a:t>
            </a:r>
            <a:r>
              <a:rPr lang="ru-RU" b="1" dirty="0" err="1"/>
              <a:t>for</a:t>
            </a:r>
            <a:r>
              <a:rPr lang="ru-RU" b="1" dirty="0"/>
              <a:t> </a:t>
            </a:r>
            <a:r>
              <a:rPr lang="ru-RU" b="1" dirty="0" err="1"/>
              <a:t>reference</a:t>
            </a:r>
            <a:r>
              <a:rPr lang="ru-RU" b="1" dirty="0"/>
              <a:t>):</a:t>
            </a:r>
            <a:endParaRPr lang="ru-RU" dirty="0"/>
          </a:p>
          <a:p>
            <a:r>
              <a:rPr lang="ru-RU" i="1" dirty="0"/>
              <a:t>f(x)=σ2π1e−21(</a:t>
            </a:r>
            <a:r>
              <a:rPr lang="ru-RU" i="1" dirty="0" err="1"/>
              <a:t>σx</a:t>
            </a:r>
            <a:r>
              <a:rPr lang="ru-RU" i="1" dirty="0"/>
              <a:t>−μ)2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5210584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2B36C8-4180-3475-2D43-8F7180797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Why</a:t>
            </a:r>
            <a:r>
              <a:rPr lang="ru-RU" dirty="0"/>
              <a:t> </a:t>
            </a:r>
            <a:r>
              <a:rPr lang="ru-RU" dirty="0" err="1"/>
              <a:t>Normal</a:t>
            </a:r>
            <a:r>
              <a:rPr lang="ru-RU" dirty="0"/>
              <a:t> Distribution </a:t>
            </a:r>
            <a:r>
              <a:rPr lang="ru-RU" dirty="0" err="1"/>
              <a:t>Matters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3751214-1A90-E584-ABB6-ACF7A72293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 err="1"/>
              <a:t>Three</a:t>
            </a:r>
            <a:r>
              <a:rPr lang="ru-RU" b="1" dirty="0"/>
              <a:t> </a:t>
            </a:r>
            <a:r>
              <a:rPr lang="ru-RU" b="1" dirty="0" err="1"/>
              <a:t>reasons</a:t>
            </a:r>
            <a:r>
              <a:rPr lang="ru-RU" b="1" dirty="0"/>
              <a:t>:</a:t>
            </a:r>
            <a:endParaRPr lang="ru-RU" dirty="0"/>
          </a:p>
          <a:p>
            <a:pPr lvl="0"/>
            <a:r>
              <a:rPr lang="ru-RU" b="1" dirty="0" err="1"/>
              <a:t>Many</a:t>
            </a:r>
            <a:r>
              <a:rPr lang="ru-RU" b="1" dirty="0"/>
              <a:t> </a:t>
            </a:r>
            <a:r>
              <a:rPr lang="ru-RU" b="1" dirty="0" err="1"/>
              <a:t>things</a:t>
            </a:r>
            <a:r>
              <a:rPr lang="ru-RU" b="1" dirty="0"/>
              <a:t> </a:t>
            </a:r>
            <a:r>
              <a:rPr lang="ru-RU" b="1" dirty="0" err="1"/>
              <a:t>are</a:t>
            </a:r>
            <a:r>
              <a:rPr lang="ru-RU" b="1" dirty="0"/>
              <a:t> </a:t>
            </a:r>
            <a:r>
              <a:rPr lang="ru-RU" b="1" dirty="0" err="1"/>
              <a:t>normal</a:t>
            </a:r>
            <a:r>
              <a:rPr lang="ru-RU" b="1" dirty="0"/>
              <a:t>:</a:t>
            </a:r>
            <a:r>
              <a:rPr lang="ru-RU" dirty="0"/>
              <a:t> </a:t>
            </a:r>
            <a:r>
              <a:rPr lang="ru-RU" dirty="0" err="1"/>
              <a:t>Heights</a:t>
            </a:r>
            <a:r>
              <a:rPr lang="ru-RU" dirty="0"/>
              <a:t>, </a:t>
            </a:r>
            <a:r>
              <a:rPr lang="ru-RU" dirty="0" err="1"/>
              <a:t>test</a:t>
            </a:r>
            <a:r>
              <a:rPr lang="ru-RU" dirty="0"/>
              <a:t> </a:t>
            </a:r>
            <a:r>
              <a:rPr lang="ru-RU" dirty="0" err="1"/>
              <a:t>scores</a:t>
            </a:r>
            <a:r>
              <a:rPr lang="ru-RU" dirty="0"/>
              <a:t>, </a:t>
            </a:r>
            <a:r>
              <a:rPr lang="ru-RU" dirty="0" err="1"/>
              <a:t>errors</a:t>
            </a:r>
            <a:endParaRPr lang="ru-RU" dirty="0"/>
          </a:p>
          <a:p>
            <a:pPr lvl="0"/>
            <a:r>
              <a:rPr lang="ru-RU" b="1" dirty="0" err="1"/>
              <a:t>Statistical</a:t>
            </a:r>
            <a:r>
              <a:rPr lang="ru-RU" b="1" dirty="0"/>
              <a:t> </a:t>
            </a:r>
            <a:r>
              <a:rPr lang="ru-RU" b="1" dirty="0" err="1"/>
              <a:t>tests</a:t>
            </a:r>
            <a:r>
              <a:rPr lang="ru-RU" b="1" dirty="0"/>
              <a:t> </a:t>
            </a:r>
            <a:r>
              <a:rPr lang="ru-RU" b="1" dirty="0" err="1"/>
              <a:t>assume</a:t>
            </a:r>
            <a:r>
              <a:rPr lang="ru-RU" b="1" dirty="0"/>
              <a:t> </a:t>
            </a:r>
            <a:r>
              <a:rPr lang="ru-RU" b="1" dirty="0" err="1"/>
              <a:t>normality</a:t>
            </a:r>
            <a:r>
              <a:rPr lang="ru-RU" b="1" dirty="0"/>
              <a:t>:</a:t>
            </a:r>
            <a:r>
              <a:rPr lang="ru-RU" dirty="0"/>
              <a:t> </a:t>
            </a:r>
            <a:r>
              <a:rPr lang="ru-RU" dirty="0" err="1"/>
              <a:t>Many</a:t>
            </a:r>
            <a:r>
              <a:rPr lang="ru-RU" dirty="0"/>
              <a:t> </a:t>
            </a:r>
            <a:r>
              <a:rPr lang="ru-RU" dirty="0" err="1"/>
              <a:t>methods</a:t>
            </a:r>
            <a:r>
              <a:rPr lang="ru-RU" dirty="0"/>
              <a:t> </a:t>
            </a:r>
            <a:r>
              <a:rPr lang="ru-RU" dirty="0" err="1"/>
              <a:t>work</a:t>
            </a:r>
            <a:r>
              <a:rPr lang="ru-RU" dirty="0"/>
              <a:t> </a:t>
            </a:r>
            <a:r>
              <a:rPr lang="ru-RU" dirty="0" err="1"/>
              <a:t>best</a:t>
            </a:r>
            <a:r>
              <a:rPr lang="ru-RU" dirty="0"/>
              <a:t> </a:t>
            </a:r>
            <a:r>
              <a:rPr lang="ru-RU" dirty="0" err="1"/>
              <a:t>with</a:t>
            </a:r>
            <a:r>
              <a:rPr lang="ru-RU" dirty="0"/>
              <a:t> </a:t>
            </a:r>
            <a:r>
              <a:rPr lang="ru-RU" dirty="0" err="1"/>
              <a:t>normal</a:t>
            </a:r>
            <a:r>
              <a:rPr lang="ru-RU" dirty="0"/>
              <a:t> </a:t>
            </a:r>
            <a:r>
              <a:rPr lang="ru-RU" dirty="0" err="1"/>
              <a:t>data</a:t>
            </a:r>
            <a:endParaRPr lang="ru-RU" dirty="0"/>
          </a:p>
          <a:p>
            <a:pPr lvl="0"/>
            <a:r>
              <a:rPr lang="ru-RU" b="1" dirty="0"/>
              <a:t>Central </a:t>
            </a:r>
            <a:r>
              <a:rPr lang="ru-RU" b="1" dirty="0" err="1"/>
              <a:t>Limit</a:t>
            </a:r>
            <a:r>
              <a:rPr lang="ru-RU" b="1" dirty="0"/>
              <a:t> </a:t>
            </a:r>
            <a:r>
              <a:rPr lang="ru-RU" b="1" dirty="0" err="1"/>
              <a:t>Theorem</a:t>
            </a:r>
            <a:r>
              <a:rPr lang="ru-RU" b="1" dirty="0"/>
              <a:t>:</a:t>
            </a:r>
            <a:r>
              <a:rPr lang="ru-RU" dirty="0"/>
              <a:t> </a:t>
            </a:r>
            <a:r>
              <a:rPr lang="ru-RU" dirty="0" err="1"/>
              <a:t>Means</a:t>
            </a:r>
            <a:r>
              <a:rPr lang="ru-RU" dirty="0"/>
              <a:t> </a:t>
            </a:r>
            <a:r>
              <a:rPr lang="ru-RU" dirty="0" err="1"/>
              <a:t>tend</a:t>
            </a:r>
            <a:r>
              <a:rPr lang="ru-RU" dirty="0"/>
              <a:t> </a:t>
            </a:r>
            <a:r>
              <a:rPr lang="ru-RU" dirty="0" err="1"/>
              <a:t>to</a:t>
            </a:r>
            <a:r>
              <a:rPr lang="ru-RU" dirty="0"/>
              <a:t> </a:t>
            </a:r>
            <a:r>
              <a:rPr lang="ru-RU" dirty="0" err="1"/>
              <a:t>be</a:t>
            </a:r>
            <a:r>
              <a:rPr lang="ru-RU" dirty="0"/>
              <a:t> </a:t>
            </a:r>
            <a:r>
              <a:rPr lang="ru-RU" dirty="0" err="1"/>
              <a:t>normal</a:t>
            </a:r>
            <a:r>
              <a:rPr lang="ru-RU" dirty="0"/>
              <a:t>, </a:t>
            </a:r>
            <a:r>
              <a:rPr lang="ru-RU" dirty="0" err="1"/>
              <a:t>even</a:t>
            </a:r>
            <a:r>
              <a:rPr lang="ru-RU" dirty="0"/>
              <a:t> </a:t>
            </a:r>
            <a:r>
              <a:rPr lang="ru-RU" dirty="0" err="1"/>
              <a:t>if</a:t>
            </a:r>
            <a:r>
              <a:rPr lang="ru-RU" dirty="0"/>
              <a:t> </a:t>
            </a:r>
            <a:r>
              <a:rPr lang="ru-RU" dirty="0" err="1"/>
              <a:t>data</a:t>
            </a:r>
            <a:r>
              <a:rPr lang="ru-RU" dirty="0"/>
              <a:t> </a:t>
            </a:r>
            <a:r>
              <a:rPr lang="ru-RU" dirty="0" err="1"/>
              <a:t>isn't</a:t>
            </a: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1503209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0B2595-3FA0-DBD4-7ED5-2F8C97DA8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Checking</a:t>
            </a:r>
            <a:r>
              <a:rPr lang="ru-RU" dirty="0"/>
              <a:t> </a:t>
            </a:r>
            <a:r>
              <a:rPr lang="ru-RU" dirty="0" err="1"/>
              <a:t>Normality</a:t>
            </a:r>
            <a:r>
              <a:rPr lang="ru-RU" dirty="0"/>
              <a:t> </a:t>
            </a:r>
            <a:r>
              <a:rPr lang="ru-RU" dirty="0" err="1"/>
              <a:t>Visually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AE4E3A0-BA96-2DBB-B773-13FDE85C45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b="1" dirty="0" err="1"/>
              <a:t>Two</a:t>
            </a:r>
            <a:r>
              <a:rPr lang="ru-RU" b="1" dirty="0"/>
              <a:t> </a:t>
            </a:r>
            <a:r>
              <a:rPr lang="ru-RU" b="1" dirty="0" err="1"/>
              <a:t>main</a:t>
            </a:r>
            <a:r>
              <a:rPr lang="ru-RU" b="1" dirty="0"/>
              <a:t> </a:t>
            </a:r>
            <a:r>
              <a:rPr lang="ru-RU" b="1" dirty="0" err="1"/>
              <a:t>plots</a:t>
            </a:r>
            <a:r>
              <a:rPr lang="ru-RU" b="1" dirty="0"/>
              <a:t>:</a:t>
            </a:r>
            <a:endParaRPr lang="ru-RU" dirty="0"/>
          </a:p>
          <a:p>
            <a:pPr lvl="0"/>
            <a:r>
              <a:rPr lang="ru-RU" b="1" dirty="0" err="1"/>
              <a:t>Histogram</a:t>
            </a:r>
            <a:r>
              <a:rPr lang="ru-RU" b="1" dirty="0"/>
              <a:t>:</a:t>
            </a:r>
            <a:r>
              <a:rPr lang="ru-RU" dirty="0"/>
              <a:t> </a:t>
            </a:r>
            <a:r>
              <a:rPr lang="ru-RU" dirty="0" err="1"/>
              <a:t>Should</a:t>
            </a:r>
            <a:r>
              <a:rPr lang="ru-RU" dirty="0"/>
              <a:t> </a:t>
            </a:r>
            <a:r>
              <a:rPr lang="ru-RU" dirty="0" err="1"/>
              <a:t>look</a:t>
            </a:r>
            <a:r>
              <a:rPr lang="ru-RU" dirty="0"/>
              <a:t> </a:t>
            </a:r>
            <a:r>
              <a:rPr lang="ru-RU" dirty="0" err="1"/>
              <a:t>bell-shaped</a:t>
            </a:r>
            <a:endParaRPr lang="ru-RU" dirty="0"/>
          </a:p>
          <a:p>
            <a:pPr lvl="0"/>
            <a:r>
              <a:rPr lang="ru-RU" b="1" dirty="0"/>
              <a:t>Q-Q </a:t>
            </a:r>
            <a:r>
              <a:rPr lang="ru-RU" b="1" dirty="0" err="1"/>
              <a:t>Plot</a:t>
            </a:r>
            <a:r>
              <a:rPr lang="ru-RU" b="1" dirty="0"/>
              <a:t>:</a:t>
            </a:r>
            <a:r>
              <a:rPr lang="ru-RU" dirty="0"/>
              <a:t> </a:t>
            </a:r>
            <a:r>
              <a:rPr lang="ru-RU" dirty="0" err="1"/>
              <a:t>Points</a:t>
            </a:r>
            <a:r>
              <a:rPr lang="ru-RU" dirty="0"/>
              <a:t> </a:t>
            </a:r>
            <a:r>
              <a:rPr lang="ru-RU" dirty="0" err="1"/>
              <a:t>should</a:t>
            </a:r>
            <a:r>
              <a:rPr lang="ru-RU" dirty="0"/>
              <a:t> </a:t>
            </a:r>
            <a:r>
              <a:rPr lang="ru-RU" dirty="0" err="1"/>
              <a:t>follow</a:t>
            </a:r>
            <a:r>
              <a:rPr lang="ru-RU" dirty="0"/>
              <a:t> </a:t>
            </a:r>
            <a:r>
              <a:rPr lang="ru-RU" dirty="0" err="1"/>
              <a:t>straight</a:t>
            </a:r>
            <a:r>
              <a:rPr lang="ru-RU" dirty="0"/>
              <a:t> </a:t>
            </a:r>
            <a:r>
              <a:rPr lang="ru-RU" dirty="0" err="1"/>
              <a:t>line</a:t>
            </a:r>
            <a:endParaRPr lang="ru-RU" dirty="0"/>
          </a:p>
          <a:p>
            <a:pPr marL="0" indent="0">
              <a:buNone/>
            </a:pPr>
            <a:r>
              <a:rPr lang="ru-RU" b="1" dirty="0"/>
              <a:t>Python </a:t>
            </a:r>
            <a:r>
              <a:rPr lang="ru-RU" b="1" dirty="0" err="1"/>
              <a:t>for</a:t>
            </a:r>
            <a:r>
              <a:rPr lang="ru-RU" b="1" dirty="0"/>
              <a:t> </a:t>
            </a:r>
            <a:r>
              <a:rPr lang="ru-RU" b="1" dirty="0" err="1"/>
              <a:t>histogram</a:t>
            </a:r>
            <a:r>
              <a:rPr lang="ru-RU" b="1" dirty="0"/>
              <a:t>:</a:t>
            </a:r>
            <a:endParaRPr lang="ru-RU" dirty="0"/>
          </a:p>
          <a:p>
            <a:pPr marL="0" indent="0" latinLnBrk="1">
              <a:buNone/>
            </a:pPr>
            <a:r>
              <a:rPr lang="ru-RU" i="1" dirty="0" err="1"/>
              <a:t>import</a:t>
            </a:r>
            <a:r>
              <a:rPr lang="ru-RU" i="1" dirty="0"/>
              <a:t> </a:t>
            </a:r>
            <a:r>
              <a:rPr lang="ru-RU" i="1" dirty="0" err="1"/>
              <a:t>matplotlib.pyplot</a:t>
            </a:r>
            <a:r>
              <a:rPr lang="ru-RU" i="1" dirty="0"/>
              <a:t> </a:t>
            </a:r>
            <a:r>
              <a:rPr lang="ru-RU" i="1" dirty="0" err="1"/>
              <a:t>as</a:t>
            </a:r>
            <a:r>
              <a:rPr lang="ru-RU" i="1" dirty="0"/>
              <a:t> </a:t>
            </a:r>
            <a:r>
              <a:rPr lang="ru-RU" i="1" dirty="0" err="1"/>
              <a:t>plt</a:t>
            </a:r>
            <a:endParaRPr lang="ru-RU" i="1" dirty="0"/>
          </a:p>
          <a:p>
            <a:pPr marL="0" indent="0" latinLnBrk="1">
              <a:buNone/>
            </a:pPr>
            <a:r>
              <a:rPr lang="ru-RU" i="1" dirty="0" err="1"/>
              <a:t>import</a:t>
            </a:r>
            <a:r>
              <a:rPr lang="ru-RU" i="1" dirty="0"/>
              <a:t> </a:t>
            </a:r>
            <a:r>
              <a:rPr lang="ru-RU" i="1" dirty="0" err="1"/>
              <a:t>numpy</a:t>
            </a:r>
            <a:r>
              <a:rPr lang="ru-RU" i="1" dirty="0"/>
              <a:t> </a:t>
            </a:r>
            <a:r>
              <a:rPr lang="ru-RU" i="1" dirty="0" err="1"/>
              <a:t>as</a:t>
            </a:r>
            <a:r>
              <a:rPr lang="ru-RU" i="1" dirty="0"/>
              <a:t> </a:t>
            </a:r>
            <a:r>
              <a:rPr lang="ru-RU" i="1" dirty="0" err="1"/>
              <a:t>np</a:t>
            </a:r>
            <a:endParaRPr lang="ru-RU" i="1" dirty="0"/>
          </a:p>
          <a:p>
            <a:pPr marL="0" indent="0" latinLnBrk="1">
              <a:buNone/>
            </a:pPr>
            <a:r>
              <a:rPr lang="ru-RU" b="1" i="1" dirty="0"/>
              <a:t># </a:t>
            </a:r>
            <a:r>
              <a:rPr lang="ru-RU" b="1" i="1" dirty="0" err="1"/>
              <a:t>Generate</a:t>
            </a:r>
            <a:r>
              <a:rPr lang="ru-RU" b="1" i="1" dirty="0"/>
              <a:t> </a:t>
            </a:r>
            <a:r>
              <a:rPr lang="ru-RU" b="1" i="1" dirty="0" err="1"/>
              <a:t>normal</a:t>
            </a:r>
            <a:r>
              <a:rPr lang="ru-RU" b="1" i="1" dirty="0"/>
              <a:t> </a:t>
            </a:r>
            <a:r>
              <a:rPr lang="ru-RU" b="1" i="1" dirty="0" err="1"/>
              <a:t>data</a:t>
            </a:r>
            <a:endParaRPr lang="ru-RU" b="1" i="1" dirty="0"/>
          </a:p>
          <a:p>
            <a:pPr marL="0" indent="0" latinLnBrk="1">
              <a:buNone/>
            </a:pPr>
            <a:r>
              <a:rPr lang="ru-RU" i="1" dirty="0" err="1"/>
              <a:t>normal_data</a:t>
            </a:r>
            <a:r>
              <a:rPr lang="ru-RU" i="1" dirty="0"/>
              <a:t> = </a:t>
            </a:r>
            <a:r>
              <a:rPr lang="ru-RU" i="1" dirty="0" err="1"/>
              <a:t>np.random.normal</a:t>
            </a:r>
            <a:r>
              <a:rPr lang="ru-RU" i="1" dirty="0"/>
              <a:t>(0, 1, 1000)</a:t>
            </a:r>
          </a:p>
          <a:p>
            <a:pPr marL="0" indent="0" latinLnBrk="1">
              <a:buNone/>
            </a:pPr>
            <a:r>
              <a:rPr lang="ru-RU" b="1" i="1" dirty="0"/>
              <a:t># </a:t>
            </a:r>
            <a:r>
              <a:rPr lang="ru-RU" b="1" i="1" dirty="0" err="1"/>
              <a:t>Create</a:t>
            </a:r>
            <a:r>
              <a:rPr lang="ru-RU" b="1" i="1" dirty="0"/>
              <a:t> </a:t>
            </a:r>
            <a:r>
              <a:rPr lang="ru-RU" b="1" i="1" dirty="0" err="1"/>
              <a:t>histogram</a:t>
            </a:r>
            <a:endParaRPr lang="ru-RU" b="1" i="1" dirty="0"/>
          </a:p>
          <a:p>
            <a:pPr marL="0" indent="0" latinLnBrk="1">
              <a:buNone/>
            </a:pPr>
            <a:r>
              <a:rPr lang="ru-RU" i="1" dirty="0" err="1"/>
              <a:t>plt.hist</a:t>
            </a:r>
            <a:r>
              <a:rPr lang="ru-RU" i="1" dirty="0"/>
              <a:t>(</a:t>
            </a:r>
            <a:r>
              <a:rPr lang="ru-RU" i="1" dirty="0" err="1"/>
              <a:t>normal_data</a:t>
            </a:r>
            <a:r>
              <a:rPr lang="ru-RU" i="1" dirty="0"/>
              <a:t>, </a:t>
            </a:r>
            <a:r>
              <a:rPr lang="ru-RU" i="1" dirty="0" err="1"/>
              <a:t>bins</a:t>
            </a:r>
            <a:r>
              <a:rPr lang="ru-RU" i="1" dirty="0"/>
              <a:t>=30, </a:t>
            </a:r>
            <a:r>
              <a:rPr lang="ru-RU" i="1" dirty="0" err="1"/>
              <a:t>edgecolor</a:t>
            </a:r>
            <a:r>
              <a:rPr lang="ru-RU" i="1" dirty="0"/>
              <a:t>='</a:t>
            </a:r>
            <a:r>
              <a:rPr lang="ru-RU" i="1" dirty="0" err="1"/>
              <a:t>black</a:t>
            </a:r>
            <a:r>
              <a:rPr lang="ru-RU" i="1" dirty="0"/>
              <a:t>')</a:t>
            </a:r>
          </a:p>
          <a:p>
            <a:pPr marL="0" indent="0" latinLnBrk="1">
              <a:buNone/>
            </a:pPr>
            <a:r>
              <a:rPr lang="ru-RU" i="1" dirty="0" err="1"/>
              <a:t>plt.title</a:t>
            </a:r>
            <a:r>
              <a:rPr lang="ru-RU" i="1" dirty="0"/>
              <a:t>('</a:t>
            </a:r>
            <a:r>
              <a:rPr lang="ru-RU" i="1" dirty="0" err="1"/>
              <a:t>Histogram</a:t>
            </a:r>
            <a:r>
              <a:rPr lang="ru-RU" i="1" dirty="0"/>
              <a:t> </a:t>
            </a:r>
            <a:r>
              <a:rPr lang="ru-RU" i="1" dirty="0" err="1"/>
              <a:t>of</a:t>
            </a:r>
            <a:r>
              <a:rPr lang="ru-RU" i="1" dirty="0"/>
              <a:t> </a:t>
            </a:r>
            <a:r>
              <a:rPr lang="ru-RU" i="1" dirty="0" err="1"/>
              <a:t>Normal</a:t>
            </a:r>
            <a:r>
              <a:rPr lang="ru-RU" i="1" dirty="0"/>
              <a:t> Data')</a:t>
            </a:r>
          </a:p>
          <a:p>
            <a:pPr marL="0" indent="0" latinLnBrk="1">
              <a:buNone/>
            </a:pPr>
            <a:r>
              <a:rPr lang="ru-RU" i="1" dirty="0" err="1"/>
              <a:t>plt.show</a:t>
            </a:r>
            <a:r>
              <a:rPr lang="ru-RU" i="1" dirty="0"/>
              <a:t>()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5787653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E0AB48-E610-BE0E-2777-4A9CCF7510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Checking</a:t>
            </a:r>
            <a:r>
              <a:rPr lang="ru-RU" dirty="0"/>
              <a:t> </a:t>
            </a:r>
            <a:r>
              <a:rPr lang="ru-RU" dirty="0" err="1"/>
              <a:t>Normality</a:t>
            </a:r>
            <a:r>
              <a:rPr lang="ru-RU" dirty="0"/>
              <a:t> </a:t>
            </a:r>
            <a:r>
              <a:rPr lang="ru-RU" dirty="0" err="1"/>
              <a:t>Visually</a:t>
            </a:r>
            <a:endParaRPr lang="ru-RU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50B004D-9653-6B35-EC67-4BCEE385F1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435" y="1529801"/>
            <a:ext cx="8440611" cy="45922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738065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5AA361-FBA5-8299-8CAB-480D1257B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Basic </a:t>
            </a:r>
            <a:r>
              <a:rPr lang="ru-RU" dirty="0" err="1"/>
              <a:t>Statistical</a:t>
            </a:r>
            <a:r>
              <a:rPr lang="ru-RU" dirty="0"/>
              <a:t> </a:t>
            </a:r>
            <a:r>
              <a:rPr lang="ru-RU" dirty="0" err="1"/>
              <a:t>Plots</a:t>
            </a:r>
            <a:r>
              <a:rPr lang="ru-RU" dirty="0"/>
              <a:t> - </a:t>
            </a:r>
            <a:r>
              <a:rPr lang="ru-RU" dirty="0" err="1"/>
              <a:t>Histogram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2BA4D43-C573-07A4-03AC-09DC152ECF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What </a:t>
            </a:r>
            <a:r>
              <a:rPr lang="ru-RU" b="1" dirty="0" err="1"/>
              <a:t>it</a:t>
            </a:r>
            <a:r>
              <a:rPr lang="ru-RU" b="1" dirty="0"/>
              <a:t> </a:t>
            </a:r>
            <a:r>
              <a:rPr lang="ru-RU" b="1" dirty="0" err="1"/>
              <a:t>shows</a:t>
            </a:r>
            <a:r>
              <a:rPr lang="ru-RU" b="1" dirty="0"/>
              <a:t>:</a:t>
            </a:r>
            <a:r>
              <a:rPr lang="ru-RU" dirty="0"/>
              <a:t> Frequency </a:t>
            </a:r>
            <a:r>
              <a:rPr lang="ru-RU" dirty="0" err="1"/>
              <a:t>distribution</a:t>
            </a:r>
            <a:endParaRPr lang="ru-RU" dirty="0"/>
          </a:p>
          <a:p>
            <a:r>
              <a:rPr lang="ru-RU" b="1" dirty="0" err="1"/>
              <a:t>How</a:t>
            </a:r>
            <a:r>
              <a:rPr lang="ru-RU" b="1" dirty="0"/>
              <a:t> </a:t>
            </a:r>
            <a:r>
              <a:rPr lang="ru-RU" b="1" dirty="0" err="1"/>
              <a:t>to</a:t>
            </a:r>
            <a:r>
              <a:rPr lang="ru-RU" b="1" dirty="0"/>
              <a:t> </a:t>
            </a:r>
            <a:r>
              <a:rPr lang="ru-RU" b="1" dirty="0" err="1"/>
              <a:t>read</a:t>
            </a:r>
            <a:r>
              <a:rPr lang="ru-RU" b="1" dirty="0"/>
              <a:t>:</a:t>
            </a:r>
            <a:endParaRPr lang="ru-RU" dirty="0"/>
          </a:p>
          <a:p>
            <a:pPr lvl="0"/>
            <a:r>
              <a:rPr lang="ru-RU" dirty="0"/>
              <a:t>X-</a:t>
            </a:r>
            <a:r>
              <a:rPr lang="ru-RU" dirty="0" err="1"/>
              <a:t>axis</a:t>
            </a:r>
            <a:r>
              <a:rPr lang="ru-RU" dirty="0"/>
              <a:t>: Data </a:t>
            </a:r>
            <a:r>
              <a:rPr lang="ru-RU" dirty="0" err="1"/>
              <a:t>values</a:t>
            </a:r>
            <a:r>
              <a:rPr lang="ru-RU" dirty="0"/>
              <a:t> (</a:t>
            </a:r>
            <a:r>
              <a:rPr lang="ru-RU" dirty="0" err="1"/>
              <a:t>grouped</a:t>
            </a:r>
            <a:r>
              <a:rPr lang="ru-RU" dirty="0"/>
              <a:t> </a:t>
            </a:r>
            <a:r>
              <a:rPr lang="ru-RU" dirty="0" err="1"/>
              <a:t>into</a:t>
            </a:r>
            <a:r>
              <a:rPr lang="ru-RU" dirty="0"/>
              <a:t> </a:t>
            </a:r>
            <a:r>
              <a:rPr lang="ru-RU" dirty="0" err="1"/>
              <a:t>bins</a:t>
            </a:r>
            <a:r>
              <a:rPr lang="ru-RU" dirty="0"/>
              <a:t>)</a:t>
            </a:r>
          </a:p>
          <a:p>
            <a:pPr lvl="0"/>
            <a:r>
              <a:rPr lang="ru-RU" dirty="0"/>
              <a:t>Y-</a:t>
            </a:r>
            <a:r>
              <a:rPr lang="ru-RU" dirty="0" err="1"/>
              <a:t>axis</a:t>
            </a:r>
            <a:r>
              <a:rPr lang="ru-RU" dirty="0"/>
              <a:t>: </a:t>
            </a:r>
            <a:r>
              <a:rPr lang="ru-RU" dirty="0" err="1"/>
              <a:t>How</a:t>
            </a:r>
            <a:r>
              <a:rPr lang="ru-RU" dirty="0"/>
              <a:t> </a:t>
            </a:r>
            <a:r>
              <a:rPr lang="ru-RU" dirty="0" err="1"/>
              <a:t>many</a:t>
            </a:r>
            <a:r>
              <a:rPr lang="ru-RU" dirty="0"/>
              <a:t> </a:t>
            </a:r>
            <a:r>
              <a:rPr lang="ru-RU" dirty="0" err="1"/>
              <a:t>values</a:t>
            </a:r>
            <a:r>
              <a:rPr lang="ru-RU" dirty="0"/>
              <a:t> </a:t>
            </a:r>
            <a:r>
              <a:rPr lang="ru-RU" dirty="0" err="1"/>
              <a:t>in</a:t>
            </a:r>
            <a:r>
              <a:rPr lang="ru-RU" dirty="0"/>
              <a:t> </a:t>
            </a:r>
            <a:r>
              <a:rPr lang="ru-RU" dirty="0" err="1"/>
              <a:t>each</a:t>
            </a:r>
            <a:r>
              <a:rPr lang="ru-RU" dirty="0"/>
              <a:t> </a:t>
            </a:r>
            <a:r>
              <a:rPr lang="ru-RU" dirty="0" err="1"/>
              <a:t>bin</a:t>
            </a:r>
            <a:endParaRPr lang="ru-RU" dirty="0"/>
          </a:p>
          <a:p>
            <a:r>
              <a:rPr lang="ru-RU" b="1" dirty="0" err="1"/>
              <a:t>Example</a:t>
            </a:r>
            <a:r>
              <a:rPr lang="ru-RU" b="1" dirty="0"/>
              <a:t>:</a:t>
            </a:r>
            <a:r>
              <a:rPr lang="ru-RU" dirty="0"/>
              <a:t> </a:t>
            </a:r>
            <a:r>
              <a:rPr lang="ru-RU" dirty="0" err="1"/>
              <a:t>Student</a:t>
            </a:r>
            <a:r>
              <a:rPr lang="ru-RU" dirty="0"/>
              <a:t> </a:t>
            </a:r>
            <a:r>
              <a:rPr lang="ru-RU" dirty="0" err="1"/>
              <a:t>heights</a:t>
            </a:r>
            <a:endParaRPr lang="ru-RU" dirty="0"/>
          </a:p>
          <a:p>
            <a:pPr lvl="0"/>
            <a:r>
              <a:rPr lang="ru-RU" dirty="0" err="1"/>
              <a:t>Most</a:t>
            </a:r>
            <a:r>
              <a:rPr lang="ru-RU" dirty="0"/>
              <a:t> </a:t>
            </a:r>
            <a:r>
              <a:rPr lang="ru-RU" dirty="0" err="1"/>
              <a:t>students</a:t>
            </a:r>
            <a:r>
              <a:rPr lang="ru-RU" dirty="0"/>
              <a:t>: 160-170 </a:t>
            </a:r>
            <a:r>
              <a:rPr lang="ru-RU" dirty="0" err="1"/>
              <a:t>cm</a:t>
            </a:r>
            <a:endParaRPr lang="ru-RU" dirty="0"/>
          </a:p>
          <a:p>
            <a:pPr lvl="0"/>
            <a:r>
              <a:rPr lang="ru-RU" dirty="0" err="1"/>
              <a:t>Few</a:t>
            </a:r>
            <a:r>
              <a:rPr lang="ru-RU" dirty="0"/>
              <a:t> </a:t>
            </a:r>
            <a:r>
              <a:rPr lang="ru-RU" dirty="0" err="1"/>
              <a:t>students</a:t>
            </a:r>
            <a:r>
              <a:rPr lang="ru-RU" dirty="0"/>
              <a:t>: </a:t>
            </a:r>
            <a:r>
              <a:rPr lang="ru-RU" dirty="0" err="1"/>
              <a:t>Below</a:t>
            </a:r>
            <a:r>
              <a:rPr lang="ru-RU" dirty="0"/>
              <a:t> 150 </a:t>
            </a:r>
            <a:r>
              <a:rPr lang="ru-RU" dirty="0" err="1"/>
              <a:t>cm</a:t>
            </a:r>
            <a:r>
              <a:rPr lang="ru-RU" dirty="0"/>
              <a:t> </a:t>
            </a:r>
            <a:r>
              <a:rPr lang="ru-RU" dirty="0" err="1"/>
              <a:t>or</a:t>
            </a:r>
            <a:r>
              <a:rPr lang="ru-RU" dirty="0"/>
              <a:t> </a:t>
            </a:r>
            <a:r>
              <a:rPr lang="ru-RU" dirty="0" err="1"/>
              <a:t>above</a:t>
            </a:r>
            <a:r>
              <a:rPr lang="ru-RU" dirty="0"/>
              <a:t> 190 </a:t>
            </a:r>
            <a:r>
              <a:rPr lang="ru-RU" dirty="0" err="1"/>
              <a:t>cm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8193414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9C04B0-93FD-C714-B680-D927237362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Python - </a:t>
            </a:r>
            <a:r>
              <a:rPr lang="ru-RU" dirty="0" err="1"/>
              <a:t>Creating</a:t>
            </a:r>
            <a:r>
              <a:rPr lang="ru-RU" dirty="0"/>
              <a:t> </a:t>
            </a:r>
            <a:r>
              <a:rPr lang="ru-RU" dirty="0" err="1"/>
              <a:t>Histograms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3388992-02B5-A775-84C3-463A3B7EF2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 latinLnBrk="1">
              <a:buNone/>
            </a:pPr>
            <a:r>
              <a:rPr lang="ru-RU" i="1" dirty="0" err="1"/>
              <a:t>import</a:t>
            </a:r>
            <a:r>
              <a:rPr lang="ru-RU" i="1" dirty="0"/>
              <a:t> </a:t>
            </a:r>
            <a:r>
              <a:rPr lang="ru-RU" i="1" dirty="0" err="1"/>
              <a:t>matplotlib.pyplot</a:t>
            </a:r>
            <a:r>
              <a:rPr lang="ru-RU" i="1" dirty="0"/>
              <a:t> </a:t>
            </a:r>
            <a:r>
              <a:rPr lang="ru-RU" i="1" dirty="0" err="1"/>
              <a:t>as</a:t>
            </a:r>
            <a:r>
              <a:rPr lang="ru-RU" i="1" dirty="0"/>
              <a:t> </a:t>
            </a:r>
            <a:r>
              <a:rPr lang="ru-RU" i="1" dirty="0" err="1"/>
              <a:t>plt</a:t>
            </a:r>
            <a:endParaRPr lang="ru-RU" i="1" dirty="0"/>
          </a:p>
          <a:p>
            <a:pPr marL="0" indent="0" latinLnBrk="1">
              <a:buNone/>
            </a:pPr>
            <a:r>
              <a:rPr lang="ru-RU" i="1" dirty="0" err="1"/>
              <a:t>import</a:t>
            </a:r>
            <a:r>
              <a:rPr lang="ru-RU" i="1" dirty="0"/>
              <a:t> </a:t>
            </a:r>
            <a:r>
              <a:rPr lang="ru-RU" i="1" dirty="0" err="1"/>
              <a:t>numpy</a:t>
            </a:r>
            <a:r>
              <a:rPr lang="ru-RU" i="1" dirty="0"/>
              <a:t> </a:t>
            </a:r>
            <a:r>
              <a:rPr lang="ru-RU" i="1" dirty="0" err="1"/>
              <a:t>as</a:t>
            </a:r>
            <a:r>
              <a:rPr lang="ru-RU" i="1" dirty="0"/>
              <a:t> </a:t>
            </a:r>
            <a:r>
              <a:rPr lang="ru-RU" i="1" dirty="0" err="1"/>
              <a:t>np</a:t>
            </a:r>
            <a:endParaRPr lang="ru-RU" i="1" dirty="0"/>
          </a:p>
          <a:p>
            <a:pPr marL="0" indent="0" latinLnBrk="1">
              <a:buNone/>
            </a:pPr>
            <a:r>
              <a:rPr lang="ru-RU" b="1" i="1" dirty="0"/>
              <a:t># </a:t>
            </a:r>
            <a:r>
              <a:rPr lang="ru-RU" b="1" i="1" dirty="0" err="1"/>
              <a:t>Sample</a:t>
            </a:r>
            <a:r>
              <a:rPr lang="ru-RU" b="1" i="1" dirty="0"/>
              <a:t> </a:t>
            </a:r>
            <a:r>
              <a:rPr lang="ru-RU" b="1" i="1" dirty="0" err="1"/>
              <a:t>data</a:t>
            </a:r>
            <a:r>
              <a:rPr lang="ru-RU" b="1" i="1" dirty="0"/>
              <a:t> - </a:t>
            </a:r>
            <a:r>
              <a:rPr lang="ru-RU" b="1" i="1" dirty="0" err="1"/>
              <a:t>test</a:t>
            </a:r>
            <a:r>
              <a:rPr lang="ru-RU" b="1" i="1" dirty="0"/>
              <a:t> </a:t>
            </a:r>
            <a:r>
              <a:rPr lang="ru-RU" b="1" i="1" dirty="0" err="1"/>
              <a:t>scores</a:t>
            </a:r>
            <a:endParaRPr lang="ru-RU" b="1" i="1" dirty="0"/>
          </a:p>
          <a:p>
            <a:pPr marL="0" indent="0" latinLnBrk="1">
              <a:buNone/>
            </a:pPr>
            <a:r>
              <a:rPr lang="ru-RU" i="1" dirty="0" err="1"/>
              <a:t>scores</a:t>
            </a:r>
            <a:r>
              <a:rPr lang="ru-RU" i="1" dirty="0"/>
              <a:t> = </a:t>
            </a:r>
            <a:r>
              <a:rPr lang="ru-RU" i="1" dirty="0" err="1"/>
              <a:t>np.random.normal</a:t>
            </a:r>
            <a:r>
              <a:rPr lang="ru-RU" i="1" dirty="0"/>
              <a:t>(75, 10, 1000)  # </a:t>
            </a:r>
            <a:r>
              <a:rPr lang="ru-RU" i="1" dirty="0" err="1"/>
              <a:t>Mean</a:t>
            </a:r>
            <a:r>
              <a:rPr lang="ru-RU" i="1" dirty="0"/>
              <a:t>=75, SD=10</a:t>
            </a:r>
          </a:p>
          <a:p>
            <a:pPr marL="0" indent="0" latinLnBrk="1">
              <a:buNone/>
            </a:pPr>
            <a:r>
              <a:rPr lang="ru-RU" b="1" i="1" dirty="0"/>
              <a:t># </a:t>
            </a:r>
            <a:r>
              <a:rPr lang="ru-RU" b="1" i="1" dirty="0" err="1"/>
              <a:t>Create</a:t>
            </a:r>
            <a:r>
              <a:rPr lang="ru-RU" b="1" i="1" dirty="0"/>
              <a:t> </a:t>
            </a:r>
            <a:r>
              <a:rPr lang="ru-RU" b="1" i="1" dirty="0" err="1"/>
              <a:t>histogram</a:t>
            </a:r>
            <a:endParaRPr lang="ru-RU" b="1" i="1" dirty="0"/>
          </a:p>
          <a:p>
            <a:pPr marL="0" indent="0" latinLnBrk="1">
              <a:buNone/>
            </a:pPr>
            <a:r>
              <a:rPr lang="ru-RU" i="1" dirty="0" err="1"/>
              <a:t>plt.figure</a:t>
            </a:r>
            <a:r>
              <a:rPr lang="ru-RU" i="1" dirty="0"/>
              <a:t>(</a:t>
            </a:r>
            <a:r>
              <a:rPr lang="ru-RU" i="1" dirty="0" err="1"/>
              <a:t>figsize</a:t>
            </a:r>
            <a:r>
              <a:rPr lang="ru-RU" i="1" dirty="0"/>
              <a:t>=(10, 6))</a:t>
            </a:r>
          </a:p>
          <a:p>
            <a:pPr marL="0" indent="0" latinLnBrk="1">
              <a:buNone/>
            </a:pPr>
            <a:r>
              <a:rPr lang="ru-RU" i="1" dirty="0" err="1"/>
              <a:t>plt.hist</a:t>
            </a:r>
            <a:r>
              <a:rPr lang="ru-RU" i="1" dirty="0"/>
              <a:t>(</a:t>
            </a:r>
            <a:r>
              <a:rPr lang="ru-RU" i="1" dirty="0" err="1"/>
              <a:t>scores</a:t>
            </a:r>
            <a:r>
              <a:rPr lang="ru-RU" i="1" dirty="0"/>
              <a:t>, </a:t>
            </a:r>
            <a:r>
              <a:rPr lang="ru-RU" i="1" dirty="0" err="1"/>
              <a:t>bins</a:t>
            </a:r>
            <a:r>
              <a:rPr lang="ru-RU" i="1" dirty="0"/>
              <a:t>=30, </a:t>
            </a:r>
            <a:r>
              <a:rPr lang="ru-RU" i="1" dirty="0" err="1"/>
              <a:t>edgecolor</a:t>
            </a:r>
            <a:r>
              <a:rPr lang="ru-RU" i="1" dirty="0"/>
              <a:t>='</a:t>
            </a:r>
            <a:r>
              <a:rPr lang="ru-RU" i="1" dirty="0" err="1"/>
              <a:t>black</a:t>
            </a:r>
            <a:r>
              <a:rPr lang="ru-RU" i="1" dirty="0"/>
              <a:t>', </a:t>
            </a:r>
            <a:r>
              <a:rPr lang="ru-RU" i="1" dirty="0" err="1"/>
              <a:t>alpha</a:t>
            </a:r>
            <a:r>
              <a:rPr lang="ru-RU" i="1" dirty="0"/>
              <a:t>=0.7)</a:t>
            </a:r>
          </a:p>
          <a:p>
            <a:pPr marL="0" indent="0" latinLnBrk="1">
              <a:buNone/>
            </a:pPr>
            <a:r>
              <a:rPr lang="ru-RU" i="1" dirty="0" err="1"/>
              <a:t>plt.title</a:t>
            </a:r>
            <a:r>
              <a:rPr lang="ru-RU" i="1" dirty="0"/>
              <a:t>('Distribution </a:t>
            </a:r>
            <a:r>
              <a:rPr lang="ru-RU" i="1" dirty="0" err="1"/>
              <a:t>of</a:t>
            </a:r>
            <a:r>
              <a:rPr lang="ru-RU" i="1" dirty="0"/>
              <a:t> Test </a:t>
            </a:r>
            <a:r>
              <a:rPr lang="ru-RU" i="1" dirty="0" err="1"/>
              <a:t>Scores</a:t>
            </a:r>
            <a:r>
              <a:rPr lang="ru-RU" i="1" dirty="0"/>
              <a:t>')</a:t>
            </a:r>
          </a:p>
          <a:p>
            <a:pPr marL="0" indent="0" latinLnBrk="1">
              <a:buNone/>
            </a:pPr>
            <a:r>
              <a:rPr lang="ru-RU" i="1" dirty="0" err="1"/>
              <a:t>plt.xlabel</a:t>
            </a:r>
            <a:r>
              <a:rPr lang="ru-RU" i="1" dirty="0"/>
              <a:t>('</a:t>
            </a:r>
            <a:r>
              <a:rPr lang="ru-RU" i="1" dirty="0" err="1"/>
              <a:t>Score</a:t>
            </a:r>
            <a:r>
              <a:rPr lang="ru-RU" i="1" dirty="0"/>
              <a:t>')</a:t>
            </a:r>
          </a:p>
          <a:p>
            <a:pPr marL="0" indent="0" latinLnBrk="1">
              <a:buNone/>
            </a:pPr>
            <a:r>
              <a:rPr lang="ru-RU" i="1" dirty="0" err="1"/>
              <a:t>plt.ylabel</a:t>
            </a:r>
            <a:r>
              <a:rPr lang="ru-RU" i="1" dirty="0"/>
              <a:t>('Number </a:t>
            </a:r>
            <a:r>
              <a:rPr lang="ru-RU" i="1" dirty="0" err="1"/>
              <a:t>of</a:t>
            </a:r>
            <a:r>
              <a:rPr lang="ru-RU" i="1" dirty="0"/>
              <a:t> </a:t>
            </a:r>
            <a:r>
              <a:rPr lang="ru-RU" i="1" dirty="0" err="1"/>
              <a:t>Students</a:t>
            </a:r>
            <a:r>
              <a:rPr lang="ru-RU" i="1" dirty="0"/>
              <a:t>')</a:t>
            </a:r>
          </a:p>
          <a:p>
            <a:pPr marL="0" indent="0" latinLnBrk="1">
              <a:buNone/>
            </a:pPr>
            <a:r>
              <a:rPr lang="ru-RU" i="1" dirty="0" err="1"/>
              <a:t>plt.grid</a:t>
            </a:r>
            <a:r>
              <a:rPr lang="ru-RU" i="1" dirty="0"/>
              <a:t>(True, </a:t>
            </a:r>
            <a:r>
              <a:rPr lang="ru-RU" i="1" dirty="0" err="1"/>
              <a:t>alpha</a:t>
            </a:r>
            <a:r>
              <a:rPr lang="ru-RU" i="1" dirty="0"/>
              <a:t>=0.3)</a:t>
            </a:r>
          </a:p>
          <a:p>
            <a:pPr marL="0" indent="0" latinLnBrk="1">
              <a:buNone/>
            </a:pPr>
            <a:r>
              <a:rPr lang="ru-RU" i="1" dirty="0" err="1"/>
              <a:t>plt.show</a:t>
            </a:r>
            <a:r>
              <a:rPr lang="ru-RU" i="1" dirty="0"/>
              <a:t>()</a:t>
            </a:r>
          </a:p>
          <a:p>
            <a:pPr marL="0" indent="0">
              <a:buNone/>
            </a:pPr>
            <a:endParaRPr lang="ru-RU" i="1" dirty="0"/>
          </a:p>
        </p:txBody>
      </p:sp>
    </p:spTree>
    <p:extLst>
      <p:ext uri="{BB962C8B-B14F-4D97-AF65-F5344CB8AC3E}">
        <p14:creationId xmlns:p14="http://schemas.microsoft.com/office/powerpoint/2010/main" val="294740499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DBB03E-5D87-9884-08A7-414CD2C55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Box </a:t>
            </a:r>
            <a:r>
              <a:rPr lang="ru-RU" dirty="0" err="1"/>
              <a:t>Plot</a:t>
            </a:r>
            <a:r>
              <a:rPr lang="ru-RU" dirty="0"/>
              <a:t> (Box-</a:t>
            </a:r>
            <a:r>
              <a:rPr lang="ru-RU" dirty="0" err="1"/>
              <a:t>and</a:t>
            </a:r>
            <a:r>
              <a:rPr lang="ru-RU" dirty="0"/>
              <a:t>-</a:t>
            </a:r>
            <a:r>
              <a:rPr lang="ru-RU" dirty="0" err="1"/>
              <a:t>Whisker</a:t>
            </a:r>
            <a:r>
              <a:rPr lang="ru-RU" dirty="0"/>
              <a:t>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BEAFE57-C882-EC59-95CA-C962DF3BD7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latinLnBrk="1"/>
            <a:r>
              <a:rPr lang="ru-RU" dirty="0" err="1"/>
              <a:t>Outliers</a:t>
            </a:r>
            <a:r>
              <a:rPr lang="ru-RU" dirty="0"/>
              <a:t> (</a:t>
            </a:r>
            <a:r>
              <a:rPr lang="ru-RU" dirty="0" err="1"/>
              <a:t>dots</a:t>
            </a:r>
            <a:r>
              <a:rPr lang="ru-RU" dirty="0"/>
              <a:t>)</a:t>
            </a:r>
          </a:p>
          <a:p>
            <a:pPr latinLnBrk="1"/>
            <a:r>
              <a:rPr lang="ru-RU" dirty="0"/>
              <a:t>           |</a:t>
            </a:r>
          </a:p>
          <a:p>
            <a:pPr latinLnBrk="1"/>
            <a:r>
              <a:rPr lang="ru-RU" dirty="0" err="1"/>
              <a:t>Upper</a:t>
            </a:r>
            <a:r>
              <a:rPr lang="ru-RU" dirty="0"/>
              <a:t> </a:t>
            </a:r>
            <a:r>
              <a:rPr lang="ru-RU" dirty="0" err="1"/>
              <a:t>whisker</a:t>
            </a:r>
            <a:r>
              <a:rPr lang="ru-RU" dirty="0"/>
              <a:t> ─┤</a:t>
            </a:r>
          </a:p>
          <a:p>
            <a:pPr latinLnBrk="1"/>
            <a:r>
              <a:rPr lang="ru-RU" dirty="0"/>
              <a:t>              Q3 ─┐</a:t>
            </a:r>
          </a:p>
          <a:p>
            <a:pPr latinLnBrk="1"/>
            <a:r>
              <a:rPr lang="ru-RU" dirty="0"/>
              <a:t>              │   │ IQR (</a:t>
            </a:r>
            <a:r>
              <a:rPr lang="ru-RU" dirty="0" err="1"/>
              <a:t>box</a:t>
            </a:r>
            <a:r>
              <a:rPr lang="ru-RU" dirty="0"/>
              <a:t>)</a:t>
            </a:r>
          </a:p>
          <a:p>
            <a:pPr latinLnBrk="1"/>
            <a:r>
              <a:rPr lang="ru-RU" dirty="0"/>
              <a:t>            </a:t>
            </a:r>
            <a:r>
              <a:rPr lang="ru-RU" dirty="0" err="1"/>
              <a:t>Median</a:t>
            </a:r>
            <a:r>
              <a:rPr lang="ru-RU" dirty="0"/>
              <a:t>├─┘</a:t>
            </a:r>
          </a:p>
          <a:p>
            <a:pPr latinLnBrk="1"/>
            <a:r>
              <a:rPr lang="ru-RU" dirty="0"/>
              <a:t>              │   │</a:t>
            </a:r>
          </a:p>
          <a:p>
            <a:pPr latinLnBrk="1"/>
            <a:r>
              <a:rPr lang="ru-RU" dirty="0"/>
              <a:t>              Q1 ─┘</a:t>
            </a:r>
          </a:p>
          <a:p>
            <a:pPr latinLnBrk="1"/>
            <a:r>
              <a:rPr lang="ru-RU" dirty="0" err="1"/>
              <a:t>Lower</a:t>
            </a:r>
            <a:r>
              <a:rPr lang="ru-RU" dirty="0"/>
              <a:t> </a:t>
            </a:r>
            <a:r>
              <a:rPr lang="ru-RU" dirty="0" err="1"/>
              <a:t>whisker</a:t>
            </a:r>
            <a:r>
              <a:rPr lang="ru-RU" dirty="0"/>
              <a:t> ─┤</a:t>
            </a:r>
          </a:p>
          <a:p>
            <a:pPr latinLnBrk="1"/>
            <a:r>
              <a:rPr lang="ru-RU" dirty="0"/>
              <a:t>           |</a:t>
            </a:r>
          </a:p>
          <a:p>
            <a:pPr latinLnBrk="1"/>
            <a:r>
              <a:rPr lang="ru-RU" dirty="0"/>
              <a:t>        </a:t>
            </a:r>
            <a:r>
              <a:rPr lang="ru-RU" dirty="0" err="1"/>
              <a:t>Outliers</a:t>
            </a:r>
            <a:r>
              <a:rPr lang="ru-RU" dirty="0"/>
              <a:t> (</a:t>
            </a:r>
            <a:r>
              <a:rPr lang="ru-RU" dirty="0" err="1"/>
              <a:t>dots</a:t>
            </a:r>
            <a:r>
              <a:rPr lang="ru-RU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93607951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4A8FBD-7564-2BC7-42D8-23812435D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Python - </a:t>
            </a:r>
            <a:r>
              <a:rPr lang="ru-RU" dirty="0" err="1"/>
              <a:t>Creating</a:t>
            </a:r>
            <a:r>
              <a:rPr lang="ru-RU" dirty="0"/>
              <a:t> Box </a:t>
            </a:r>
            <a:r>
              <a:rPr lang="ru-RU" dirty="0" err="1"/>
              <a:t>Plots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915974A-E1A0-8793-F827-4E0F3DE8CB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 latinLnBrk="1">
              <a:buNone/>
            </a:pPr>
            <a:r>
              <a:rPr lang="ru-RU" dirty="0" err="1"/>
              <a:t>import</a:t>
            </a:r>
            <a:r>
              <a:rPr lang="ru-RU" dirty="0"/>
              <a:t> </a:t>
            </a:r>
            <a:r>
              <a:rPr lang="ru-RU" dirty="0" err="1"/>
              <a:t>matplotlib.pyplot</a:t>
            </a:r>
            <a:r>
              <a:rPr lang="ru-RU" dirty="0"/>
              <a:t> </a:t>
            </a:r>
            <a:r>
              <a:rPr lang="ru-RU" dirty="0" err="1"/>
              <a:t>as</a:t>
            </a:r>
            <a:r>
              <a:rPr lang="ru-RU" dirty="0"/>
              <a:t> </a:t>
            </a:r>
            <a:r>
              <a:rPr lang="ru-RU" dirty="0" err="1"/>
              <a:t>plt</a:t>
            </a:r>
            <a:endParaRPr lang="ru-RU" dirty="0"/>
          </a:p>
          <a:p>
            <a:pPr marL="0" indent="0" latinLnBrk="1">
              <a:buNone/>
            </a:pPr>
            <a:r>
              <a:rPr lang="ru-RU" dirty="0" err="1"/>
              <a:t>import</a:t>
            </a:r>
            <a:r>
              <a:rPr lang="ru-RU" dirty="0"/>
              <a:t> </a:t>
            </a:r>
            <a:r>
              <a:rPr lang="ru-RU" dirty="0" err="1"/>
              <a:t>numpy</a:t>
            </a:r>
            <a:r>
              <a:rPr lang="ru-RU" dirty="0"/>
              <a:t> </a:t>
            </a:r>
            <a:r>
              <a:rPr lang="ru-RU" dirty="0" err="1"/>
              <a:t>as</a:t>
            </a:r>
            <a:r>
              <a:rPr lang="ru-RU" dirty="0"/>
              <a:t> </a:t>
            </a:r>
            <a:r>
              <a:rPr lang="ru-RU" dirty="0" err="1"/>
              <a:t>np</a:t>
            </a:r>
            <a:endParaRPr lang="ru-RU" dirty="0"/>
          </a:p>
          <a:p>
            <a:pPr marL="0" indent="0" latinLnBrk="1">
              <a:buNone/>
            </a:pPr>
            <a:r>
              <a:rPr lang="ru-RU" b="1" i="1" dirty="0"/>
              <a:t># </a:t>
            </a:r>
            <a:r>
              <a:rPr lang="ru-RU" b="1" i="1" dirty="0" err="1"/>
              <a:t>Sample</a:t>
            </a:r>
            <a:r>
              <a:rPr lang="ru-RU" b="1" i="1" dirty="0"/>
              <a:t> </a:t>
            </a:r>
            <a:r>
              <a:rPr lang="ru-RU" b="1" i="1" dirty="0" err="1"/>
              <a:t>data</a:t>
            </a:r>
            <a:r>
              <a:rPr lang="ru-RU" b="1" i="1" dirty="0"/>
              <a:t> - </a:t>
            </a:r>
            <a:r>
              <a:rPr lang="ru-RU" b="1" i="1" dirty="0" err="1"/>
              <a:t>three</a:t>
            </a:r>
            <a:r>
              <a:rPr lang="ru-RU" b="1" i="1" dirty="0"/>
              <a:t> </a:t>
            </a:r>
            <a:r>
              <a:rPr lang="ru-RU" b="1" i="1" dirty="0" err="1"/>
              <a:t>groups</a:t>
            </a:r>
            <a:endParaRPr lang="ru-RU" b="1" dirty="0"/>
          </a:p>
          <a:p>
            <a:pPr marL="0" indent="0" latinLnBrk="1">
              <a:buNone/>
            </a:pPr>
            <a:r>
              <a:rPr lang="ru-RU" dirty="0"/>
              <a:t>group1 = </a:t>
            </a:r>
            <a:r>
              <a:rPr lang="ru-RU" dirty="0" err="1"/>
              <a:t>np.random.normal</a:t>
            </a:r>
            <a:r>
              <a:rPr lang="ru-RU" dirty="0"/>
              <a:t>(70, 10, 100)</a:t>
            </a:r>
          </a:p>
          <a:p>
            <a:pPr marL="0" indent="0" latinLnBrk="1">
              <a:buNone/>
            </a:pPr>
            <a:r>
              <a:rPr lang="ru-RU" dirty="0"/>
              <a:t>group2 = </a:t>
            </a:r>
            <a:r>
              <a:rPr lang="ru-RU" dirty="0" err="1"/>
              <a:t>np.random.normal</a:t>
            </a:r>
            <a:r>
              <a:rPr lang="ru-RU" dirty="0"/>
              <a:t>(80, 15, 100)</a:t>
            </a:r>
          </a:p>
          <a:p>
            <a:pPr marL="0" indent="0" latinLnBrk="1">
              <a:buNone/>
            </a:pPr>
            <a:r>
              <a:rPr lang="ru-RU" dirty="0"/>
              <a:t>group3 = </a:t>
            </a:r>
            <a:r>
              <a:rPr lang="ru-RU" dirty="0" err="1"/>
              <a:t>np.random.normal</a:t>
            </a:r>
            <a:r>
              <a:rPr lang="ru-RU" dirty="0"/>
              <a:t>(75, 5, 100)</a:t>
            </a:r>
          </a:p>
          <a:p>
            <a:pPr marL="0" indent="0" latinLnBrk="1">
              <a:buNone/>
            </a:pPr>
            <a:r>
              <a:rPr lang="ru-RU" b="1" i="1" dirty="0"/>
              <a:t># </a:t>
            </a:r>
            <a:r>
              <a:rPr lang="ru-RU" b="1" i="1" dirty="0" err="1"/>
              <a:t>Create</a:t>
            </a:r>
            <a:r>
              <a:rPr lang="ru-RU" b="1" i="1" dirty="0"/>
              <a:t> </a:t>
            </a:r>
            <a:r>
              <a:rPr lang="ru-RU" b="1" i="1" dirty="0" err="1"/>
              <a:t>box</a:t>
            </a:r>
            <a:r>
              <a:rPr lang="ru-RU" b="1" i="1" dirty="0"/>
              <a:t> </a:t>
            </a:r>
            <a:r>
              <a:rPr lang="ru-RU" b="1" i="1" dirty="0" err="1"/>
              <a:t>plot</a:t>
            </a:r>
            <a:endParaRPr lang="ru-RU" b="1" dirty="0"/>
          </a:p>
          <a:p>
            <a:pPr marL="0" indent="0" latinLnBrk="1">
              <a:buNone/>
            </a:pPr>
            <a:r>
              <a:rPr lang="ru-RU" dirty="0" err="1"/>
              <a:t>plt.figure</a:t>
            </a:r>
            <a:r>
              <a:rPr lang="ru-RU" dirty="0"/>
              <a:t>(</a:t>
            </a:r>
            <a:r>
              <a:rPr lang="ru-RU" dirty="0" err="1"/>
              <a:t>figsize</a:t>
            </a:r>
            <a:r>
              <a:rPr lang="ru-RU" dirty="0"/>
              <a:t>=(8, 6))</a:t>
            </a:r>
          </a:p>
          <a:p>
            <a:pPr marL="0" indent="0" latinLnBrk="1">
              <a:buNone/>
            </a:pPr>
            <a:r>
              <a:rPr lang="ru-RU" dirty="0" err="1"/>
              <a:t>plt.boxplot</a:t>
            </a:r>
            <a:r>
              <a:rPr lang="ru-RU" dirty="0"/>
              <a:t>([group1, group2, group3], </a:t>
            </a:r>
          </a:p>
          <a:p>
            <a:pPr marL="0" indent="0" latinLnBrk="1">
              <a:buNone/>
            </a:pPr>
            <a:r>
              <a:rPr lang="ru-RU" dirty="0"/>
              <a:t>            </a:t>
            </a:r>
            <a:r>
              <a:rPr lang="ru-RU" dirty="0" err="1"/>
              <a:t>labels</a:t>
            </a:r>
            <a:r>
              <a:rPr lang="ru-RU" dirty="0"/>
              <a:t>=['Group 1', 'Group 2', 'Group 3'])</a:t>
            </a:r>
          </a:p>
          <a:p>
            <a:pPr marL="0" indent="0" latinLnBrk="1">
              <a:buNone/>
            </a:pPr>
            <a:r>
              <a:rPr lang="ru-RU" dirty="0" err="1"/>
              <a:t>plt.title</a:t>
            </a:r>
            <a:r>
              <a:rPr lang="ru-RU" dirty="0"/>
              <a:t>('</a:t>
            </a:r>
            <a:r>
              <a:rPr lang="ru-RU" dirty="0" err="1"/>
              <a:t>Comparison</a:t>
            </a:r>
            <a:r>
              <a:rPr lang="ru-RU" dirty="0"/>
              <a:t> </a:t>
            </a:r>
            <a:r>
              <a:rPr lang="ru-RU" dirty="0" err="1"/>
              <a:t>of</a:t>
            </a:r>
            <a:r>
              <a:rPr lang="ru-RU" dirty="0"/>
              <a:t> </a:t>
            </a:r>
            <a:r>
              <a:rPr lang="ru-RU" dirty="0" err="1"/>
              <a:t>Three</a:t>
            </a:r>
            <a:r>
              <a:rPr lang="ru-RU" dirty="0"/>
              <a:t> </a:t>
            </a:r>
            <a:r>
              <a:rPr lang="ru-RU" dirty="0" err="1"/>
              <a:t>Groups</a:t>
            </a:r>
            <a:r>
              <a:rPr lang="ru-RU" dirty="0"/>
              <a:t>')</a:t>
            </a:r>
          </a:p>
          <a:p>
            <a:pPr marL="0" indent="0" latinLnBrk="1">
              <a:buNone/>
            </a:pPr>
            <a:r>
              <a:rPr lang="ru-RU" dirty="0" err="1"/>
              <a:t>plt.ylabel</a:t>
            </a:r>
            <a:r>
              <a:rPr lang="ru-RU" dirty="0"/>
              <a:t>('</a:t>
            </a:r>
            <a:r>
              <a:rPr lang="ru-RU" dirty="0" err="1"/>
              <a:t>Values</a:t>
            </a:r>
            <a:r>
              <a:rPr lang="ru-RU" dirty="0"/>
              <a:t>')</a:t>
            </a:r>
          </a:p>
          <a:p>
            <a:pPr marL="0" indent="0" latinLnBrk="1">
              <a:buNone/>
            </a:pPr>
            <a:r>
              <a:rPr lang="ru-RU" dirty="0" err="1"/>
              <a:t>plt.grid</a:t>
            </a:r>
            <a:r>
              <a:rPr lang="ru-RU" dirty="0"/>
              <a:t>(True, </a:t>
            </a:r>
            <a:r>
              <a:rPr lang="ru-RU" dirty="0" err="1"/>
              <a:t>alpha</a:t>
            </a:r>
            <a:r>
              <a:rPr lang="ru-RU" dirty="0"/>
              <a:t>=0.3)</a:t>
            </a:r>
          </a:p>
          <a:p>
            <a:pPr marL="0" indent="0">
              <a:buNone/>
            </a:pPr>
            <a:r>
              <a:rPr lang="ru-RU" dirty="0" err="1"/>
              <a:t>plt.show</a:t>
            </a:r>
            <a:r>
              <a:rPr lang="ru-RU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132568885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7FD72A-6BA7-71E8-7199-6DFB8086D3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Creating</a:t>
            </a:r>
            <a:r>
              <a:rPr lang="ru-RU" dirty="0"/>
              <a:t> Box </a:t>
            </a:r>
            <a:r>
              <a:rPr lang="ru-RU" dirty="0" err="1"/>
              <a:t>Plots</a:t>
            </a:r>
            <a:endParaRPr lang="ru-RU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E5BE1781-0390-DD1A-9912-4C444FDE90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9278" y="1247068"/>
            <a:ext cx="8711838" cy="5346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0267823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34C6D9-FD59-3346-88AF-85A09C585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Reading</a:t>
            </a:r>
            <a:r>
              <a:rPr lang="ru-RU" dirty="0"/>
              <a:t> Box </a:t>
            </a:r>
            <a:r>
              <a:rPr lang="ru-RU" dirty="0" err="1"/>
              <a:t>Plots</a:t>
            </a:r>
            <a:r>
              <a:rPr lang="ru-RU" dirty="0"/>
              <a:t> - What </a:t>
            </a:r>
            <a:r>
              <a:rPr lang="ru-RU" dirty="0" err="1"/>
              <a:t>to</a:t>
            </a:r>
            <a:r>
              <a:rPr lang="ru-RU" dirty="0"/>
              <a:t> Look For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5CE0BB8-FF14-764A-2C31-D9CB2EF485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lvl="0" indent="-514350">
              <a:buFont typeface="+mj-lt"/>
              <a:buAutoNum type="arabicPeriod"/>
            </a:pPr>
            <a:r>
              <a:rPr lang="ru-RU" b="1" dirty="0" err="1"/>
              <a:t>Median</a:t>
            </a:r>
            <a:r>
              <a:rPr lang="ru-RU" b="1" dirty="0"/>
              <a:t> </a:t>
            </a:r>
            <a:r>
              <a:rPr lang="ru-RU" b="1" dirty="0" err="1"/>
              <a:t>line</a:t>
            </a:r>
            <a:r>
              <a:rPr lang="ru-RU" b="1" dirty="0"/>
              <a:t>:</a:t>
            </a:r>
            <a:r>
              <a:rPr lang="ru-RU" dirty="0"/>
              <a:t> </a:t>
            </a:r>
            <a:r>
              <a:rPr lang="ru-RU" dirty="0" err="1"/>
              <a:t>Where's</a:t>
            </a:r>
            <a:r>
              <a:rPr lang="ru-RU" dirty="0"/>
              <a:t> </a:t>
            </a:r>
            <a:r>
              <a:rPr lang="ru-RU" dirty="0" err="1"/>
              <a:t>the</a:t>
            </a:r>
            <a:r>
              <a:rPr lang="ru-RU" dirty="0"/>
              <a:t> </a:t>
            </a:r>
            <a:r>
              <a:rPr lang="ru-RU" dirty="0" err="1"/>
              <a:t>center</a:t>
            </a:r>
            <a:r>
              <a:rPr lang="ru-RU" dirty="0"/>
              <a:t>?</a:t>
            </a:r>
          </a:p>
          <a:p>
            <a:pPr marL="514350" lvl="0" indent="-514350">
              <a:buFont typeface="+mj-lt"/>
              <a:buAutoNum type="arabicPeriod"/>
            </a:pPr>
            <a:r>
              <a:rPr lang="ru-RU" b="1" dirty="0"/>
              <a:t>Box </a:t>
            </a:r>
            <a:r>
              <a:rPr lang="ru-RU" b="1" dirty="0" err="1"/>
              <a:t>size</a:t>
            </a:r>
            <a:r>
              <a:rPr lang="ru-RU" b="1" dirty="0"/>
              <a:t> (IQR):</a:t>
            </a:r>
            <a:r>
              <a:rPr lang="ru-RU" dirty="0"/>
              <a:t> </a:t>
            </a:r>
            <a:r>
              <a:rPr lang="ru-RU" dirty="0" err="1"/>
              <a:t>How</a:t>
            </a:r>
            <a:r>
              <a:rPr lang="ru-RU" dirty="0"/>
              <a:t> </a:t>
            </a:r>
            <a:r>
              <a:rPr lang="ru-RU" dirty="0" err="1"/>
              <a:t>spread</a:t>
            </a:r>
            <a:r>
              <a:rPr lang="ru-RU" dirty="0"/>
              <a:t> </a:t>
            </a:r>
            <a:r>
              <a:rPr lang="ru-RU" dirty="0" err="1"/>
              <a:t>is</a:t>
            </a:r>
            <a:r>
              <a:rPr lang="ru-RU" dirty="0"/>
              <a:t> </a:t>
            </a:r>
            <a:r>
              <a:rPr lang="ru-RU" dirty="0" err="1"/>
              <a:t>middle</a:t>
            </a:r>
            <a:r>
              <a:rPr lang="ru-RU" dirty="0"/>
              <a:t> 50%?</a:t>
            </a:r>
          </a:p>
          <a:p>
            <a:pPr marL="514350" lvl="0" indent="-514350">
              <a:buFont typeface="+mj-lt"/>
              <a:buAutoNum type="arabicPeriod"/>
            </a:pPr>
            <a:r>
              <a:rPr lang="ru-RU" b="1" dirty="0" err="1"/>
              <a:t>Whisker</a:t>
            </a:r>
            <a:r>
              <a:rPr lang="ru-RU" b="1" dirty="0"/>
              <a:t> </a:t>
            </a:r>
            <a:r>
              <a:rPr lang="ru-RU" b="1" dirty="0" err="1"/>
              <a:t>length</a:t>
            </a:r>
            <a:r>
              <a:rPr lang="ru-RU" b="1" dirty="0"/>
              <a:t>:</a:t>
            </a:r>
            <a:r>
              <a:rPr lang="ru-RU" dirty="0"/>
              <a:t> </a:t>
            </a:r>
            <a:r>
              <a:rPr lang="ru-RU" dirty="0" err="1"/>
              <a:t>How</a:t>
            </a:r>
            <a:r>
              <a:rPr lang="ru-RU" dirty="0"/>
              <a:t> </a:t>
            </a:r>
            <a:r>
              <a:rPr lang="ru-RU" dirty="0" err="1"/>
              <a:t>spread</a:t>
            </a:r>
            <a:r>
              <a:rPr lang="ru-RU" dirty="0"/>
              <a:t> </a:t>
            </a:r>
            <a:r>
              <a:rPr lang="ru-RU" dirty="0" err="1"/>
              <a:t>are</a:t>
            </a:r>
            <a:r>
              <a:rPr lang="ru-RU" dirty="0"/>
              <a:t> </a:t>
            </a:r>
            <a:r>
              <a:rPr lang="ru-RU" dirty="0" err="1"/>
              <a:t>typical</a:t>
            </a:r>
            <a:r>
              <a:rPr lang="ru-RU" dirty="0"/>
              <a:t> </a:t>
            </a:r>
            <a:r>
              <a:rPr lang="ru-RU" dirty="0" err="1"/>
              <a:t>values</a:t>
            </a:r>
            <a:r>
              <a:rPr lang="ru-RU" dirty="0"/>
              <a:t>?</a:t>
            </a:r>
          </a:p>
          <a:p>
            <a:pPr marL="514350" lvl="0" indent="-514350">
              <a:buFont typeface="+mj-lt"/>
              <a:buAutoNum type="arabicPeriod"/>
            </a:pPr>
            <a:r>
              <a:rPr lang="ru-RU" b="1" dirty="0" err="1"/>
              <a:t>Outliers</a:t>
            </a:r>
            <a:r>
              <a:rPr lang="ru-RU" b="1" dirty="0"/>
              <a:t>:</a:t>
            </a:r>
            <a:r>
              <a:rPr lang="ru-RU" dirty="0"/>
              <a:t> </a:t>
            </a:r>
            <a:r>
              <a:rPr lang="ru-RU" dirty="0" err="1"/>
              <a:t>Any</a:t>
            </a:r>
            <a:r>
              <a:rPr lang="ru-RU" dirty="0"/>
              <a:t> </a:t>
            </a:r>
            <a:r>
              <a:rPr lang="ru-RU" dirty="0" err="1"/>
              <a:t>unusual</a:t>
            </a:r>
            <a:r>
              <a:rPr lang="ru-RU" dirty="0"/>
              <a:t> </a:t>
            </a:r>
            <a:r>
              <a:rPr lang="ru-RU" dirty="0" err="1"/>
              <a:t>values</a:t>
            </a:r>
            <a:r>
              <a:rPr lang="ru-RU" dirty="0"/>
              <a:t>?</a:t>
            </a:r>
          </a:p>
          <a:p>
            <a:pPr marL="0" indent="0">
              <a:buNone/>
            </a:pPr>
            <a:r>
              <a:rPr lang="ru-RU" b="1" dirty="0" err="1"/>
              <a:t>Comparison</a:t>
            </a:r>
            <a:r>
              <a:rPr lang="ru-RU" b="1" dirty="0"/>
              <a:t>:</a:t>
            </a:r>
            <a:endParaRPr lang="ru-RU" dirty="0"/>
          </a:p>
          <a:p>
            <a:pPr lvl="0"/>
            <a:r>
              <a:rPr lang="ru-RU" dirty="0" err="1"/>
              <a:t>Boxes</a:t>
            </a:r>
            <a:r>
              <a:rPr lang="ru-RU" dirty="0"/>
              <a:t> </a:t>
            </a:r>
            <a:r>
              <a:rPr lang="ru-RU" dirty="0" err="1"/>
              <a:t>at</a:t>
            </a:r>
            <a:r>
              <a:rPr lang="ru-RU" dirty="0"/>
              <a:t> </a:t>
            </a:r>
            <a:r>
              <a:rPr lang="ru-RU" dirty="0" err="1"/>
              <a:t>same</a:t>
            </a:r>
            <a:r>
              <a:rPr lang="ru-RU" dirty="0"/>
              <a:t> </a:t>
            </a:r>
            <a:r>
              <a:rPr lang="ru-RU" dirty="0" err="1"/>
              <a:t>height</a:t>
            </a:r>
            <a:r>
              <a:rPr lang="ru-RU" dirty="0"/>
              <a:t> → </a:t>
            </a:r>
            <a:r>
              <a:rPr lang="ru-RU" dirty="0" err="1"/>
              <a:t>Similar</a:t>
            </a:r>
            <a:r>
              <a:rPr lang="ru-RU" dirty="0"/>
              <a:t> </a:t>
            </a:r>
            <a:r>
              <a:rPr lang="ru-RU" dirty="0" err="1"/>
              <a:t>centers</a:t>
            </a:r>
            <a:endParaRPr lang="ru-RU" dirty="0"/>
          </a:p>
          <a:p>
            <a:pPr lvl="0"/>
            <a:r>
              <a:rPr lang="ru-RU" dirty="0" err="1"/>
              <a:t>Different</a:t>
            </a:r>
            <a:r>
              <a:rPr lang="ru-RU" dirty="0"/>
              <a:t> </a:t>
            </a:r>
            <a:r>
              <a:rPr lang="ru-RU" dirty="0" err="1"/>
              <a:t>box</a:t>
            </a:r>
            <a:r>
              <a:rPr lang="ru-RU" dirty="0"/>
              <a:t> </a:t>
            </a:r>
            <a:r>
              <a:rPr lang="ru-RU" dirty="0" err="1"/>
              <a:t>sizes</a:t>
            </a:r>
            <a:r>
              <a:rPr lang="ru-RU" dirty="0"/>
              <a:t> → </a:t>
            </a:r>
            <a:r>
              <a:rPr lang="ru-RU" dirty="0" err="1"/>
              <a:t>Different</a:t>
            </a:r>
            <a:r>
              <a:rPr lang="ru-RU" dirty="0"/>
              <a:t> </a:t>
            </a:r>
            <a:r>
              <a:rPr lang="ru-RU" dirty="0" err="1"/>
              <a:t>variability</a:t>
            </a:r>
            <a:endParaRPr lang="ru-RU" dirty="0"/>
          </a:p>
          <a:p>
            <a:pPr lvl="0"/>
            <a:r>
              <a:rPr lang="ru-RU" dirty="0" err="1"/>
              <a:t>Many</a:t>
            </a:r>
            <a:r>
              <a:rPr lang="ru-RU" dirty="0"/>
              <a:t> </a:t>
            </a:r>
            <a:r>
              <a:rPr lang="ru-RU" dirty="0" err="1"/>
              <a:t>outliers</a:t>
            </a:r>
            <a:r>
              <a:rPr lang="ru-RU" dirty="0"/>
              <a:t> → Check </a:t>
            </a:r>
            <a:r>
              <a:rPr lang="ru-RU" dirty="0" err="1"/>
              <a:t>data</a:t>
            </a:r>
            <a:r>
              <a:rPr lang="ru-RU" dirty="0"/>
              <a:t> </a:t>
            </a:r>
            <a:r>
              <a:rPr lang="ru-RU" dirty="0" err="1"/>
              <a:t>quality</a:t>
            </a: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3588538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FE5A90-3648-C873-8FBC-08EDA75AF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Violin</a:t>
            </a:r>
            <a:r>
              <a:rPr lang="ru-RU" dirty="0"/>
              <a:t> </a:t>
            </a:r>
            <a:r>
              <a:rPr lang="ru-RU" dirty="0" err="1"/>
              <a:t>Plots</a:t>
            </a:r>
            <a:r>
              <a:rPr lang="ru-RU" dirty="0"/>
              <a:t> - Enhanced Box </a:t>
            </a:r>
            <a:r>
              <a:rPr lang="ru-RU" dirty="0" err="1"/>
              <a:t>Plots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78C22D3-A34C-DB3A-0188-F0265FB94E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b="1" dirty="0" err="1"/>
              <a:t>Combines</a:t>
            </a:r>
            <a:r>
              <a:rPr lang="ru-RU" b="1" dirty="0"/>
              <a:t>:</a:t>
            </a:r>
            <a:r>
              <a:rPr lang="ru-RU" dirty="0"/>
              <a:t> Box </a:t>
            </a:r>
            <a:r>
              <a:rPr lang="ru-RU" dirty="0" err="1"/>
              <a:t>plot</a:t>
            </a:r>
            <a:r>
              <a:rPr lang="ru-RU" dirty="0"/>
              <a:t> + </a:t>
            </a:r>
            <a:r>
              <a:rPr lang="ru-RU" dirty="0" err="1"/>
              <a:t>density</a:t>
            </a:r>
            <a:r>
              <a:rPr lang="ru-RU" dirty="0"/>
              <a:t> </a:t>
            </a:r>
            <a:r>
              <a:rPr lang="ru-RU" dirty="0" err="1"/>
              <a:t>plot</a:t>
            </a:r>
            <a:endParaRPr lang="ru-RU" dirty="0"/>
          </a:p>
          <a:p>
            <a:pPr marL="0" indent="0">
              <a:buNone/>
            </a:pPr>
            <a:r>
              <a:rPr lang="ru-RU" b="1" dirty="0" err="1"/>
              <a:t>Shows</a:t>
            </a:r>
            <a:r>
              <a:rPr lang="ru-RU" b="1" dirty="0"/>
              <a:t>:</a:t>
            </a:r>
            <a:r>
              <a:rPr lang="ru-RU" dirty="0"/>
              <a:t> Full </a:t>
            </a:r>
            <a:r>
              <a:rPr lang="ru-RU" dirty="0" err="1"/>
              <a:t>distribution</a:t>
            </a:r>
            <a:r>
              <a:rPr lang="ru-RU" dirty="0"/>
              <a:t> </a:t>
            </a:r>
            <a:r>
              <a:rPr lang="ru-RU" dirty="0" err="1"/>
              <a:t>shape</a:t>
            </a:r>
            <a:r>
              <a:rPr lang="ru-RU" dirty="0"/>
              <a:t>, </a:t>
            </a:r>
            <a:r>
              <a:rPr lang="ru-RU" dirty="0" err="1"/>
              <a:t>not</a:t>
            </a:r>
            <a:r>
              <a:rPr lang="ru-RU" dirty="0"/>
              <a:t> </a:t>
            </a:r>
            <a:r>
              <a:rPr lang="ru-RU" dirty="0" err="1"/>
              <a:t>just</a:t>
            </a:r>
            <a:r>
              <a:rPr lang="ru-RU" dirty="0"/>
              <a:t> </a:t>
            </a:r>
            <a:r>
              <a:rPr lang="ru-RU" dirty="0" err="1"/>
              <a:t>summary</a:t>
            </a:r>
            <a:endParaRPr lang="ru-RU" dirty="0"/>
          </a:p>
          <a:p>
            <a:pPr marL="0" indent="0">
              <a:buNone/>
            </a:pPr>
            <a:r>
              <a:rPr lang="ru-RU" b="1" dirty="0"/>
              <a:t>Python:</a:t>
            </a:r>
            <a:endParaRPr lang="ru-RU" dirty="0"/>
          </a:p>
          <a:p>
            <a:pPr marL="0" indent="0" latinLnBrk="1">
              <a:buNone/>
            </a:pPr>
            <a:r>
              <a:rPr lang="ru-RU" i="1" dirty="0" err="1"/>
              <a:t>import</a:t>
            </a:r>
            <a:r>
              <a:rPr lang="ru-RU" i="1" dirty="0"/>
              <a:t> </a:t>
            </a:r>
            <a:r>
              <a:rPr lang="ru-RU" i="1" dirty="0" err="1"/>
              <a:t>seaborn</a:t>
            </a:r>
            <a:r>
              <a:rPr lang="ru-RU" i="1" dirty="0"/>
              <a:t> </a:t>
            </a:r>
            <a:r>
              <a:rPr lang="ru-RU" i="1" dirty="0" err="1"/>
              <a:t>as</a:t>
            </a:r>
            <a:r>
              <a:rPr lang="ru-RU" i="1" dirty="0"/>
              <a:t> </a:t>
            </a:r>
            <a:r>
              <a:rPr lang="ru-RU" i="1" dirty="0" err="1"/>
              <a:t>sns</a:t>
            </a:r>
            <a:endParaRPr lang="ru-RU" i="1" dirty="0"/>
          </a:p>
          <a:p>
            <a:pPr marL="0" indent="0" latinLnBrk="1">
              <a:buNone/>
            </a:pPr>
            <a:r>
              <a:rPr lang="ru-RU" i="1" dirty="0" err="1"/>
              <a:t>import</a:t>
            </a:r>
            <a:r>
              <a:rPr lang="ru-RU" i="1" dirty="0"/>
              <a:t> </a:t>
            </a:r>
            <a:r>
              <a:rPr lang="ru-RU" i="1" dirty="0" err="1"/>
              <a:t>numpy</a:t>
            </a:r>
            <a:r>
              <a:rPr lang="ru-RU" i="1" dirty="0"/>
              <a:t> </a:t>
            </a:r>
            <a:r>
              <a:rPr lang="ru-RU" i="1" dirty="0" err="1"/>
              <a:t>as</a:t>
            </a:r>
            <a:r>
              <a:rPr lang="ru-RU" i="1" dirty="0"/>
              <a:t> </a:t>
            </a:r>
            <a:r>
              <a:rPr lang="ru-RU" i="1" dirty="0" err="1"/>
              <a:t>np</a:t>
            </a:r>
            <a:endParaRPr lang="ru-RU" i="1" dirty="0"/>
          </a:p>
          <a:p>
            <a:pPr marL="0" indent="0" latinLnBrk="1">
              <a:buNone/>
            </a:pPr>
            <a:r>
              <a:rPr lang="ru-RU" i="1" dirty="0" err="1"/>
              <a:t>data</a:t>
            </a:r>
            <a:r>
              <a:rPr lang="ru-RU" i="1" dirty="0"/>
              <a:t> = </a:t>
            </a:r>
            <a:r>
              <a:rPr lang="ru-RU" i="1" dirty="0" err="1"/>
              <a:t>np.random.normal</a:t>
            </a:r>
            <a:r>
              <a:rPr lang="ru-RU" i="1" dirty="0"/>
              <a:t>(0, 1, 100)</a:t>
            </a:r>
          </a:p>
          <a:p>
            <a:pPr marL="0" indent="0" latinLnBrk="1">
              <a:buNone/>
            </a:pPr>
            <a:r>
              <a:rPr lang="ru-RU" i="1" dirty="0" err="1"/>
              <a:t>sns.violinplot</a:t>
            </a:r>
            <a:r>
              <a:rPr lang="ru-RU" i="1" dirty="0"/>
              <a:t>(</a:t>
            </a:r>
            <a:r>
              <a:rPr lang="ru-RU" i="1" dirty="0" err="1"/>
              <a:t>data</a:t>
            </a:r>
            <a:r>
              <a:rPr lang="ru-RU" i="1" dirty="0"/>
              <a:t>=</a:t>
            </a:r>
            <a:r>
              <a:rPr lang="ru-RU" i="1" dirty="0" err="1"/>
              <a:t>data</a:t>
            </a:r>
            <a:r>
              <a:rPr lang="ru-RU" i="1" dirty="0"/>
              <a:t>)</a:t>
            </a:r>
          </a:p>
          <a:p>
            <a:pPr marL="0" indent="0" latinLnBrk="1">
              <a:buNone/>
            </a:pPr>
            <a:r>
              <a:rPr lang="ru-RU" i="1" dirty="0" err="1"/>
              <a:t>plt.title</a:t>
            </a:r>
            <a:r>
              <a:rPr lang="ru-RU" i="1" dirty="0"/>
              <a:t>('</a:t>
            </a:r>
            <a:r>
              <a:rPr lang="ru-RU" i="1" dirty="0" err="1"/>
              <a:t>Violin</a:t>
            </a:r>
            <a:r>
              <a:rPr lang="ru-RU" i="1" dirty="0"/>
              <a:t> </a:t>
            </a:r>
            <a:r>
              <a:rPr lang="ru-RU" i="1" dirty="0" err="1"/>
              <a:t>Plot</a:t>
            </a:r>
            <a:r>
              <a:rPr lang="ru-RU" i="1" dirty="0"/>
              <a:t> </a:t>
            </a:r>
            <a:r>
              <a:rPr lang="ru-RU" i="1" dirty="0" err="1"/>
              <a:t>Example</a:t>
            </a:r>
            <a:r>
              <a:rPr lang="ru-RU" i="1" dirty="0"/>
              <a:t>')</a:t>
            </a:r>
          </a:p>
          <a:p>
            <a:pPr marL="0" indent="0" latinLnBrk="1">
              <a:buNone/>
            </a:pPr>
            <a:r>
              <a:rPr lang="ru-RU" i="1" dirty="0" err="1"/>
              <a:t>plt.show</a:t>
            </a:r>
            <a:r>
              <a:rPr lang="ru-RU" i="1" dirty="0"/>
              <a:t>()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2051178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59F1E1-E031-2E72-0A94-4A332EC18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Scatter</a:t>
            </a:r>
            <a:r>
              <a:rPr lang="ru-RU" dirty="0"/>
              <a:t> </a:t>
            </a:r>
            <a:r>
              <a:rPr lang="ru-RU" dirty="0" err="1"/>
              <a:t>Plots</a:t>
            </a:r>
            <a:r>
              <a:rPr lang="ru-RU" dirty="0"/>
              <a:t> - For </a:t>
            </a:r>
            <a:r>
              <a:rPr lang="ru-RU" dirty="0" err="1"/>
              <a:t>Relationships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261EC18-6539-7C28-4795-5ECB7C2271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dirty="0" err="1"/>
              <a:t>When</a:t>
            </a:r>
            <a:r>
              <a:rPr lang="ru-RU" b="1" dirty="0"/>
              <a:t> </a:t>
            </a:r>
            <a:r>
              <a:rPr lang="ru-RU" b="1" dirty="0" err="1"/>
              <a:t>to</a:t>
            </a:r>
            <a:r>
              <a:rPr lang="ru-RU" b="1" dirty="0"/>
              <a:t> </a:t>
            </a:r>
            <a:r>
              <a:rPr lang="ru-RU" b="1" dirty="0" err="1"/>
              <a:t>use</a:t>
            </a:r>
            <a:r>
              <a:rPr lang="ru-RU" b="1" dirty="0"/>
              <a:t>:</a:t>
            </a:r>
            <a:r>
              <a:rPr lang="ru-RU" dirty="0"/>
              <a:t> To </a:t>
            </a:r>
            <a:r>
              <a:rPr lang="ru-RU" dirty="0" err="1"/>
              <a:t>see</a:t>
            </a:r>
            <a:r>
              <a:rPr lang="ru-RU" dirty="0"/>
              <a:t> </a:t>
            </a:r>
            <a:r>
              <a:rPr lang="ru-RU" dirty="0" err="1"/>
              <a:t>relationship</a:t>
            </a:r>
            <a:r>
              <a:rPr lang="ru-RU" dirty="0"/>
              <a:t> </a:t>
            </a:r>
            <a:r>
              <a:rPr lang="ru-RU" dirty="0" err="1"/>
              <a:t>between</a:t>
            </a:r>
            <a:r>
              <a:rPr lang="ru-RU" dirty="0"/>
              <a:t> TWO </a:t>
            </a:r>
            <a:r>
              <a:rPr lang="ru-RU" dirty="0" err="1"/>
              <a:t>numerical</a:t>
            </a:r>
            <a:r>
              <a:rPr lang="ru-RU" dirty="0"/>
              <a:t> </a:t>
            </a:r>
            <a:r>
              <a:rPr lang="ru-RU" dirty="0" err="1"/>
              <a:t>variables</a:t>
            </a:r>
            <a:endParaRPr lang="ru-RU" dirty="0"/>
          </a:p>
          <a:p>
            <a:pPr marL="0" indent="0">
              <a:buNone/>
            </a:pPr>
            <a:r>
              <a:rPr lang="ru-RU" b="1" dirty="0"/>
              <a:t>What </a:t>
            </a:r>
            <a:r>
              <a:rPr lang="ru-RU" b="1" dirty="0" err="1"/>
              <a:t>to</a:t>
            </a:r>
            <a:r>
              <a:rPr lang="ru-RU" b="1" dirty="0"/>
              <a:t> </a:t>
            </a:r>
            <a:r>
              <a:rPr lang="ru-RU" b="1" dirty="0" err="1"/>
              <a:t>look</a:t>
            </a:r>
            <a:r>
              <a:rPr lang="ru-RU" b="1" dirty="0"/>
              <a:t> </a:t>
            </a:r>
            <a:r>
              <a:rPr lang="ru-RU" b="1" dirty="0" err="1"/>
              <a:t>for</a:t>
            </a:r>
            <a:r>
              <a:rPr lang="ru-RU" b="1" dirty="0"/>
              <a:t>:</a:t>
            </a:r>
            <a:endParaRPr lang="ru-RU" dirty="0"/>
          </a:p>
          <a:p>
            <a:pPr lvl="0"/>
            <a:r>
              <a:rPr lang="ru-RU" b="1" dirty="0" err="1"/>
              <a:t>Positive</a:t>
            </a:r>
            <a:r>
              <a:rPr lang="ru-RU" b="1" dirty="0"/>
              <a:t> </a:t>
            </a:r>
            <a:r>
              <a:rPr lang="ru-RU" b="1" dirty="0" err="1"/>
              <a:t>relationship</a:t>
            </a:r>
            <a:r>
              <a:rPr lang="ru-RU" b="1" dirty="0"/>
              <a:t>:</a:t>
            </a:r>
            <a:r>
              <a:rPr lang="ru-RU" dirty="0"/>
              <a:t> </a:t>
            </a:r>
            <a:r>
              <a:rPr lang="ru-RU" dirty="0" err="1"/>
              <a:t>Upward</a:t>
            </a:r>
            <a:r>
              <a:rPr lang="ru-RU" dirty="0"/>
              <a:t> </a:t>
            </a:r>
            <a:r>
              <a:rPr lang="ru-RU" dirty="0" err="1"/>
              <a:t>trend</a:t>
            </a:r>
            <a:r>
              <a:rPr lang="ru-RU" dirty="0"/>
              <a:t> (</a:t>
            </a:r>
            <a:r>
              <a:rPr lang="ru-RU" dirty="0" err="1"/>
              <a:t>both</a:t>
            </a:r>
            <a:r>
              <a:rPr lang="ru-RU" dirty="0"/>
              <a:t> </a:t>
            </a:r>
            <a:r>
              <a:rPr lang="ru-RU" dirty="0" err="1"/>
              <a:t>increase</a:t>
            </a:r>
            <a:r>
              <a:rPr lang="ru-RU" dirty="0"/>
              <a:t> </a:t>
            </a:r>
            <a:r>
              <a:rPr lang="ru-RU" dirty="0" err="1"/>
              <a:t>together</a:t>
            </a:r>
            <a:r>
              <a:rPr lang="ru-RU" dirty="0"/>
              <a:t>)</a:t>
            </a:r>
          </a:p>
          <a:p>
            <a:pPr lvl="0"/>
            <a:r>
              <a:rPr lang="ru-RU" b="1" dirty="0" err="1"/>
              <a:t>Negative</a:t>
            </a:r>
            <a:r>
              <a:rPr lang="ru-RU" b="1" dirty="0"/>
              <a:t> </a:t>
            </a:r>
            <a:r>
              <a:rPr lang="ru-RU" b="1" dirty="0" err="1"/>
              <a:t>relationship</a:t>
            </a:r>
            <a:r>
              <a:rPr lang="ru-RU" b="1" dirty="0"/>
              <a:t>:</a:t>
            </a:r>
            <a:r>
              <a:rPr lang="ru-RU" dirty="0"/>
              <a:t> </a:t>
            </a:r>
            <a:r>
              <a:rPr lang="ru-RU" dirty="0" err="1"/>
              <a:t>Downward</a:t>
            </a:r>
            <a:r>
              <a:rPr lang="ru-RU" dirty="0"/>
              <a:t> </a:t>
            </a:r>
            <a:r>
              <a:rPr lang="ru-RU" dirty="0" err="1"/>
              <a:t>trend</a:t>
            </a:r>
            <a:r>
              <a:rPr lang="ru-RU" dirty="0"/>
              <a:t> (</a:t>
            </a:r>
            <a:r>
              <a:rPr lang="ru-RU" dirty="0" err="1"/>
              <a:t>one</a:t>
            </a:r>
            <a:r>
              <a:rPr lang="ru-RU" dirty="0"/>
              <a:t> </a:t>
            </a:r>
            <a:r>
              <a:rPr lang="ru-RU" dirty="0" err="1"/>
              <a:t>increases</a:t>
            </a:r>
            <a:r>
              <a:rPr lang="ru-RU" dirty="0"/>
              <a:t>, </a:t>
            </a:r>
            <a:r>
              <a:rPr lang="ru-RU" dirty="0" err="1"/>
              <a:t>other</a:t>
            </a:r>
            <a:r>
              <a:rPr lang="ru-RU" dirty="0"/>
              <a:t> </a:t>
            </a:r>
            <a:r>
              <a:rPr lang="ru-RU" dirty="0" err="1"/>
              <a:t>decreases</a:t>
            </a:r>
            <a:r>
              <a:rPr lang="ru-RU" dirty="0"/>
              <a:t>)</a:t>
            </a:r>
          </a:p>
          <a:p>
            <a:pPr lvl="0"/>
            <a:r>
              <a:rPr lang="ru-RU" b="1" dirty="0"/>
              <a:t>No </a:t>
            </a:r>
            <a:r>
              <a:rPr lang="ru-RU" b="1" dirty="0" err="1"/>
              <a:t>relationship</a:t>
            </a:r>
            <a:r>
              <a:rPr lang="ru-RU" b="1" dirty="0"/>
              <a:t>:</a:t>
            </a:r>
            <a:r>
              <a:rPr lang="ru-RU" dirty="0"/>
              <a:t> </a:t>
            </a:r>
            <a:r>
              <a:rPr lang="ru-RU" dirty="0" err="1"/>
              <a:t>Random</a:t>
            </a:r>
            <a:r>
              <a:rPr lang="ru-RU" dirty="0"/>
              <a:t> </a:t>
            </a:r>
            <a:r>
              <a:rPr lang="ru-RU" dirty="0" err="1"/>
              <a:t>cloud</a:t>
            </a:r>
            <a:r>
              <a:rPr lang="ru-RU" dirty="0"/>
              <a:t> </a:t>
            </a:r>
            <a:r>
              <a:rPr lang="ru-RU" dirty="0" err="1"/>
              <a:t>of</a:t>
            </a:r>
            <a:r>
              <a:rPr lang="ru-RU" dirty="0"/>
              <a:t> </a:t>
            </a:r>
            <a:r>
              <a:rPr lang="ru-RU" dirty="0" err="1"/>
              <a:t>points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3460592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E84CC9-5C46-6333-CE16-AC7DD248B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Python - </a:t>
            </a:r>
            <a:r>
              <a:rPr lang="ru-RU" dirty="0" err="1"/>
              <a:t>Scatter</a:t>
            </a:r>
            <a:r>
              <a:rPr lang="ru-RU" dirty="0"/>
              <a:t> </a:t>
            </a:r>
            <a:r>
              <a:rPr lang="ru-RU" dirty="0" err="1"/>
              <a:t>Plots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E0C0CD6-99AA-785A-301B-43D550FEF1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 latinLnBrk="1">
              <a:buNone/>
            </a:pPr>
            <a:r>
              <a:rPr lang="ru-RU" dirty="0" err="1"/>
              <a:t>import</a:t>
            </a:r>
            <a:r>
              <a:rPr lang="ru-RU" dirty="0"/>
              <a:t> </a:t>
            </a:r>
            <a:r>
              <a:rPr lang="ru-RU" dirty="0" err="1"/>
              <a:t>matplotlib.pyplot</a:t>
            </a:r>
            <a:r>
              <a:rPr lang="ru-RU" dirty="0"/>
              <a:t> </a:t>
            </a:r>
            <a:r>
              <a:rPr lang="ru-RU" dirty="0" err="1"/>
              <a:t>as</a:t>
            </a:r>
            <a:r>
              <a:rPr lang="ru-RU" dirty="0"/>
              <a:t> </a:t>
            </a:r>
            <a:r>
              <a:rPr lang="ru-RU" dirty="0" err="1"/>
              <a:t>plt</a:t>
            </a:r>
            <a:endParaRPr lang="ru-RU" dirty="0"/>
          </a:p>
          <a:p>
            <a:pPr marL="0" indent="0" latinLnBrk="1">
              <a:buNone/>
            </a:pPr>
            <a:r>
              <a:rPr lang="ru-RU" dirty="0" err="1"/>
              <a:t>import</a:t>
            </a:r>
            <a:r>
              <a:rPr lang="ru-RU" dirty="0"/>
              <a:t> </a:t>
            </a:r>
            <a:r>
              <a:rPr lang="ru-RU" dirty="0" err="1"/>
              <a:t>numpy</a:t>
            </a:r>
            <a:r>
              <a:rPr lang="ru-RU" dirty="0"/>
              <a:t> </a:t>
            </a:r>
            <a:r>
              <a:rPr lang="ru-RU" dirty="0" err="1"/>
              <a:t>as</a:t>
            </a:r>
            <a:r>
              <a:rPr lang="ru-RU" dirty="0"/>
              <a:t> </a:t>
            </a:r>
            <a:r>
              <a:rPr lang="ru-RU" dirty="0" err="1"/>
              <a:t>np</a:t>
            </a:r>
            <a:endParaRPr lang="ru-RU" dirty="0"/>
          </a:p>
          <a:p>
            <a:pPr marL="0" indent="0" latinLnBrk="1">
              <a:buNone/>
            </a:pPr>
            <a:r>
              <a:rPr lang="ru-RU" b="1" i="1" dirty="0"/>
              <a:t># </a:t>
            </a:r>
            <a:r>
              <a:rPr lang="ru-RU" b="1" i="1" dirty="0" err="1"/>
              <a:t>Create</a:t>
            </a:r>
            <a:r>
              <a:rPr lang="ru-RU" b="1" i="1" dirty="0"/>
              <a:t> </a:t>
            </a:r>
            <a:r>
              <a:rPr lang="ru-RU" b="1" i="1" dirty="0" err="1"/>
              <a:t>related</a:t>
            </a:r>
            <a:r>
              <a:rPr lang="ru-RU" b="1" i="1" dirty="0"/>
              <a:t> </a:t>
            </a:r>
            <a:r>
              <a:rPr lang="ru-RU" b="1" i="1" dirty="0" err="1"/>
              <a:t>data</a:t>
            </a:r>
            <a:endParaRPr lang="ru-RU" b="1" dirty="0"/>
          </a:p>
          <a:p>
            <a:pPr marL="0" indent="0" latinLnBrk="1">
              <a:buNone/>
            </a:pPr>
            <a:r>
              <a:rPr lang="ru-RU" dirty="0" err="1"/>
              <a:t>study_hours</a:t>
            </a:r>
            <a:r>
              <a:rPr lang="ru-RU" dirty="0"/>
              <a:t> = </a:t>
            </a:r>
            <a:r>
              <a:rPr lang="ru-RU" dirty="0" err="1"/>
              <a:t>np.random.uniform</a:t>
            </a:r>
            <a:r>
              <a:rPr lang="ru-RU" dirty="0"/>
              <a:t>(1, 10, 100)</a:t>
            </a:r>
          </a:p>
          <a:p>
            <a:pPr marL="0" indent="0" latinLnBrk="1">
              <a:buNone/>
            </a:pPr>
            <a:r>
              <a:rPr lang="ru-RU" i="1" dirty="0"/>
              <a:t># </a:t>
            </a:r>
            <a:r>
              <a:rPr lang="ru-RU" i="1" dirty="0" err="1"/>
              <a:t>Grades</a:t>
            </a:r>
            <a:r>
              <a:rPr lang="ru-RU" i="1" dirty="0"/>
              <a:t> = 50 + 3*</a:t>
            </a:r>
            <a:r>
              <a:rPr lang="ru-RU" i="1" dirty="0" err="1"/>
              <a:t>study_hours</a:t>
            </a:r>
            <a:r>
              <a:rPr lang="ru-RU" i="1" dirty="0"/>
              <a:t> + </a:t>
            </a:r>
            <a:r>
              <a:rPr lang="ru-RU" i="1" dirty="0" err="1"/>
              <a:t>some</a:t>
            </a:r>
            <a:r>
              <a:rPr lang="ru-RU" i="1" dirty="0"/>
              <a:t> </a:t>
            </a:r>
            <a:r>
              <a:rPr lang="ru-RU" i="1" dirty="0" err="1"/>
              <a:t>randomness</a:t>
            </a:r>
            <a:endParaRPr lang="ru-RU" dirty="0"/>
          </a:p>
          <a:p>
            <a:pPr marL="0" indent="0" latinLnBrk="1">
              <a:buNone/>
            </a:pPr>
            <a:r>
              <a:rPr lang="ru-RU" dirty="0" err="1"/>
              <a:t>grades</a:t>
            </a:r>
            <a:r>
              <a:rPr lang="ru-RU" dirty="0"/>
              <a:t> = 50 + 3*</a:t>
            </a:r>
            <a:r>
              <a:rPr lang="ru-RU" dirty="0" err="1"/>
              <a:t>study_hours</a:t>
            </a:r>
            <a:r>
              <a:rPr lang="ru-RU" dirty="0"/>
              <a:t> + </a:t>
            </a:r>
            <a:r>
              <a:rPr lang="ru-RU" dirty="0" err="1"/>
              <a:t>np.random.normal</a:t>
            </a:r>
            <a:r>
              <a:rPr lang="ru-RU" dirty="0"/>
              <a:t>(0, 5, 100)</a:t>
            </a:r>
          </a:p>
          <a:p>
            <a:pPr marL="0" indent="0" latinLnBrk="1">
              <a:buNone/>
            </a:pPr>
            <a:r>
              <a:rPr lang="ru-RU" b="1" i="1" dirty="0"/>
              <a:t># </a:t>
            </a:r>
            <a:r>
              <a:rPr lang="ru-RU" b="1" i="1" dirty="0" err="1"/>
              <a:t>Create</a:t>
            </a:r>
            <a:r>
              <a:rPr lang="ru-RU" b="1" i="1" dirty="0"/>
              <a:t> </a:t>
            </a:r>
            <a:r>
              <a:rPr lang="ru-RU" b="1" i="1" dirty="0" err="1"/>
              <a:t>scatter</a:t>
            </a:r>
            <a:r>
              <a:rPr lang="ru-RU" b="1" i="1" dirty="0"/>
              <a:t> </a:t>
            </a:r>
            <a:r>
              <a:rPr lang="ru-RU" b="1" i="1" dirty="0" err="1"/>
              <a:t>plot</a:t>
            </a:r>
            <a:endParaRPr lang="ru-RU" b="1" dirty="0"/>
          </a:p>
          <a:p>
            <a:pPr marL="0" indent="0" latinLnBrk="1">
              <a:buNone/>
            </a:pPr>
            <a:r>
              <a:rPr lang="ru-RU" dirty="0" err="1"/>
              <a:t>plt.figure</a:t>
            </a:r>
            <a:r>
              <a:rPr lang="ru-RU" dirty="0"/>
              <a:t>(</a:t>
            </a:r>
            <a:r>
              <a:rPr lang="ru-RU" dirty="0" err="1"/>
              <a:t>figsize</a:t>
            </a:r>
            <a:r>
              <a:rPr lang="ru-RU" dirty="0"/>
              <a:t>=(10, 6))</a:t>
            </a:r>
          </a:p>
          <a:p>
            <a:pPr marL="0" indent="0" latinLnBrk="1">
              <a:buNone/>
            </a:pPr>
            <a:r>
              <a:rPr lang="ru-RU" dirty="0" err="1"/>
              <a:t>plt.scatter</a:t>
            </a:r>
            <a:r>
              <a:rPr lang="ru-RU" dirty="0"/>
              <a:t>(</a:t>
            </a:r>
            <a:r>
              <a:rPr lang="ru-RU" dirty="0" err="1"/>
              <a:t>study_hours</a:t>
            </a:r>
            <a:r>
              <a:rPr lang="ru-RU" dirty="0"/>
              <a:t>, </a:t>
            </a:r>
            <a:r>
              <a:rPr lang="ru-RU" dirty="0" err="1"/>
              <a:t>grades</a:t>
            </a:r>
            <a:r>
              <a:rPr lang="ru-RU" dirty="0"/>
              <a:t>, </a:t>
            </a:r>
            <a:r>
              <a:rPr lang="ru-RU" dirty="0" err="1"/>
              <a:t>alpha</a:t>
            </a:r>
            <a:r>
              <a:rPr lang="ru-RU" dirty="0"/>
              <a:t>=0.6)</a:t>
            </a:r>
          </a:p>
          <a:p>
            <a:pPr marL="0" indent="0" latinLnBrk="1">
              <a:buNone/>
            </a:pPr>
            <a:r>
              <a:rPr lang="ru-RU" dirty="0" err="1"/>
              <a:t>plt.title</a:t>
            </a:r>
            <a:r>
              <a:rPr lang="ru-RU" dirty="0"/>
              <a:t>('Study </a:t>
            </a:r>
            <a:r>
              <a:rPr lang="ru-RU" dirty="0" err="1"/>
              <a:t>Hours</a:t>
            </a:r>
            <a:r>
              <a:rPr lang="ru-RU" dirty="0"/>
              <a:t> </a:t>
            </a:r>
            <a:r>
              <a:rPr lang="ru-RU" dirty="0" err="1"/>
              <a:t>vs</a:t>
            </a:r>
            <a:r>
              <a:rPr lang="ru-RU" dirty="0"/>
              <a:t>. </a:t>
            </a:r>
            <a:r>
              <a:rPr lang="ru-RU" dirty="0" err="1"/>
              <a:t>Grades</a:t>
            </a:r>
            <a:r>
              <a:rPr lang="ru-RU" dirty="0"/>
              <a:t>')</a:t>
            </a:r>
          </a:p>
          <a:p>
            <a:pPr marL="0" indent="0" latinLnBrk="1">
              <a:buNone/>
            </a:pPr>
            <a:r>
              <a:rPr lang="ru-RU" dirty="0" err="1"/>
              <a:t>plt.xlabel</a:t>
            </a:r>
            <a:r>
              <a:rPr lang="ru-RU" dirty="0"/>
              <a:t>('Study </a:t>
            </a:r>
            <a:r>
              <a:rPr lang="ru-RU" dirty="0" err="1"/>
              <a:t>Hours</a:t>
            </a:r>
            <a:r>
              <a:rPr lang="ru-RU" dirty="0"/>
              <a:t> </a:t>
            </a:r>
            <a:r>
              <a:rPr lang="ru-RU" dirty="0" err="1"/>
              <a:t>per</a:t>
            </a:r>
            <a:r>
              <a:rPr lang="ru-RU" dirty="0"/>
              <a:t> Week')</a:t>
            </a:r>
          </a:p>
          <a:p>
            <a:pPr marL="0" indent="0" latinLnBrk="1">
              <a:buNone/>
            </a:pPr>
            <a:r>
              <a:rPr lang="ru-RU" dirty="0" err="1"/>
              <a:t>plt.ylabel</a:t>
            </a:r>
            <a:r>
              <a:rPr lang="ru-RU" dirty="0"/>
              <a:t>('</a:t>
            </a:r>
            <a:r>
              <a:rPr lang="ru-RU" dirty="0" err="1"/>
              <a:t>Grade</a:t>
            </a:r>
            <a:r>
              <a:rPr lang="ru-RU" dirty="0"/>
              <a:t> (%)')</a:t>
            </a:r>
          </a:p>
          <a:p>
            <a:pPr marL="0" indent="0" latinLnBrk="1">
              <a:buNone/>
            </a:pPr>
            <a:r>
              <a:rPr lang="ru-RU" dirty="0" err="1"/>
              <a:t>plt.grid</a:t>
            </a:r>
            <a:r>
              <a:rPr lang="ru-RU" dirty="0"/>
              <a:t>(True, </a:t>
            </a:r>
            <a:r>
              <a:rPr lang="ru-RU" dirty="0" err="1"/>
              <a:t>alpha</a:t>
            </a:r>
            <a:r>
              <a:rPr lang="ru-RU" dirty="0"/>
              <a:t>=0.3)</a:t>
            </a:r>
          </a:p>
          <a:p>
            <a:pPr marL="0" indent="0" latinLnBrk="1">
              <a:buNone/>
            </a:pPr>
            <a:r>
              <a:rPr lang="ru-RU" dirty="0" err="1"/>
              <a:t>plt.show</a:t>
            </a:r>
            <a:r>
              <a:rPr lang="ru-RU" dirty="0"/>
              <a:t>()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3619113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E7B283-8456-793D-1456-D46CFEDF8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Bar</a:t>
            </a:r>
            <a:r>
              <a:rPr lang="ru-RU" dirty="0"/>
              <a:t> </a:t>
            </a:r>
            <a:r>
              <a:rPr lang="ru-RU" dirty="0" err="1"/>
              <a:t>Charts</a:t>
            </a:r>
            <a:r>
              <a:rPr lang="ru-RU" dirty="0"/>
              <a:t> - For </a:t>
            </a:r>
            <a:r>
              <a:rPr lang="ru-RU" dirty="0" err="1"/>
              <a:t>Categories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E84B5A2-EBB8-14E0-7E17-44538EBAA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dirty="0" err="1"/>
              <a:t>When</a:t>
            </a:r>
            <a:r>
              <a:rPr lang="ru-RU" b="1" dirty="0"/>
              <a:t> </a:t>
            </a:r>
            <a:r>
              <a:rPr lang="ru-RU" b="1" dirty="0" err="1"/>
              <a:t>to</a:t>
            </a:r>
            <a:r>
              <a:rPr lang="ru-RU" b="1" dirty="0"/>
              <a:t> </a:t>
            </a:r>
            <a:r>
              <a:rPr lang="ru-RU" b="1" dirty="0" err="1"/>
              <a:t>use</a:t>
            </a:r>
            <a:r>
              <a:rPr lang="ru-RU" b="1" dirty="0"/>
              <a:t>:</a:t>
            </a:r>
            <a:r>
              <a:rPr lang="ru-RU" dirty="0"/>
              <a:t> </a:t>
            </a:r>
            <a:r>
              <a:rPr lang="ru-RU" dirty="0" err="1"/>
              <a:t>Comparing</a:t>
            </a:r>
            <a:r>
              <a:rPr lang="ru-RU" dirty="0"/>
              <a:t> </a:t>
            </a:r>
            <a:r>
              <a:rPr lang="ru-RU" dirty="0" err="1"/>
              <a:t>categories</a:t>
            </a:r>
            <a:r>
              <a:rPr lang="ru-RU" dirty="0"/>
              <a:t> </a:t>
            </a:r>
            <a:r>
              <a:rPr lang="ru-RU" dirty="0" err="1"/>
              <a:t>or</a:t>
            </a:r>
            <a:r>
              <a:rPr lang="ru-RU" dirty="0"/>
              <a:t> </a:t>
            </a:r>
            <a:r>
              <a:rPr lang="ru-RU" dirty="0" err="1"/>
              <a:t>showing</a:t>
            </a:r>
            <a:r>
              <a:rPr lang="ru-RU" dirty="0"/>
              <a:t> </a:t>
            </a:r>
            <a:r>
              <a:rPr lang="ru-RU" dirty="0" err="1"/>
              <a:t>frequencies</a:t>
            </a:r>
            <a:endParaRPr lang="ru-RU" dirty="0"/>
          </a:p>
          <a:p>
            <a:pPr marL="0" indent="0">
              <a:buNone/>
            </a:pPr>
            <a:r>
              <a:rPr lang="ru-RU" b="1" dirty="0" err="1"/>
              <a:t>Types</a:t>
            </a:r>
            <a:r>
              <a:rPr lang="ru-RU" b="1" dirty="0"/>
              <a:t>:</a:t>
            </a:r>
            <a:endParaRPr lang="ru-RU" dirty="0"/>
          </a:p>
          <a:p>
            <a:pPr marL="514350" lvl="0" indent="-514350">
              <a:buFont typeface="+mj-lt"/>
              <a:buAutoNum type="arabicPeriod"/>
            </a:pPr>
            <a:r>
              <a:rPr lang="ru-RU" b="1" dirty="0" err="1"/>
              <a:t>Vertical</a:t>
            </a:r>
            <a:r>
              <a:rPr lang="ru-RU" b="1" dirty="0"/>
              <a:t> </a:t>
            </a:r>
            <a:r>
              <a:rPr lang="ru-RU" b="1" dirty="0" err="1"/>
              <a:t>bars</a:t>
            </a:r>
            <a:r>
              <a:rPr lang="ru-RU" b="1" dirty="0"/>
              <a:t>:</a:t>
            </a:r>
            <a:r>
              <a:rPr lang="ru-RU" dirty="0"/>
              <a:t> </a:t>
            </a:r>
            <a:r>
              <a:rPr lang="ru-RU" dirty="0" err="1"/>
              <a:t>Emphasize</a:t>
            </a:r>
            <a:r>
              <a:rPr lang="ru-RU" dirty="0"/>
              <a:t> </a:t>
            </a:r>
            <a:r>
              <a:rPr lang="ru-RU" dirty="0" err="1"/>
              <a:t>differences</a:t>
            </a:r>
            <a:r>
              <a:rPr lang="ru-RU" dirty="0"/>
              <a:t> </a:t>
            </a:r>
            <a:r>
              <a:rPr lang="ru-RU" dirty="0" err="1"/>
              <a:t>in</a:t>
            </a:r>
            <a:r>
              <a:rPr lang="ru-RU" dirty="0"/>
              <a:t> </a:t>
            </a:r>
            <a:r>
              <a:rPr lang="ru-RU" dirty="0" err="1"/>
              <a:t>height</a:t>
            </a:r>
            <a:endParaRPr lang="ru-RU" dirty="0"/>
          </a:p>
          <a:p>
            <a:pPr marL="514350" lvl="0" indent="-514350">
              <a:buFont typeface="+mj-lt"/>
              <a:buAutoNum type="arabicPeriod"/>
            </a:pPr>
            <a:r>
              <a:rPr lang="ru-RU" b="1" dirty="0" err="1"/>
              <a:t>Horizontal</a:t>
            </a:r>
            <a:r>
              <a:rPr lang="ru-RU" b="1" dirty="0"/>
              <a:t> </a:t>
            </a:r>
            <a:r>
              <a:rPr lang="ru-RU" b="1" dirty="0" err="1"/>
              <a:t>bars</a:t>
            </a:r>
            <a:r>
              <a:rPr lang="ru-RU" b="1" dirty="0"/>
              <a:t>:</a:t>
            </a:r>
            <a:r>
              <a:rPr lang="ru-RU" dirty="0"/>
              <a:t> Good </a:t>
            </a:r>
            <a:r>
              <a:rPr lang="ru-RU" dirty="0" err="1"/>
              <a:t>for</a:t>
            </a:r>
            <a:r>
              <a:rPr lang="ru-RU" dirty="0"/>
              <a:t> </a:t>
            </a:r>
            <a:r>
              <a:rPr lang="ru-RU" dirty="0" err="1"/>
              <a:t>long</a:t>
            </a:r>
            <a:r>
              <a:rPr lang="ru-RU" dirty="0"/>
              <a:t> </a:t>
            </a:r>
            <a:r>
              <a:rPr lang="ru-RU" dirty="0" err="1"/>
              <a:t>category</a:t>
            </a:r>
            <a:r>
              <a:rPr lang="ru-RU" dirty="0"/>
              <a:t> </a:t>
            </a:r>
            <a:r>
              <a:rPr lang="ru-RU" dirty="0" err="1"/>
              <a:t>names</a:t>
            </a:r>
            <a:endParaRPr lang="ru-RU" dirty="0"/>
          </a:p>
          <a:p>
            <a:pPr marL="514350" lvl="0" indent="-514350">
              <a:buFont typeface="+mj-lt"/>
              <a:buAutoNum type="arabicPeriod"/>
            </a:pPr>
            <a:r>
              <a:rPr lang="ru-RU" b="1" dirty="0" err="1"/>
              <a:t>Grouped</a:t>
            </a:r>
            <a:r>
              <a:rPr lang="ru-RU" b="1" dirty="0"/>
              <a:t> </a:t>
            </a:r>
            <a:r>
              <a:rPr lang="ru-RU" b="1" dirty="0" err="1"/>
              <a:t>bars</a:t>
            </a:r>
            <a:r>
              <a:rPr lang="ru-RU" b="1" dirty="0"/>
              <a:t>:</a:t>
            </a:r>
            <a:r>
              <a:rPr lang="ru-RU" dirty="0"/>
              <a:t> </a:t>
            </a:r>
            <a:r>
              <a:rPr lang="ru-RU" dirty="0" err="1"/>
              <a:t>Compare</a:t>
            </a:r>
            <a:r>
              <a:rPr lang="ru-RU" dirty="0"/>
              <a:t> </a:t>
            </a:r>
            <a:r>
              <a:rPr lang="ru-RU" dirty="0" err="1"/>
              <a:t>subcategories</a:t>
            </a:r>
            <a:endParaRPr lang="ru-RU" dirty="0"/>
          </a:p>
          <a:p>
            <a:pPr marL="514350" indent="-514350">
              <a:buFont typeface="+mj-lt"/>
              <a:buAutoNum type="arabicPeriod"/>
            </a:pPr>
            <a:r>
              <a:rPr lang="ru-RU" b="1" dirty="0" err="1"/>
              <a:t>Stacked</a:t>
            </a:r>
            <a:r>
              <a:rPr lang="ru-RU" b="1" dirty="0"/>
              <a:t> </a:t>
            </a:r>
            <a:r>
              <a:rPr lang="ru-RU" b="1" dirty="0" err="1"/>
              <a:t>bars</a:t>
            </a:r>
            <a:r>
              <a:rPr lang="ru-RU" b="1" dirty="0"/>
              <a:t>:</a:t>
            </a:r>
            <a:r>
              <a:rPr lang="ru-RU" dirty="0"/>
              <a:t> Show </a:t>
            </a:r>
            <a:r>
              <a:rPr lang="ru-RU" dirty="0" err="1"/>
              <a:t>parts</a:t>
            </a:r>
            <a:r>
              <a:rPr lang="ru-RU" dirty="0"/>
              <a:t> </a:t>
            </a:r>
            <a:r>
              <a:rPr lang="ru-RU" dirty="0" err="1"/>
              <a:t>of</a:t>
            </a:r>
            <a:r>
              <a:rPr lang="ru-RU" dirty="0"/>
              <a:t> a </a:t>
            </a:r>
            <a:r>
              <a:rPr lang="ru-RU" dirty="0" err="1"/>
              <a:t>whole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7885630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FB179C-40D0-003A-29F2-B24EE1B68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Python - </a:t>
            </a:r>
            <a:r>
              <a:rPr lang="ru-RU" dirty="0" err="1"/>
              <a:t>Bar</a:t>
            </a:r>
            <a:r>
              <a:rPr lang="ru-RU" dirty="0"/>
              <a:t> </a:t>
            </a:r>
            <a:r>
              <a:rPr lang="ru-RU" dirty="0" err="1"/>
              <a:t>Charts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57781C2-1D16-559A-8688-0ED5F7C4E7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 latinLnBrk="1">
              <a:buNone/>
            </a:pPr>
            <a:r>
              <a:rPr lang="ru-RU" i="1" dirty="0" err="1"/>
              <a:t>import</a:t>
            </a:r>
            <a:r>
              <a:rPr lang="ru-RU" i="1" dirty="0"/>
              <a:t> </a:t>
            </a:r>
            <a:r>
              <a:rPr lang="ru-RU" i="1" dirty="0" err="1"/>
              <a:t>matplotlib.pyplot</a:t>
            </a:r>
            <a:r>
              <a:rPr lang="ru-RU" i="1" dirty="0"/>
              <a:t> </a:t>
            </a:r>
            <a:r>
              <a:rPr lang="ru-RU" i="1" dirty="0" err="1"/>
              <a:t>as</a:t>
            </a:r>
            <a:r>
              <a:rPr lang="ru-RU" i="1" dirty="0"/>
              <a:t> </a:t>
            </a:r>
            <a:r>
              <a:rPr lang="ru-RU" i="1" dirty="0" err="1"/>
              <a:t>plt</a:t>
            </a:r>
            <a:endParaRPr lang="ru-RU" i="1" dirty="0"/>
          </a:p>
          <a:p>
            <a:pPr marL="0" indent="0" latinLnBrk="1">
              <a:buNone/>
            </a:pPr>
            <a:r>
              <a:rPr lang="ru-RU" b="1" i="1" dirty="0"/>
              <a:t># </a:t>
            </a:r>
            <a:r>
              <a:rPr lang="ru-RU" b="1" i="1" dirty="0" err="1"/>
              <a:t>Sample</a:t>
            </a:r>
            <a:r>
              <a:rPr lang="ru-RU" b="1" i="1" dirty="0"/>
              <a:t> </a:t>
            </a:r>
            <a:r>
              <a:rPr lang="ru-RU" b="1" i="1" dirty="0" err="1"/>
              <a:t>data</a:t>
            </a:r>
            <a:endParaRPr lang="ru-RU" b="1" i="1" dirty="0"/>
          </a:p>
          <a:p>
            <a:pPr marL="0" indent="0" latinLnBrk="1">
              <a:buNone/>
            </a:pPr>
            <a:r>
              <a:rPr lang="ru-RU" i="1" dirty="0" err="1"/>
              <a:t>majors</a:t>
            </a:r>
            <a:r>
              <a:rPr lang="ru-RU" i="1" dirty="0"/>
              <a:t> = ['CS', 'Engineering', 'Business', '</a:t>
            </a:r>
            <a:r>
              <a:rPr lang="ru-RU" i="1" dirty="0" err="1"/>
              <a:t>Biology</a:t>
            </a:r>
            <a:r>
              <a:rPr lang="ru-RU" i="1" dirty="0"/>
              <a:t>', 'Arts']</a:t>
            </a:r>
          </a:p>
          <a:p>
            <a:pPr marL="0" indent="0" latinLnBrk="1">
              <a:buNone/>
            </a:pPr>
            <a:r>
              <a:rPr lang="ru-RU" i="1" dirty="0" err="1"/>
              <a:t>students</a:t>
            </a:r>
            <a:r>
              <a:rPr lang="ru-RU" i="1" dirty="0"/>
              <a:t> = [150, 120, 200, 80, 60]</a:t>
            </a:r>
          </a:p>
          <a:p>
            <a:pPr marL="0" indent="0" latinLnBrk="1">
              <a:buNone/>
            </a:pPr>
            <a:r>
              <a:rPr lang="ru-RU" b="1" i="1" dirty="0"/>
              <a:t># </a:t>
            </a:r>
            <a:r>
              <a:rPr lang="ru-RU" b="1" i="1" dirty="0" err="1"/>
              <a:t>Create</a:t>
            </a:r>
            <a:r>
              <a:rPr lang="ru-RU" b="1" i="1" dirty="0"/>
              <a:t> </a:t>
            </a:r>
            <a:r>
              <a:rPr lang="ru-RU" b="1" i="1" dirty="0" err="1"/>
              <a:t>bar</a:t>
            </a:r>
            <a:r>
              <a:rPr lang="ru-RU" b="1" i="1" dirty="0"/>
              <a:t> </a:t>
            </a:r>
            <a:r>
              <a:rPr lang="ru-RU" b="1" i="1" dirty="0" err="1"/>
              <a:t>chart</a:t>
            </a:r>
            <a:endParaRPr lang="ru-RU" b="1" i="1" dirty="0"/>
          </a:p>
          <a:p>
            <a:pPr marL="0" indent="0" latinLnBrk="1">
              <a:buNone/>
            </a:pPr>
            <a:r>
              <a:rPr lang="ru-RU" i="1" dirty="0" err="1"/>
              <a:t>plt.figure</a:t>
            </a:r>
            <a:r>
              <a:rPr lang="ru-RU" i="1" dirty="0"/>
              <a:t>(</a:t>
            </a:r>
            <a:r>
              <a:rPr lang="ru-RU" i="1" dirty="0" err="1"/>
              <a:t>figsize</a:t>
            </a:r>
            <a:r>
              <a:rPr lang="ru-RU" i="1" dirty="0"/>
              <a:t>=(10, 6))</a:t>
            </a:r>
          </a:p>
          <a:p>
            <a:pPr marL="0" indent="0" latinLnBrk="1">
              <a:buNone/>
            </a:pPr>
            <a:r>
              <a:rPr lang="ru-RU" i="1" dirty="0" err="1"/>
              <a:t>plt.bar</a:t>
            </a:r>
            <a:r>
              <a:rPr lang="ru-RU" i="1" dirty="0"/>
              <a:t>(</a:t>
            </a:r>
            <a:r>
              <a:rPr lang="ru-RU" i="1" dirty="0" err="1"/>
              <a:t>majors</a:t>
            </a:r>
            <a:r>
              <a:rPr lang="ru-RU" i="1" dirty="0"/>
              <a:t>, </a:t>
            </a:r>
            <a:r>
              <a:rPr lang="ru-RU" i="1" dirty="0" err="1"/>
              <a:t>students</a:t>
            </a:r>
            <a:r>
              <a:rPr lang="ru-RU" i="1" dirty="0"/>
              <a:t>, </a:t>
            </a:r>
            <a:r>
              <a:rPr lang="ru-RU" i="1" dirty="0" err="1"/>
              <a:t>color</a:t>
            </a:r>
            <a:r>
              <a:rPr lang="ru-RU" i="1" dirty="0"/>
              <a:t>='</a:t>
            </a:r>
            <a:r>
              <a:rPr lang="ru-RU" i="1" dirty="0" err="1"/>
              <a:t>steelblue</a:t>
            </a:r>
            <a:r>
              <a:rPr lang="ru-RU" i="1" dirty="0"/>
              <a:t>')</a:t>
            </a:r>
          </a:p>
          <a:p>
            <a:pPr marL="0" indent="0" latinLnBrk="1">
              <a:buNone/>
            </a:pPr>
            <a:r>
              <a:rPr lang="ru-RU" i="1" dirty="0" err="1"/>
              <a:t>plt.title</a:t>
            </a:r>
            <a:r>
              <a:rPr lang="ru-RU" i="1" dirty="0"/>
              <a:t>('Number </a:t>
            </a:r>
            <a:r>
              <a:rPr lang="ru-RU" i="1" dirty="0" err="1"/>
              <a:t>of</a:t>
            </a:r>
            <a:r>
              <a:rPr lang="ru-RU" i="1" dirty="0"/>
              <a:t> </a:t>
            </a:r>
            <a:r>
              <a:rPr lang="ru-RU" i="1" dirty="0" err="1"/>
              <a:t>Students</a:t>
            </a:r>
            <a:r>
              <a:rPr lang="ru-RU" i="1" dirty="0"/>
              <a:t> </a:t>
            </a:r>
            <a:r>
              <a:rPr lang="ru-RU" i="1" dirty="0" err="1"/>
              <a:t>by</a:t>
            </a:r>
            <a:r>
              <a:rPr lang="ru-RU" i="1" dirty="0"/>
              <a:t> Major')</a:t>
            </a:r>
          </a:p>
          <a:p>
            <a:pPr marL="0" indent="0" latinLnBrk="1">
              <a:buNone/>
            </a:pPr>
            <a:r>
              <a:rPr lang="ru-RU" i="1" dirty="0" err="1"/>
              <a:t>plt.xlabel</a:t>
            </a:r>
            <a:r>
              <a:rPr lang="ru-RU" i="1" dirty="0"/>
              <a:t>('Major')</a:t>
            </a:r>
          </a:p>
          <a:p>
            <a:pPr marL="0" indent="0" latinLnBrk="1">
              <a:buNone/>
            </a:pPr>
            <a:r>
              <a:rPr lang="ru-RU" i="1" dirty="0" err="1"/>
              <a:t>plt.ylabel</a:t>
            </a:r>
            <a:r>
              <a:rPr lang="ru-RU" i="1" dirty="0"/>
              <a:t>('Number </a:t>
            </a:r>
            <a:r>
              <a:rPr lang="ru-RU" i="1" dirty="0" err="1"/>
              <a:t>of</a:t>
            </a:r>
            <a:r>
              <a:rPr lang="ru-RU" i="1" dirty="0"/>
              <a:t> </a:t>
            </a:r>
            <a:r>
              <a:rPr lang="ru-RU" i="1" dirty="0" err="1"/>
              <a:t>Students</a:t>
            </a:r>
            <a:r>
              <a:rPr lang="ru-RU" i="1" dirty="0"/>
              <a:t>')</a:t>
            </a:r>
          </a:p>
          <a:p>
            <a:pPr marL="0" indent="0" latinLnBrk="1">
              <a:buNone/>
            </a:pPr>
            <a:r>
              <a:rPr lang="ru-RU" i="1" dirty="0" err="1"/>
              <a:t>plt.grid</a:t>
            </a:r>
            <a:r>
              <a:rPr lang="ru-RU" i="1" dirty="0"/>
              <a:t>(True, </a:t>
            </a:r>
            <a:r>
              <a:rPr lang="ru-RU" i="1" dirty="0" err="1"/>
              <a:t>axis</a:t>
            </a:r>
            <a:r>
              <a:rPr lang="ru-RU" i="1" dirty="0"/>
              <a:t>='y', </a:t>
            </a:r>
            <a:r>
              <a:rPr lang="ru-RU" i="1" dirty="0" err="1"/>
              <a:t>alpha</a:t>
            </a:r>
            <a:r>
              <a:rPr lang="ru-RU" i="1" dirty="0"/>
              <a:t>=0.3)</a:t>
            </a:r>
          </a:p>
          <a:p>
            <a:pPr marL="0" indent="0" latinLnBrk="1">
              <a:buNone/>
            </a:pPr>
            <a:r>
              <a:rPr lang="ru-RU" i="1" dirty="0" err="1"/>
              <a:t>plt.show</a:t>
            </a:r>
            <a:r>
              <a:rPr lang="ru-RU" i="1" dirty="0"/>
              <a:t>()</a:t>
            </a:r>
          </a:p>
          <a:p>
            <a:pPr marL="0" indent="0">
              <a:buNone/>
            </a:pPr>
            <a:endParaRPr lang="ru-RU" i="1" dirty="0"/>
          </a:p>
        </p:txBody>
      </p:sp>
    </p:spTree>
    <p:extLst>
      <p:ext uri="{BB962C8B-B14F-4D97-AF65-F5344CB8AC3E}">
        <p14:creationId xmlns:p14="http://schemas.microsoft.com/office/powerpoint/2010/main" val="201111148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526FF5-D638-FF8C-3A54-C805996C6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Pie </a:t>
            </a:r>
            <a:r>
              <a:rPr lang="ru-RU" dirty="0" err="1"/>
              <a:t>Charts</a:t>
            </a:r>
            <a:r>
              <a:rPr lang="ru-RU" dirty="0"/>
              <a:t> - </a:t>
            </a:r>
            <a:r>
              <a:rPr lang="ru-RU" dirty="0" err="1"/>
              <a:t>Use</a:t>
            </a:r>
            <a:r>
              <a:rPr lang="ru-RU" dirty="0"/>
              <a:t> </a:t>
            </a:r>
            <a:r>
              <a:rPr lang="ru-RU" dirty="0" err="1"/>
              <a:t>Carefully</a:t>
            </a:r>
            <a:r>
              <a:rPr lang="ru-RU" dirty="0"/>
              <a:t>!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09A216F-8965-AAF2-9F5A-D5FA8BECD9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dirty="0" err="1"/>
              <a:t>When</a:t>
            </a:r>
            <a:r>
              <a:rPr lang="ru-RU" b="1" dirty="0"/>
              <a:t> (</a:t>
            </a:r>
            <a:r>
              <a:rPr lang="ru-RU" b="1" dirty="0" err="1"/>
              <a:t>rarely</a:t>
            </a:r>
            <a:r>
              <a:rPr lang="ru-RU" b="1" dirty="0"/>
              <a:t>) </a:t>
            </a:r>
            <a:r>
              <a:rPr lang="ru-RU" b="1" dirty="0" err="1"/>
              <a:t>to</a:t>
            </a:r>
            <a:r>
              <a:rPr lang="ru-RU" b="1" dirty="0"/>
              <a:t> </a:t>
            </a:r>
            <a:r>
              <a:rPr lang="ru-RU" b="1" dirty="0" err="1"/>
              <a:t>use</a:t>
            </a:r>
            <a:r>
              <a:rPr lang="ru-RU" b="1" dirty="0"/>
              <a:t>:</a:t>
            </a:r>
            <a:endParaRPr lang="ru-RU" dirty="0"/>
          </a:p>
          <a:p>
            <a:pPr lvl="0"/>
            <a:r>
              <a:rPr lang="ru-RU" dirty="0" err="1"/>
              <a:t>Showing</a:t>
            </a:r>
            <a:r>
              <a:rPr lang="ru-RU" dirty="0"/>
              <a:t> </a:t>
            </a:r>
            <a:r>
              <a:rPr lang="ru-RU" dirty="0" err="1"/>
              <a:t>proportions</a:t>
            </a:r>
            <a:r>
              <a:rPr lang="ru-RU" dirty="0"/>
              <a:t> </a:t>
            </a:r>
            <a:r>
              <a:rPr lang="ru-RU" dirty="0" err="1"/>
              <a:t>of</a:t>
            </a:r>
            <a:r>
              <a:rPr lang="ru-RU" dirty="0"/>
              <a:t> a </a:t>
            </a:r>
            <a:r>
              <a:rPr lang="ru-RU" dirty="0" err="1"/>
              <a:t>whole</a:t>
            </a:r>
            <a:endParaRPr lang="ru-RU" dirty="0"/>
          </a:p>
          <a:p>
            <a:pPr lvl="0"/>
            <a:r>
              <a:rPr lang="ru-RU" dirty="0" err="1"/>
              <a:t>Few</a:t>
            </a:r>
            <a:r>
              <a:rPr lang="ru-RU" dirty="0"/>
              <a:t> </a:t>
            </a:r>
            <a:r>
              <a:rPr lang="ru-RU" dirty="0" err="1"/>
              <a:t>categories</a:t>
            </a:r>
            <a:r>
              <a:rPr lang="ru-RU" dirty="0"/>
              <a:t> (≤ 6)</a:t>
            </a:r>
          </a:p>
          <a:p>
            <a:pPr lvl="0"/>
            <a:r>
              <a:rPr lang="ru-RU" dirty="0" err="1"/>
              <a:t>When</a:t>
            </a:r>
            <a:r>
              <a:rPr lang="ru-RU" dirty="0"/>
              <a:t> </a:t>
            </a:r>
            <a:r>
              <a:rPr lang="ru-RU" dirty="0" err="1"/>
              <a:t>exact</a:t>
            </a:r>
            <a:r>
              <a:rPr lang="ru-RU" dirty="0"/>
              <a:t> </a:t>
            </a:r>
            <a:r>
              <a:rPr lang="ru-RU" dirty="0" err="1"/>
              <a:t>comparison</a:t>
            </a:r>
            <a:r>
              <a:rPr lang="ru-RU" dirty="0"/>
              <a:t> </a:t>
            </a:r>
            <a:r>
              <a:rPr lang="ru-RU" dirty="0" err="1"/>
              <a:t>isn't</a:t>
            </a:r>
            <a:r>
              <a:rPr lang="ru-RU" dirty="0"/>
              <a:t> </a:t>
            </a:r>
            <a:r>
              <a:rPr lang="ru-RU" dirty="0" err="1"/>
              <a:t>needed</a:t>
            </a:r>
            <a:endParaRPr lang="ru-RU" dirty="0"/>
          </a:p>
          <a:p>
            <a:pPr marL="0" indent="0">
              <a:buNone/>
            </a:pPr>
            <a:r>
              <a:rPr lang="ru-RU" b="1" dirty="0" err="1"/>
              <a:t>Problems</a:t>
            </a:r>
            <a:r>
              <a:rPr lang="ru-RU" b="1" dirty="0"/>
              <a:t> </a:t>
            </a:r>
            <a:r>
              <a:rPr lang="ru-RU" b="1" dirty="0" err="1"/>
              <a:t>with</a:t>
            </a:r>
            <a:r>
              <a:rPr lang="ru-RU" b="1" dirty="0"/>
              <a:t> </a:t>
            </a:r>
            <a:r>
              <a:rPr lang="ru-RU" b="1" dirty="0" err="1"/>
              <a:t>pie</a:t>
            </a:r>
            <a:r>
              <a:rPr lang="ru-RU" b="1" dirty="0"/>
              <a:t> </a:t>
            </a:r>
            <a:r>
              <a:rPr lang="ru-RU" b="1" dirty="0" err="1"/>
              <a:t>charts</a:t>
            </a:r>
            <a:r>
              <a:rPr lang="ru-RU" b="1" dirty="0"/>
              <a:t>:</a:t>
            </a:r>
            <a:endParaRPr lang="ru-RU" dirty="0"/>
          </a:p>
          <a:p>
            <a:pPr lvl="0"/>
            <a:r>
              <a:rPr lang="ru-RU" dirty="0"/>
              <a:t>Hard </a:t>
            </a:r>
            <a:r>
              <a:rPr lang="ru-RU" dirty="0" err="1"/>
              <a:t>to</a:t>
            </a:r>
            <a:r>
              <a:rPr lang="ru-RU" dirty="0"/>
              <a:t> </a:t>
            </a:r>
            <a:r>
              <a:rPr lang="ru-RU" dirty="0" err="1"/>
              <a:t>compare</a:t>
            </a:r>
            <a:r>
              <a:rPr lang="ru-RU" dirty="0"/>
              <a:t> </a:t>
            </a:r>
            <a:r>
              <a:rPr lang="ru-RU" dirty="0" err="1"/>
              <a:t>slice</a:t>
            </a:r>
            <a:r>
              <a:rPr lang="ru-RU" dirty="0"/>
              <a:t> </a:t>
            </a:r>
            <a:r>
              <a:rPr lang="ru-RU" dirty="0" err="1"/>
              <a:t>sizes</a:t>
            </a:r>
            <a:endParaRPr lang="ru-RU" dirty="0"/>
          </a:p>
          <a:p>
            <a:pPr lvl="0"/>
            <a:r>
              <a:rPr lang="ru-RU" dirty="0" err="1"/>
              <a:t>Can't</a:t>
            </a:r>
            <a:r>
              <a:rPr lang="ru-RU" dirty="0"/>
              <a:t> </a:t>
            </a:r>
            <a:r>
              <a:rPr lang="ru-RU" dirty="0" err="1"/>
              <a:t>show</a:t>
            </a:r>
            <a:r>
              <a:rPr lang="ru-RU" dirty="0"/>
              <a:t> </a:t>
            </a:r>
            <a:r>
              <a:rPr lang="ru-RU" dirty="0" err="1"/>
              <a:t>many</a:t>
            </a:r>
            <a:r>
              <a:rPr lang="ru-RU" dirty="0"/>
              <a:t> </a:t>
            </a:r>
            <a:r>
              <a:rPr lang="ru-RU" dirty="0" err="1"/>
              <a:t>categories</a:t>
            </a:r>
            <a:endParaRPr lang="ru-RU" dirty="0"/>
          </a:p>
          <a:p>
            <a:pPr lvl="0"/>
            <a:r>
              <a:rPr lang="ru-RU" dirty="0"/>
              <a:t>3D </a:t>
            </a:r>
            <a:r>
              <a:rPr lang="ru-RU" dirty="0" err="1"/>
              <a:t>pies</a:t>
            </a:r>
            <a:r>
              <a:rPr lang="ru-RU" dirty="0"/>
              <a:t> </a:t>
            </a:r>
            <a:r>
              <a:rPr lang="ru-RU" dirty="0" err="1"/>
              <a:t>distort</a:t>
            </a:r>
            <a:r>
              <a:rPr lang="ru-RU" dirty="0"/>
              <a:t> </a:t>
            </a:r>
            <a:r>
              <a:rPr lang="ru-RU" dirty="0" err="1"/>
              <a:t>proportions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0996299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F25FE4-4007-A62E-23DD-6E2B8EC11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Example</a:t>
            </a:r>
            <a:r>
              <a:rPr lang="ru-RU" dirty="0"/>
              <a:t> - </a:t>
            </a:r>
            <a:r>
              <a:rPr lang="ru-RU" dirty="0" err="1"/>
              <a:t>Student</a:t>
            </a:r>
            <a:r>
              <a:rPr lang="ru-RU" dirty="0"/>
              <a:t> </a:t>
            </a:r>
            <a:r>
              <a:rPr lang="ru-RU" dirty="0" err="1"/>
              <a:t>Dataset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B848B8C-01E7-6E02-9E6D-5B01B80985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b="1" dirty="0" err="1"/>
              <a:t>Dataset</a:t>
            </a:r>
            <a:r>
              <a:rPr lang="ru-RU" b="1" dirty="0"/>
              <a:t>:</a:t>
            </a:r>
            <a:r>
              <a:rPr lang="ru-RU" dirty="0"/>
              <a:t> students.csv</a:t>
            </a:r>
          </a:p>
          <a:p>
            <a:pPr lvl="0"/>
            <a:r>
              <a:rPr lang="ru-RU" dirty="0" err="1"/>
              <a:t>Age</a:t>
            </a:r>
            <a:r>
              <a:rPr lang="ru-RU" dirty="0"/>
              <a:t>, </a:t>
            </a:r>
            <a:r>
              <a:rPr lang="ru-RU" dirty="0" err="1"/>
              <a:t>Height</a:t>
            </a:r>
            <a:r>
              <a:rPr lang="ru-RU" dirty="0"/>
              <a:t>, </a:t>
            </a:r>
            <a:r>
              <a:rPr lang="ru-RU" dirty="0" err="1"/>
              <a:t>Weight</a:t>
            </a:r>
            <a:endParaRPr lang="ru-RU" dirty="0"/>
          </a:p>
          <a:p>
            <a:pPr lvl="0"/>
            <a:r>
              <a:rPr lang="ru-RU" dirty="0"/>
              <a:t>Major, Year </a:t>
            </a:r>
            <a:r>
              <a:rPr lang="ru-RU" dirty="0" err="1"/>
              <a:t>in</a:t>
            </a:r>
            <a:r>
              <a:rPr lang="ru-RU" dirty="0"/>
              <a:t> </a:t>
            </a:r>
            <a:r>
              <a:rPr lang="ru-RU" dirty="0" err="1"/>
              <a:t>school</a:t>
            </a:r>
            <a:endParaRPr lang="ru-RU" dirty="0"/>
          </a:p>
          <a:p>
            <a:pPr lvl="0"/>
            <a:r>
              <a:rPr lang="ru-RU" dirty="0"/>
              <a:t>Test </a:t>
            </a:r>
            <a:r>
              <a:rPr lang="ru-RU" dirty="0" err="1"/>
              <a:t>scores</a:t>
            </a:r>
            <a:r>
              <a:rPr lang="ru-RU" dirty="0"/>
              <a:t> (</a:t>
            </a:r>
            <a:r>
              <a:rPr lang="ru-RU" dirty="0" err="1"/>
              <a:t>Math</a:t>
            </a:r>
            <a:r>
              <a:rPr lang="ru-RU" dirty="0"/>
              <a:t>, Science, English)</a:t>
            </a:r>
          </a:p>
          <a:p>
            <a:pPr marL="0" indent="0">
              <a:buNone/>
            </a:pPr>
            <a:r>
              <a:rPr lang="ru-RU" b="1" dirty="0" err="1"/>
              <a:t>Questions</a:t>
            </a:r>
            <a:r>
              <a:rPr lang="ru-RU" b="1" dirty="0"/>
              <a:t> </a:t>
            </a:r>
            <a:r>
              <a:rPr lang="ru-RU" b="1" dirty="0" err="1"/>
              <a:t>we</a:t>
            </a:r>
            <a:r>
              <a:rPr lang="ru-RU" b="1" dirty="0"/>
              <a:t> </a:t>
            </a:r>
            <a:r>
              <a:rPr lang="ru-RU" b="1" dirty="0" err="1"/>
              <a:t>can</a:t>
            </a:r>
            <a:r>
              <a:rPr lang="ru-RU" b="1" dirty="0"/>
              <a:t> </a:t>
            </a:r>
            <a:r>
              <a:rPr lang="ru-RU" b="1" dirty="0" err="1"/>
              <a:t>answer</a:t>
            </a:r>
            <a:r>
              <a:rPr lang="ru-RU" b="1" dirty="0"/>
              <a:t>:</a:t>
            </a:r>
            <a:endParaRPr lang="ru-RU" dirty="0"/>
          </a:p>
          <a:p>
            <a:pPr lvl="0"/>
            <a:r>
              <a:rPr lang="ru-RU" dirty="0" err="1"/>
              <a:t>What's</a:t>
            </a:r>
            <a:r>
              <a:rPr lang="ru-RU" dirty="0"/>
              <a:t> </a:t>
            </a:r>
            <a:r>
              <a:rPr lang="ru-RU" dirty="0" err="1"/>
              <a:t>typical</a:t>
            </a:r>
            <a:r>
              <a:rPr lang="ru-RU" dirty="0"/>
              <a:t> </a:t>
            </a:r>
            <a:r>
              <a:rPr lang="ru-RU" dirty="0" err="1"/>
              <a:t>student</a:t>
            </a:r>
            <a:r>
              <a:rPr lang="ru-RU" dirty="0"/>
              <a:t> </a:t>
            </a:r>
            <a:r>
              <a:rPr lang="ru-RU" dirty="0" err="1"/>
              <a:t>age</a:t>
            </a:r>
            <a:r>
              <a:rPr lang="ru-RU" dirty="0"/>
              <a:t>?</a:t>
            </a:r>
          </a:p>
          <a:p>
            <a:pPr lvl="0"/>
            <a:r>
              <a:rPr lang="ru-RU" dirty="0" err="1"/>
              <a:t>How</a:t>
            </a:r>
            <a:r>
              <a:rPr lang="ru-RU" dirty="0"/>
              <a:t> </a:t>
            </a:r>
            <a:r>
              <a:rPr lang="ru-RU" dirty="0" err="1"/>
              <a:t>variable</a:t>
            </a:r>
            <a:r>
              <a:rPr lang="ru-RU" dirty="0"/>
              <a:t> </a:t>
            </a:r>
            <a:r>
              <a:rPr lang="ru-RU" dirty="0" err="1"/>
              <a:t>are</a:t>
            </a:r>
            <a:r>
              <a:rPr lang="ru-RU" dirty="0"/>
              <a:t> </a:t>
            </a:r>
            <a:r>
              <a:rPr lang="ru-RU" dirty="0" err="1"/>
              <a:t>test</a:t>
            </a:r>
            <a:r>
              <a:rPr lang="ru-RU" dirty="0"/>
              <a:t> </a:t>
            </a:r>
            <a:r>
              <a:rPr lang="ru-RU" dirty="0" err="1"/>
              <a:t>scores</a:t>
            </a:r>
            <a:r>
              <a:rPr lang="ru-RU" dirty="0"/>
              <a:t>?</a:t>
            </a:r>
          </a:p>
          <a:p>
            <a:pPr lvl="0"/>
            <a:r>
              <a:rPr lang="ru-RU" dirty="0" err="1"/>
              <a:t>Are</a:t>
            </a:r>
            <a:r>
              <a:rPr lang="ru-RU" dirty="0"/>
              <a:t> </a:t>
            </a:r>
            <a:r>
              <a:rPr lang="ru-RU" dirty="0" err="1"/>
              <a:t>heights</a:t>
            </a:r>
            <a:r>
              <a:rPr lang="ru-RU" dirty="0"/>
              <a:t> </a:t>
            </a:r>
            <a:r>
              <a:rPr lang="ru-RU" dirty="0" err="1"/>
              <a:t>normally</a:t>
            </a:r>
            <a:r>
              <a:rPr lang="ru-RU" dirty="0"/>
              <a:t> </a:t>
            </a:r>
            <a:r>
              <a:rPr lang="ru-RU" dirty="0" err="1"/>
              <a:t>distributed</a:t>
            </a:r>
            <a:r>
              <a:rPr lang="ru-RU" dirty="0"/>
              <a:t>?</a:t>
            </a:r>
          </a:p>
          <a:p>
            <a:pPr lvl="0"/>
            <a:r>
              <a:rPr lang="ru-RU" dirty="0"/>
              <a:t>Do </a:t>
            </a:r>
            <a:r>
              <a:rPr lang="ru-RU" dirty="0" err="1"/>
              <a:t>math</a:t>
            </a:r>
            <a:r>
              <a:rPr lang="ru-RU" dirty="0"/>
              <a:t> </a:t>
            </a:r>
            <a:r>
              <a:rPr lang="ru-RU" dirty="0" err="1"/>
              <a:t>and</a:t>
            </a:r>
            <a:r>
              <a:rPr lang="ru-RU" dirty="0"/>
              <a:t> </a:t>
            </a:r>
            <a:r>
              <a:rPr lang="ru-RU" dirty="0" err="1"/>
              <a:t>science</a:t>
            </a:r>
            <a:r>
              <a:rPr lang="ru-RU" dirty="0"/>
              <a:t> </a:t>
            </a:r>
            <a:r>
              <a:rPr lang="ru-RU" dirty="0" err="1"/>
              <a:t>scores</a:t>
            </a:r>
            <a:r>
              <a:rPr lang="ru-RU" dirty="0"/>
              <a:t> </a:t>
            </a:r>
            <a:r>
              <a:rPr lang="ru-RU" dirty="0" err="1"/>
              <a:t>relate</a:t>
            </a:r>
            <a:r>
              <a:rPr lang="ru-RU" dirty="0"/>
              <a:t>?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4585028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4B95F25-E783-B57F-B01A-934DD85FE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Step-</a:t>
            </a:r>
            <a:r>
              <a:rPr lang="ru-RU" dirty="0" err="1"/>
              <a:t>by</a:t>
            </a:r>
            <a:r>
              <a:rPr lang="ru-RU" dirty="0"/>
              <a:t>-Step Analysis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C698EDC-62A0-67E1-0FF7-86B61B269D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 latinLnBrk="1">
              <a:buNone/>
            </a:pPr>
            <a:r>
              <a:rPr lang="ru-RU" dirty="0" err="1"/>
              <a:t>import</a:t>
            </a:r>
            <a:r>
              <a:rPr lang="ru-RU" dirty="0"/>
              <a:t> </a:t>
            </a:r>
            <a:r>
              <a:rPr lang="ru-RU" dirty="0" err="1"/>
              <a:t>pandas</a:t>
            </a:r>
            <a:r>
              <a:rPr lang="ru-RU" dirty="0"/>
              <a:t> </a:t>
            </a:r>
            <a:r>
              <a:rPr lang="ru-RU" dirty="0" err="1"/>
              <a:t>as</a:t>
            </a:r>
            <a:r>
              <a:rPr lang="ru-RU" dirty="0"/>
              <a:t> </a:t>
            </a:r>
            <a:r>
              <a:rPr lang="ru-RU" dirty="0" err="1"/>
              <a:t>pd</a:t>
            </a:r>
            <a:endParaRPr lang="ru-RU" dirty="0"/>
          </a:p>
          <a:p>
            <a:pPr marL="0" indent="0" latinLnBrk="1">
              <a:buNone/>
            </a:pPr>
            <a:r>
              <a:rPr lang="ru-RU" dirty="0" err="1"/>
              <a:t>import</a:t>
            </a:r>
            <a:r>
              <a:rPr lang="ru-RU" dirty="0"/>
              <a:t> </a:t>
            </a:r>
            <a:r>
              <a:rPr lang="ru-RU" dirty="0" err="1"/>
              <a:t>numpy</a:t>
            </a:r>
            <a:r>
              <a:rPr lang="ru-RU" dirty="0"/>
              <a:t> </a:t>
            </a:r>
            <a:r>
              <a:rPr lang="ru-RU" dirty="0" err="1"/>
              <a:t>as</a:t>
            </a:r>
            <a:r>
              <a:rPr lang="ru-RU" dirty="0"/>
              <a:t> </a:t>
            </a:r>
            <a:r>
              <a:rPr lang="ru-RU" dirty="0" err="1"/>
              <a:t>np</a:t>
            </a:r>
            <a:endParaRPr lang="ru-RU" dirty="0"/>
          </a:p>
          <a:p>
            <a:pPr marL="0" indent="0" latinLnBrk="1">
              <a:buNone/>
            </a:pPr>
            <a:r>
              <a:rPr lang="ru-RU" dirty="0" err="1"/>
              <a:t>import</a:t>
            </a:r>
            <a:r>
              <a:rPr lang="ru-RU" dirty="0"/>
              <a:t> </a:t>
            </a:r>
            <a:r>
              <a:rPr lang="ru-RU" dirty="0" err="1"/>
              <a:t>matplotlib.pyplot</a:t>
            </a:r>
            <a:r>
              <a:rPr lang="ru-RU" dirty="0"/>
              <a:t> </a:t>
            </a:r>
            <a:r>
              <a:rPr lang="ru-RU" dirty="0" err="1"/>
              <a:t>as</a:t>
            </a:r>
            <a:r>
              <a:rPr lang="ru-RU" dirty="0"/>
              <a:t> </a:t>
            </a:r>
            <a:r>
              <a:rPr lang="ru-RU" dirty="0" err="1"/>
              <a:t>plt</a:t>
            </a:r>
            <a:endParaRPr lang="ru-RU" dirty="0"/>
          </a:p>
          <a:p>
            <a:pPr marL="0" indent="0" latinLnBrk="1">
              <a:buNone/>
            </a:pPr>
            <a:r>
              <a:rPr lang="ru-RU" b="1" i="1" dirty="0"/>
              <a:t># 1. </a:t>
            </a:r>
            <a:r>
              <a:rPr lang="ru-RU" b="1" i="1" dirty="0" err="1"/>
              <a:t>Load</a:t>
            </a:r>
            <a:r>
              <a:rPr lang="ru-RU" b="1" i="1" dirty="0"/>
              <a:t> </a:t>
            </a:r>
            <a:r>
              <a:rPr lang="ru-RU" b="1" i="1" dirty="0" err="1"/>
              <a:t>data</a:t>
            </a:r>
            <a:endParaRPr lang="ru-RU" b="1" dirty="0"/>
          </a:p>
          <a:p>
            <a:pPr marL="0" indent="0" latinLnBrk="1">
              <a:buNone/>
            </a:pPr>
            <a:r>
              <a:rPr lang="ru-RU" dirty="0" err="1"/>
              <a:t>df</a:t>
            </a:r>
            <a:r>
              <a:rPr lang="ru-RU" dirty="0"/>
              <a:t> = </a:t>
            </a:r>
            <a:r>
              <a:rPr lang="ru-RU" dirty="0" err="1"/>
              <a:t>pd.read_csv</a:t>
            </a:r>
            <a:r>
              <a:rPr lang="ru-RU" dirty="0"/>
              <a:t>('students.csv')</a:t>
            </a:r>
          </a:p>
          <a:p>
            <a:pPr marL="0" indent="0" latinLnBrk="1">
              <a:buNone/>
            </a:pPr>
            <a:r>
              <a:rPr lang="ru-RU" b="1" i="1" dirty="0"/>
              <a:t># 2. Quick </a:t>
            </a:r>
            <a:r>
              <a:rPr lang="ru-RU" b="1" i="1" dirty="0" err="1"/>
              <a:t>look</a:t>
            </a:r>
            <a:endParaRPr lang="ru-RU" b="1" dirty="0"/>
          </a:p>
          <a:p>
            <a:pPr marL="0" indent="0" latinLnBrk="1">
              <a:buNone/>
            </a:pPr>
            <a:r>
              <a:rPr lang="ru-RU" dirty="0" err="1"/>
              <a:t>print</a:t>
            </a:r>
            <a:r>
              <a:rPr lang="ru-RU" dirty="0"/>
              <a:t>("First </a:t>
            </a:r>
            <a:r>
              <a:rPr lang="ru-RU" dirty="0" err="1"/>
              <a:t>few</a:t>
            </a:r>
            <a:r>
              <a:rPr lang="ru-RU" dirty="0"/>
              <a:t> </a:t>
            </a:r>
            <a:r>
              <a:rPr lang="ru-RU" dirty="0" err="1"/>
              <a:t>rows</a:t>
            </a:r>
            <a:r>
              <a:rPr lang="ru-RU" dirty="0"/>
              <a:t>:")</a:t>
            </a:r>
          </a:p>
          <a:p>
            <a:pPr marL="0" indent="0" latinLnBrk="1">
              <a:buNone/>
            </a:pPr>
            <a:r>
              <a:rPr lang="ru-RU" dirty="0" err="1"/>
              <a:t>print</a:t>
            </a:r>
            <a:r>
              <a:rPr lang="ru-RU" dirty="0"/>
              <a:t>(</a:t>
            </a:r>
            <a:r>
              <a:rPr lang="ru-RU" dirty="0" err="1"/>
              <a:t>df.head</a:t>
            </a:r>
            <a:r>
              <a:rPr lang="ru-RU" dirty="0"/>
              <a:t>())</a:t>
            </a:r>
          </a:p>
          <a:p>
            <a:pPr marL="0" indent="0" latinLnBrk="1">
              <a:buNone/>
            </a:pPr>
            <a:r>
              <a:rPr lang="ru-RU" dirty="0" err="1"/>
              <a:t>print</a:t>
            </a:r>
            <a:r>
              <a:rPr lang="ru-RU" dirty="0"/>
              <a:t>("\</a:t>
            </a:r>
            <a:r>
              <a:rPr lang="ru-RU" dirty="0" err="1"/>
              <a:t>nBasic</a:t>
            </a:r>
            <a:r>
              <a:rPr lang="ru-RU" dirty="0"/>
              <a:t> </a:t>
            </a:r>
            <a:r>
              <a:rPr lang="ru-RU" dirty="0" err="1"/>
              <a:t>statistics</a:t>
            </a:r>
            <a:r>
              <a:rPr lang="ru-RU" dirty="0"/>
              <a:t>:")</a:t>
            </a:r>
          </a:p>
          <a:p>
            <a:pPr marL="0" indent="0" latinLnBrk="1">
              <a:buNone/>
            </a:pPr>
            <a:r>
              <a:rPr lang="ru-RU" dirty="0" err="1"/>
              <a:t>print</a:t>
            </a:r>
            <a:r>
              <a:rPr lang="ru-RU" dirty="0"/>
              <a:t>(</a:t>
            </a:r>
            <a:r>
              <a:rPr lang="ru-RU" dirty="0" err="1"/>
              <a:t>df.describe</a:t>
            </a:r>
            <a:r>
              <a:rPr lang="ru-RU" dirty="0"/>
              <a:t>())</a:t>
            </a:r>
          </a:p>
          <a:p>
            <a:pPr marL="0" indent="0" latinLnBrk="1">
              <a:buNone/>
            </a:pPr>
            <a:r>
              <a:rPr lang="ru-RU" b="1" i="1" dirty="0"/>
              <a:t># 3. Check </a:t>
            </a:r>
            <a:r>
              <a:rPr lang="ru-RU" b="1" i="1" dirty="0" err="1"/>
              <a:t>data</a:t>
            </a:r>
            <a:r>
              <a:rPr lang="ru-RU" b="1" i="1" dirty="0"/>
              <a:t> </a:t>
            </a:r>
            <a:r>
              <a:rPr lang="ru-RU" b="1" i="1" dirty="0" err="1"/>
              <a:t>types</a:t>
            </a:r>
            <a:endParaRPr lang="ru-RU" b="1" dirty="0"/>
          </a:p>
          <a:p>
            <a:pPr marL="0" indent="0" latinLnBrk="1">
              <a:buNone/>
            </a:pPr>
            <a:r>
              <a:rPr lang="ru-RU" dirty="0" err="1"/>
              <a:t>print</a:t>
            </a:r>
            <a:r>
              <a:rPr lang="ru-RU" dirty="0"/>
              <a:t>("\</a:t>
            </a:r>
            <a:r>
              <a:rPr lang="ru-RU" dirty="0" err="1"/>
              <a:t>nData</a:t>
            </a:r>
            <a:r>
              <a:rPr lang="ru-RU" dirty="0"/>
              <a:t> </a:t>
            </a:r>
            <a:r>
              <a:rPr lang="ru-RU" dirty="0" err="1"/>
              <a:t>types</a:t>
            </a:r>
            <a:r>
              <a:rPr lang="ru-RU" dirty="0"/>
              <a:t>:")</a:t>
            </a:r>
          </a:p>
          <a:p>
            <a:pPr marL="0" indent="0" latinLnBrk="1">
              <a:buNone/>
            </a:pPr>
            <a:r>
              <a:rPr lang="ru-RU" dirty="0" err="1"/>
              <a:t>print</a:t>
            </a:r>
            <a:r>
              <a:rPr lang="ru-RU" dirty="0"/>
              <a:t>(</a:t>
            </a:r>
            <a:r>
              <a:rPr lang="ru-RU" dirty="0" err="1"/>
              <a:t>df.dtypes</a:t>
            </a:r>
            <a:r>
              <a:rPr lang="ru-RU" dirty="0"/>
              <a:t>)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9863350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5C2318-20A1-34BC-51CF-E531A464A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Analyzing</a:t>
            </a:r>
            <a:r>
              <a:rPr lang="ru-RU" dirty="0"/>
              <a:t> </a:t>
            </a:r>
            <a:r>
              <a:rPr lang="ru-RU" dirty="0" err="1"/>
              <a:t>Numerical</a:t>
            </a:r>
            <a:r>
              <a:rPr lang="ru-RU" dirty="0"/>
              <a:t> </a:t>
            </a:r>
            <a:r>
              <a:rPr lang="ru-RU" dirty="0" err="1"/>
              <a:t>Variables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D6F986E-C393-C135-97F3-DE07FA25B4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 latinLnBrk="1">
              <a:buNone/>
            </a:pPr>
            <a:r>
              <a:rPr lang="ru-RU" b="1" i="1" dirty="0"/>
              <a:t># For </a:t>
            </a:r>
            <a:r>
              <a:rPr lang="ru-RU" b="1" i="1" dirty="0" err="1"/>
              <a:t>each</a:t>
            </a:r>
            <a:r>
              <a:rPr lang="ru-RU" b="1" i="1" dirty="0"/>
              <a:t> </a:t>
            </a:r>
            <a:r>
              <a:rPr lang="ru-RU" b="1" i="1" dirty="0" err="1"/>
              <a:t>numerical</a:t>
            </a:r>
            <a:r>
              <a:rPr lang="ru-RU" b="1" i="1" dirty="0"/>
              <a:t> </a:t>
            </a:r>
            <a:r>
              <a:rPr lang="ru-RU" b="1" i="1" dirty="0" err="1"/>
              <a:t>column</a:t>
            </a:r>
            <a:endParaRPr lang="ru-RU" b="1" dirty="0"/>
          </a:p>
          <a:p>
            <a:pPr marL="0" indent="0" latinLnBrk="1">
              <a:buNone/>
            </a:pPr>
            <a:r>
              <a:rPr lang="ru-RU" dirty="0" err="1"/>
              <a:t>numerical_cols</a:t>
            </a:r>
            <a:r>
              <a:rPr lang="ru-RU" dirty="0"/>
              <a:t> = ['</a:t>
            </a:r>
            <a:r>
              <a:rPr lang="ru-RU" dirty="0" err="1"/>
              <a:t>Age</a:t>
            </a:r>
            <a:r>
              <a:rPr lang="ru-RU" dirty="0"/>
              <a:t>', '</a:t>
            </a:r>
            <a:r>
              <a:rPr lang="ru-RU" dirty="0" err="1"/>
              <a:t>Height</a:t>
            </a:r>
            <a:r>
              <a:rPr lang="ru-RU" dirty="0"/>
              <a:t>', '</a:t>
            </a:r>
            <a:r>
              <a:rPr lang="ru-RU" dirty="0" err="1"/>
              <a:t>Math_Score</a:t>
            </a:r>
            <a:r>
              <a:rPr lang="ru-RU" dirty="0"/>
              <a:t>', '</a:t>
            </a:r>
            <a:r>
              <a:rPr lang="ru-RU" dirty="0" err="1"/>
              <a:t>Science_Score</a:t>
            </a:r>
            <a:r>
              <a:rPr lang="ru-RU" dirty="0"/>
              <a:t>', '</a:t>
            </a:r>
            <a:r>
              <a:rPr lang="ru-RU" dirty="0" err="1"/>
              <a:t>English_Score</a:t>
            </a:r>
            <a:r>
              <a:rPr lang="ru-RU" dirty="0"/>
              <a:t>']</a:t>
            </a:r>
          </a:p>
          <a:p>
            <a:pPr marL="0" indent="0" latinLnBrk="1">
              <a:buNone/>
            </a:pPr>
            <a:r>
              <a:rPr lang="ru-RU" dirty="0"/>
              <a:t> </a:t>
            </a:r>
            <a:r>
              <a:rPr lang="ru-RU" dirty="0" err="1"/>
              <a:t>for</a:t>
            </a:r>
            <a:r>
              <a:rPr lang="ru-RU" dirty="0"/>
              <a:t> </a:t>
            </a:r>
            <a:r>
              <a:rPr lang="ru-RU" dirty="0" err="1"/>
              <a:t>col</a:t>
            </a:r>
            <a:r>
              <a:rPr lang="ru-RU" dirty="0"/>
              <a:t> </a:t>
            </a:r>
            <a:r>
              <a:rPr lang="ru-RU" dirty="0" err="1"/>
              <a:t>in</a:t>
            </a:r>
            <a:r>
              <a:rPr lang="ru-RU" dirty="0"/>
              <a:t> </a:t>
            </a:r>
            <a:r>
              <a:rPr lang="ru-RU" dirty="0" err="1"/>
              <a:t>numerical_cols</a:t>
            </a:r>
            <a:r>
              <a:rPr lang="ru-RU" dirty="0"/>
              <a:t>:</a:t>
            </a:r>
          </a:p>
          <a:p>
            <a:pPr marL="0" indent="0" latinLnBrk="1">
              <a:buNone/>
            </a:pPr>
            <a:r>
              <a:rPr lang="ru-RU" dirty="0"/>
              <a:t>    </a:t>
            </a:r>
            <a:r>
              <a:rPr lang="ru-RU" dirty="0" err="1"/>
              <a:t>print</a:t>
            </a:r>
            <a:r>
              <a:rPr lang="ru-RU" dirty="0"/>
              <a:t>(f"\n--- {</a:t>
            </a:r>
            <a:r>
              <a:rPr lang="ru-RU" dirty="0" err="1"/>
              <a:t>col</a:t>
            </a:r>
            <a:r>
              <a:rPr lang="ru-RU" dirty="0"/>
              <a:t>} ---")</a:t>
            </a:r>
          </a:p>
          <a:p>
            <a:pPr marL="0" indent="0" latinLnBrk="1">
              <a:buNone/>
            </a:pPr>
            <a:r>
              <a:rPr lang="ru-RU" dirty="0"/>
              <a:t>    </a:t>
            </a:r>
            <a:r>
              <a:rPr lang="ru-RU" dirty="0" err="1"/>
              <a:t>data</a:t>
            </a:r>
            <a:r>
              <a:rPr lang="ru-RU" dirty="0"/>
              <a:t> = </a:t>
            </a:r>
            <a:r>
              <a:rPr lang="ru-RU" dirty="0" err="1"/>
              <a:t>df</a:t>
            </a:r>
            <a:r>
              <a:rPr lang="ru-RU" dirty="0"/>
              <a:t>[</a:t>
            </a:r>
            <a:r>
              <a:rPr lang="ru-RU" dirty="0" err="1"/>
              <a:t>col</a:t>
            </a:r>
            <a:r>
              <a:rPr lang="ru-RU" dirty="0"/>
              <a:t>].</a:t>
            </a:r>
            <a:r>
              <a:rPr lang="ru-RU" dirty="0" err="1"/>
              <a:t>dropna</a:t>
            </a:r>
            <a:r>
              <a:rPr lang="ru-RU" dirty="0"/>
              <a:t>()  </a:t>
            </a:r>
            <a:r>
              <a:rPr lang="ru-RU" i="1" dirty="0"/>
              <a:t># </a:t>
            </a:r>
            <a:r>
              <a:rPr lang="ru-RU" i="1" dirty="0" err="1"/>
              <a:t>Remove</a:t>
            </a:r>
            <a:r>
              <a:rPr lang="ru-RU" i="1" dirty="0"/>
              <a:t> </a:t>
            </a:r>
            <a:r>
              <a:rPr lang="ru-RU" i="1" dirty="0" err="1"/>
              <a:t>missing</a:t>
            </a:r>
            <a:r>
              <a:rPr lang="ru-RU" i="1" dirty="0"/>
              <a:t> </a:t>
            </a:r>
            <a:r>
              <a:rPr lang="ru-RU" i="1" dirty="0" err="1"/>
              <a:t>values</a:t>
            </a:r>
            <a:endParaRPr lang="ru-RU" dirty="0"/>
          </a:p>
          <a:p>
            <a:pPr marL="0" indent="0" latinLnBrk="1">
              <a:buNone/>
            </a:pPr>
            <a:r>
              <a:rPr lang="ru-RU" dirty="0"/>
              <a:t>   </a:t>
            </a:r>
            <a:r>
              <a:rPr lang="ru-RU" b="1" dirty="0"/>
              <a:t> </a:t>
            </a:r>
            <a:r>
              <a:rPr lang="ru-RU" b="1" i="1" dirty="0"/>
              <a:t># Basic </a:t>
            </a:r>
            <a:r>
              <a:rPr lang="ru-RU" b="1" i="1" dirty="0" err="1"/>
              <a:t>statistics</a:t>
            </a:r>
            <a:endParaRPr lang="ru-RU" b="1" dirty="0"/>
          </a:p>
          <a:p>
            <a:pPr marL="0" indent="0" latinLnBrk="1">
              <a:buNone/>
            </a:pPr>
            <a:r>
              <a:rPr lang="ru-RU" dirty="0"/>
              <a:t>    </a:t>
            </a:r>
            <a:r>
              <a:rPr lang="ru-RU" dirty="0" err="1"/>
              <a:t>print</a:t>
            </a:r>
            <a:r>
              <a:rPr lang="ru-RU" dirty="0"/>
              <a:t>(</a:t>
            </a:r>
            <a:r>
              <a:rPr lang="ru-RU" dirty="0" err="1"/>
              <a:t>f"Count</a:t>
            </a:r>
            <a:r>
              <a:rPr lang="ru-RU" dirty="0"/>
              <a:t>: {</a:t>
            </a:r>
            <a:r>
              <a:rPr lang="ru-RU" dirty="0" err="1"/>
              <a:t>len</a:t>
            </a:r>
            <a:r>
              <a:rPr lang="ru-RU" dirty="0"/>
              <a:t>(</a:t>
            </a:r>
            <a:r>
              <a:rPr lang="ru-RU" dirty="0" err="1"/>
              <a:t>data</a:t>
            </a:r>
            <a:r>
              <a:rPr lang="ru-RU" dirty="0"/>
              <a:t>)}")</a:t>
            </a:r>
          </a:p>
          <a:p>
            <a:pPr marL="0" indent="0" latinLnBrk="1">
              <a:buNone/>
            </a:pPr>
            <a:r>
              <a:rPr lang="ru-RU" dirty="0"/>
              <a:t>    </a:t>
            </a:r>
            <a:r>
              <a:rPr lang="ru-RU" dirty="0" err="1"/>
              <a:t>print</a:t>
            </a:r>
            <a:r>
              <a:rPr lang="ru-RU" dirty="0"/>
              <a:t>(</a:t>
            </a:r>
            <a:r>
              <a:rPr lang="ru-RU" dirty="0" err="1"/>
              <a:t>f"Mean</a:t>
            </a:r>
            <a:r>
              <a:rPr lang="ru-RU" dirty="0"/>
              <a:t>: {</a:t>
            </a:r>
            <a:r>
              <a:rPr lang="ru-RU" dirty="0" err="1"/>
              <a:t>np.mean</a:t>
            </a:r>
            <a:r>
              <a:rPr lang="ru-RU" dirty="0"/>
              <a:t>(</a:t>
            </a:r>
            <a:r>
              <a:rPr lang="ru-RU" dirty="0" err="1"/>
              <a:t>data</a:t>
            </a:r>
            <a:r>
              <a:rPr lang="ru-RU" dirty="0"/>
              <a:t>):.2f}")</a:t>
            </a:r>
          </a:p>
          <a:p>
            <a:pPr marL="0" indent="0" latinLnBrk="1">
              <a:buNone/>
            </a:pPr>
            <a:r>
              <a:rPr lang="ru-RU" dirty="0"/>
              <a:t>    </a:t>
            </a:r>
            <a:r>
              <a:rPr lang="ru-RU" dirty="0" err="1"/>
              <a:t>print</a:t>
            </a:r>
            <a:r>
              <a:rPr lang="ru-RU" dirty="0"/>
              <a:t>(</a:t>
            </a:r>
            <a:r>
              <a:rPr lang="ru-RU" dirty="0" err="1"/>
              <a:t>f"Median</a:t>
            </a:r>
            <a:r>
              <a:rPr lang="ru-RU" dirty="0"/>
              <a:t>: {</a:t>
            </a:r>
            <a:r>
              <a:rPr lang="ru-RU" dirty="0" err="1"/>
              <a:t>np.median</a:t>
            </a:r>
            <a:r>
              <a:rPr lang="ru-RU" dirty="0"/>
              <a:t>(</a:t>
            </a:r>
            <a:r>
              <a:rPr lang="ru-RU" dirty="0" err="1"/>
              <a:t>data</a:t>
            </a:r>
            <a:r>
              <a:rPr lang="ru-RU" dirty="0"/>
              <a:t>):.2f}")</a:t>
            </a:r>
          </a:p>
          <a:p>
            <a:pPr marL="0" indent="0" latinLnBrk="1">
              <a:buNone/>
            </a:pPr>
            <a:r>
              <a:rPr lang="ru-RU" dirty="0"/>
              <a:t>    </a:t>
            </a:r>
            <a:r>
              <a:rPr lang="ru-RU" dirty="0" err="1"/>
              <a:t>print</a:t>
            </a:r>
            <a:r>
              <a:rPr lang="ru-RU" dirty="0"/>
              <a:t>(</a:t>
            </a:r>
            <a:r>
              <a:rPr lang="ru-RU" dirty="0" err="1"/>
              <a:t>f"Std</a:t>
            </a:r>
            <a:r>
              <a:rPr lang="ru-RU" dirty="0"/>
              <a:t> </a:t>
            </a:r>
            <a:r>
              <a:rPr lang="ru-RU" dirty="0" err="1"/>
              <a:t>Dev</a:t>
            </a:r>
            <a:r>
              <a:rPr lang="ru-RU" dirty="0"/>
              <a:t>: {</a:t>
            </a:r>
            <a:r>
              <a:rPr lang="ru-RU" dirty="0" err="1"/>
              <a:t>np.std</a:t>
            </a:r>
            <a:r>
              <a:rPr lang="ru-RU" dirty="0"/>
              <a:t>(</a:t>
            </a:r>
            <a:r>
              <a:rPr lang="ru-RU" dirty="0" err="1"/>
              <a:t>data</a:t>
            </a:r>
            <a:r>
              <a:rPr lang="ru-RU" dirty="0"/>
              <a:t>):.2f}")</a:t>
            </a:r>
          </a:p>
          <a:p>
            <a:pPr marL="0" indent="0" latinLnBrk="1">
              <a:buNone/>
            </a:pPr>
            <a:r>
              <a:rPr lang="ru-RU" dirty="0"/>
              <a:t>    </a:t>
            </a:r>
            <a:r>
              <a:rPr lang="ru-RU" dirty="0" err="1"/>
              <a:t>print</a:t>
            </a:r>
            <a:r>
              <a:rPr lang="ru-RU" dirty="0"/>
              <a:t>(</a:t>
            </a:r>
            <a:r>
              <a:rPr lang="ru-RU" dirty="0" err="1"/>
              <a:t>f"Min</a:t>
            </a:r>
            <a:r>
              <a:rPr lang="ru-RU" dirty="0"/>
              <a:t>: {</a:t>
            </a:r>
            <a:r>
              <a:rPr lang="ru-RU" dirty="0" err="1"/>
              <a:t>np.min</a:t>
            </a:r>
            <a:r>
              <a:rPr lang="ru-RU" dirty="0"/>
              <a:t>(</a:t>
            </a:r>
            <a:r>
              <a:rPr lang="ru-RU" dirty="0" err="1"/>
              <a:t>data</a:t>
            </a:r>
            <a:r>
              <a:rPr lang="ru-RU" dirty="0"/>
              <a:t>):.2f}")</a:t>
            </a:r>
          </a:p>
          <a:p>
            <a:pPr marL="0" indent="0" latinLnBrk="1">
              <a:buNone/>
            </a:pPr>
            <a:r>
              <a:rPr lang="ru-RU" dirty="0"/>
              <a:t>    </a:t>
            </a:r>
            <a:r>
              <a:rPr lang="ru-RU" dirty="0" err="1"/>
              <a:t>print</a:t>
            </a:r>
            <a:r>
              <a:rPr lang="ru-RU" dirty="0"/>
              <a:t>(</a:t>
            </a:r>
            <a:r>
              <a:rPr lang="ru-RU" dirty="0" err="1"/>
              <a:t>f"Max</a:t>
            </a:r>
            <a:r>
              <a:rPr lang="ru-RU" dirty="0"/>
              <a:t>: {</a:t>
            </a:r>
            <a:r>
              <a:rPr lang="ru-RU" dirty="0" err="1"/>
              <a:t>np.max</a:t>
            </a:r>
            <a:r>
              <a:rPr lang="ru-RU" dirty="0"/>
              <a:t>(</a:t>
            </a:r>
            <a:r>
              <a:rPr lang="ru-RU" dirty="0" err="1"/>
              <a:t>data</a:t>
            </a:r>
            <a:r>
              <a:rPr lang="ru-RU" dirty="0"/>
              <a:t>):.2f}")</a:t>
            </a:r>
          </a:p>
          <a:p>
            <a:pPr marL="0" indent="0" latinLnBrk="1">
              <a:buNone/>
            </a:pPr>
            <a:r>
              <a:rPr lang="ru-RU" dirty="0"/>
              <a:t>    </a:t>
            </a:r>
            <a:r>
              <a:rPr lang="ru-RU" dirty="0" err="1"/>
              <a:t>print</a:t>
            </a:r>
            <a:r>
              <a:rPr lang="ru-RU" dirty="0"/>
              <a:t>(</a:t>
            </a:r>
            <a:r>
              <a:rPr lang="ru-RU" dirty="0" err="1"/>
              <a:t>f"Range</a:t>
            </a:r>
            <a:r>
              <a:rPr lang="ru-RU" dirty="0"/>
              <a:t>: {</a:t>
            </a:r>
            <a:r>
              <a:rPr lang="ru-RU" dirty="0" err="1"/>
              <a:t>np.max</a:t>
            </a:r>
            <a:r>
              <a:rPr lang="ru-RU" dirty="0"/>
              <a:t>(</a:t>
            </a:r>
            <a:r>
              <a:rPr lang="ru-RU" dirty="0" err="1"/>
              <a:t>data</a:t>
            </a:r>
            <a:r>
              <a:rPr lang="ru-RU" dirty="0"/>
              <a:t>) - </a:t>
            </a:r>
            <a:r>
              <a:rPr lang="ru-RU" dirty="0" err="1"/>
              <a:t>np.min</a:t>
            </a:r>
            <a:r>
              <a:rPr lang="ru-RU" dirty="0"/>
              <a:t>(</a:t>
            </a:r>
            <a:r>
              <a:rPr lang="ru-RU" dirty="0" err="1"/>
              <a:t>data</a:t>
            </a:r>
            <a:r>
              <a:rPr lang="ru-RU" dirty="0"/>
              <a:t>):.2f}")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9327969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B19E85-4C6D-2652-6DB3-1A2CFF7A7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Visualizing</a:t>
            </a:r>
            <a:r>
              <a:rPr lang="ru-RU" dirty="0"/>
              <a:t> </a:t>
            </a:r>
            <a:r>
              <a:rPr lang="ru-RU" dirty="0" err="1"/>
              <a:t>Distributions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00AE97D-CBBE-860A-963F-370A732FC4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 fontScale="70000" lnSpcReduction="20000"/>
          </a:bodyPr>
          <a:lstStyle/>
          <a:p>
            <a:pPr marL="0" indent="0" latinLnBrk="1">
              <a:buNone/>
            </a:pPr>
            <a:r>
              <a:rPr lang="ru-RU" b="1" i="1" dirty="0"/>
              <a:t># </a:t>
            </a:r>
            <a:r>
              <a:rPr lang="ru-RU" b="1" i="1" dirty="0" err="1"/>
              <a:t>Create</a:t>
            </a:r>
            <a:r>
              <a:rPr lang="ru-RU" b="1" i="1" dirty="0"/>
              <a:t> a </a:t>
            </a:r>
            <a:r>
              <a:rPr lang="ru-RU" b="1" i="1" dirty="0" err="1"/>
              <a:t>grid</a:t>
            </a:r>
            <a:r>
              <a:rPr lang="ru-RU" b="1" i="1" dirty="0"/>
              <a:t> </a:t>
            </a:r>
            <a:r>
              <a:rPr lang="ru-RU" b="1" i="1" dirty="0" err="1"/>
              <a:t>of</a:t>
            </a:r>
            <a:r>
              <a:rPr lang="ru-RU" b="1" i="1" dirty="0"/>
              <a:t> </a:t>
            </a:r>
            <a:r>
              <a:rPr lang="ru-RU" b="1" i="1" dirty="0" err="1"/>
              <a:t>histograms</a:t>
            </a:r>
            <a:endParaRPr lang="ru-RU" b="1" i="1" dirty="0"/>
          </a:p>
          <a:p>
            <a:pPr marL="0" indent="0" latinLnBrk="1">
              <a:buNone/>
            </a:pPr>
            <a:r>
              <a:rPr lang="ru-RU" i="1" dirty="0" err="1"/>
              <a:t>fig</a:t>
            </a:r>
            <a:r>
              <a:rPr lang="ru-RU" i="1" dirty="0"/>
              <a:t>, </a:t>
            </a:r>
            <a:r>
              <a:rPr lang="ru-RU" i="1" dirty="0" err="1"/>
              <a:t>axes</a:t>
            </a:r>
            <a:r>
              <a:rPr lang="ru-RU" i="1" dirty="0"/>
              <a:t> = </a:t>
            </a:r>
            <a:r>
              <a:rPr lang="ru-RU" i="1" dirty="0" err="1"/>
              <a:t>plt.subplots</a:t>
            </a:r>
            <a:r>
              <a:rPr lang="ru-RU" i="1" dirty="0"/>
              <a:t>(2, 3, </a:t>
            </a:r>
            <a:r>
              <a:rPr lang="ru-RU" i="1" dirty="0" err="1"/>
              <a:t>figsize</a:t>
            </a:r>
            <a:r>
              <a:rPr lang="ru-RU" i="1" dirty="0"/>
              <a:t>=(15, 10))</a:t>
            </a:r>
          </a:p>
          <a:p>
            <a:pPr marL="0" indent="0" latinLnBrk="1">
              <a:buNone/>
            </a:pPr>
            <a:r>
              <a:rPr lang="ru-RU" i="1" dirty="0" err="1"/>
              <a:t>numerical_cols</a:t>
            </a:r>
            <a:r>
              <a:rPr lang="ru-RU" i="1" dirty="0"/>
              <a:t> = ['</a:t>
            </a:r>
            <a:r>
              <a:rPr lang="ru-RU" i="1" dirty="0" err="1"/>
              <a:t>Age</a:t>
            </a:r>
            <a:r>
              <a:rPr lang="ru-RU" i="1" dirty="0"/>
              <a:t>', '</a:t>
            </a:r>
            <a:r>
              <a:rPr lang="ru-RU" i="1" dirty="0" err="1"/>
              <a:t>Height</a:t>
            </a:r>
            <a:r>
              <a:rPr lang="ru-RU" i="1" dirty="0"/>
              <a:t>', '</a:t>
            </a:r>
            <a:r>
              <a:rPr lang="ru-RU" i="1" dirty="0" err="1"/>
              <a:t>Math_Score</a:t>
            </a:r>
            <a:r>
              <a:rPr lang="ru-RU" i="1" dirty="0"/>
              <a:t>', '</a:t>
            </a:r>
            <a:r>
              <a:rPr lang="ru-RU" i="1" dirty="0" err="1"/>
              <a:t>Science_Score</a:t>
            </a:r>
            <a:r>
              <a:rPr lang="ru-RU" i="1" dirty="0"/>
              <a:t>', '</a:t>
            </a:r>
            <a:r>
              <a:rPr lang="ru-RU" i="1" dirty="0" err="1"/>
              <a:t>English_Score</a:t>
            </a:r>
            <a:r>
              <a:rPr lang="ru-RU" i="1" dirty="0"/>
              <a:t>']</a:t>
            </a:r>
          </a:p>
          <a:p>
            <a:pPr marL="0" indent="0" latinLnBrk="1">
              <a:buNone/>
            </a:pPr>
            <a:r>
              <a:rPr lang="ru-RU" i="1" dirty="0"/>
              <a:t> </a:t>
            </a:r>
            <a:r>
              <a:rPr lang="ru-RU" i="1" dirty="0" err="1"/>
              <a:t>for</a:t>
            </a:r>
            <a:r>
              <a:rPr lang="ru-RU" i="1" dirty="0"/>
              <a:t> i, </a:t>
            </a:r>
            <a:r>
              <a:rPr lang="ru-RU" i="1" dirty="0" err="1"/>
              <a:t>col</a:t>
            </a:r>
            <a:r>
              <a:rPr lang="ru-RU" i="1" dirty="0"/>
              <a:t> </a:t>
            </a:r>
            <a:r>
              <a:rPr lang="ru-RU" i="1" dirty="0" err="1"/>
              <a:t>in</a:t>
            </a:r>
            <a:r>
              <a:rPr lang="ru-RU" i="1" dirty="0"/>
              <a:t> </a:t>
            </a:r>
            <a:r>
              <a:rPr lang="ru-RU" i="1" dirty="0" err="1"/>
              <a:t>enumerate</a:t>
            </a:r>
            <a:r>
              <a:rPr lang="ru-RU" i="1" dirty="0"/>
              <a:t>(</a:t>
            </a:r>
            <a:r>
              <a:rPr lang="ru-RU" i="1" dirty="0" err="1"/>
              <a:t>numerical_cols</a:t>
            </a:r>
            <a:r>
              <a:rPr lang="ru-RU" i="1" dirty="0"/>
              <a:t>):</a:t>
            </a:r>
          </a:p>
          <a:p>
            <a:pPr marL="0" indent="0" latinLnBrk="1">
              <a:buNone/>
            </a:pPr>
            <a:r>
              <a:rPr lang="ru-RU" i="1" dirty="0"/>
              <a:t>    </a:t>
            </a:r>
            <a:r>
              <a:rPr lang="ru-RU" i="1" dirty="0" err="1"/>
              <a:t>row</a:t>
            </a:r>
            <a:r>
              <a:rPr lang="ru-RU" i="1" dirty="0"/>
              <a:t> = i // 3</a:t>
            </a:r>
          </a:p>
          <a:p>
            <a:pPr marL="0" indent="0" latinLnBrk="1">
              <a:buNone/>
            </a:pPr>
            <a:r>
              <a:rPr lang="ru-RU" i="1" dirty="0"/>
              <a:t>    </a:t>
            </a:r>
            <a:r>
              <a:rPr lang="ru-RU" i="1" dirty="0" err="1"/>
              <a:t>col_num</a:t>
            </a:r>
            <a:r>
              <a:rPr lang="ru-RU" i="1" dirty="0"/>
              <a:t> = i % 3</a:t>
            </a:r>
          </a:p>
          <a:p>
            <a:pPr marL="0" indent="0" latinLnBrk="1">
              <a:buNone/>
            </a:pPr>
            <a:r>
              <a:rPr lang="ru-RU" i="1" dirty="0"/>
              <a:t>    </a:t>
            </a:r>
            <a:r>
              <a:rPr lang="ru-RU" i="1" dirty="0" err="1"/>
              <a:t>axes</a:t>
            </a:r>
            <a:r>
              <a:rPr lang="ru-RU" i="1" dirty="0"/>
              <a:t>[</a:t>
            </a:r>
            <a:r>
              <a:rPr lang="ru-RU" i="1" dirty="0" err="1"/>
              <a:t>row</a:t>
            </a:r>
            <a:r>
              <a:rPr lang="ru-RU" i="1" dirty="0"/>
              <a:t>, </a:t>
            </a:r>
            <a:r>
              <a:rPr lang="ru-RU" i="1" dirty="0" err="1"/>
              <a:t>col_num</a:t>
            </a:r>
            <a:r>
              <a:rPr lang="ru-RU" i="1" dirty="0"/>
              <a:t>].</a:t>
            </a:r>
            <a:r>
              <a:rPr lang="ru-RU" i="1" dirty="0" err="1"/>
              <a:t>hist</a:t>
            </a:r>
            <a:r>
              <a:rPr lang="ru-RU" i="1" dirty="0"/>
              <a:t>(</a:t>
            </a:r>
            <a:r>
              <a:rPr lang="ru-RU" i="1" dirty="0" err="1"/>
              <a:t>df</a:t>
            </a:r>
            <a:r>
              <a:rPr lang="ru-RU" i="1" dirty="0"/>
              <a:t>[</a:t>
            </a:r>
            <a:r>
              <a:rPr lang="ru-RU" i="1" dirty="0" err="1"/>
              <a:t>col</a:t>
            </a:r>
            <a:r>
              <a:rPr lang="ru-RU" i="1" dirty="0"/>
              <a:t>].</a:t>
            </a:r>
            <a:r>
              <a:rPr lang="ru-RU" i="1" dirty="0" err="1"/>
              <a:t>dropna</a:t>
            </a:r>
            <a:r>
              <a:rPr lang="ru-RU" i="1" dirty="0"/>
              <a:t>(), </a:t>
            </a:r>
            <a:r>
              <a:rPr lang="ru-RU" i="1" dirty="0" err="1"/>
              <a:t>bins</a:t>
            </a:r>
            <a:r>
              <a:rPr lang="ru-RU" i="1" dirty="0"/>
              <a:t>=20, </a:t>
            </a:r>
            <a:r>
              <a:rPr lang="ru-RU" i="1" dirty="0" err="1"/>
              <a:t>edgecolor</a:t>
            </a:r>
            <a:r>
              <a:rPr lang="ru-RU" i="1" dirty="0"/>
              <a:t>='</a:t>
            </a:r>
            <a:r>
              <a:rPr lang="ru-RU" i="1" dirty="0" err="1"/>
              <a:t>black</a:t>
            </a:r>
            <a:r>
              <a:rPr lang="ru-RU" i="1" dirty="0"/>
              <a:t>', </a:t>
            </a:r>
            <a:r>
              <a:rPr lang="ru-RU" i="1" dirty="0" err="1"/>
              <a:t>alpha</a:t>
            </a:r>
            <a:r>
              <a:rPr lang="ru-RU" i="1" dirty="0"/>
              <a:t>=0.7)</a:t>
            </a:r>
          </a:p>
          <a:p>
            <a:pPr marL="0" indent="0" latinLnBrk="1">
              <a:buNone/>
            </a:pPr>
            <a:r>
              <a:rPr lang="ru-RU" i="1" dirty="0"/>
              <a:t>    </a:t>
            </a:r>
            <a:r>
              <a:rPr lang="ru-RU" i="1" dirty="0" err="1"/>
              <a:t>axes</a:t>
            </a:r>
            <a:r>
              <a:rPr lang="ru-RU" i="1" dirty="0"/>
              <a:t>[</a:t>
            </a:r>
            <a:r>
              <a:rPr lang="ru-RU" i="1" dirty="0" err="1"/>
              <a:t>row</a:t>
            </a:r>
            <a:r>
              <a:rPr lang="ru-RU" i="1" dirty="0"/>
              <a:t>, </a:t>
            </a:r>
            <a:r>
              <a:rPr lang="ru-RU" i="1" dirty="0" err="1"/>
              <a:t>col_num</a:t>
            </a:r>
            <a:r>
              <a:rPr lang="ru-RU" i="1" dirty="0"/>
              <a:t>].</a:t>
            </a:r>
            <a:r>
              <a:rPr lang="ru-RU" i="1" dirty="0" err="1"/>
              <a:t>set_title</a:t>
            </a:r>
            <a:r>
              <a:rPr lang="ru-RU" i="1" dirty="0"/>
              <a:t>(</a:t>
            </a:r>
            <a:r>
              <a:rPr lang="ru-RU" i="1" dirty="0" err="1"/>
              <a:t>f'Distribution</a:t>
            </a:r>
            <a:r>
              <a:rPr lang="ru-RU" i="1" dirty="0"/>
              <a:t> </a:t>
            </a:r>
            <a:r>
              <a:rPr lang="ru-RU" i="1" dirty="0" err="1"/>
              <a:t>of</a:t>
            </a:r>
            <a:r>
              <a:rPr lang="ru-RU" i="1" dirty="0"/>
              <a:t> {</a:t>
            </a:r>
            <a:r>
              <a:rPr lang="ru-RU" i="1" dirty="0" err="1"/>
              <a:t>col</a:t>
            </a:r>
            <a:r>
              <a:rPr lang="ru-RU" i="1" dirty="0"/>
              <a:t>}')</a:t>
            </a:r>
          </a:p>
          <a:p>
            <a:pPr marL="0" indent="0" latinLnBrk="1">
              <a:buNone/>
            </a:pPr>
            <a:r>
              <a:rPr lang="ru-RU" i="1" dirty="0"/>
              <a:t>    </a:t>
            </a:r>
            <a:r>
              <a:rPr lang="ru-RU" i="1" dirty="0" err="1"/>
              <a:t>axes</a:t>
            </a:r>
            <a:r>
              <a:rPr lang="ru-RU" i="1" dirty="0"/>
              <a:t>[</a:t>
            </a:r>
            <a:r>
              <a:rPr lang="ru-RU" i="1" dirty="0" err="1"/>
              <a:t>row</a:t>
            </a:r>
            <a:r>
              <a:rPr lang="ru-RU" i="1" dirty="0"/>
              <a:t>, </a:t>
            </a:r>
            <a:r>
              <a:rPr lang="ru-RU" i="1" dirty="0" err="1"/>
              <a:t>col_num</a:t>
            </a:r>
            <a:r>
              <a:rPr lang="ru-RU" i="1" dirty="0"/>
              <a:t>].</a:t>
            </a:r>
            <a:r>
              <a:rPr lang="ru-RU" i="1" dirty="0" err="1"/>
              <a:t>set_xlabel</a:t>
            </a:r>
            <a:r>
              <a:rPr lang="ru-RU" i="1" dirty="0"/>
              <a:t>(</a:t>
            </a:r>
            <a:r>
              <a:rPr lang="ru-RU" i="1" dirty="0" err="1"/>
              <a:t>col</a:t>
            </a:r>
            <a:r>
              <a:rPr lang="ru-RU" i="1" dirty="0"/>
              <a:t>)</a:t>
            </a:r>
          </a:p>
          <a:p>
            <a:pPr marL="0" indent="0" latinLnBrk="1">
              <a:buNone/>
            </a:pPr>
            <a:r>
              <a:rPr lang="ru-RU" i="1" dirty="0"/>
              <a:t>    </a:t>
            </a:r>
            <a:r>
              <a:rPr lang="ru-RU" i="1" dirty="0" err="1"/>
              <a:t>axes</a:t>
            </a:r>
            <a:r>
              <a:rPr lang="ru-RU" i="1" dirty="0"/>
              <a:t>[</a:t>
            </a:r>
            <a:r>
              <a:rPr lang="ru-RU" i="1" dirty="0" err="1"/>
              <a:t>row</a:t>
            </a:r>
            <a:r>
              <a:rPr lang="ru-RU" i="1" dirty="0"/>
              <a:t>, </a:t>
            </a:r>
            <a:r>
              <a:rPr lang="ru-RU" i="1" dirty="0" err="1"/>
              <a:t>col_num</a:t>
            </a:r>
            <a:r>
              <a:rPr lang="ru-RU" i="1" dirty="0"/>
              <a:t>].</a:t>
            </a:r>
            <a:r>
              <a:rPr lang="ru-RU" i="1" dirty="0" err="1"/>
              <a:t>set_ylabel</a:t>
            </a:r>
            <a:r>
              <a:rPr lang="ru-RU" i="1" dirty="0"/>
              <a:t>('Frequency')</a:t>
            </a:r>
          </a:p>
          <a:p>
            <a:pPr marL="0" indent="0" latinLnBrk="1">
              <a:buNone/>
            </a:pPr>
            <a:r>
              <a:rPr lang="ru-RU" i="1" dirty="0"/>
              <a:t>    </a:t>
            </a:r>
            <a:r>
              <a:rPr lang="ru-RU" b="1" i="1" dirty="0"/>
              <a:t># </a:t>
            </a:r>
            <a:r>
              <a:rPr lang="ru-RU" b="1" i="1" dirty="0" err="1"/>
              <a:t>Add</a:t>
            </a:r>
            <a:r>
              <a:rPr lang="ru-RU" b="1" i="1" dirty="0"/>
              <a:t> </a:t>
            </a:r>
            <a:r>
              <a:rPr lang="ru-RU" b="1" i="1" dirty="0" err="1"/>
              <a:t>mean</a:t>
            </a:r>
            <a:r>
              <a:rPr lang="ru-RU" b="1" i="1" dirty="0"/>
              <a:t> </a:t>
            </a:r>
            <a:r>
              <a:rPr lang="ru-RU" b="1" i="1" dirty="0" err="1"/>
              <a:t>line</a:t>
            </a:r>
            <a:endParaRPr lang="ru-RU" b="1" i="1" dirty="0"/>
          </a:p>
          <a:p>
            <a:pPr marL="0" indent="0" latinLnBrk="1">
              <a:buNone/>
            </a:pPr>
            <a:r>
              <a:rPr lang="ru-RU" i="1" dirty="0"/>
              <a:t>    </a:t>
            </a:r>
            <a:r>
              <a:rPr lang="ru-RU" i="1" dirty="0" err="1"/>
              <a:t>mean_val</a:t>
            </a:r>
            <a:r>
              <a:rPr lang="ru-RU" i="1" dirty="0"/>
              <a:t> = </a:t>
            </a:r>
            <a:r>
              <a:rPr lang="ru-RU" i="1" dirty="0" err="1"/>
              <a:t>np.mean</a:t>
            </a:r>
            <a:r>
              <a:rPr lang="ru-RU" i="1" dirty="0"/>
              <a:t>(</a:t>
            </a:r>
            <a:r>
              <a:rPr lang="ru-RU" i="1" dirty="0" err="1"/>
              <a:t>df</a:t>
            </a:r>
            <a:r>
              <a:rPr lang="ru-RU" i="1" dirty="0"/>
              <a:t>[</a:t>
            </a:r>
            <a:r>
              <a:rPr lang="ru-RU" i="1" dirty="0" err="1"/>
              <a:t>col</a:t>
            </a:r>
            <a:r>
              <a:rPr lang="ru-RU" i="1" dirty="0"/>
              <a:t>].</a:t>
            </a:r>
            <a:r>
              <a:rPr lang="ru-RU" i="1" dirty="0" err="1"/>
              <a:t>dropna</a:t>
            </a:r>
            <a:r>
              <a:rPr lang="ru-RU" i="1" dirty="0"/>
              <a:t>())</a:t>
            </a:r>
          </a:p>
          <a:p>
            <a:pPr marL="0" indent="0" latinLnBrk="1">
              <a:buNone/>
            </a:pPr>
            <a:r>
              <a:rPr lang="ru-RU" i="1" dirty="0"/>
              <a:t>    </a:t>
            </a:r>
            <a:r>
              <a:rPr lang="ru-RU" i="1" dirty="0" err="1"/>
              <a:t>axes</a:t>
            </a:r>
            <a:r>
              <a:rPr lang="ru-RU" i="1" dirty="0"/>
              <a:t>[</a:t>
            </a:r>
            <a:r>
              <a:rPr lang="ru-RU" i="1" dirty="0" err="1"/>
              <a:t>row</a:t>
            </a:r>
            <a:r>
              <a:rPr lang="ru-RU" i="1" dirty="0"/>
              <a:t>, </a:t>
            </a:r>
            <a:r>
              <a:rPr lang="ru-RU" i="1" dirty="0" err="1"/>
              <a:t>col_num</a:t>
            </a:r>
            <a:r>
              <a:rPr lang="ru-RU" i="1" dirty="0"/>
              <a:t>].</a:t>
            </a:r>
            <a:r>
              <a:rPr lang="ru-RU" i="1" dirty="0" err="1"/>
              <a:t>axvline</a:t>
            </a:r>
            <a:r>
              <a:rPr lang="ru-RU" i="1" dirty="0"/>
              <a:t>(</a:t>
            </a:r>
            <a:r>
              <a:rPr lang="ru-RU" i="1" dirty="0" err="1"/>
              <a:t>mean_val</a:t>
            </a:r>
            <a:r>
              <a:rPr lang="ru-RU" i="1" dirty="0"/>
              <a:t>, </a:t>
            </a:r>
            <a:r>
              <a:rPr lang="ru-RU" i="1" dirty="0" err="1"/>
              <a:t>color</a:t>
            </a:r>
            <a:r>
              <a:rPr lang="ru-RU" i="1" dirty="0"/>
              <a:t>='</a:t>
            </a:r>
            <a:r>
              <a:rPr lang="ru-RU" i="1" dirty="0" err="1"/>
              <a:t>red</a:t>
            </a:r>
            <a:r>
              <a:rPr lang="ru-RU" i="1" dirty="0"/>
              <a:t>', </a:t>
            </a:r>
            <a:r>
              <a:rPr lang="ru-RU" i="1" dirty="0" err="1"/>
              <a:t>linestyle</a:t>
            </a:r>
            <a:r>
              <a:rPr lang="ru-RU" i="1" dirty="0"/>
              <a:t>='--', </a:t>
            </a:r>
          </a:p>
          <a:p>
            <a:pPr marL="0" indent="0" latinLnBrk="1">
              <a:buNone/>
            </a:pPr>
            <a:r>
              <a:rPr lang="ru-RU" i="1" dirty="0"/>
              <a:t>                               </a:t>
            </a:r>
            <a:r>
              <a:rPr lang="ru-RU" i="1" dirty="0" err="1"/>
              <a:t>label</a:t>
            </a:r>
            <a:r>
              <a:rPr lang="ru-RU" i="1" dirty="0"/>
              <a:t>=</a:t>
            </a:r>
            <a:r>
              <a:rPr lang="ru-RU" i="1" dirty="0" err="1"/>
              <a:t>f'Mean</a:t>
            </a:r>
            <a:r>
              <a:rPr lang="ru-RU" i="1" dirty="0"/>
              <a:t>: {mean_val:.1f}')</a:t>
            </a:r>
          </a:p>
          <a:p>
            <a:pPr marL="0" indent="0" latinLnBrk="1">
              <a:buNone/>
            </a:pPr>
            <a:r>
              <a:rPr lang="ru-RU" i="1" dirty="0"/>
              <a:t>    </a:t>
            </a:r>
            <a:r>
              <a:rPr lang="ru-RU" i="1" dirty="0" err="1"/>
              <a:t>axes</a:t>
            </a:r>
            <a:r>
              <a:rPr lang="ru-RU" i="1" dirty="0"/>
              <a:t>[</a:t>
            </a:r>
            <a:r>
              <a:rPr lang="ru-RU" i="1" dirty="0" err="1"/>
              <a:t>row</a:t>
            </a:r>
            <a:r>
              <a:rPr lang="ru-RU" i="1" dirty="0"/>
              <a:t>, </a:t>
            </a:r>
            <a:r>
              <a:rPr lang="ru-RU" i="1" dirty="0" err="1"/>
              <a:t>col_num</a:t>
            </a:r>
            <a:r>
              <a:rPr lang="ru-RU" i="1" dirty="0"/>
              <a:t>].</a:t>
            </a:r>
            <a:r>
              <a:rPr lang="ru-RU" i="1" dirty="0" err="1"/>
              <a:t>legend</a:t>
            </a:r>
            <a:r>
              <a:rPr lang="ru-RU" i="1" dirty="0"/>
              <a:t>()</a:t>
            </a:r>
          </a:p>
          <a:p>
            <a:pPr marL="0" indent="0" latinLnBrk="1">
              <a:buNone/>
            </a:pPr>
            <a:r>
              <a:rPr lang="ru-RU" i="1" dirty="0"/>
              <a:t> </a:t>
            </a:r>
            <a:r>
              <a:rPr lang="ru-RU" b="1" i="1" dirty="0"/>
              <a:t># </a:t>
            </a:r>
            <a:r>
              <a:rPr lang="ru-RU" b="1" i="1" dirty="0" err="1"/>
              <a:t>Hide</a:t>
            </a:r>
            <a:r>
              <a:rPr lang="ru-RU" b="1" i="1" dirty="0"/>
              <a:t> </a:t>
            </a:r>
            <a:r>
              <a:rPr lang="ru-RU" b="1" i="1" dirty="0" err="1"/>
              <a:t>empty</a:t>
            </a:r>
            <a:r>
              <a:rPr lang="ru-RU" b="1" i="1" dirty="0"/>
              <a:t> </a:t>
            </a:r>
            <a:r>
              <a:rPr lang="ru-RU" b="1" i="1" dirty="0" err="1"/>
              <a:t>subplot</a:t>
            </a:r>
            <a:endParaRPr lang="ru-RU" b="1" i="1" dirty="0"/>
          </a:p>
          <a:p>
            <a:pPr marL="0" indent="0" latinLnBrk="1">
              <a:buNone/>
            </a:pPr>
            <a:r>
              <a:rPr lang="ru-RU" i="1" dirty="0" err="1"/>
              <a:t>axes</a:t>
            </a:r>
            <a:r>
              <a:rPr lang="ru-RU" i="1" dirty="0"/>
              <a:t>[1, 2].</a:t>
            </a:r>
            <a:r>
              <a:rPr lang="ru-RU" i="1" dirty="0" err="1"/>
              <a:t>axis</a:t>
            </a:r>
            <a:r>
              <a:rPr lang="ru-RU" i="1" dirty="0"/>
              <a:t>('</a:t>
            </a:r>
            <a:r>
              <a:rPr lang="ru-RU" i="1" dirty="0" err="1"/>
              <a:t>off</a:t>
            </a:r>
            <a:r>
              <a:rPr lang="ru-RU" i="1" dirty="0"/>
              <a:t>')</a:t>
            </a:r>
          </a:p>
          <a:p>
            <a:pPr marL="0" indent="0" latinLnBrk="1">
              <a:buNone/>
            </a:pPr>
            <a:r>
              <a:rPr lang="ru-RU" i="1" dirty="0"/>
              <a:t> </a:t>
            </a:r>
          </a:p>
          <a:p>
            <a:pPr marL="0" indent="0" latinLnBrk="1">
              <a:buNone/>
            </a:pPr>
            <a:r>
              <a:rPr lang="ru-RU" i="1" dirty="0" err="1"/>
              <a:t>plt.suptitle</a:t>
            </a:r>
            <a:r>
              <a:rPr lang="ru-RU" i="1" dirty="0"/>
              <a:t>('Distribution </a:t>
            </a:r>
            <a:r>
              <a:rPr lang="ru-RU" i="1" dirty="0" err="1"/>
              <a:t>of</a:t>
            </a:r>
            <a:r>
              <a:rPr lang="ru-RU" i="1" dirty="0"/>
              <a:t> </a:t>
            </a:r>
            <a:r>
              <a:rPr lang="ru-RU" i="1" dirty="0" err="1"/>
              <a:t>Student</a:t>
            </a:r>
            <a:r>
              <a:rPr lang="ru-RU" i="1" dirty="0"/>
              <a:t> </a:t>
            </a:r>
            <a:r>
              <a:rPr lang="ru-RU" i="1" dirty="0" err="1"/>
              <a:t>Characteristics</a:t>
            </a:r>
            <a:r>
              <a:rPr lang="ru-RU" i="1" dirty="0"/>
              <a:t>', </a:t>
            </a:r>
            <a:r>
              <a:rPr lang="ru-RU" i="1" dirty="0" err="1"/>
              <a:t>fontsize</a:t>
            </a:r>
            <a:r>
              <a:rPr lang="ru-RU" i="1" dirty="0"/>
              <a:t>=16)</a:t>
            </a:r>
          </a:p>
          <a:p>
            <a:pPr marL="0" indent="0" latinLnBrk="1">
              <a:buNone/>
            </a:pPr>
            <a:r>
              <a:rPr lang="ru-RU" i="1" dirty="0" err="1"/>
              <a:t>plt.tight_layout</a:t>
            </a:r>
            <a:r>
              <a:rPr lang="ru-RU" i="1" dirty="0"/>
              <a:t>()</a:t>
            </a:r>
          </a:p>
          <a:p>
            <a:pPr marL="0" indent="0" latinLnBrk="1">
              <a:buNone/>
            </a:pPr>
            <a:r>
              <a:rPr lang="ru-RU" i="1" dirty="0" err="1"/>
              <a:t>plt.show</a:t>
            </a:r>
            <a:r>
              <a:rPr lang="ru-RU" i="1" dirty="0"/>
              <a:t>()</a:t>
            </a:r>
          </a:p>
          <a:p>
            <a:pPr marL="0" indent="0">
              <a:buNone/>
            </a:pPr>
            <a:endParaRPr lang="ru-RU" i="1" dirty="0"/>
          </a:p>
        </p:txBody>
      </p:sp>
    </p:spTree>
    <p:extLst>
      <p:ext uri="{BB962C8B-B14F-4D97-AF65-F5344CB8AC3E}">
        <p14:creationId xmlns:p14="http://schemas.microsoft.com/office/powerpoint/2010/main" val="377188645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63E8C5-9F79-8182-0605-F5B949E38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Comparing</a:t>
            </a:r>
            <a:r>
              <a:rPr lang="ru-RU" dirty="0"/>
              <a:t> </a:t>
            </a:r>
            <a:r>
              <a:rPr lang="ru-RU" dirty="0" err="1"/>
              <a:t>Groups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940FEEF-CFFD-9ABF-C296-3C156A31D5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 fontScale="62500" lnSpcReduction="20000"/>
          </a:bodyPr>
          <a:lstStyle/>
          <a:p>
            <a:pPr marL="0" indent="0" latinLnBrk="1">
              <a:buNone/>
            </a:pPr>
            <a:r>
              <a:rPr lang="ru-RU" b="1" i="1" dirty="0"/>
              <a:t># </a:t>
            </a:r>
            <a:r>
              <a:rPr lang="ru-RU" b="1" i="1" dirty="0" err="1"/>
              <a:t>Compare</a:t>
            </a:r>
            <a:r>
              <a:rPr lang="ru-RU" b="1" i="1" dirty="0"/>
              <a:t> </a:t>
            </a:r>
            <a:r>
              <a:rPr lang="ru-RU" b="1" i="1" dirty="0" err="1"/>
              <a:t>test</a:t>
            </a:r>
            <a:r>
              <a:rPr lang="ru-RU" b="1" i="1" dirty="0"/>
              <a:t> </a:t>
            </a:r>
            <a:r>
              <a:rPr lang="ru-RU" b="1" i="1" dirty="0" err="1"/>
              <a:t>scores</a:t>
            </a:r>
            <a:r>
              <a:rPr lang="ru-RU" b="1" i="1" dirty="0"/>
              <a:t> </a:t>
            </a:r>
            <a:r>
              <a:rPr lang="ru-RU" b="1" i="1" dirty="0" err="1"/>
              <a:t>by</a:t>
            </a:r>
            <a:r>
              <a:rPr lang="ru-RU" b="1" i="1" dirty="0"/>
              <a:t> </a:t>
            </a:r>
            <a:r>
              <a:rPr lang="ru-RU" b="1" i="1" dirty="0" err="1"/>
              <a:t>major</a:t>
            </a:r>
            <a:endParaRPr lang="ru-RU" b="1" i="1" dirty="0"/>
          </a:p>
          <a:p>
            <a:pPr marL="0" indent="0" latinLnBrk="1">
              <a:buNone/>
            </a:pPr>
            <a:r>
              <a:rPr lang="ru-RU" i="1" dirty="0" err="1"/>
              <a:t>majors</a:t>
            </a:r>
            <a:r>
              <a:rPr lang="ru-RU" i="1" dirty="0"/>
              <a:t> = </a:t>
            </a:r>
            <a:r>
              <a:rPr lang="ru-RU" i="1" dirty="0" err="1"/>
              <a:t>df</a:t>
            </a:r>
            <a:r>
              <a:rPr lang="ru-RU" i="1" dirty="0"/>
              <a:t>['Major'].</a:t>
            </a:r>
            <a:r>
              <a:rPr lang="ru-RU" i="1" dirty="0" err="1"/>
              <a:t>unique</a:t>
            </a:r>
            <a:r>
              <a:rPr lang="ru-RU" i="1" dirty="0"/>
              <a:t>()</a:t>
            </a:r>
          </a:p>
          <a:p>
            <a:pPr marL="0" indent="0" latinLnBrk="1">
              <a:buNone/>
            </a:pPr>
            <a:r>
              <a:rPr lang="ru-RU" i="1" dirty="0" err="1"/>
              <a:t>fig</a:t>
            </a:r>
            <a:r>
              <a:rPr lang="ru-RU" i="1" dirty="0"/>
              <a:t>, </a:t>
            </a:r>
            <a:r>
              <a:rPr lang="ru-RU" i="1" dirty="0" err="1"/>
              <a:t>axes</a:t>
            </a:r>
            <a:r>
              <a:rPr lang="ru-RU" i="1" dirty="0"/>
              <a:t> = </a:t>
            </a:r>
            <a:r>
              <a:rPr lang="ru-RU" i="1" dirty="0" err="1"/>
              <a:t>plt.subplots</a:t>
            </a:r>
            <a:r>
              <a:rPr lang="ru-RU" i="1" dirty="0"/>
              <a:t>(1, 3, </a:t>
            </a:r>
            <a:r>
              <a:rPr lang="ru-RU" i="1" dirty="0" err="1"/>
              <a:t>figsize</a:t>
            </a:r>
            <a:r>
              <a:rPr lang="ru-RU" i="1" dirty="0"/>
              <a:t>=(15, 5))</a:t>
            </a:r>
          </a:p>
          <a:p>
            <a:pPr marL="0" indent="0" latinLnBrk="1">
              <a:buNone/>
            </a:pPr>
            <a:r>
              <a:rPr lang="ru-RU" b="1" i="1" dirty="0"/>
              <a:t># </a:t>
            </a:r>
            <a:r>
              <a:rPr lang="ru-RU" b="1" i="1" dirty="0" err="1"/>
              <a:t>Math</a:t>
            </a:r>
            <a:r>
              <a:rPr lang="ru-RU" b="1" i="1" dirty="0"/>
              <a:t> </a:t>
            </a:r>
            <a:r>
              <a:rPr lang="ru-RU" b="1" i="1" dirty="0" err="1"/>
              <a:t>scores</a:t>
            </a:r>
            <a:r>
              <a:rPr lang="ru-RU" b="1" i="1" dirty="0"/>
              <a:t> </a:t>
            </a:r>
            <a:r>
              <a:rPr lang="ru-RU" b="1" i="1" dirty="0" err="1"/>
              <a:t>by</a:t>
            </a:r>
            <a:r>
              <a:rPr lang="ru-RU" b="1" i="1" dirty="0"/>
              <a:t> </a:t>
            </a:r>
            <a:r>
              <a:rPr lang="ru-RU" b="1" i="1" dirty="0" err="1"/>
              <a:t>major</a:t>
            </a:r>
            <a:endParaRPr lang="ru-RU" b="1" i="1" dirty="0"/>
          </a:p>
          <a:p>
            <a:pPr marL="0" indent="0" latinLnBrk="1">
              <a:buNone/>
            </a:pPr>
            <a:r>
              <a:rPr lang="ru-RU" i="1" dirty="0" err="1"/>
              <a:t>math_scores_by_major</a:t>
            </a:r>
            <a:r>
              <a:rPr lang="ru-RU" i="1" dirty="0"/>
              <a:t> = [</a:t>
            </a:r>
            <a:r>
              <a:rPr lang="ru-RU" i="1" dirty="0" err="1"/>
              <a:t>df</a:t>
            </a:r>
            <a:r>
              <a:rPr lang="ru-RU" i="1" dirty="0"/>
              <a:t>[</a:t>
            </a:r>
            <a:r>
              <a:rPr lang="ru-RU" i="1" dirty="0" err="1"/>
              <a:t>df</a:t>
            </a:r>
            <a:r>
              <a:rPr lang="ru-RU" i="1" dirty="0"/>
              <a:t>['Major'] == </a:t>
            </a:r>
            <a:r>
              <a:rPr lang="ru-RU" i="1" dirty="0" err="1"/>
              <a:t>major</a:t>
            </a:r>
            <a:r>
              <a:rPr lang="ru-RU" i="1" dirty="0"/>
              <a:t>]['</a:t>
            </a:r>
            <a:r>
              <a:rPr lang="ru-RU" i="1" dirty="0" err="1"/>
              <a:t>Math_Score</a:t>
            </a:r>
            <a:r>
              <a:rPr lang="ru-RU" i="1" dirty="0"/>
              <a:t>'].</a:t>
            </a:r>
            <a:r>
              <a:rPr lang="ru-RU" i="1" dirty="0" err="1"/>
              <a:t>dropna</a:t>
            </a:r>
            <a:r>
              <a:rPr lang="ru-RU" i="1" dirty="0"/>
              <a:t>() </a:t>
            </a:r>
          </a:p>
          <a:p>
            <a:pPr marL="0" indent="0" latinLnBrk="1">
              <a:buNone/>
            </a:pPr>
            <a:r>
              <a:rPr lang="ru-RU" i="1" dirty="0"/>
              <a:t>                        </a:t>
            </a:r>
            <a:r>
              <a:rPr lang="ru-RU" i="1" dirty="0" err="1"/>
              <a:t>for</a:t>
            </a:r>
            <a:r>
              <a:rPr lang="ru-RU" i="1" dirty="0"/>
              <a:t> </a:t>
            </a:r>
            <a:r>
              <a:rPr lang="ru-RU" i="1" dirty="0" err="1"/>
              <a:t>major</a:t>
            </a:r>
            <a:r>
              <a:rPr lang="ru-RU" i="1" dirty="0"/>
              <a:t> </a:t>
            </a:r>
            <a:r>
              <a:rPr lang="ru-RU" i="1" dirty="0" err="1"/>
              <a:t>in</a:t>
            </a:r>
            <a:r>
              <a:rPr lang="ru-RU" i="1" dirty="0"/>
              <a:t> </a:t>
            </a:r>
            <a:r>
              <a:rPr lang="ru-RU" i="1" dirty="0" err="1"/>
              <a:t>majors</a:t>
            </a:r>
            <a:r>
              <a:rPr lang="ru-RU" i="1" dirty="0"/>
              <a:t>]</a:t>
            </a:r>
          </a:p>
          <a:p>
            <a:pPr marL="0" indent="0" latinLnBrk="1">
              <a:buNone/>
            </a:pPr>
            <a:r>
              <a:rPr lang="ru-RU" i="1" dirty="0" err="1"/>
              <a:t>axes</a:t>
            </a:r>
            <a:r>
              <a:rPr lang="ru-RU" i="1" dirty="0"/>
              <a:t>[0].</a:t>
            </a:r>
            <a:r>
              <a:rPr lang="ru-RU" i="1" dirty="0" err="1"/>
              <a:t>boxplot</a:t>
            </a:r>
            <a:r>
              <a:rPr lang="ru-RU" i="1" dirty="0"/>
              <a:t>(</a:t>
            </a:r>
            <a:r>
              <a:rPr lang="ru-RU" i="1" dirty="0" err="1"/>
              <a:t>math_scores_by_major</a:t>
            </a:r>
            <a:r>
              <a:rPr lang="ru-RU" i="1" dirty="0"/>
              <a:t>, </a:t>
            </a:r>
            <a:r>
              <a:rPr lang="ru-RU" i="1" dirty="0" err="1"/>
              <a:t>labels</a:t>
            </a:r>
            <a:r>
              <a:rPr lang="ru-RU" i="1" dirty="0"/>
              <a:t>=</a:t>
            </a:r>
            <a:r>
              <a:rPr lang="ru-RU" i="1" dirty="0" err="1"/>
              <a:t>majors</a:t>
            </a:r>
            <a:r>
              <a:rPr lang="ru-RU" i="1" dirty="0"/>
              <a:t>)</a:t>
            </a:r>
          </a:p>
          <a:p>
            <a:pPr marL="0" indent="0" latinLnBrk="1">
              <a:buNone/>
            </a:pPr>
            <a:r>
              <a:rPr lang="ru-RU" i="1" dirty="0" err="1"/>
              <a:t>axes</a:t>
            </a:r>
            <a:r>
              <a:rPr lang="ru-RU" i="1" dirty="0"/>
              <a:t>[0].</a:t>
            </a:r>
            <a:r>
              <a:rPr lang="ru-RU" i="1" dirty="0" err="1"/>
              <a:t>set_title</a:t>
            </a:r>
            <a:r>
              <a:rPr lang="ru-RU" i="1" dirty="0"/>
              <a:t>('</a:t>
            </a:r>
            <a:r>
              <a:rPr lang="ru-RU" i="1" dirty="0" err="1"/>
              <a:t>Math</a:t>
            </a:r>
            <a:r>
              <a:rPr lang="ru-RU" i="1" dirty="0"/>
              <a:t> </a:t>
            </a:r>
            <a:r>
              <a:rPr lang="ru-RU" i="1" dirty="0" err="1"/>
              <a:t>Scores</a:t>
            </a:r>
            <a:r>
              <a:rPr lang="ru-RU" i="1" dirty="0"/>
              <a:t> </a:t>
            </a:r>
            <a:r>
              <a:rPr lang="ru-RU" i="1" dirty="0" err="1"/>
              <a:t>by</a:t>
            </a:r>
            <a:r>
              <a:rPr lang="ru-RU" i="1" dirty="0"/>
              <a:t> Major')</a:t>
            </a:r>
          </a:p>
          <a:p>
            <a:pPr marL="0" indent="0" latinLnBrk="1">
              <a:buNone/>
            </a:pPr>
            <a:r>
              <a:rPr lang="ru-RU" i="1" dirty="0" err="1"/>
              <a:t>axes</a:t>
            </a:r>
            <a:r>
              <a:rPr lang="ru-RU" i="1" dirty="0"/>
              <a:t>[0].</a:t>
            </a:r>
            <a:r>
              <a:rPr lang="ru-RU" i="1" dirty="0" err="1"/>
              <a:t>tick_params</a:t>
            </a:r>
            <a:r>
              <a:rPr lang="ru-RU" i="1" dirty="0"/>
              <a:t>(</a:t>
            </a:r>
            <a:r>
              <a:rPr lang="ru-RU" i="1" dirty="0" err="1"/>
              <a:t>axis</a:t>
            </a:r>
            <a:r>
              <a:rPr lang="ru-RU" i="1" dirty="0"/>
              <a:t>='x', </a:t>
            </a:r>
            <a:r>
              <a:rPr lang="ru-RU" i="1" dirty="0" err="1"/>
              <a:t>rotation</a:t>
            </a:r>
            <a:r>
              <a:rPr lang="ru-RU" i="1" dirty="0"/>
              <a:t>=45)</a:t>
            </a:r>
          </a:p>
          <a:p>
            <a:pPr marL="0" indent="0" latinLnBrk="1">
              <a:buNone/>
            </a:pPr>
            <a:r>
              <a:rPr lang="ru-RU" b="1" i="1" dirty="0"/>
              <a:t># Science </a:t>
            </a:r>
            <a:r>
              <a:rPr lang="ru-RU" b="1" i="1" dirty="0" err="1"/>
              <a:t>scores</a:t>
            </a:r>
            <a:r>
              <a:rPr lang="ru-RU" b="1" i="1" dirty="0"/>
              <a:t> </a:t>
            </a:r>
            <a:r>
              <a:rPr lang="ru-RU" b="1" i="1" dirty="0" err="1"/>
              <a:t>by</a:t>
            </a:r>
            <a:r>
              <a:rPr lang="ru-RU" b="1" i="1" dirty="0"/>
              <a:t> </a:t>
            </a:r>
            <a:r>
              <a:rPr lang="ru-RU" b="1" i="1" dirty="0" err="1"/>
              <a:t>major</a:t>
            </a:r>
            <a:endParaRPr lang="ru-RU" b="1" i="1" dirty="0"/>
          </a:p>
          <a:p>
            <a:pPr marL="0" indent="0" latinLnBrk="1">
              <a:buNone/>
            </a:pPr>
            <a:r>
              <a:rPr lang="ru-RU" i="1" dirty="0" err="1"/>
              <a:t>science_scores_by_major</a:t>
            </a:r>
            <a:r>
              <a:rPr lang="ru-RU" i="1" dirty="0"/>
              <a:t> = [</a:t>
            </a:r>
            <a:r>
              <a:rPr lang="ru-RU" i="1" dirty="0" err="1"/>
              <a:t>df</a:t>
            </a:r>
            <a:r>
              <a:rPr lang="ru-RU" i="1" dirty="0"/>
              <a:t>[</a:t>
            </a:r>
            <a:r>
              <a:rPr lang="ru-RU" i="1" dirty="0" err="1"/>
              <a:t>df</a:t>
            </a:r>
            <a:r>
              <a:rPr lang="ru-RU" i="1" dirty="0"/>
              <a:t>['Major'] == </a:t>
            </a:r>
            <a:r>
              <a:rPr lang="ru-RU" i="1" dirty="0" err="1"/>
              <a:t>major</a:t>
            </a:r>
            <a:r>
              <a:rPr lang="ru-RU" i="1" dirty="0"/>
              <a:t>]['</a:t>
            </a:r>
            <a:r>
              <a:rPr lang="ru-RU" i="1" dirty="0" err="1"/>
              <a:t>Science_Score</a:t>
            </a:r>
            <a:r>
              <a:rPr lang="ru-RU" i="1" dirty="0"/>
              <a:t>'].</a:t>
            </a:r>
            <a:r>
              <a:rPr lang="ru-RU" i="1" dirty="0" err="1"/>
              <a:t>dropna</a:t>
            </a:r>
            <a:r>
              <a:rPr lang="ru-RU" i="1" dirty="0"/>
              <a:t>() </a:t>
            </a:r>
          </a:p>
          <a:p>
            <a:pPr marL="0" indent="0" latinLnBrk="1">
              <a:buNone/>
            </a:pPr>
            <a:r>
              <a:rPr lang="ru-RU" i="1" dirty="0"/>
              <a:t>                           </a:t>
            </a:r>
            <a:r>
              <a:rPr lang="ru-RU" i="1" dirty="0" err="1"/>
              <a:t>for</a:t>
            </a:r>
            <a:r>
              <a:rPr lang="ru-RU" i="1" dirty="0"/>
              <a:t> </a:t>
            </a:r>
            <a:r>
              <a:rPr lang="ru-RU" i="1" dirty="0" err="1"/>
              <a:t>major</a:t>
            </a:r>
            <a:r>
              <a:rPr lang="ru-RU" i="1" dirty="0"/>
              <a:t> </a:t>
            </a:r>
            <a:r>
              <a:rPr lang="ru-RU" i="1" dirty="0" err="1"/>
              <a:t>in</a:t>
            </a:r>
            <a:r>
              <a:rPr lang="ru-RU" i="1" dirty="0"/>
              <a:t> </a:t>
            </a:r>
            <a:r>
              <a:rPr lang="ru-RU" i="1" dirty="0" err="1"/>
              <a:t>majors</a:t>
            </a:r>
            <a:r>
              <a:rPr lang="ru-RU" i="1" dirty="0"/>
              <a:t>]</a:t>
            </a:r>
          </a:p>
          <a:p>
            <a:pPr marL="0" indent="0" latinLnBrk="1">
              <a:buNone/>
            </a:pPr>
            <a:r>
              <a:rPr lang="ru-RU" i="1" dirty="0" err="1"/>
              <a:t>axes</a:t>
            </a:r>
            <a:r>
              <a:rPr lang="ru-RU" i="1" dirty="0"/>
              <a:t>[1].</a:t>
            </a:r>
            <a:r>
              <a:rPr lang="ru-RU" i="1" dirty="0" err="1"/>
              <a:t>boxplot</a:t>
            </a:r>
            <a:r>
              <a:rPr lang="ru-RU" i="1" dirty="0"/>
              <a:t>(</a:t>
            </a:r>
            <a:r>
              <a:rPr lang="ru-RU" i="1" dirty="0" err="1"/>
              <a:t>science_scores_by_major</a:t>
            </a:r>
            <a:r>
              <a:rPr lang="ru-RU" i="1" dirty="0"/>
              <a:t>, </a:t>
            </a:r>
            <a:r>
              <a:rPr lang="ru-RU" i="1" dirty="0" err="1"/>
              <a:t>labels</a:t>
            </a:r>
            <a:r>
              <a:rPr lang="ru-RU" i="1" dirty="0"/>
              <a:t>=</a:t>
            </a:r>
            <a:r>
              <a:rPr lang="ru-RU" i="1" dirty="0" err="1"/>
              <a:t>majors</a:t>
            </a:r>
            <a:r>
              <a:rPr lang="ru-RU" i="1" dirty="0"/>
              <a:t>)</a:t>
            </a:r>
          </a:p>
          <a:p>
            <a:pPr marL="0" indent="0" latinLnBrk="1">
              <a:buNone/>
            </a:pPr>
            <a:r>
              <a:rPr lang="ru-RU" i="1" dirty="0" err="1"/>
              <a:t>axes</a:t>
            </a:r>
            <a:r>
              <a:rPr lang="ru-RU" i="1" dirty="0"/>
              <a:t>[1].</a:t>
            </a:r>
            <a:r>
              <a:rPr lang="ru-RU" i="1" dirty="0" err="1"/>
              <a:t>set_title</a:t>
            </a:r>
            <a:r>
              <a:rPr lang="ru-RU" i="1" dirty="0"/>
              <a:t>('Science </a:t>
            </a:r>
            <a:r>
              <a:rPr lang="ru-RU" i="1" dirty="0" err="1"/>
              <a:t>Scores</a:t>
            </a:r>
            <a:r>
              <a:rPr lang="ru-RU" i="1" dirty="0"/>
              <a:t> </a:t>
            </a:r>
            <a:r>
              <a:rPr lang="ru-RU" i="1" dirty="0" err="1"/>
              <a:t>by</a:t>
            </a:r>
            <a:r>
              <a:rPr lang="ru-RU" i="1" dirty="0"/>
              <a:t> Major')</a:t>
            </a:r>
          </a:p>
          <a:p>
            <a:pPr marL="0" indent="0" latinLnBrk="1">
              <a:buNone/>
            </a:pPr>
            <a:r>
              <a:rPr lang="ru-RU" i="1" dirty="0" err="1"/>
              <a:t>axes</a:t>
            </a:r>
            <a:r>
              <a:rPr lang="ru-RU" i="1" dirty="0"/>
              <a:t>[1].</a:t>
            </a:r>
            <a:r>
              <a:rPr lang="ru-RU" i="1" dirty="0" err="1"/>
              <a:t>tick_params</a:t>
            </a:r>
            <a:r>
              <a:rPr lang="ru-RU" i="1" dirty="0"/>
              <a:t>(</a:t>
            </a:r>
            <a:r>
              <a:rPr lang="ru-RU" i="1" dirty="0" err="1"/>
              <a:t>axis</a:t>
            </a:r>
            <a:r>
              <a:rPr lang="ru-RU" i="1" dirty="0"/>
              <a:t>='x', </a:t>
            </a:r>
            <a:r>
              <a:rPr lang="ru-RU" i="1" dirty="0" err="1"/>
              <a:t>rotation</a:t>
            </a:r>
            <a:r>
              <a:rPr lang="ru-RU" i="1" dirty="0"/>
              <a:t>=45)</a:t>
            </a:r>
          </a:p>
          <a:p>
            <a:pPr marL="0" indent="0" latinLnBrk="1">
              <a:buNone/>
            </a:pPr>
            <a:r>
              <a:rPr lang="ru-RU" b="1" i="1" dirty="0"/>
              <a:t># English </a:t>
            </a:r>
            <a:r>
              <a:rPr lang="ru-RU" b="1" i="1" dirty="0" err="1"/>
              <a:t>scores</a:t>
            </a:r>
            <a:r>
              <a:rPr lang="ru-RU" b="1" i="1" dirty="0"/>
              <a:t> </a:t>
            </a:r>
            <a:r>
              <a:rPr lang="ru-RU" b="1" i="1" dirty="0" err="1"/>
              <a:t>by</a:t>
            </a:r>
            <a:r>
              <a:rPr lang="ru-RU" b="1" i="1" dirty="0"/>
              <a:t> </a:t>
            </a:r>
            <a:r>
              <a:rPr lang="ru-RU" b="1" i="1" dirty="0" err="1"/>
              <a:t>major</a:t>
            </a:r>
            <a:endParaRPr lang="ru-RU" b="1" i="1" dirty="0"/>
          </a:p>
          <a:p>
            <a:pPr marL="0" indent="0" latinLnBrk="1">
              <a:buNone/>
            </a:pPr>
            <a:r>
              <a:rPr lang="ru-RU" i="1" dirty="0" err="1"/>
              <a:t>english_scores_by_major</a:t>
            </a:r>
            <a:r>
              <a:rPr lang="ru-RU" i="1" dirty="0"/>
              <a:t> = [</a:t>
            </a:r>
            <a:r>
              <a:rPr lang="ru-RU" i="1" dirty="0" err="1"/>
              <a:t>df</a:t>
            </a:r>
            <a:r>
              <a:rPr lang="ru-RU" i="1" dirty="0"/>
              <a:t>[</a:t>
            </a:r>
            <a:r>
              <a:rPr lang="ru-RU" i="1" dirty="0" err="1"/>
              <a:t>df</a:t>
            </a:r>
            <a:r>
              <a:rPr lang="ru-RU" i="1" dirty="0"/>
              <a:t>['Major'] == </a:t>
            </a:r>
            <a:r>
              <a:rPr lang="ru-RU" i="1" dirty="0" err="1"/>
              <a:t>major</a:t>
            </a:r>
            <a:r>
              <a:rPr lang="ru-RU" i="1" dirty="0"/>
              <a:t>]['</a:t>
            </a:r>
            <a:r>
              <a:rPr lang="ru-RU" i="1" dirty="0" err="1"/>
              <a:t>English_Score</a:t>
            </a:r>
            <a:r>
              <a:rPr lang="ru-RU" i="1" dirty="0"/>
              <a:t>'].</a:t>
            </a:r>
            <a:r>
              <a:rPr lang="ru-RU" i="1" dirty="0" err="1"/>
              <a:t>dropna</a:t>
            </a:r>
            <a:r>
              <a:rPr lang="ru-RU" i="1" dirty="0"/>
              <a:t>() </a:t>
            </a:r>
          </a:p>
          <a:p>
            <a:pPr marL="0" indent="0" latinLnBrk="1">
              <a:buNone/>
            </a:pPr>
            <a:r>
              <a:rPr lang="ru-RU" i="1" dirty="0"/>
              <a:t>                           </a:t>
            </a:r>
            <a:r>
              <a:rPr lang="ru-RU" i="1" dirty="0" err="1"/>
              <a:t>for</a:t>
            </a:r>
            <a:r>
              <a:rPr lang="ru-RU" i="1" dirty="0"/>
              <a:t> </a:t>
            </a:r>
            <a:r>
              <a:rPr lang="ru-RU" i="1" dirty="0" err="1"/>
              <a:t>major</a:t>
            </a:r>
            <a:r>
              <a:rPr lang="ru-RU" i="1" dirty="0"/>
              <a:t> </a:t>
            </a:r>
            <a:r>
              <a:rPr lang="ru-RU" i="1" dirty="0" err="1"/>
              <a:t>in</a:t>
            </a:r>
            <a:r>
              <a:rPr lang="ru-RU" i="1" dirty="0"/>
              <a:t> </a:t>
            </a:r>
            <a:r>
              <a:rPr lang="ru-RU" i="1" dirty="0" err="1"/>
              <a:t>majors</a:t>
            </a:r>
            <a:r>
              <a:rPr lang="ru-RU" i="1" dirty="0"/>
              <a:t>]</a:t>
            </a:r>
          </a:p>
          <a:p>
            <a:pPr marL="0" indent="0" latinLnBrk="1">
              <a:buNone/>
            </a:pPr>
            <a:r>
              <a:rPr lang="ru-RU" i="1" dirty="0" err="1"/>
              <a:t>axes</a:t>
            </a:r>
            <a:r>
              <a:rPr lang="ru-RU" i="1" dirty="0"/>
              <a:t>[2].</a:t>
            </a:r>
            <a:r>
              <a:rPr lang="ru-RU" i="1" dirty="0" err="1"/>
              <a:t>boxplot</a:t>
            </a:r>
            <a:r>
              <a:rPr lang="ru-RU" i="1" dirty="0"/>
              <a:t>(</a:t>
            </a:r>
            <a:r>
              <a:rPr lang="ru-RU" i="1" dirty="0" err="1"/>
              <a:t>english_scores_by_major</a:t>
            </a:r>
            <a:r>
              <a:rPr lang="ru-RU" i="1" dirty="0"/>
              <a:t>, </a:t>
            </a:r>
            <a:r>
              <a:rPr lang="ru-RU" i="1" dirty="0" err="1"/>
              <a:t>labels</a:t>
            </a:r>
            <a:r>
              <a:rPr lang="ru-RU" i="1" dirty="0"/>
              <a:t>=</a:t>
            </a:r>
            <a:r>
              <a:rPr lang="ru-RU" i="1" dirty="0" err="1"/>
              <a:t>majors</a:t>
            </a:r>
            <a:r>
              <a:rPr lang="ru-RU" i="1" dirty="0"/>
              <a:t>)</a:t>
            </a:r>
          </a:p>
          <a:p>
            <a:pPr marL="0" indent="0" latinLnBrk="1">
              <a:buNone/>
            </a:pPr>
            <a:r>
              <a:rPr lang="ru-RU" i="1" dirty="0" err="1"/>
              <a:t>axes</a:t>
            </a:r>
            <a:r>
              <a:rPr lang="ru-RU" i="1" dirty="0"/>
              <a:t>[2].</a:t>
            </a:r>
            <a:r>
              <a:rPr lang="ru-RU" i="1" dirty="0" err="1"/>
              <a:t>set_title</a:t>
            </a:r>
            <a:r>
              <a:rPr lang="ru-RU" i="1" dirty="0"/>
              <a:t>('English </a:t>
            </a:r>
            <a:r>
              <a:rPr lang="ru-RU" i="1" dirty="0" err="1"/>
              <a:t>Scores</a:t>
            </a:r>
            <a:r>
              <a:rPr lang="ru-RU" i="1" dirty="0"/>
              <a:t> </a:t>
            </a:r>
            <a:r>
              <a:rPr lang="ru-RU" i="1" dirty="0" err="1"/>
              <a:t>by</a:t>
            </a:r>
            <a:r>
              <a:rPr lang="ru-RU" i="1" dirty="0"/>
              <a:t> Major')</a:t>
            </a:r>
          </a:p>
          <a:p>
            <a:pPr marL="0" indent="0" latinLnBrk="1">
              <a:buNone/>
            </a:pPr>
            <a:r>
              <a:rPr lang="ru-RU" i="1" dirty="0" err="1"/>
              <a:t>axes</a:t>
            </a:r>
            <a:r>
              <a:rPr lang="ru-RU" i="1" dirty="0"/>
              <a:t>[2].</a:t>
            </a:r>
            <a:r>
              <a:rPr lang="ru-RU" i="1" dirty="0" err="1"/>
              <a:t>tick_params</a:t>
            </a:r>
            <a:r>
              <a:rPr lang="ru-RU" i="1" dirty="0"/>
              <a:t>(</a:t>
            </a:r>
            <a:r>
              <a:rPr lang="ru-RU" i="1" dirty="0" err="1"/>
              <a:t>axis</a:t>
            </a:r>
            <a:r>
              <a:rPr lang="ru-RU" i="1" dirty="0"/>
              <a:t>='x', </a:t>
            </a:r>
            <a:r>
              <a:rPr lang="ru-RU" i="1" dirty="0" err="1"/>
              <a:t>rotation</a:t>
            </a:r>
            <a:r>
              <a:rPr lang="ru-RU" i="1" dirty="0"/>
              <a:t>=45)</a:t>
            </a:r>
          </a:p>
          <a:p>
            <a:pPr marL="0" indent="0" latinLnBrk="1">
              <a:buNone/>
            </a:pPr>
            <a:r>
              <a:rPr lang="ru-RU" i="1" dirty="0" err="1"/>
              <a:t>plt.tight_layout</a:t>
            </a:r>
            <a:r>
              <a:rPr lang="ru-RU" i="1" dirty="0"/>
              <a:t>()</a:t>
            </a:r>
          </a:p>
          <a:p>
            <a:pPr marL="0" indent="0">
              <a:buNone/>
            </a:pPr>
            <a:r>
              <a:rPr lang="ru-RU" i="1" dirty="0" err="1"/>
              <a:t>plt.show</a:t>
            </a:r>
            <a:r>
              <a:rPr lang="ru-RU" i="1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135300104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6C6ECB-54E1-D2A6-2D35-5773D022B2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err="1"/>
              <a:t>Beyond</a:t>
            </a:r>
            <a:r>
              <a:rPr lang="ru-RU" b="1" dirty="0"/>
              <a:t> Basic </a:t>
            </a:r>
            <a:r>
              <a:rPr lang="ru-RU" b="1" dirty="0" err="1"/>
              <a:t>Statistics</a:t>
            </a:r>
            <a:r>
              <a:rPr lang="ru-RU" b="1" dirty="0"/>
              <a:t> - </a:t>
            </a:r>
            <a:r>
              <a:rPr lang="ru-RU" b="1" dirty="0" err="1"/>
              <a:t>Intermediate</a:t>
            </a:r>
            <a:r>
              <a:rPr lang="ru-RU" b="1" dirty="0"/>
              <a:t> </a:t>
            </a:r>
            <a:r>
              <a:rPr lang="ru-RU" b="1" dirty="0" err="1"/>
              <a:t>Concepts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42FA2A8-029E-1689-7E45-2557F9B0D5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dirty="0" err="1"/>
              <a:t>So</a:t>
            </a:r>
            <a:r>
              <a:rPr lang="ru-RU" b="1" dirty="0"/>
              <a:t> </a:t>
            </a:r>
            <a:r>
              <a:rPr lang="ru-RU" b="1" dirty="0" err="1"/>
              <a:t>far</a:t>
            </a:r>
            <a:r>
              <a:rPr lang="ru-RU" b="1" dirty="0"/>
              <a:t>:</a:t>
            </a:r>
            <a:r>
              <a:rPr lang="ru-RU" dirty="0"/>
              <a:t> </a:t>
            </a:r>
            <a:r>
              <a:rPr lang="ru-RU" dirty="0" err="1"/>
              <a:t>You've</a:t>
            </a:r>
            <a:r>
              <a:rPr lang="ru-RU" dirty="0"/>
              <a:t> </a:t>
            </a:r>
            <a:r>
              <a:rPr lang="ru-RU" dirty="0" err="1"/>
              <a:t>learned</a:t>
            </a:r>
            <a:r>
              <a:rPr lang="ru-RU" dirty="0"/>
              <a:t> </a:t>
            </a:r>
            <a:r>
              <a:rPr lang="ru-RU" dirty="0" err="1"/>
              <a:t>to</a:t>
            </a:r>
            <a:r>
              <a:rPr lang="ru-RU" dirty="0"/>
              <a:t> </a:t>
            </a:r>
            <a:r>
              <a:rPr lang="ru-RU" dirty="0" err="1"/>
              <a:t>describe</a:t>
            </a:r>
            <a:r>
              <a:rPr lang="ru-RU" dirty="0"/>
              <a:t> </a:t>
            </a:r>
            <a:r>
              <a:rPr lang="ru-RU" dirty="0" err="1"/>
              <a:t>single</a:t>
            </a:r>
            <a:r>
              <a:rPr lang="ru-RU" dirty="0"/>
              <a:t> </a:t>
            </a:r>
            <a:r>
              <a:rPr lang="ru-RU" dirty="0" err="1"/>
              <a:t>variables</a:t>
            </a:r>
            <a:br>
              <a:rPr lang="ru-RU" dirty="0"/>
            </a:br>
            <a:r>
              <a:rPr lang="ru-RU" b="1" dirty="0" err="1"/>
              <a:t>Now</a:t>
            </a:r>
            <a:r>
              <a:rPr lang="ru-RU" b="1" dirty="0"/>
              <a:t>:</a:t>
            </a:r>
            <a:r>
              <a:rPr lang="ru-RU" dirty="0"/>
              <a:t> </a:t>
            </a:r>
            <a:r>
              <a:rPr lang="ru-RU" dirty="0" err="1"/>
              <a:t>Let's</a:t>
            </a:r>
            <a:r>
              <a:rPr lang="ru-RU" dirty="0"/>
              <a:t> </a:t>
            </a:r>
            <a:r>
              <a:rPr lang="ru-RU" dirty="0" err="1"/>
              <a:t>connect</a:t>
            </a:r>
            <a:r>
              <a:rPr lang="ru-RU" dirty="0"/>
              <a:t> </a:t>
            </a:r>
            <a:r>
              <a:rPr lang="ru-RU" dirty="0" err="1"/>
              <a:t>variables</a:t>
            </a:r>
            <a:r>
              <a:rPr lang="ru-RU" dirty="0"/>
              <a:t> </a:t>
            </a:r>
            <a:r>
              <a:rPr lang="ru-RU" dirty="0" err="1"/>
              <a:t>and</a:t>
            </a:r>
            <a:r>
              <a:rPr lang="ru-RU" dirty="0"/>
              <a:t> </a:t>
            </a:r>
            <a:r>
              <a:rPr lang="ru-RU" dirty="0" err="1"/>
              <a:t>think</a:t>
            </a:r>
            <a:r>
              <a:rPr lang="ru-RU" dirty="0"/>
              <a:t> </a:t>
            </a:r>
            <a:r>
              <a:rPr lang="ru-RU" dirty="0" err="1"/>
              <a:t>statistically</a:t>
            </a:r>
            <a:endParaRPr lang="ru-RU" dirty="0"/>
          </a:p>
          <a:p>
            <a:pPr marL="0" indent="0">
              <a:buNone/>
            </a:pPr>
            <a:r>
              <a:rPr lang="ru-RU" b="1" dirty="0" err="1"/>
              <a:t>Three</a:t>
            </a:r>
            <a:r>
              <a:rPr lang="ru-RU" b="1" dirty="0"/>
              <a:t> </a:t>
            </a:r>
            <a:r>
              <a:rPr lang="ru-RU" b="1" dirty="0" err="1"/>
              <a:t>Intermediate</a:t>
            </a:r>
            <a:r>
              <a:rPr lang="ru-RU" b="1" dirty="0"/>
              <a:t> </a:t>
            </a:r>
            <a:r>
              <a:rPr lang="ru-RU" b="1" dirty="0" err="1"/>
              <a:t>Areas</a:t>
            </a:r>
            <a:r>
              <a:rPr lang="ru-RU" b="1" dirty="0"/>
              <a:t>:</a:t>
            </a:r>
            <a:endParaRPr lang="ru-RU" dirty="0"/>
          </a:p>
          <a:p>
            <a:pPr lvl="1"/>
            <a:r>
              <a:rPr lang="ru-RU" b="1" dirty="0" err="1"/>
              <a:t>Relationship</a:t>
            </a:r>
            <a:r>
              <a:rPr lang="ru-RU" b="1" dirty="0"/>
              <a:t> Analysis:</a:t>
            </a:r>
            <a:r>
              <a:rPr lang="ru-RU" dirty="0"/>
              <a:t> </a:t>
            </a:r>
            <a:r>
              <a:rPr lang="ru-RU" dirty="0" err="1"/>
              <a:t>How</a:t>
            </a:r>
            <a:r>
              <a:rPr lang="ru-RU" dirty="0"/>
              <a:t> </a:t>
            </a:r>
            <a:r>
              <a:rPr lang="ru-RU" dirty="0" err="1"/>
              <a:t>variables</a:t>
            </a:r>
            <a:r>
              <a:rPr lang="ru-RU" dirty="0"/>
              <a:t> </a:t>
            </a:r>
            <a:r>
              <a:rPr lang="ru-RU" dirty="0" err="1"/>
              <a:t>move</a:t>
            </a:r>
            <a:r>
              <a:rPr lang="ru-RU" dirty="0"/>
              <a:t> </a:t>
            </a:r>
            <a:r>
              <a:rPr lang="ru-RU" dirty="0" err="1"/>
              <a:t>together</a:t>
            </a:r>
            <a:r>
              <a:rPr lang="ru-RU" dirty="0"/>
              <a:t> (</a:t>
            </a:r>
            <a:r>
              <a:rPr lang="ru-RU" dirty="0" err="1"/>
              <a:t>correlation</a:t>
            </a:r>
            <a:r>
              <a:rPr lang="ru-RU" dirty="0"/>
              <a:t>)</a:t>
            </a:r>
          </a:p>
          <a:p>
            <a:pPr lvl="1"/>
            <a:r>
              <a:rPr lang="ru-RU" b="1" dirty="0"/>
              <a:t>Data </a:t>
            </a:r>
            <a:r>
              <a:rPr lang="ru-RU" b="1" dirty="0" err="1"/>
              <a:t>Transformation</a:t>
            </a:r>
            <a:r>
              <a:rPr lang="ru-RU" b="1" dirty="0"/>
              <a:t>:</a:t>
            </a:r>
            <a:r>
              <a:rPr lang="ru-RU" dirty="0"/>
              <a:t> </a:t>
            </a:r>
            <a:r>
              <a:rPr lang="ru-RU" dirty="0" err="1"/>
              <a:t>Making</a:t>
            </a:r>
            <a:r>
              <a:rPr lang="ru-RU" dirty="0"/>
              <a:t> </a:t>
            </a:r>
            <a:r>
              <a:rPr lang="ru-RU" dirty="0" err="1"/>
              <a:t>skewed</a:t>
            </a:r>
            <a:r>
              <a:rPr lang="ru-RU" dirty="0"/>
              <a:t> </a:t>
            </a:r>
            <a:r>
              <a:rPr lang="ru-RU" dirty="0" err="1"/>
              <a:t>data</a:t>
            </a:r>
            <a:r>
              <a:rPr lang="ru-RU" dirty="0"/>
              <a:t> </a:t>
            </a:r>
            <a:r>
              <a:rPr lang="ru-RU" dirty="0" err="1"/>
              <a:t>more</a:t>
            </a:r>
            <a:r>
              <a:rPr lang="ru-RU" dirty="0"/>
              <a:t> </a:t>
            </a:r>
            <a:r>
              <a:rPr lang="ru-RU" dirty="0" err="1"/>
              <a:t>analyzable</a:t>
            </a:r>
            <a:endParaRPr lang="ru-RU" dirty="0"/>
          </a:p>
          <a:p>
            <a:pPr lvl="1"/>
            <a:r>
              <a:rPr lang="ru-RU" b="1" dirty="0" err="1"/>
              <a:t>Statistical</a:t>
            </a:r>
            <a:r>
              <a:rPr lang="ru-RU" b="1" dirty="0"/>
              <a:t> </a:t>
            </a:r>
            <a:r>
              <a:rPr lang="ru-RU" b="1" dirty="0" err="1"/>
              <a:t>Thinking</a:t>
            </a:r>
            <a:r>
              <a:rPr lang="ru-RU" b="1" dirty="0"/>
              <a:t>:</a:t>
            </a:r>
            <a:r>
              <a:rPr lang="ru-RU" dirty="0"/>
              <a:t> From </a:t>
            </a:r>
            <a:r>
              <a:rPr lang="ru-RU" dirty="0" err="1"/>
              <a:t>description</a:t>
            </a:r>
            <a:r>
              <a:rPr lang="ru-RU" dirty="0"/>
              <a:t> </a:t>
            </a:r>
            <a:r>
              <a:rPr lang="ru-RU" dirty="0" err="1"/>
              <a:t>to</a:t>
            </a:r>
            <a:r>
              <a:rPr lang="ru-RU" dirty="0"/>
              <a:t> </a:t>
            </a:r>
            <a:r>
              <a:rPr lang="ru-RU" dirty="0" err="1"/>
              <a:t>inference</a:t>
            </a:r>
            <a:endParaRPr lang="ru-RU" dirty="0"/>
          </a:p>
          <a:p>
            <a:pPr marL="0" indent="0">
              <a:buNone/>
            </a:pPr>
            <a:r>
              <a:rPr lang="ru-RU" b="1" dirty="0" err="1"/>
              <a:t>Today's</a:t>
            </a:r>
            <a:r>
              <a:rPr lang="ru-RU" b="1" dirty="0"/>
              <a:t> </a:t>
            </a:r>
            <a:r>
              <a:rPr lang="ru-RU" b="1" dirty="0" err="1"/>
              <a:t>Goal</a:t>
            </a:r>
            <a:r>
              <a:rPr lang="ru-RU" b="1" dirty="0"/>
              <a:t>:</a:t>
            </a:r>
            <a:r>
              <a:rPr lang="ru-RU" dirty="0"/>
              <a:t> </a:t>
            </a:r>
            <a:r>
              <a:rPr lang="ru-RU" dirty="0" err="1"/>
              <a:t>Build</a:t>
            </a:r>
            <a:r>
              <a:rPr lang="ru-RU" dirty="0"/>
              <a:t> a </a:t>
            </a:r>
            <a:r>
              <a:rPr lang="ru-RU" dirty="0" err="1"/>
              <a:t>bridge</a:t>
            </a:r>
            <a:r>
              <a:rPr lang="ru-RU" dirty="0"/>
              <a:t> </a:t>
            </a:r>
            <a:r>
              <a:rPr lang="ru-RU" dirty="0" err="1"/>
              <a:t>between</a:t>
            </a:r>
            <a:r>
              <a:rPr lang="ru-RU" dirty="0"/>
              <a:t> </a:t>
            </a:r>
            <a:r>
              <a:rPr lang="ru-RU" dirty="0" err="1"/>
              <a:t>basic</a:t>
            </a:r>
            <a:r>
              <a:rPr lang="ru-RU" dirty="0"/>
              <a:t> </a:t>
            </a:r>
            <a:r>
              <a:rPr lang="ru-RU" dirty="0" err="1"/>
              <a:t>stats</a:t>
            </a:r>
            <a:r>
              <a:rPr lang="ru-RU" dirty="0"/>
              <a:t> </a:t>
            </a:r>
            <a:r>
              <a:rPr lang="ru-RU" dirty="0" err="1"/>
              <a:t>and</a:t>
            </a:r>
            <a:r>
              <a:rPr lang="ru-RU" dirty="0"/>
              <a:t> </a:t>
            </a:r>
            <a:r>
              <a:rPr lang="ru-RU" dirty="0" err="1"/>
              <a:t>real</a:t>
            </a:r>
            <a:r>
              <a:rPr lang="ru-RU" dirty="0"/>
              <a:t> </a:t>
            </a:r>
            <a:r>
              <a:rPr lang="ru-RU" dirty="0" err="1"/>
              <a:t>analysis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0780180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B9F7BF-9D5D-FB20-9533-66968E998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err="1"/>
              <a:t>Understanding</a:t>
            </a:r>
            <a:r>
              <a:rPr lang="ru-RU" b="1" dirty="0"/>
              <a:t> </a:t>
            </a:r>
            <a:r>
              <a:rPr lang="ru-RU" b="1" dirty="0" err="1"/>
              <a:t>Relationships</a:t>
            </a:r>
            <a:r>
              <a:rPr lang="ru-RU" b="1" dirty="0"/>
              <a:t> - </a:t>
            </a:r>
            <a:r>
              <a:rPr lang="ru-RU" b="1" dirty="0" err="1"/>
              <a:t>Correlation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70B3B95-D0D7-2122-F02C-69A6B0FEB6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b="1" dirty="0" err="1"/>
              <a:t>Question</a:t>
            </a:r>
            <a:r>
              <a:rPr lang="ru-RU" b="1" dirty="0"/>
              <a:t>:</a:t>
            </a:r>
            <a:r>
              <a:rPr lang="ru-RU" dirty="0"/>
              <a:t> Do </a:t>
            </a:r>
            <a:r>
              <a:rPr lang="ru-RU" dirty="0" err="1"/>
              <a:t>two</a:t>
            </a:r>
            <a:r>
              <a:rPr lang="ru-RU" dirty="0"/>
              <a:t> </a:t>
            </a:r>
            <a:r>
              <a:rPr lang="ru-RU" dirty="0" err="1"/>
              <a:t>variables</a:t>
            </a:r>
            <a:r>
              <a:rPr lang="ru-RU" dirty="0"/>
              <a:t> </a:t>
            </a:r>
            <a:r>
              <a:rPr lang="ru-RU" dirty="0" err="1"/>
              <a:t>change</a:t>
            </a:r>
            <a:r>
              <a:rPr lang="ru-RU" dirty="0"/>
              <a:t> </a:t>
            </a:r>
            <a:r>
              <a:rPr lang="ru-RU" dirty="0" err="1"/>
              <a:t>together</a:t>
            </a:r>
            <a:r>
              <a:rPr lang="ru-RU" dirty="0"/>
              <a:t>?</a:t>
            </a:r>
          </a:p>
          <a:p>
            <a:pPr lvl="1"/>
            <a:r>
              <a:rPr lang="ru-RU" dirty="0" err="1"/>
              <a:t>Example</a:t>
            </a:r>
            <a:r>
              <a:rPr lang="ru-RU" dirty="0"/>
              <a:t>: Do </a:t>
            </a:r>
            <a:r>
              <a:rPr lang="ru-RU" dirty="0" err="1"/>
              <a:t>study</a:t>
            </a:r>
            <a:r>
              <a:rPr lang="ru-RU" dirty="0"/>
              <a:t> </a:t>
            </a:r>
            <a:r>
              <a:rPr lang="ru-RU" dirty="0" err="1"/>
              <a:t>hours</a:t>
            </a:r>
            <a:r>
              <a:rPr lang="ru-RU" dirty="0"/>
              <a:t> </a:t>
            </a:r>
            <a:r>
              <a:rPr lang="ru-RU" dirty="0" err="1"/>
              <a:t>relate</a:t>
            </a:r>
            <a:r>
              <a:rPr lang="ru-RU" dirty="0"/>
              <a:t> </a:t>
            </a:r>
            <a:r>
              <a:rPr lang="ru-RU" dirty="0" err="1"/>
              <a:t>to</a:t>
            </a:r>
            <a:r>
              <a:rPr lang="ru-RU" dirty="0"/>
              <a:t> </a:t>
            </a:r>
            <a:r>
              <a:rPr lang="ru-RU" dirty="0" err="1"/>
              <a:t>grades</a:t>
            </a:r>
            <a:r>
              <a:rPr lang="ru-RU" dirty="0"/>
              <a:t>?</a:t>
            </a:r>
          </a:p>
          <a:p>
            <a:pPr marL="0" indent="0">
              <a:buNone/>
            </a:pPr>
            <a:r>
              <a:rPr lang="ru-RU" b="1" dirty="0" err="1"/>
              <a:t>Correlation</a:t>
            </a:r>
            <a:r>
              <a:rPr lang="ru-RU" b="1" dirty="0"/>
              <a:t> </a:t>
            </a:r>
            <a:r>
              <a:rPr lang="ru-RU" b="1" dirty="0" err="1"/>
              <a:t>Coefficient</a:t>
            </a:r>
            <a:r>
              <a:rPr lang="ru-RU" b="1" dirty="0"/>
              <a:t> (r):</a:t>
            </a:r>
            <a:endParaRPr lang="ru-RU" dirty="0"/>
          </a:p>
          <a:p>
            <a:pPr lvl="1"/>
            <a:r>
              <a:rPr lang="ru-RU" dirty="0" err="1"/>
              <a:t>Measures</a:t>
            </a:r>
            <a:r>
              <a:rPr lang="ru-RU" dirty="0"/>
              <a:t> </a:t>
            </a:r>
            <a:r>
              <a:rPr lang="ru-RU" dirty="0" err="1"/>
              <a:t>strength</a:t>
            </a:r>
            <a:r>
              <a:rPr lang="ru-RU" dirty="0"/>
              <a:t> </a:t>
            </a:r>
            <a:r>
              <a:rPr lang="ru-RU" dirty="0" err="1"/>
              <a:t>and</a:t>
            </a:r>
            <a:r>
              <a:rPr lang="ru-RU" dirty="0"/>
              <a:t> </a:t>
            </a:r>
            <a:r>
              <a:rPr lang="ru-RU" dirty="0" err="1"/>
              <a:t>direction</a:t>
            </a:r>
            <a:r>
              <a:rPr lang="ru-RU" dirty="0"/>
              <a:t> </a:t>
            </a:r>
            <a:r>
              <a:rPr lang="ru-RU" dirty="0" err="1"/>
              <a:t>of</a:t>
            </a:r>
            <a:r>
              <a:rPr lang="ru-RU" dirty="0"/>
              <a:t> LINEAR </a:t>
            </a:r>
            <a:r>
              <a:rPr lang="ru-RU" dirty="0" err="1"/>
              <a:t>relationship</a:t>
            </a:r>
            <a:endParaRPr lang="ru-RU" dirty="0"/>
          </a:p>
          <a:p>
            <a:pPr lvl="1"/>
            <a:r>
              <a:rPr lang="ru-RU" dirty="0"/>
              <a:t>Range: -1 </a:t>
            </a:r>
            <a:r>
              <a:rPr lang="ru-RU" dirty="0" err="1"/>
              <a:t>to</a:t>
            </a:r>
            <a:r>
              <a:rPr lang="ru-RU" dirty="0"/>
              <a:t> +1</a:t>
            </a:r>
          </a:p>
          <a:p>
            <a:pPr marL="0" indent="0">
              <a:buNone/>
            </a:pPr>
            <a:r>
              <a:rPr lang="ru-RU" b="1" dirty="0" err="1"/>
              <a:t>Interpretation</a:t>
            </a:r>
            <a:r>
              <a:rPr lang="ru-RU" b="1" dirty="0"/>
              <a:t>:</a:t>
            </a:r>
            <a:endParaRPr lang="ru-RU" dirty="0"/>
          </a:p>
          <a:p>
            <a:pPr lvl="1"/>
            <a:r>
              <a:rPr lang="ru-RU" b="1" dirty="0"/>
              <a:t>r = +0.8:</a:t>
            </a:r>
            <a:r>
              <a:rPr lang="ru-RU" dirty="0"/>
              <a:t> </a:t>
            </a:r>
            <a:r>
              <a:rPr lang="ru-RU" dirty="0" err="1"/>
              <a:t>Strong</a:t>
            </a:r>
            <a:r>
              <a:rPr lang="ru-RU" dirty="0"/>
              <a:t> </a:t>
            </a:r>
            <a:r>
              <a:rPr lang="ru-RU" dirty="0" err="1"/>
              <a:t>positive</a:t>
            </a:r>
            <a:r>
              <a:rPr lang="ru-RU" dirty="0"/>
              <a:t> </a:t>
            </a:r>
            <a:r>
              <a:rPr lang="ru-RU" dirty="0" err="1"/>
              <a:t>relationship</a:t>
            </a:r>
            <a:r>
              <a:rPr lang="ru-RU" dirty="0"/>
              <a:t> (</a:t>
            </a:r>
            <a:r>
              <a:rPr lang="ru-RU" dirty="0" err="1"/>
              <a:t>both</a:t>
            </a:r>
            <a:r>
              <a:rPr lang="ru-RU" dirty="0"/>
              <a:t> </a:t>
            </a:r>
            <a:r>
              <a:rPr lang="ru-RU" dirty="0" err="1"/>
              <a:t>increase</a:t>
            </a:r>
            <a:r>
              <a:rPr lang="ru-RU" dirty="0"/>
              <a:t> </a:t>
            </a:r>
            <a:r>
              <a:rPr lang="ru-RU" dirty="0" err="1"/>
              <a:t>together</a:t>
            </a:r>
            <a:r>
              <a:rPr lang="ru-RU" dirty="0"/>
              <a:t>)</a:t>
            </a:r>
          </a:p>
          <a:p>
            <a:pPr lvl="1"/>
            <a:r>
              <a:rPr lang="ru-RU" b="1" dirty="0"/>
              <a:t>r = -0.6:</a:t>
            </a:r>
            <a:r>
              <a:rPr lang="ru-RU" dirty="0"/>
              <a:t> </a:t>
            </a:r>
            <a:r>
              <a:rPr lang="ru-RU" dirty="0" err="1"/>
              <a:t>Moderate</a:t>
            </a:r>
            <a:r>
              <a:rPr lang="ru-RU" dirty="0"/>
              <a:t> </a:t>
            </a:r>
            <a:r>
              <a:rPr lang="ru-RU" dirty="0" err="1"/>
              <a:t>negative</a:t>
            </a:r>
            <a:r>
              <a:rPr lang="ru-RU" dirty="0"/>
              <a:t> </a:t>
            </a:r>
            <a:r>
              <a:rPr lang="ru-RU" dirty="0" err="1"/>
              <a:t>relationship</a:t>
            </a:r>
            <a:r>
              <a:rPr lang="ru-RU" dirty="0"/>
              <a:t> (</a:t>
            </a:r>
            <a:r>
              <a:rPr lang="ru-RU" dirty="0" err="1"/>
              <a:t>one</a:t>
            </a:r>
            <a:r>
              <a:rPr lang="ru-RU" dirty="0"/>
              <a:t> </a:t>
            </a:r>
            <a:r>
              <a:rPr lang="ru-RU" dirty="0" err="1"/>
              <a:t>increases</a:t>
            </a:r>
            <a:r>
              <a:rPr lang="ru-RU" dirty="0"/>
              <a:t>, </a:t>
            </a:r>
            <a:r>
              <a:rPr lang="ru-RU" dirty="0" err="1"/>
              <a:t>other</a:t>
            </a:r>
            <a:r>
              <a:rPr lang="ru-RU" dirty="0"/>
              <a:t> </a:t>
            </a:r>
            <a:r>
              <a:rPr lang="ru-RU" dirty="0" err="1"/>
              <a:t>decreases</a:t>
            </a:r>
            <a:r>
              <a:rPr lang="ru-RU" dirty="0"/>
              <a:t>)</a:t>
            </a:r>
          </a:p>
          <a:p>
            <a:pPr lvl="1"/>
            <a:r>
              <a:rPr lang="ru-RU" b="1" dirty="0"/>
              <a:t>r = 0.1:</a:t>
            </a:r>
            <a:r>
              <a:rPr lang="ru-RU" dirty="0"/>
              <a:t> </a:t>
            </a:r>
            <a:r>
              <a:rPr lang="ru-RU" dirty="0" err="1"/>
              <a:t>Very</a:t>
            </a:r>
            <a:r>
              <a:rPr lang="ru-RU" dirty="0"/>
              <a:t> </a:t>
            </a:r>
            <a:r>
              <a:rPr lang="ru-RU" dirty="0" err="1"/>
              <a:t>weak</a:t>
            </a:r>
            <a:r>
              <a:rPr lang="ru-RU" dirty="0"/>
              <a:t> </a:t>
            </a:r>
            <a:r>
              <a:rPr lang="ru-RU" dirty="0" err="1"/>
              <a:t>or</a:t>
            </a:r>
            <a:r>
              <a:rPr lang="ru-RU" dirty="0"/>
              <a:t> </a:t>
            </a:r>
            <a:r>
              <a:rPr lang="ru-RU" dirty="0" err="1"/>
              <a:t>no</a:t>
            </a:r>
            <a:r>
              <a:rPr lang="ru-RU" dirty="0"/>
              <a:t> </a:t>
            </a:r>
            <a:r>
              <a:rPr lang="ru-RU" dirty="0" err="1"/>
              <a:t>linear</a:t>
            </a:r>
            <a:r>
              <a:rPr lang="ru-RU" dirty="0"/>
              <a:t> </a:t>
            </a:r>
            <a:r>
              <a:rPr lang="ru-RU" dirty="0" err="1"/>
              <a:t>relationship</a:t>
            </a:r>
            <a:endParaRPr lang="ru-RU" dirty="0"/>
          </a:p>
          <a:p>
            <a:pPr marL="0" indent="0">
              <a:buNone/>
            </a:pPr>
            <a:r>
              <a:rPr lang="ru-RU" b="1" dirty="0" err="1"/>
              <a:t>Important</a:t>
            </a:r>
            <a:r>
              <a:rPr lang="ru-RU" b="1" dirty="0"/>
              <a:t>:</a:t>
            </a:r>
            <a:r>
              <a:rPr lang="ru-RU" dirty="0"/>
              <a:t> </a:t>
            </a:r>
            <a:r>
              <a:rPr lang="ru-RU" dirty="0" err="1"/>
              <a:t>Correlation</a:t>
            </a:r>
            <a:r>
              <a:rPr lang="ru-RU" dirty="0"/>
              <a:t> ≠ </a:t>
            </a:r>
            <a:r>
              <a:rPr lang="ru-RU" dirty="0" err="1"/>
              <a:t>Causation</a:t>
            </a:r>
            <a:r>
              <a:rPr lang="ru-RU" dirty="0"/>
              <a:t>!</a:t>
            </a:r>
          </a:p>
          <a:p>
            <a:pPr lvl="1"/>
            <a:r>
              <a:rPr lang="ru-RU" dirty="0"/>
              <a:t>Ice </a:t>
            </a:r>
            <a:r>
              <a:rPr lang="ru-RU" dirty="0" err="1"/>
              <a:t>cream</a:t>
            </a:r>
            <a:r>
              <a:rPr lang="ru-RU" dirty="0"/>
              <a:t> </a:t>
            </a:r>
            <a:r>
              <a:rPr lang="ru-RU" dirty="0" err="1"/>
              <a:t>sales</a:t>
            </a:r>
            <a:r>
              <a:rPr lang="ru-RU" dirty="0"/>
              <a:t> </a:t>
            </a:r>
            <a:r>
              <a:rPr lang="ru-RU" dirty="0" err="1"/>
              <a:t>and</a:t>
            </a:r>
            <a:r>
              <a:rPr lang="ru-RU" dirty="0"/>
              <a:t> </a:t>
            </a:r>
            <a:r>
              <a:rPr lang="ru-RU" dirty="0" err="1"/>
              <a:t>drowning</a:t>
            </a:r>
            <a:r>
              <a:rPr lang="ru-RU" dirty="0"/>
              <a:t> </a:t>
            </a:r>
            <a:r>
              <a:rPr lang="ru-RU" dirty="0" err="1"/>
              <a:t>both</a:t>
            </a:r>
            <a:r>
              <a:rPr lang="ru-RU" dirty="0"/>
              <a:t> </a:t>
            </a:r>
            <a:r>
              <a:rPr lang="ru-RU" dirty="0" err="1"/>
              <a:t>increase</a:t>
            </a:r>
            <a:r>
              <a:rPr lang="ru-RU" dirty="0"/>
              <a:t> </a:t>
            </a:r>
            <a:r>
              <a:rPr lang="ru-RU" dirty="0" err="1"/>
              <a:t>in</a:t>
            </a:r>
            <a:r>
              <a:rPr lang="ru-RU" dirty="0"/>
              <a:t> </a:t>
            </a:r>
            <a:r>
              <a:rPr lang="ru-RU" dirty="0" err="1"/>
              <a:t>summer</a:t>
            </a:r>
            <a:endParaRPr lang="ru-RU" dirty="0"/>
          </a:p>
          <a:p>
            <a:pPr lvl="1"/>
            <a:r>
              <a:rPr lang="ru-RU" dirty="0" err="1"/>
              <a:t>Does</a:t>
            </a:r>
            <a:r>
              <a:rPr lang="ru-RU" dirty="0"/>
              <a:t> </a:t>
            </a:r>
            <a:r>
              <a:rPr lang="ru-RU" dirty="0" err="1"/>
              <a:t>ice</a:t>
            </a:r>
            <a:r>
              <a:rPr lang="ru-RU" dirty="0"/>
              <a:t> </a:t>
            </a:r>
            <a:r>
              <a:rPr lang="ru-RU" dirty="0" err="1"/>
              <a:t>cream</a:t>
            </a:r>
            <a:r>
              <a:rPr lang="ru-RU" dirty="0"/>
              <a:t> </a:t>
            </a:r>
            <a:r>
              <a:rPr lang="ru-RU" dirty="0" err="1"/>
              <a:t>cause</a:t>
            </a:r>
            <a:r>
              <a:rPr lang="ru-RU" dirty="0"/>
              <a:t> </a:t>
            </a:r>
            <a:r>
              <a:rPr lang="ru-RU" dirty="0" err="1"/>
              <a:t>drowning</a:t>
            </a:r>
            <a:r>
              <a:rPr lang="ru-RU" dirty="0"/>
              <a:t>? No! (</a:t>
            </a:r>
            <a:r>
              <a:rPr lang="ru-RU" dirty="0" err="1"/>
              <a:t>Hidden</a:t>
            </a:r>
            <a:r>
              <a:rPr lang="ru-RU" dirty="0"/>
              <a:t> </a:t>
            </a:r>
            <a:r>
              <a:rPr lang="ru-RU" dirty="0" err="1"/>
              <a:t>variable</a:t>
            </a:r>
            <a:r>
              <a:rPr lang="ru-RU" dirty="0"/>
              <a:t>: </a:t>
            </a:r>
            <a:r>
              <a:rPr lang="ru-RU" dirty="0" err="1"/>
              <a:t>temperature</a:t>
            </a:r>
            <a:r>
              <a:rPr lang="ru-RU" dirty="0"/>
              <a:t>)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2652719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FC3F1D-4695-6078-5DD2-9094DBAEF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err="1"/>
              <a:t>Calculating</a:t>
            </a:r>
            <a:r>
              <a:rPr lang="ru-RU" b="1" dirty="0"/>
              <a:t> </a:t>
            </a:r>
            <a:r>
              <a:rPr lang="ru-RU" b="1" dirty="0" err="1"/>
              <a:t>Correlation</a:t>
            </a:r>
            <a:r>
              <a:rPr lang="ru-RU" b="1" dirty="0"/>
              <a:t> </a:t>
            </a:r>
            <a:r>
              <a:rPr lang="ru-RU" b="1" dirty="0" err="1"/>
              <a:t>in</a:t>
            </a:r>
            <a:r>
              <a:rPr lang="ru-RU" b="1" dirty="0"/>
              <a:t> Python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C489114-8343-A129-0583-7B4F6CC7A3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 fontScale="70000" lnSpcReduction="20000"/>
          </a:bodyPr>
          <a:lstStyle/>
          <a:p>
            <a:pPr marL="0" indent="0" latinLnBrk="1">
              <a:buNone/>
            </a:pPr>
            <a:r>
              <a:rPr lang="ru-RU" i="1" dirty="0" err="1"/>
              <a:t>import</a:t>
            </a:r>
            <a:r>
              <a:rPr lang="ru-RU" i="1" dirty="0"/>
              <a:t> </a:t>
            </a:r>
            <a:r>
              <a:rPr lang="ru-RU" i="1" dirty="0" err="1"/>
              <a:t>numpy</a:t>
            </a:r>
            <a:r>
              <a:rPr lang="ru-RU" i="1" dirty="0"/>
              <a:t> </a:t>
            </a:r>
            <a:r>
              <a:rPr lang="ru-RU" i="1" dirty="0" err="1"/>
              <a:t>as</a:t>
            </a:r>
            <a:r>
              <a:rPr lang="ru-RU" i="1" dirty="0"/>
              <a:t> </a:t>
            </a:r>
            <a:r>
              <a:rPr lang="ru-RU" i="1" dirty="0" err="1"/>
              <a:t>np</a:t>
            </a:r>
            <a:endParaRPr lang="ru-RU" i="1" dirty="0"/>
          </a:p>
          <a:p>
            <a:pPr marL="0" indent="0" latinLnBrk="1">
              <a:buNone/>
            </a:pPr>
            <a:r>
              <a:rPr lang="ru-RU" i="1" dirty="0" err="1"/>
              <a:t>import</a:t>
            </a:r>
            <a:r>
              <a:rPr lang="ru-RU" i="1" dirty="0"/>
              <a:t> </a:t>
            </a:r>
            <a:r>
              <a:rPr lang="ru-RU" i="1" dirty="0" err="1"/>
              <a:t>pandas</a:t>
            </a:r>
            <a:r>
              <a:rPr lang="ru-RU" i="1" dirty="0"/>
              <a:t> </a:t>
            </a:r>
            <a:r>
              <a:rPr lang="ru-RU" i="1" dirty="0" err="1"/>
              <a:t>as</a:t>
            </a:r>
            <a:r>
              <a:rPr lang="ru-RU" i="1" dirty="0"/>
              <a:t> </a:t>
            </a:r>
            <a:r>
              <a:rPr lang="ru-RU" i="1" dirty="0" err="1"/>
              <a:t>pd</a:t>
            </a:r>
            <a:endParaRPr lang="ru-RU" i="1" dirty="0"/>
          </a:p>
          <a:p>
            <a:pPr marL="0" indent="0" latinLnBrk="1">
              <a:buNone/>
            </a:pPr>
            <a:r>
              <a:rPr lang="ru-RU" b="1" i="1" dirty="0"/>
              <a:t># </a:t>
            </a:r>
            <a:r>
              <a:rPr lang="ru-RU" b="1" i="1" dirty="0" err="1"/>
              <a:t>Sample</a:t>
            </a:r>
            <a:r>
              <a:rPr lang="ru-RU" b="1" i="1" dirty="0"/>
              <a:t> </a:t>
            </a:r>
            <a:r>
              <a:rPr lang="ru-RU" b="1" i="1" dirty="0" err="1"/>
              <a:t>data</a:t>
            </a:r>
            <a:r>
              <a:rPr lang="ru-RU" b="1" i="1" dirty="0"/>
              <a:t>: Study </a:t>
            </a:r>
            <a:r>
              <a:rPr lang="ru-RU" b="1" i="1" dirty="0" err="1"/>
              <a:t>hours</a:t>
            </a:r>
            <a:r>
              <a:rPr lang="ru-RU" b="1" i="1" dirty="0"/>
              <a:t> </a:t>
            </a:r>
            <a:r>
              <a:rPr lang="ru-RU" b="1" i="1" dirty="0" err="1"/>
              <a:t>vs</a:t>
            </a:r>
            <a:r>
              <a:rPr lang="ru-RU" b="1" i="1" dirty="0"/>
              <a:t> </a:t>
            </a:r>
            <a:r>
              <a:rPr lang="ru-RU" b="1" i="1" dirty="0" err="1"/>
              <a:t>Grades</a:t>
            </a:r>
            <a:endParaRPr lang="ru-RU" b="1" i="1" dirty="0"/>
          </a:p>
          <a:p>
            <a:pPr marL="0" indent="0" latinLnBrk="1">
              <a:buNone/>
            </a:pPr>
            <a:r>
              <a:rPr lang="ru-RU" i="1" dirty="0" err="1"/>
              <a:t>study_hours</a:t>
            </a:r>
            <a:r>
              <a:rPr lang="ru-RU" i="1" dirty="0"/>
              <a:t> = [2, 5, 7, 3, 8, 6, 4, 9, 5, 7]</a:t>
            </a:r>
          </a:p>
          <a:p>
            <a:pPr marL="0" indent="0" latinLnBrk="1">
              <a:buNone/>
            </a:pPr>
            <a:r>
              <a:rPr lang="ru-RU" i="1" dirty="0" err="1"/>
              <a:t>grades</a:t>
            </a:r>
            <a:r>
              <a:rPr lang="ru-RU" i="1" dirty="0"/>
              <a:t> = [65, 80, 85, 70, 90, 82, 75, 92, 78, 88]</a:t>
            </a:r>
          </a:p>
          <a:p>
            <a:pPr marL="0" indent="0" latinLnBrk="1">
              <a:buNone/>
            </a:pPr>
            <a:r>
              <a:rPr lang="ru-RU" b="1" i="1" dirty="0"/>
              <a:t># </a:t>
            </a:r>
            <a:r>
              <a:rPr lang="ru-RU" b="1" i="1" dirty="0" err="1"/>
              <a:t>Calculate</a:t>
            </a:r>
            <a:r>
              <a:rPr lang="ru-RU" b="1" i="1" dirty="0"/>
              <a:t> </a:t>
            </a:r>
            <a:r>
              <a:rPr lang="ru-RU" b="1" i="1" dirty="0" err="1"/>
              <a:t>correlation</a:t>
            </a:r>
            <a:r>
              <a:rPr lang="ru-RU" b="1" i="1" dirty="0"/>
              <a:t> </a:t>
            </a:r>
            <a:r>
              <a:rPr lang="ru-RU" b="1" i="1" dirty="0" err="1"/>
              <a:t>coefficient</a:t>
            </a:r>
            <a:endParaRPr lang="ru-RU" b="1" i="1" dirty="0"/>
          </a:p>
          <a:p>
            <a:pPr marL="0" indent="0" latinLnBrk="1">
              <a:buNone/>
            </a:pPr>
            <a:r>
              <a:rPr lang="ru-RU" i="1" dirty="0" err="1"/>
              <a:t>correlation</a:t>
            </a:r>
            <a:r>
              <a:rPr lang="ru-RU" i="1" dirty="0"/>
              <a:t> = </a:t>
            </a:r>
            <a:r>
              <a:rPr lang="ru-RU" i="1" dirty="0" err="1"/>
              <a:t>np.corrcoef</a:t>
            </a:r>
            <a:r>
              <a:rPr lang="ru-RU" i="1" dirty="0"/>
              <a:t>(</a:t>
            </a:r>
            <a:r>
              <a:rPr lang="ru-RU" i="1" dirty="0" err="1"/>
              <a:t>study_hours</a:t>
            </a:r>
            <a:r>
              <a:rPr lang="ru-RU" i="1" dirty="0"/>
              <a:t>, </a:t>
            </a:r>
            <a:r>
              <a:rPr lang="ru-RU" i="1" dirty="0" err="1"/>
              <a:t>grades</a:t>
            </a:r>
            <a:r>
              <a:rPr lang="ru-RU" i="1" dirty="0"/>
              <a:t>)[0, 1]</a:t>
            </a:r>
          </a:p>
          <a:p>
            <a:pPr marL="0" indent="0" latinLnBrk="1">
              <a:buNone/>
            </a:pPr>
            <a:r>
              <a:rPr lang="ru-RU" i="1" dirty="0" err="1"/>
              <a:t>print</a:t>
            </a:r>
            <a:r>
              <a:rPr lang="ru-RU" i="1" dirty="0"/>
              <a:t>(</a:t>
            </a:r>
            <a:r>
              <a:rPr lang="ru-RU" i="1" dirty="0" err="1"/>
              <a:t>f"Correlation</a:t>
            </a:r>
            <a:r>
              <a:rPr lang="ru-RU" i="1" dirty="0"/>
              <a:t> </a:t>
            </a:r>
            <a:r>
              <a:rPr lang="ru-RU" i="1" dirty="0" err="1"/>
              <a:t>between</a:t>
            </a:r>
            <a:r>
              <a:rPr lang="ru-RU" i="1" dirty="0"/>
              <a:t> </a:t>
            </a:r>
            <a:r>
              <a:rPr lang="ru-RU" i="1" dirty="0" err="1"/>
              <a:t>study</a:t>
            </a:r>
            <a:r>
              <a:rPr lang="ru-RU" i="1" dirty="0"/>
              <a:t> </a:t>
            </a:r>
            <a:r>
              <a:rPr lang="ru-RU" i="1" dirty="0" err="1"/>
              <a:t>hours</a:t>
            </a:r>
            <a:r>
              <a:rPr lang="ru-RU" i="1" dirty="0"/>
              <a:t> </a:t>
            </a:r>
            <a:r>
              <a:rPr lang="ru-RU" i="1" dirty="0" err="1"/>
              <a:t>and</a:t>
            </a:r>
            <a:r>
              <a:rPr lang="ru-RU" i="1" dirty="0"/>
              <a:t> </a:t>
            </a:r>
            <a:r>
              <a:rPr lang="ru-RU" i="1" dirty="0" err="1"/>
              <a:t>grades</a:t>
            </a:r>
            <a:r>
              <a:rPr lang="ru-RU" i="1" dirty="0"/>
              <a:t>: {correlation:.3f}")</a:t>
            </a:r>
          </a:p>
          <a:p>
            <a:pPr marL="0" indent="0" latinLnBrk="1">
              <a:buNone/>
            </a:pPr>
            <a:r>
              <a:rPr lang="ru-RU" b="1" i="1" dirty="0"/>
              <a:t># </a:t>
            </a:r>
            <a:r>
              <a:rPr lang="ru-RU" b="1" i="1" dirty="0" err="1"/>
              <a:t>Using</a:t>
            </a:r>
            <a:r>
              <a:rPr lang="ru-RU" b="1" i="1" dirty="0"/>
              <a:t> </a:t>
            </a:r>
            <a:r>
              <a:rPr lang="ru-RU" b="1" i="1" dirty="0" err="1"/>
              <a:t>pandas</a:t>
            </a:r>
            <a:endParaRPr lang="ru-RU" b="1" i="1" dirty="0"/>
          </a:p>
          <a:p>
            <a:pPr marL="0" indent="0" latinLnBrk="1">
              <a:buNone/>
            </a:pPr>
            <a:r>
              <a:rPr lang="ru-RU" i="1" dirty="0" err="1"/>
              <a:t>df</a:t>
            </a:r>
            <a:r>
              <a:rPr lang="ru-RU" i="1" dirty="0"/>
              <a:t> = </a:t>
            </a:r>
            <a:r>
              <a:rPr lang="ru-RU" i="1" dirty="0" err="1"/>
              <a:t>pd.DataFrame</a:t>
            </a:r>
            <a:r>
              <a:rPr lang="ru-RU" i="1" dirty="0"/>
              <a:t>({'</a:t>
            </a:r>
            <a:r>
              <a:rPr lang="ru-RU" i="1" dirty="0" err="1"/>
              <a:t>study_hours</a:t>
            </a:r>
            <a:r>
              <a:rPr lang="ru-RU" i="1" dirty="0"/>
              <a:t>': </a:t>
            </a:r>
            <a:r>
              <a:rPr lang="ru-RU" i="1" dirty="0" err="1"/>
              <a:t>study_hours</a:t>
            </a:r>
            <a:r>
              <a:rPr lang="ru-RU" i="1" dirty="0"/>
              <a:t>, '</a:t>
            </a:r>
            <a:r>
              <a:rPr lang="ru-RU" i="1" dirty="0" err="1"/>
              <a:t>grades</a:t>
            </a:r>
            <a:r>
              <a:rPr lang="ru-RU" i="1" dirty="0"/>
              <a:t>': </a:t>
            </a:r>
            <a:r>
              <a:rPr lang="ru-RU" i="1" dirty="0" err="1"/>
              <a:t>grades</a:t>
            </a:r>
            <a:r>
              <a:rPr lang="ru-RU" i="1" dirty="0"/>
              <a:t>})</a:t>
            </a:r>
          </a:p>
          <a:p>
            <a:pPr marL="0" indent="0" latinLnBrk="1">
              <a:buNone/>
            </a:pPr>
            <a:r>
              <a:rPr lang="ru-RU" i="1" dirty="0" err="1"/>
              <a:t>print</a:t>
            </a:r>
            <a:r>
              <a:rPr lang="ru-RU" i="1" dirty="0"/>
              <a:t>(f"\</a:t>
            </a:r>
            <a:r>
              <a:rPr lang="ru-RU" i="1" dirty="0" err="1"/>
              <a:t>nCorrelation</a:t>
            </a:r>
            <a:r>
              <a:rPr lang="ru-RU" i="1" dirty="0"/>
              <a:t> </a:t>
            </a:r>
            <a:r>
              <a:rPr lang="ru-RU" i="1" dirty="0" err="1"/>
              <a:t>matrix</a:t>
            </a:r>
            <a:r>
              <a:rPr lang="ru-RU" i="1" dirty="0"/>
              <a:t>:")</a:t>
            </a:r>
          </a:p>
          <a:p>
            <a:pPr marL="0" indent="0" latinLnBrk="1">
              <a:buNone/>
            </a:pPr>
            <a:r>
              <a:rPr lang="ru-RU" i="1" dirty="0" err="1"/>
              <a:t>print</a:t>
            </a:r>
            <a:r>
              <a:rPr lang="ru-RU" i="1" dirty="0"/>
              <a:t>(</a:t>
            </a:r>
            <a:r>
              <a:rPr lang="ru-RU" i="1" dirty="0" err="1"/>
              <a:t>df.corr</a:t>
            </a:r>
            <a:r>
              <a:rPr lang="ru-RU" i="1" dirty="0"/>
              <a:t>())</a:t>
            </a:r>
          </a:p>
          <a:p>
            <a:pPr marL="0" indent="0" latinLnBrk="1">
              <a:buNone/>
            </a:pPr>
            <a:r>
              <a:rPr lang="ru-RU" b="1" i="1" dirty="0"/>
              <a:t># </a:t>
            </a:r>
            <a:r>
              <a:rPr lang="ru-RU" b="1" i="1" dirty="0" err="1"/>
              <a:t>Interpretation</a:t>
            </a:r>
            <a:endParaRPr lang="ru-RU" b="1" i="1" dirty="0"/>
          </a:p>
          <a:p>
            <a:pPr marL="0" indent="0" latinLnBrk="1">
              <a:buNone/>
            </a:pPr>
            <a:r>
              <a:rPr lang="ru-RU" i="1" dirty="0" err="1"/>
              <a:t>if</a:t>
            </a:r>
            <a:r>
              <a:rPr lang="ru-RU" i="1" dirty="0"/>
              <a:t> </a:t>
            </a:r>
            <a:r>
              <a:rPr lang="ru-RU" i="1" dirty="0" err="1"/>
              <a:t>abs</a:t>
            </a:r>
            <a:r>
              <a:rPr lang="ru-RU" i="1" dirty="0"/>
              <a:t>(</a:t>
            </a:r>
            <a:r>
              <a:rPr lang="ru-RU" i="1" dirty="0" err="1"/>
              <a:t>correlation</a:t>
            </a:r>
            <a:r>
              <a:rPr lang="ru-RU" i="1" dirty="0"/>
              <a:t>) &gt; 0.7:</a:t>
            </a:r>
          </a:p>
          <a:p>
            <a:pPr marL="0" indent="0" latinLnBrk="1">
              <a:buNone/>
            </a:pPr>
            <a:r>
              <a:rPr lang="ru-RU" i="1" dirty="0"/>
              <a:t>    </a:t>
            </a:r>
            <a:r>
              <a:rPr lang="ru-RU" i="1" dirty="0" err="1"/>
              <a:t>strength</a:t>
            </a:r>
            <a:r>
              <a:rPr lang="ru-RU" i="1" dirty="0"/>
              <a:t> = "</a:t>
            </a:r>
            <a:r>
              <a:rPr lang="ru-RU" i="1" dirty="0" err="1"/>
              <a:t>strong</a:t>
            </a:r>
            <a:r>
              <a:rPr lang="ru-RU" i="1" dirty="0"/>
              <a:t>"</a:t>
            </a:r>
          </a:p>
          <a:p>
            <a:pPr marL="0" indent="0" latinLnBrk="1">
              <a:buNone/>
            </a:pPr>
            <a:r>
              <a:rPr lang="ru-RU" i="1" dirty="0" err="1"/>
              <a:t>elif</a:t>
            </a:r>
            <a:r>
              <a:rPr lang="ru-RU" i="1" dirty="0"/>
              <a:t> </a:t>
            </a:r>
            <a:r>
              <a:rPr lang="ru-RU" i="1" dirty="0" err="1"/>
              <a:t>abs</a:t>
            </a:r>
            <a:r>
              <a:rPr lang="ru-RU" i="1" dirty="0"/>
              <a:t>(</a:t>
            </a:r>
            <a:r>
              <a:rPr lang="ru-RU" i="1" dirty="0" err="1"/>
              <a:t>correlation</a:t>
            </a:r>
            <a:r>
              <a:rPr lang="ru-RU" i="1" dirty="0"/>
              <a:t>) &gt; 0.3:</a:t>
            </a:r>
          </a:p>
          <a:p>
            <a:pPr marL="0" indent="0" latinLnBrk="1">
              <a:buNone/>
            </a:pPr>
            <a:r>
              <a:rPr lang="ru-RU" i="1" dirty="0"/>
              <a:t>    </a:t>
            </a:r>
            <a:r>
              <a:rPr lang="ru-RU" i="1" dirty="0" err="1"/>
              <a:t>strength</a:t>
            </a:r>
            <a:r>
              <a:rPr lang="ru-RU" i="1" dirty="0"/>
              <a:t> = "</a:t>
            </a:r>
            <a:r>
              <a:rPr lang="ru-RU" i="1" dirty="0" err="1"/>
              <a:t>moderate</a:t>
            </a:r>
            <a:r>
              <a:rPr lang="ru-RU" i="1" dirty="0"/>
              <a:t>"</a:t>
            </a:r>
          </a:p>
          <a:p>
            <a:pPr marL="0" indent="0" latinLnBrk="1">
              <a:buNone/>
            </a:pPr>
            <a:r>
              <a:rPr lang="ru-RU" i="1" dirty="0" err="1"/>
              <a:t>else</a:t>
            </a:r>
            <a:r>
              <a:rPr lang="ru-RU" i="1" dirty="0"/>
              <a:t>:</a:t>
            </a:r>
          </a:p>
          <a:p>
            <a:pPr marL="0" indent="0" latinLnBrk="1">
              <a:buNone/>
            </a:pPr>
            <a:r>
              <a:rPr lang="ru-RU" i="1" dirty="0"/>
              <a:t>    </a:t>
            </a:r>
            <a:r>
              <a:rPr lang="ru-RU" i="1" dirty="0" err="1"/>
              <a:t>strength</a:t>
            </a:r>
            <a:r>
              <a:rPr lang="ru-RU" i="1" dirty="0"/>
              <a:t> = "</a:t>
            </a:r>
            <a:r>
              <a:rPr lang="ru-RU" i="1" dirty="0" err="1"/>
              <a:t>weak</a:t>
            </a:r>
            <a:r>
              <a:rPr lang="ru-RU" i="1" dirty="0"/>
              <a:t>"</a:t>
            </a:r>
          </a:p>
          <a:p>
            <a:pPr marL="0" indent="0" latinLnBrk="1">
              <a:buNone/>
            </a:pPr>
            <a:r>
              <a:rPr lang="ru-RU" i="1" dirty="0"/>
              <a:t> </a:t>
            </a:r>
            <a:r>
              <a:rPr lang="ru-RU" i="1" dirty="0" err="1"/>
              <a:t>direction</a:t>
            </a:r>
            <a:r>
              <a:rPr lang="ru-RU" i="1" dirty="0"/>
              <a:t> = "</a:t>
            </a:r>
            <a:r>
              <a:rPr lang="ru-RU" i="1" dirty="0" err="1"/>
              <a:t>positive</a:t>
            </a:r>
            <a:r>
              <a:rPr lang="ru-RU" i="1" dirty="0"/>
              <a:t>" </a:t>
            </a:r>
            <a:r>
              <a:rPr lang="ru-RU" i="1" dirty="0" err="1"/>
              <a:t>if</a:t>
            </a:r>
            <a:r>
              <a:rPr lang="ru-RU" i="1" dirty="0"/>
              <a:t> </a:t>
            </a:r>
            <a:r>
              <a:rPr lang="ru-RU" i="1" dirty="0" err="1"/>
              <a:t>correlation</a:t>
            </a:r>
            <a:r>
              <a:rPr lang="ru-RU" i="1" dirty="0"/>
              <a:t> &gt; 0 </a:t>
            </a:r>
            <a:r>
              <a:rPr lang="ru-RU" i="1" dirty="0" err="1"/>
              <a:t>else</a:t>
            </a:r>
            <a:r>
              <a:rPr lang="ru-RU" i="1" dirty="0"/>
              <a:t> "</a:t>
            </a:r>
            <a:r>
              <a:rPr lang="ru-RU" i="1" dirty="0" err="1"/>
              <a:t>negative</a:t>
            </a:r>
            <a:r>
              <a:rPr lang="ru-RU" i="1" dirty="0"/>
              <a:t>"</a:t>
            </a:r>
          </a:p>
          <a:p>
            <a:pPr marL="0" indent="0" latinLnBrk="1">
              <a:buNone/>
            </a:pPr>
            <a:r>
              <a:rPr lang="ru-RU" i="1" dirty="0" err="1"/>
              <a:t>print</a:t>
            </a:r>
            <a:r>
              <a:rPr lang="ru-RU" i="1" dirty="0"/>
              <a:t>(f"\</a:t>
            </a:r>
            <a:r>
              <a:rPr lang="ru-RU" i="1" dirty="0" err="1"/>
              <a:t>nThis</a:t>
            </a:r>
            <a:r>
              <a:rPr lang="ru-RU" i="1" dirty="0"/>
              <a:t> </a:t>
            </a:r>
            <a:r>
              <a:rPr lang="ru-RU" i="1" dirty="0" err="1"/>
              <a:t>shows</a:t>
            </a:r>
            <a:r>
              <a:rPr lang="ru-RU" i="1" dirty="0"/>
              <a:t> a {</a:t>
            </a:r>
            <a:r>
              <a:rPr lang="ru-RU" i="1" dirty="0" err="1"/>
              <a:t>strength</a:t>
            </a:r>
            <a:r>
              <a:rPr lang="ru-RU" i="1" dirty="0"/>
              <a:t>} {</a:t>
            </a:r>
            <a:r>
              <a:rPr lang="ru-RU" i="1" dirty="0" err="1"/>
              <a:t>direction</a:t>
            </a:r>
            <a:r>
              <a:rPr lang="ru-RU" i="1" dirty="0"/>
              <a:t>} </a:t>
            </a:r>
            <a:r>
              <a:rPr lang="ru-RU" i="1" dirty="0" err="1"/>
              <a:t>relationship</a:t>
            </a:r>
            <a:r>
              <a:rPr lang="ru-RU" i="1" dirty="0"/>
              <a:t>.")</a:t>
            </a:r>
          </a:p>
          <a:p>
            <a:pPr marL="0" indent="0">
              <a:buNone/>
            </a:pPr>
            <a:endParaRPr lang="ru-RU" i="1" dirty="0"/>
          </a:p>
        </p:txBody>
      </p:sp>
    </p:spTree>
    <p:extLst>
      <p:ext uri="{BB962C8B-B14F-4D97-AF65-F5344CB8AC3E}">
        <p14:creationId xmlns:p14="http://schemas.microsoft.com/office/powerpoint/2010/main" val="235331516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39CBA6-DC45-9560-13B9-348F6E71E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err="1"/>
              <a:t>Dealing</a:t>
            </a:r>
            <a:r>
              <a:rPr lang="ru-RU" b="1" dirty="0"/>
              <a:t> </a:t>
            </a:r>
            <a:r>
              <a:rPr lang="ru-RU" b="1" dirty="0" err="1"/>
              <a:t>with</a:t>
            </a:r>
            <a:r>
              <a:rPr lang="ru-RU" b="1" dirty="0"/>
              <a:t> </a:t>
            </a:r>
            <a:r>
              <a:rPr lang="ru-RU" b="1" dirty="0" err="1"/>
              <a:t>Skewed</a:t>
            </a:r>
            <a:r>
              <a:rPr lang="ru-RU" b="1" dirty="0"/>
              <a:t> Data - </a:t>
            </a:r>
            <a:r>
              <a:rPr lang="ru-RU" b="1" dirty="0" err="1"/>
              <a:t>Transformations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C95ADAE-68DD-D1F6-9378-1FBBD8C9A3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dirty="0" err="1"/>
              <a:t>Problem</a:t>
            </a:r>
            <a:r>
              <a:rPr lang="ru-RU" b="1" dirty="0"/>
              <a:t>:</a:t>
            </a:r>
            <a:r>
              <a:rPr lang="ru-RU" dirty="0"/>
              <a:t> </a:t>
            </a:r>
            <a:r>
              <a:rPr lang="ru-RU" dirty="0" err="1"/>
              <a:t>Many</a:t>
            </a:r>
            <a:r>
              <a:rPr lang="ru-RU" dirty="0"/>
              <a:t> </a:t>
            </a:r>
            <a:r>
              <a:rPr lang="ru-RU" dirty="0" err="1"/>
              <a:t>real-world</a:t>
            </a:r>
            <a:r>
              <a:rPr lang="ru-RU" dirty="0"/>
              <a:t> </a:t>
            </a:r>
            <a:r>
              <a:rPr lang="ru-RU" dirty="0" err="1"/>
              <a:t>datasets</a:t>
            </a:r>
            <a:r>
              <a:rPr lang="ru-RU" dirty="0"/>
              <a:t> </a:t>
            </a:r>
            <a:r>
              <a:rPr lang="ru-RU" dirty="0" err="1"/>
              <a:t>are</a:t>
            </a:r>
            <a:r>
              <a:rPr lang="ru-RU" dirty="0"/>
              <a:t> </a:t>
            </a:r>
            <a:r>
              <a:rPr lang="ru-RU" dirty="0" err="1"/>
              <a:t>skewed</a:t>
            </a:r>
            <a:r>
              <a:rPr lang="ru-RU" dirty="0"/>
              <a:t> (</a:t>
            </a:r>
            <a:r>
              <a:rPr lang="ru-RU" dirty="0" err="1"/>
              <a:t>incomes</a:t>
            </a:r>
            <a:r>
              <a:rPr lang="ru-RU" dirty="0"/>
              <a:t>, </a:t>
            </a:r>
            <a:r>
              <a:rPr lang="ru-RU" dirty="0" err="1"/>
              <a:t>house</a:t>
            </a:r>
            <a:r>
              <a:rPr lang="ru-RU" dirty="0"/>
              <a:t> </a:t>
            </a:r>
            <a:r>
              <a:rPr lang="ru-RU" dirty="0" err="1"/>
              <a:t>prices</a:t>
            </a:r>
            <a:r>
              <a:rPr lang="ru-RU" dirty="0"/>
              <a:t>, </a:t>
            </a:r>
            <a:r>
              <a:rPr lang="ru-RU" dirty="0" err="1"/>
              <a:t>movie</a:t>
            </a:r>
            <a:r>
              <a:rPr lang="ru-RU" dirty="0"/>
              <a:t> </a:t>
            </a:r>
            <a:r>
              <a:rPr lang="ru-RU" dirty="0" err="1"/>
              <a:t>revenues</a:t>
            </a:r>
            <a:r>
              <a:rPr lang="ru-RU" dirty="0"/>
              <a:t>)</a:t>
            </a:r>
            <a:br>
              <a:rPr lang="ru-RU" dirty="0"/>
            </a:br>
            <a:r>
              <a:rPr lang="ru-RU" b="1" dirty="0" err="1"/>
              <a:t>Skew</a:t>
            </a:r>
            <a:r>
              <a:rPr lang="ru-RU" b="1" dirty="0"/>
              <a:t> </a:t>
            </a:r>
            <a:r>
              <a:rPr lang="ru-RU" b="1" dirty="0" err="1"/>
              <a:t>causes</a:t>
            </a:r>
            <a:r>
              <a:rPr lang="ru-RU" b="1" dirty="0"/>
              <a:t> </a:t>
            </a:r>
            <a:r>
              <a:rPr lang="ru-RU" b="1" dirty="0" err="1"/>
              <a:t>issues</a:t>
            </a:r>
            <a:r>
              <a:rPr lang="ru-RU" b="1" dirty="0"/>
              <a:t>:</a:t>
            </a:r>
            <a:r>
              <a:rPr lang="ru-RU" dirty="0"/>
              <a:t> </a:t>
            </a:r>
            <a:r>
              <a:rPr lang="ru-RU" dirty="0" err="1"/>
              <a:t>Mean</a:t>
            </a:r>
            <a:r>
              <a:rPr lang="ru-RU" dirty="0"/>
              <a:t> </a:t>
            </a:r>
            <a:r>
              <a:rPr lang="ru-RU" dirty="0" err="1"/>
              <a:t>becomes</a:t>
            </a:r>
            <a:r>
              <a:rPr lang="ru-RU" dirty="0"/>
              <a:t> </a:t>
            </a:r>
            <a:r>
              <a:rPr lang="ru-RU" dirty="0" err="1"/>
              <a:t>misleading</a:t>
            </a:r>
            <a:r>
              <a:rPr lang="ru-RU" dirty="0"/>
              <a:t>, </a:t>
            </a:r>
            <a:r>
              <a:rPr lang="ru-RU" dirty="0" err="1"/>
              <a:t>many</a:t>
            </a:r>
            <a:r>
              <a:rPr lang="ru-RU" dirty="0"/>
              <a:t> </a:t>
            </a:r>
            <a:r>
              <a:rPr lang="ru-RU" dirty="0" err="1"/>
              <a:t>statistical</a:t>
            </a:r>
            <a:r>
              <a:rPr lang="ru-RU" dirty="0"/>
              <a:t> </a:t>
            </a:r>
            <a:r>
              <a:rPr lang="ru-RU" dirty="0" err="1"/>
              <a:t>tests</a:t>
            </a:r>
            <a:r>
              <a:rPr lang="ru-RU" dirty="0"/>
              <a:t> </a:t>
            </a:r>
            <a:r>
              <a:rPr lang="ru-RU" dirty="0" err="1"/>
              <a:t>assume</a:t>
            </a:r>
            <a:r>
              <a:rPr lang="ru-RU" dirty="0"/>
              <a:t> </a:t>
            </a:r>
            <a:r>
              <a:rPr lang="ru-RU" dirty="0" err="1"/>
              <a:t>normality</a:t>
            </a:r>
            <a:endParaRPr lang="ru-RU" dirty="0"/>
          </a:p>
          <a:p>
            <a:pPr marL="0" indent="0">
              <a:buNone/>
            </a:pPr>
            <a:r>
              <a:rPr lang="ru-RU" b="1" dirty="0"/>
              <a:t>Solution:</a:t>
            </a:r>
            <a:r>
              <a:rPr lang="ru-RU" dirty="0"/>
              <a:t> </a:t>
            </a:r>
            <a:r>
              <a:rPr lang="ru-RU" dirty="0" err="1"/>
              <a:t>Transform</a:t>
            </a:r>
            <a:r>
              <a:rPr lang="ru-RU" dirty="0"/>
              <a:t> </a:t>
            </a:r>
            <a:r>
              <a:rPr lang="ru-RU" dirty="0" err="1"/>
              <a:t>the</a:t>
            </a:r>
            <a:r>
              <a:rPr lang="ru-RU" dirty="0"/>
              <a:t> </a:t>
            </a:r>
            <a:r>
              <a:rPr lang="ru-RU" dirty="0" err="1"/>
              <a:t>data</a:t>
            </a:r>
            <a:br>
              <a:rPr lang="ru-RU" dirty="0"/>
            </a:br>
            <a:r>
              <a:rPr lang="ru-RU" dirty="0"/>
              <a:t>Common </a:t>
            </a:r>
            <a:r>
              <a:rPr lang="ru-RU" dirty="0" err="1"/>
              <a:t>transformations</a:t>
            </a:r>
            <a:r>
              <a:rPr lang="ru-RU" dirty="0"/>
              <a:t>:</a:t>
            </a:r>
          </a:p>
          <a:p>
            <a:pPr lvl="1"/>
            <a:r>
              <a:rPr lang="ru-RU" b="1" dirty="0" err="1"/>
              <a:t>Log</a:t>
            </a:r>
            <a:r>
              <a:rPr lang="ru-RU" b="1" dirty="0"/>
              <a:t> </a:t>
            </a:r>
            <a:r>
              <a:rPr lang="ru-RU" b="1" dirty="0" err="1"/>
              <a:t>Transformation</a:t>
            </a:r>
            <a:r>
              <a:rPr lang="ru-RU" b="1" dirty="0"/>
              <a:t>:</a:t>
            </a:r>
            <a:r>
              <a:rPr lang="ru-RU" dirty="0"/>
              <a:t> For </a:t>
            </a:r>
            <a:r>
              <a:rPr lang="ru-RU" dirty="0" err="1"/>
              <a:t>right-skewed</a:t>
            </a:r>
            <a:r>
              <a:rPr lang="ru-RU" dirty="0"/>
              <a:t> </a:t>
            </a:r>
            <a:r>
              <a:rPr lang="ru-RU" dirty="0" err="1"/>
              <a:t>data</a:t>
            </a:r>
            <a:r>
              <a:rPr lang="ru-RU" dirty="0"/>
              <a:t> </a:t>
            </a:r>
            <a:r>
              <a:rPr lang="ru-RU" dirty="0" err="1"/>
              <a:t>with</a:t>
            </a:r>
            <a:r>
              <a:rPr lang="ru-RU" dirty="0"/>
              <a:t> </a:t>
            </a:r>
            <a:r>
              <a:rPr lang="ru-RU" dirty="0" err="1"/>
              <a:t>positive</a:t>
            </a:r>
            <a:r>
              <a:rPr lang="ru-RU" dirty="0"/>
              <a:t> </a:t>
            </a:r>
            <a:r>
              <a:rPr lang="ru-RU" dirty="0" err="1"/>
              <a:t>values</a:t>
            </a:r>
            <a:endParaRPr lang="ru-RU" dirty="0"/>
          </a:p>
          <a:p>
            <a:pPr lvl="1"/>
            <a:r>
              <a:rPr lang="ru-RU" b="1" dirty="0"/>
              <a:t>Square </a:t>
            </a:r>
            <a:r>
              <a:rPr lang="ru-RU" b="1" dirty="0" err="1"/>
              <a:t>Root</a:t>
            </a:r>
            <a:r>
              <a:rPr lang="ru-RU" b="1" dirty="0"/>
              <a:t>:</a:t>
            </a:r>
            <a:r>
              <a:rPr lang="ru-RU" dirty="0"/>
              <a:t> For </a:t>
            </a:r>
            <a:r>
              <a:rPr lang="ru-RU" dirty="0" err="1"/>
              <a:t>moderately</a:t>
            </a:r>
            <a:r>
              <a:rPr lang="ru-RU" dirty="0"/>
              <a:t> </a:t>
            </a:r>
            <a:r>
              <a:rPr lang="ru-RU" dirty="0" err="1"/>
              <a:t>right-skewed</a:t>
            </a:r>
            <a:r>
              <a:rPr lang="ru-RU" dirty="0"/>
              <a:t> </a:t>
            </a:r>
            <a:r>
              <a:rPr lang="ru-RU" dirty="0" err="1"/>
              <a:t>data</a:t>
            </a:r>
            <a:endParaRPr lang="ru-RU" dirty="0"/>
          </a:p>
          <a:p>
            <a:pPr lvl="1"/>
            <a:r>
              <a:rPr lang="ru-RU" b="1" dirty="0" err="1"/>
              <a:t>Reciprocal</a:t>
            </a:r>
            <a:r>
              <a:rPr lang="ru-RU" b="1" dirty="0"/>
              <a:t>:</a:t>
            </a:r>
            <a:r>
              <a:rPr lang="ru-RU" dirty="0"/>
              <a:t> For </a:t>
            </a:r>
            <a:r>
              <a:rPr lang="ru-RU" dirty="0" err="1"/>
              <a:t>certain</a:t>
            </a:r>
            <a:r>
              <a:rPr lang="ru-RU" dirty="0"/>
              <a:t> </a:t>
            </a:r>
            <a:r>
              <a:rPr lang="ru-RU" dirty="0" err="1"/>
              <a:t>types</a:t>
            </a:r>
            <a:r>
              <a:rPr lang="ru-RU" dirty="0"/>
              <a:t> </a:t>
            </a:r>
            <a:r>
              <a:rPr lang="ru-RU" dirty="0" err="1"/>
              <a:t>of</a:t>
            </a:r>
            <a:r>
              <a:rPr lang="ru-RU" dirty="0"/>
              <a:t> </a:t>
            </a:r>
            <a:r>
              <a:rPr lang="ru-RU" dirty="0" err="1"/>
              <a:t>skewed</a:t>
            </a:r>
            <a:r>
              <a:rPr lang="ru-RU" dirty="0"/>
              <a:t> </a:t>
            </a:r>
            <a:r>
              <a:rPr lang="ru-RU" dirty="0" err="1"/>
              <a:t>data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0996425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25084B-9E1A-0645-C8E0-C3A62936E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err="1"/>
              <a:t>Before</a:t>
            </a:r>
            <a:r>
              <a:rPr lang="ru-RU" b="1" dirty="0"/>
              <a:t> </a:t>
            </a:r>
            <a:r>
              <a:rPr lang="ru-RU" b="1" dirty="0" err="1"/>
              <a:t>and</a:t>
            </a:r>
            <a:r>
              <a:rPr lang="ru-RU" b="1" dirty="0"/>
              <a:t> </a:t>
            </a:r>
            <a:r>
              <a:rPr lang="ru-RU" b="1" dirty="0" err="1"/>
              <a:t>After</a:t>
            </a:r>
            <a:r>
              <a:rPr lang="ru-RU" b="1" dirty="0"/>
              <a:t> </a:t>
            </a:r>
            <a:r>
              <a:rPr lang="ru-RU" b="1" dirty="0" err="1"/>
              <a:t>Example</a:t>
            </a:r>
            <a:r>
              <a:rPr lang="ru-RU" b="1" dirty="0"/>
              <a:t>: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AD32990-52CD-E654-237F-5D34A05AA9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 latinLnBrk="1">
              <a:buNone/>
            </a:pPr>
            <a:r>
              <a:rPr lang="ru-RU" dirty="0" err="1"/>
              <a:t>import</a:t>
            </a:r>
            <a:r>
              <a:rPr lang="ru-RU" dirty="0"/>
              <a:t> </a:t>
            </a:r>
            <a:r>
              <a:rPr lang="ru-RU" dirty="0" err="1"/>
              <a:t>numpy</a:t>
            </a:r>
            <a:r>
              <a:rPr lang="ru-RU" dirty="0"/>
              <a:t> </a:t>
            </a:r>
            <a:r>
              <a:rPr lang="ru-RU" dirty="0" err="1"/>
              <a:t>as</a:t>
            </a:r>
            <a:r>
              <a:rPr lang="ru-RU" dirty="0"/>
              <a:t> </a:t>
            </a:r>
            <a:r>
              <a:rPr lang="ru-RU" dirty="0" err="1"/>
              <a:t>np</a:t>
            </a:r>
            <a:endParaRPr lang="ru-RU" dirty="0"/>
          </a:p>
          <a:p>
            <a:pPr marL="0" indent="0" latinLnBrk="1">
              <a:buNone/>
            </a:pPr>
            <a:r>
              <a:rPr lang="ru-RU" dirty="0" err="1"/>
              <a:t>import</a:t>
            </a:r>
            <a:r>
              <a:rPr lang="ru-RU" dirty="0"/>
              <a:t> </a:t>
            </a:r>
            <a:r>
              <a:rPr lang="ru-RU" dirty="0" err="1"/>
              <a:t>matplotlib.pyplot</a:t>
            </a:r>
            <a:r>
              <a:rPr lang="ru-RU" dirty="0"/>
              <a:t> </a:t>
            </a:r>
            <a:r>
              <a:rPr lang="ru-RU" dirty="0" err="1"/>
              <a:t>as</a:t>
            </a:r>
            <a:r>
              <a:rPr lang="ru-RU" dirty="0"/>
              <a:t> </a:t>
            </a:r>
            <a:r>
              <a:rPr lang="ru-RU" dirty="0" err="1"/>
              <a:t>plt</a:t>
            </a:r>
            <a:endParaRPr lang="ru-RU" dirty="0"/>
          </a:p>
          <a:p>
            <a:pPr marL="0" indent="0" latinLnBrk="1">
              <a:buNone/>
            </a:pPr>
            <a:r>
              <a:rPr lang="ru-RU" b="1" dirty="0"/>
              <a:t> </a:t>
            </a:r>
            <a:r>
              <a:rPr lang="ru-RU" b="1" i="1" dirty="0"/>
              <a:t># </a:t>
            </a:r>
            <a:r>
              <a:rPr lang="ru-RU" b="1" i="1" dirty="0" err="1"/>
              <a:t>Skewed</a:t>
            </a:r>
            <a:r>
              <a:rPr lang="ru-RU" b="1" i="1" dirty="0"/>
              <a:t> </a:t>
            </a:r>
            <a:r>
              <a:rPr lang="ru-RU" b="1" i="1" dirty="0" err="1"/>
              <a:t>data</a:t>
            </a:r>
            <a:r>
              <a:rPr lang="ru-RU" b="1" i="1" dirty="0"/>
              <a:t> (</a:t>
            </a:r>
            <a:r>
              <a:rPr lang="ru-RU" b="1" i="1" dirty="0" err="1"/>
              <a:t>like</a:t>
            </a:r>
            <a:r>
              <a:rPr lang="ru-RU" b="1" i="1" dirty="0"/>
              <a:t> </a:t>
            </a:r>
            <a:r>
              <a:rPr lang="ru-RU" b="1" i="1" dirty="0" err="1"/>
              <a:t>movie</a:t>
            </a:r>
            <a:r>
              <a:rPr lang="ru-RU" b="1" i="1" dirty="0"/>
              <a:t> </a:t>
            </a:r>
            <a:r>
              <a:rPr lang="ru-RU" b="1" i="1" dirty="0" err="1"/>
              <a:t>revenues</a:t>
            </a:r>
            <a:r>
              <a:rPr lang="ru-RU" b="1" i="1" dirty="0"/>
              <a:t>)</a:t>
            </a:r>
            <a:endParaRPr lang="ru-RU" b="1" dirty="0"/>
          </a:p>
          <a:p>
            <a:pPr marL="0" indent="0" latinLnBrk="1">
              <a:buNone/>
            </a:pPr>
            <a:r>
              <a:rPr lang="ru-RU" dirty="0" err="1"/>
              <a:t>skewed_data</a:t>
            </a:r>
            <a:r>
              <a:rPr lang="ru-RU" dirty="0"/>
              <a:t> = </a:t>
            </a:r>
            <a:r>
              <a:rPr lang="ru-RU" dirty="0" err="1"/>
              <a:t>np.random.exponential</a:t>
            </a:r>
            <a:r>
              <a:rPr lang="ru-RU" dirty="0"/>
              <a:t>(</a:t>
            </a:r>
            <a:r>
              <a:rPr lang="ru-RU" dirty="0" err="1"/>
              <a:t>scale</a:t>
            </a:r>
            <a:r>
              <a:rPr lang="ru-RU" dirty="0"/>
              <a:t>=100, </a:t>
            </a:r>
            <a:r>
              <a:rPr lang="ru-RU" dirty="0" err="1"/>
              <a:t>size</a:t>
            </a:r>
            <a:r>
              <a:rPr lang="ru-RU" dirty="0"/>
              <a:t>=1000)</a:t>
            </a:r>
          </a:p>
          <a:p>
            <a:pPr marL="0" indent="0" latinLnBrk="1">
              <a:buNone/>
            </a:pPr>
            <a:r>
              <a:rPr lang="ru-RU" b="1" dirty="0"/>
              <a:t> </a:t>
            </a:r>
            <a:r>
              <a:rPr lang="ru-RU" b="1" i="1" dirty="0"/>
              <a:t># </a:t>
            </a:r>
            <a:r>
              <a:rPr lang="ru-RU" b="1" i="1" dirty="0" err="1"/>
              <a:t>Log</a:t>
            </a:r>
            <a:r>
              <a:rPr lang="ru-RU" b="1" i="1" dirty="0"/>
              <a:t> </a:t>
            </a:r>
            <a:r>
              <a:rPr lang="ru-RU" b="1" i="1" dirty="0" err="1"/>
              <a:t>transformation</a:t>
            </a:r>
            <a:endParaRPr lang="ru-RU" b="1" dirty="0"/>
          </a:p>
          <a:p>
            <a:pPr marL="0" indent="0" latinLnBrk="1">
              <a:buNone/>
            </a:pPr>
            <a:r>
              <a:rPr lang="ru-RU" dirty="0" err="1"/>
              <a:t>log_transformed</a:t>
            </a:r>
            <a:r>
              <a:rPr lang="ru-RU" dirty="0"/>
              <a:t> = np.log1p(</a:t>
            </a:r>
            <a:r>
              <a:rPr lang="ru-RU" dirty="0" err="1"/>
              <a:t>skewed_data</a:t>
            </a:r>
            <a:r>
              <a:rPr lang="ru-RU" dirty="0"/>
              <a:t>)  </a:t>
            </a:r>
            <a:r>
              <a:rPr lang="ru-RU" i="1" dirty="0"/>
              <a:t># </a:t>
            </a:r>
            <a:r>
              <a:rPr lang="ru-RU" i="1" dirty="0" err="1"/>
              <a:t>log</a:t>
            </a:r>
            <a:r>
              <a:rPr lang="ru-RU" i="1" dirty="0"/>
              <a:t>(1 + x) </a:t>
            </a:r>
            <a:r>
              <a:rPr lang="ru-RU" i="1" dirty="0" err="1"/>
              <a:t>handles</a:t>
            </a:r>
            <a:r>
              <a:rPr lang="ru-RU" i="1" dirty="0"/>
              <a:t> </a:t>
            </a:r>
            <a:r>
              <a:rPr lang="ru-RU" i="1" dirty="0" err="1"/>
              <a:t>zeros</a:t>
            </a:r>
            <a:endParaRPr lang="ru-RU" dirty="0"/>
          </a:p>
          <a:p>
            <a:pPr marL="0" indent="0" latinLnBrk="1">
              <a:buNone/>
            </a:pPr>
            <a:r>
              <a:rPr lang="ru-RU" b="1" dirty="0"/>
              <a:t> </a:t>
            </a:r>
            <a:r>
              <a:rPr lang="ru-RU" b="1" i="1" dirty="0"/>
              <a:t># </a:t>
            </a:r>
            <a:r>
              <a:rPr lang="ru-RU" b="1" i="1" dirty="0" err="1"/>
              <a:t>Compare</a:t>
            </a:r>
            <a:endParaRPr lang="ru-RU" b="1" dirty="0"/>
          </a:p>
          <a:p>
            <a:pPr marL="0" indent="0" latinLnBrk="1">
              <a:buNone/>
            </a:pPr>
            <a:r>
              <a:rPr lang="ru-RU" dirty="0" err="1"/>
              <a:t>fig</a:t>
            </a:r>
            <a:r>
              <a:rPr lang="ru-RU" dirty="0"/>
              <a:t>, </a:t>
            </a:r>
            <a:r>
              <a:rPr lang="ru-RU" dirty="0" err="1"/>
              <a:t>axes</a:t>
            </a:r>
            <a:r>
              <a:rPr lang="ru-RU" dirty="0"/>
              <a:t> = </a:t>
            </a:r>
            <a:r>
              <a:rPr lang="ru-RU" dirty="0" err="1"/>
              <a:t>plt.subplots</a:t>
            </a:r>
            <a:r>
              <a:rPr lang="ru-RU" dirty="0"/>
              <a:t>(1, 2, </a:t>
            </a:r>
            <a:r>
              <a:rPr lang="ru-RU" dirty="0" err="1"/>
              <a:t>figsize</a:t>
            </a:r>
            <a:r>
              <a:rPr lang="ru-RU" dirty="0"/>
              <a:t>=(10, 4))</a:t>
            </a:r>
          </a:p>
          <a:p>
            <a:pPr marL="0" indent="0" latinLnBrk="1">
              <a:buNone/>
            </a:pPr>
            <a:r>
              <a:rPr lang="ru-RU" dirty="0" err="1"/>
              <a:t>axes</a:t>
            </a:r>
            <a:r>
              <a:rPr lang="ru-RU" dirty="0"/>
              <a:t>[0].</a:t>
            </a:r>
            <a:r>
              <a:rPr lang="ru-RU" dirty="0" err="1"/>
              <a:t>hist</a:t>
            </a:r>
            <a:r>
              <a:rPr lang="ru-RU" dirty="0"/>
              <a:t>(</a:t>
            </a:r>
            <a:r>
              <a:rPr lang="ru-RU" dirty="0" err="1"/>
              <a:t>skewed_data</a:t>
            </a:r>
            <a:r>
              <a:rPr lang="ru-RU" dirty="0"/>
              <a:t>, </a:t>
            </a:r>
            <a:r>
              <a:rPr lang="ru-RU" dirty="0" err="1"/>
              <a:t>bins</a:t>
            </a:r>
            <a:r>
              <a:rPr lang="ru-RU" dirty="0"/>
              <a:t>=30, </a:t>
            </a:r>
            <a:r>
              <a:rPr lang="ru-RU" dirty="0" err="1"/>
              <a:t>edgecolor</a:t>
            </a:r>
            <a:r>
              <a:rPr lang="ru-RU" dirty="0"/>
              <a:t>='</a:t>
            </a:r>
            <a:r>
              <a:rPr lang="ru-RU" dirty="0" err="1"/>
              <a:t>black</a:t>
            </a:r>
            <a:r>
              <a:rPr lang="ru-RU" dirty="0"/>
              <a:t>')</a:t>
            </a:r>
          </a:p>
          <a:p>
            <a:pPr marL="0" indent="0" latinLnBrk="1">
              <a:buNone/>
            </a:pPr>
            <a:r>
              <a:rPr lang="ru-RU" dirty="0" err="1"/>
              <a:t>axes</a:t>
            </a:r>
            <a:r>
              <a:rPr lang="ru-RU" dirty="0"/>
              <a:t>[0].</a:t>
            </a:r>
            <a:r>
              <a:rPr lang="ru-RU" dirty="0" err="1"/>
              <a:t>set_title</a:t>
            </a:r>
            <a:r>
              <a:rPr lang="ru-RU" dirty="0"/>
              <a:t>('</a:t>
            </a:r>
            <a:r>
              <a:rPr lang="ru-RU" dirty="0" err="1"/>
              <a:t>Original</a:t>
            </a:r>
            <a:r>
              <a:rPr lang="ru-RU" dirty="0"/>
              <a:t> </a:t>
            </a:r>
            <a:r>
              <a:rPr lang="ru-RU" dirty="0" err="1"/>
              <a:t>Skewed</a:t>
            </a:r>
            <a:r>
              <a:rPr lang="ru-RU" dirty="0"/>
              <a:t> Data')</a:t>
            </a:r>
          </a:p>
          <a:p>
            <a:pPr marL="0" indent="0" latinLnBrk="1">
              <a:buNone/>
            </a:pPr>
            <a:r>
              <a:rPr lang="ru-RU" dirty="0" err="1"/>
              <a:t>axes</a:t>
            </a:r>
            <a:r>
              <a:rPr lang="ru-RU" dirty="0"/>
              <a:t>[1].</a:t>
            </a:r>
            <a:r>
              <a:rPr lang="ru-RU" dirty="0" err="1"/>
              <a:t>hist</a:t>
            </a:r>
            <a:r>
              <a:rPr lang="ru-RU" dirty="0"/>
              <a:t>(</a:t>
            </a:r>
            <a:r>
              <a:rPr lang="ru-RU" dirty="0" err="1"/>
              <a:t>log_transformed</a:t>
            </a:r>
            <a:r>
              <a:rPr lang="ru-RU" dirty="0"/>
              <a:t>, </a:t>
            </a:r>
            <a:r>
              <a:rPr lang="ru-RU" dirty="0" err="1"/>
              <a:t>bins</a:t>
            </a:r>
            <a:r>
              <a:rPr lang="ru-RU" dirty="0"/>
              <a:t>=30, </a:t>
            </a:r>
            <a:r>
              <a:rPr lang="ru-RU" dirty="0" err="1"/>
              <a:t>edgecolor</a:t>
            </a:r>
            <a:r>
              <a:rPr lang="ru-RU" dirty="0"/>
              <a:t>='</a:t>
            </a:r>
            <a:r>
              <a:rPr lang="ru-RU" dirty="0" err="1"/>
              <a:t>black</a:t>
            </a:r>
            <a:r>
              <a:rPr lang="ru-RU" dirty="0"/>
              <a:t>')</a:t>
            </a:r>
          </a:p>
          <a:p>
            <a:pPr marL="0" indent="0" latinLnBrk="1">
              <a:buNone/>
            </a:pPr>
            <a:r>
              <a:rPr lang="ru-RU" dirty="0" err="1"/>
              <a:t>axes</a:t>
            </a:r>
            <a:r>
              <a:rPr lang="ru-RU" dirty="0"/>
              <a:t>[1].</a:t>
            </a:r>
            <a:r>
              <a:rPr lang="ru-RU" dirty="0" err="1"/>
              <a:t>set_title</a:t>
            </a:r>
            <a:r>
              <a:rPr lang="ru-RU" dirty="0"/>
              <a:t>('</a:t>
            </a:r>
            <a:r>
              <a:rPr lang="ru-RU" dirty="0" err="1"/>
              <a:t>After</a:t>
            </a:r>
            <a:r>
              <a:rPr lang="ru-RU" dirty="0"/>
              <a:t> </a:t>
            </a:r>
            <a:r>
              <a:rPr lang="ru-RU" dirty="0" err="1"/>
              <a:t>Log</a:t>
            </a:r>
            <a:r>
              <a:rPr lang="ru-RU" dirty="0"/>
              <a:t> </a:t>
            </a:r>
            <a:r>
              <a:rPr lang="ru-RU" dirty="0" err="1"/>
              <a:t>Transformation</a:t>
            </a:r>
            <a:r>
              <a:rPr lang="ru-RU" dirty="0"/>
              <a:t>')</a:t>
            </a:r>
          </a:p>
          <a:p>
            <a:pPr marL="0" indent="0" latinLnBrk="1">
              <a:buNone/>
            </a:pPr>
            <a:r>
              <a:rPr lang="ru-RU" dirty="0" err="1"/>
              <a:t>plt.show</a:t>
            </a:r>
            <a:r>
              <a:rPr lang="ru-RU" dirty="0"/>
              <a:t>()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248362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C230D2-135E-4D33-3797-D944C6E4D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err="1"/>
              <a:t>Hypothesis</a:t>
            </a:r>
            <a:r>
              <a:rPr lang="ru-RU" b="1" dirty="0"/>
              <a:t>-Driven Analysis Framework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5274A91-A197-D429-3699-6589E2E501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ru-RU" b="1" dirty="0" err="1"/>
              <a:t>Before</a:t>
            </a:r>
            <a:r>
              <a:rPr lang="ru-RU" b="1" dirty="0"/>
              <a:t> </a:t>
            </a:r>
            <a:r>
              <a:rPr lang="ru-RU" b="1" dirty="0" err="1"/>
              <a:t>coding</a:t>
            </a:r>
            <a:r>
              <a:rPr lang="ru-RU" b="1" dirty="0"/>
              <a:t>, </a:t>
            </a:r>
            <a:r>
              <a:rPr lang="ru-RU" b="1" dirty="0" err="1"/>
              <a:t>ask</a:t>
            </a:r>
            <a:r>
              <a:rPr lang="ru-RU" b="1" dirty="0"/>
              <a:t>:</a:t>
            </a:r>
            <a:endParaRPr lang="ru-RU" dirty="0"/>
          </a:p>
          <a:p>
            <a:pPr marL="914400" lvl="1" indent="-457200">
              <a:buFont typeface="+mj-lt"/>
              <a:buAutoNum type="arabicPeriod"/>
            </a:pPr>
            <a:r>
              <a:rPr lang="ru-RU" b="1" dirty="0" err="1"/>
              <a:t>What's</a:t>
            </a:r>
            <a:r>
              <a:rPr lang="ru-RU" b="1" dirty="0"/>
              <a:t> </a:t>
            </a:r>
            <a:r>
              <a:rPr lang="ru-RU" b="1" dirty="0" err="1"/>
              <a:t>my</a:t>
            </a:r>
            <a:r>
              <a:rPr lang="ru-RU" b="1" dirty="0"/>
              <a:t> </a:t>
            </a:r>
            <a:r>
              <a:rPr lang="ru-RU" b="1" dirty="0" err="1"/>
              <a:t>hypothesis</a:t>
            </a:r>
            <a:r>
              <a:rPr lang="ru-RU" b="1" dirty="0"/>
              <a:t>?</a:t>
            </a:r>
            <a:r>
              <a:rPr lang="ru-RU" dirty="0"/>
              <a:t> (</a:t>
            </a:r>
            <a:r>
              <a:rPr lang="ru-RU" dirty="0" err="1"/>
              <a:t>Make</a:t>
            </a:r>
            <a:r>
              <a:rPr lang="ru-RU" dirty="0"/>
              <a:t> </a:t>
            </a:r>
            <a:r>
              <a:rPr lang="ru-RU" dirty="0" err="1"/>
              <a:t>it</a:t>
            </a:r>
            <a:r>
              <a:rPr lang="ru-RU" dirty="0"/>
              <a:t> </a:t>
            </a:r>
            <a:r>
              <a:rPr lang="ru-RU" dirty="0" err="1"/>
              <a:t>specific</a:t>
            </a:r>
            <a:r>
              <a:rPr lang="ru-RU" dirty="0"/>
              <a:t>)</a:t>
            </a:r>
          </a:p>
          <a:p>
            <a:pPr lvl="2"/>
            <a:r>
              <a:rPr lang="ru-RU" dirty="0"/>
              <a:t>"Action </a:t>
            </a:r>
            <a:r>
              <a:rPr lang="ru-RU" dirty="0" err="1"/>
              <a:t>movies</a:t>
            </a:r>
            <a:r>
              <a:rPr lang="ru-RU" dirty="0"/>
              <a:t> </a:t>
            </a:r>
            <a:r>
              <a:rPr lang="ru-RU" dirty="0" err="1"/>
              <a:t>have</a:t>
            </a:r>
            <a:r>
              <a:rPr lang="ru-RU" dirty="0"/>
              <a:t> </a:t>
            </a:r>
            <a:r>
              <a:rPr lang="ru-RU" dirty="0" err="1"/>
              <a:t>higher</a:t>
            </a:r>
            <a:r>
              <a:rPr lang="ru-RU" dirty="0"/>
              <a:t> </a:t>
            </a:r>
            <a:r>
              <a:rPr lang="ru-RU" dirty="0" err="1"/>
              <a:t>budgets</a:t>
            </a:r>
            <a:r>
              <a:rPr lang="ru-RU" dirty="0"/>
              <a:t> </a:t>
            </a:r>
            <a:r>
              <a:rPr lang="ru-RU" dirty="0" err="1"/>
              <a:t>but</a:t>
            </a:r>
            <a:r>
              <a:rPr lang="ru-RU" dirty="0"/>
              <a:t> </a:t>
            </a:r>
            <a:r>
              <a:rPr lang="ru-RU" dirty="0" err="1"/>
              <a:t>lower</a:t>
            </a:r>
            <a:r>
              <a:rPr lang="ru-RU" dirty="0"/>
              <a:t> </a:t>
            </a:r>
            <a:r>
              <a:rPr lang="ru-RU" dirty="0" err="1"/>
              <a:t>ratings</a:t>
            </a:r>
            <a:r>
              <a:rPr lang="ru-RU" dirty="0"/>
              <a:t> </a:t>
            </a:r>
            <a:r>
              <a:rPr lang="ru-RU" dirty="0" err="1"/>
              <a:t>than</a:t>
            </a:r>
            <a:r>
              <a:rPr lang="ru-RU" dirty="0"/>
              <a:t> </a:t>
            </a:r>
            <a:r>
              <a:rPr lang="ru-RU" dirty="0" err="1"/>
              <a:t>dramas</a:t>
            </a:r>
            <a:r>
              <a:rPr lang="ru-RU" dirty="0"/>
              <a:t>"</a:t>
            </a:r>
          </a:p>
          <a:p>
            <a:pPr marL="914400" lvl="1" indent="-457200">
              <a:buFont typeface="+mj-lt"/>
              <a:buAutoNum type="arabicPeriod"/>
            </a:pPr>
            <a:r>
              <a:rPr lang="ru-RU" b="1" dirty="0" err="1"/>
              <a:t>How</a:t>
            </a:r>
            <a:r>
              <a:rPr lang="ru-RU" b="1" dirty="0"/>
              <a:t> </a:t>
            </a:r>
            <a:r>
              <a:rPr lang="ru-RU" b="1" dirty="0" err="1"/>
              <a:t>will</a:t>
            </a:r>
            <a:r>
              <a:rPr lang="ru-RU" b="1" dirty="0"/>
              <a:t> I </a:t>
            </a:r>
            <a:r>
              <a:rPr lang="ru-RU" b="1" dirty="0" err="1"/>
              <a:t>test</a:t>
            </a:r>
            <a:r>
              <a:rPr lang="ru-RU" b="1" dirty="0"/>
              <a:t> </a:t>
            </a:r>
            <a:r>
              <a:rPr lang="ru-RU" b="1" dirty="0" err="1"/>
              <a:t>it</a:t>
            </a:r>
            <a:r>
              <a:rPr lang="ru-RU" b="1" dirty="0"/>
              <a:t>?</a:t>
            </a:r>
            <a:endParaRPr lang="ru-RU" dirty="0"/>
          </a:p>
          <a:p>
            <a:pPr lvl="2"/>
            <a:r>
              <a:rPr lang="ru-RU" dirty="0" err="1"/>
              <a:t>Compare</a:t>
            </a:r>
            <a:r>
              <a:rPr lang="ru-RU" dirty="0"/>
              <a:t> </a:t>
            </a:r>
            <a:r>
              <a:rPr lang="ru-RU" dirty="0" err="1"/>
              <a:t>mean</a:t>
            </a:r>
            <a:r>
              <a:rPr lang="ru-RU" dirty="0"/>
              <a:t> </a:t>
            </a:r>
            <a:r>
              <a:rPr lang="ru-RU" dirty="0" err="1"/>
              <a:t>budgets</a:t>
            </a:r>
            <a:r>
              <a:rPr lang="ru-RU" dirty="0"/>
              <a:t> </a:t>
            </a:r>
            <a:r>
              <a:rPr lang="ru-RU" dirty="0" err="1"/>
              <a:t>and</a:t>
            </a:r>
            <a:r>
              <a:rPr lang="ru-RU" dirty="0"/>
              <a:t> </a:t>
            </a:r>
            <a:r>
              <a:rPr lang="ru-RU" dirty="0" err="1"/>
              <a:t>ratings</a:t>
            </a:r>
            <a:r>
              <a:rPr lang="ru-RU" dirty="0"/>
              <a:t> </a:t>
            </a:r>
            <a:r>
              <a:rPr lang="ru-RU" dirty="0" err="1"/>
              <a:t>between</a:t>
            </a:r>
            <a:r>
              <a:rPr lang="ru-RU" dirty="0"/>
              <a:t> </a:t>
            </a:r>
            <a:r>
              <a:rPr lang="ru-RU" dirty="0" err="1"/>
              <a:t>genres</a:t>
            </a:r>
            <a:endParaRPr lang="ru-RU" dirty="0"/>
          </a:p>
          <a:p>
            <a:pPr lvl="2"/>
            <a:r>
              <a:rPr lang="ru-RU" dirty="0" err="1"/>
              <a:t>Use</a:t>
            </a:r>
            <a:r>
              <a:rPr lang="ru-RU" dirty="0"/>
              <a:t> </a:t>
            </a:r>
            <a:r>
              <a:rPr lang="ru-RU" dirty="0" err="1"/>
              <a:t>visualization</a:t>
            </a:r>
            <a:r>
              <a:rPr lang="ru-RU" dirty="0"/>
              <a:t> (</a:t>
            </a:r>
            <a:r>
              <a:rPr lang="ru-RU" dirty="0" err="1"/>
              <a:t>side-by-side</a:t>
            </a:r>
            <a:r>
              <a:rPr lang="ru-RU" dirty="0"/>
              <a:t> </a:t>
            </a:r>
            <a:r>
              <a:rPr lang="ru-RU" dirty="0" err="1"/>
              <a:t>box</a:t>
            </a:r>
            <a:r>
              <a:rPr lang="ru-RU" dirty="0"/>
              <a:t> </a:t>
            </a:r>
            <a:r>
              <a:rPr lang="ru-RU" dirty="0" err="1"/>
              <a:t>plots</a:t>
            </a:r>
            <a:r>
              <a:rPr lang="ru-RU" dirty="0"/>
              <a:t>)</a:t>
            </a:r>
          </a:p>
          <a:p>
            <a:pPr lvl="2"/>
            <a:r>
              <a:rPr lang="ru-RU" dirty="0"/>
              <a:t>Check </a:t>
            </a:r>
            <a:r>
              <a:rPr lang="ru-RU" dirty="0" err="1"/>
              <a:t>statistical</a:t>
            </a:r>
            <a:r>
              <a:rPr lang="ru-RU" dirty="0"/>
              <a:t> </a:t>
            </a:r>
            <a:r>
              <a:rPr lang="ru-RU" dirty="0" err="1"/>
              <a:t>significance</a:t>
            </a:r>
            <a:r>
              <a:rPr lang="ru-RU" dirty="0"/>
              <a:t> (</a:t>
            </a:r>
            <a:r>
              <a:rPr lang="ru-RU" dirty="0" err="1"/>
              <a:t>next</a:t>
            </a:r>
            <a:r>
              <a:rPr lang="ru-RU" dirty="0"/>
              <a:t> </a:t>
            </a:r>
            <a:r>
              <a:rPr lang="ru-RU" dirty="0" err="1"/>
              <a:t>week</a:t>
            </a:r>
            <a:r>
              <a:rPr lang="ru-RU" dirty="0"/>
              <a:t>!)</a:t>
            </a:r>
          </a:p>
          <a:p>
            <a:pPr marL="914400" lvl="1" indent="-457200">
              <a:buFont typeface="+mj-lt"/>
              <a:buAutoNum type="arabicPeriod"/>
            </a:pPr>
            <a:r>
              <a:rPr lang="ru-RU" b="1" dirty="0"/>
              <a:t>What </a:t>
            </a:r>
            <a:r>
              <a:rPr lang="ru-RU" b="1" dirty="0" err="1"/>
              <a:t>could</a:t>
            </a:r>
            <a:r>
              <a:rPr lang="ru-RU" b="1" dirty="0"/>
              <a:t> </a:t>
            </a:r>
            <a:r>
              <a:rPr lang="ru-RU" b="1" dirty="0" err="1"/>
              <a:t>explain</a:t>
            </a:r>
            <a:r>
              <a:rPr lang="ru-RU" b="1" dirty="0"/>
              <a:t> </a:t>
            </a:r>
            <a:r>
              <a:rPr lang="ru-RU" b="1" dirty="0" err="1"/>
              <a:t>the</a:t>
            </a:r>
            <a:r>
              <a:rPr lang="ru-RU" b="1" dirty="0"/>
              <a:t> </a:t>
            </a:r>
            <a:r>
              <a:rPr lang="ru-RU" b="1" dirty="0" err="1"/>
              <a:t>results</a:t>
            </a:r>
            <a:r>
              <a:rPr lang="ru-RU" b="1" dirty="0"/>
              <a:t>?</a:t>
            </a:r>
            <a:endParaRPr lang="ru-RU" dirty="0"/>
          </a:p>
          <a:p>
            <a:pPr lvl="2"/>
            <a:r>
              <a:rPr lang="ru-RU" dirty="0" err="1"/>
              <a:t>If</a:t>
            </a:r>
            <a:r>
              <a:rPr lang="ru-RU" dirty="0"/>
              <a:t> </a:t>
            </a:r>
            <a:r>
              <a:rPr lang="ru-RU" dirty="0" err="1"/>
              <a:t>true</a:t>
            </a:r>
            <a:r>
              <a:rPr lang="ru-RU" dirty="0"/>
              <a:t>: Action </a:t>
            </a:r>
            <a:r>
              <a:rPr lang="ru-RU" dirty="0" err="1"/>
              <a:t>requires</a:t>
            </a:r>
            <a:r>
              <a:rPr lang="ru-RU" dirty="0"/>
              <a:t> </a:t>
            </a:r>
            <a:r>
              <a:rPr lang="ru-RU" dirty="0" err="1"/>
              <a:t>expensive</a:t>
            </a:r>
            <a:r>
              <a:rPr lang="ru-RU" dirty="0"/>
              <a:t> </a:t>
            </a:r>
            <a:r>
              <a:rPr lang="ru-RU" dirty="0" err="1"/>
              <a:t>effects</a:t>
            </a:r>
            <a:r>
              <a:rPr lang="ru-RU" dirty="0"/>
              <a:t>, </a:t>
            </a:r>
            <a:r>
              <a:rPr lang="ru-RU" dirty="0" err="1"/>
              <a:t>appeals</a:t>
            </a:r>
            <a:r>
              <a:rPr lang="ru-RU" dirty="0"/>
              <a:t> </a:t>
            </a:r>
            <a:r>
              <a:rPr lang="ru-RU" dirty="0" err="1"/>
              <a:t>to</a:t>
            </a:r>
            <a:r>
              <a:rPr lang="ru-RU" dirty="0"/>
              <a:t> </a:t>
            </a:r>
            <a:r>
              <a:rPr lang="ru-RU" dirty="0" err="1"/>
              <a:t>different</a:t>
            </a:r>
            <a:r>
              <a:rPr lang="ru-RU" dirty="0"/>
              <a:t> </a:t>
            </a:r>
            <a:r>
              <a:rPr lang="ru-RU" dirty="0" err="1"/>
              <a:t>audience</a:t>
            </a:r>
            <a:endParaRPr lang="ru-RU" dirty="0"/>
          </a:p>
          <a:p>
            <a:pPr lvl="2"/>
            <a:r>
              <a:rPr lang="ru-RU" dirty="0" err="1"/>
              <a:t>If</a:t>
            </a:r>
            <a:r>
              <a:rPr lang="ru-RU" dirty="0"/>
              <a:t> </a:t>
            </a:r>
            <a:r>
              <a:rPr lang="ru-RU" dirty="0" err="1"/>
              <a:t>false</a:t>
            </a:r>
            <a:r>
              <a:rPr lang="ru-RU" dirty="0"/>
              <a:t>: </a:t>
            </a:r>
            <a:r>
              <a:rPr lang="ru-RU" dirty="0" err="1"/>
              <a:t>Maybe</a:t>
            </a:r>
            <a:r>
              <a:rPr lang="ru-RU" dirty="0"/>
              <a:t> </a:t>
            </a:r>
            <a:r>
              <a:rPr lang="ru-RU" dirty="0" err="1"/>
              <a:t>my</a:t>
            </a:r>
            <a:r>
              <a:rPr lang="ru-RU" dirty="0"/>
              <a:t> </a:t>
            </a:r>
            <a:r>
              <a:rPr lang="ru-RU" dirty="0" err="1"/>
              <a:t>initial</a:t>
            </a:r>
            <a:r>
              <a:rPr lang="ru-RU" dirty="0"/>
              <a:t> </a:t>
            </a:r>
            <a:r>
              <a:rPr lang="ru-RU" dirty="0" err="1"/>
              <a:t>assumption</a:t>
            </a:r>
            <a:r>
              <a:rPr lang="ru-RU" dirty="0"/>
              <a:t> </a:t>
            </a:r>
            <a:r>
              <a:rPr lang="ru-RU" dirty="0" err="1"/>
              <a:t>was</a:t>
            </a:r>
            <a:r>
              <a:rPr lang="ru-RU" dirty="0"/>
              <a:t> </a:t>
            </a:r>
            <a:r>
              <a:rPr lang="ru-RU" dirty="0" err="1"/>
              <a:t>wrong</a:t>
            </a:r>
            <a:endParaRPr lang="ru-RU" dirty="0"/>
          </a:p>
          <a:p>
            <a:pPr marL="914400" lvl="1" indent="-457200">
              <a:buFont typeface="+mj-lt"/>
              <a:buAutoNum type="arabicPeriod"/>
            </a:pPr>
            <a:r>
              <a:rPr lang="ru-RU" b="1" dirty="0"/>
              <a:t>What </a:t>
            </a:r>
            <a:r>
              <a:rPr lang="ru-RU" b="1" dirty="0" err="1"/>
              <a:t>are</a:t>
            </a:r>
            <a:r>
              <a:rPr lang="ru-RU" b="1" dirty="0"/>
              <a:t> </a:t>
            </a:r>
            <a:r>
              <a:rPr lang="ru-RU" b="1" dirty="0" err="1"/>
              <a:t>the</a:t>
            </a:r>
            <a:r>
              <a:rPr lang="ru-RU" b="1" dirty="0"/>
              <a:t> </a:t>
            </a:r>
            <a:r>
              <a:rPr lang="ru-RU" b="1" dirty="0" err="1"/>
              <a:t>limitations</a:t>
            </a:r>
            <a:r>
              <a:rPr lang="ru-RU" b="1" dirty="0"/>
              <a:t>?</a:t>
            </a:r>
            <a:endParaRPr lang="ru-RU" dirty="0"/>
          </a:p>
          <a:p>
            <a:pPr lvl="2"/>
            <a:r>
              <a:rPr lang="ru-RU" dirty="0" err="1"/>
              <a:t>Correlation</a:t>
            </a:r>
            <a:r>
              <a:rPr lang="ru-RU" dirty="0"/>
              <a:t> ≠ </a:t>
            </a:r>
            <a:r>
              <a:rPr lang="ru-RU" dirty="0" err="1"/>
              <a:t>causation</a:t>
            </a:r>
            <a:endParaRPr lang="ru-RU" dirty="0"/>
          </a:p>
          <a:p>
            <a:pPr lvl="2"/>
            <a:r>
              <a:rPr lang="ru-RU" dirty="0" err="1"/>
              <a:t>Need</a:t>
            </a:r>
            <a:r>
              <a:rPr lang="ru-RU" dirty="0"/>
              <a:t> </a:t>
            </a:r>
            <a:r>
              <a:rPr lang="ru-RU" dirty="0" err="1"/>
              <a:t>to</a:t>
            </a:r>
            <a:r>
              <a:rPr lang="ru-RU" dirty="0"/>
              <a:t> </a:t>
            </a:r>
            <a:r>
              <a:rPr lang="ru-RU" dirty="0" err="1"/>
              <a:t>control</a:t>
            </a:r>
            <a:r>
              <a:rPr lang="ru-RU" dirty="0"/>
              <a:t> </a:t>
            </a:r>
            <a:r>
              <a:rPr lang="ru-RU" dirty="0" err="1"/>
              <a:t>for</a:t>
            </a:r>
            <a:r>
              <a:rPr lang="ru-RU" dirty="0"/>
              <a:t> </a:t>
            </a:r>
            <a:r>
              <a:rPr lang="ru-RU" dirty="0" err="1"/>
              <a:t>other</a:t>
            </a:r>
            <a:r>
              <a:rPr lang="ru-RU" dirty="0"/>
              <a:t> </a:t>
            </a:r>
            <a:r>
              <a:rPr lang="ru-RU" dirty="0" err="1"/>
              <a:t>factors</a:t>
            </a:r>
            <a:r>
              <a:rPr lang="ru-RU" dirty="0"/>
              <a:t> (</a:t>
            </a:r>
            <a:r>
              <a:rPr lang="ru-RU" dirty="0" err="1"/>
              <a:t>year</a:t>
            </a:r>
            <a:r>
              <a:rPr lang="ru-RU" dirty="0"/>
              <a:t>, </a:t>
            </a:r>
            <a:r>
              <a:rPr lang="ru-RU" dirty="0" err="1"/>
              <a:t>director</a:t>
            </a:r>
            <a:r>
              <a:rPr lang="ru-RU" dirty="0"/>
              <a:t>, </a:t>
            </a:r>
            <a:r>
              <a:rPr lang="ru-RU" dirty="0" err="1"/>
              <a:t>etc</a:t>
            </a:r>
            <a:r>
              <a:rPr lang="ru-RU" dirty="0"/>
              <a:t>.)</a:t>
            </a:r>
          </a:p>
          <a:p>
            <a:pPr lvl="2"/>
            <a:r>
              <a:rPr lang="ru-RU" dirty="0" err="1"/>
              <a:t>Sample</a:t>
            </a:r>
            <a:r>
              <a:rPr lang="ru-RU" dirty="0"/>
              <a:t> </a:t>
            </a:r>
            <a:r>
              <a:rPr lang="ru-RU" dirty="0" err="1"/>
              <a:t>size</a:t>
            </a:r>
            <a:r>
              <a:rPr lang="ru-RU" dirty="0"/>
              <a:t> </a:t>
            </a:r>
            <a:r>
              <a:rPr lang="ru-RU" dirty="0" err="1"/>
              <a:t>matters</a:t>
            </a:r>
            <a:endParaRPr lang="ru-RU" dirty="0"/>
          </a:p>
          <a:p>
            <a:pPr marL="0" indent="0">
              <a:buNone/>
            </a:pPr>
            <a:r>
              <a:rPr lang="ru-RU" b="1" dirty="0" err="1"/>
              <a:t>Example</a:t>
            </a:r>
            <a:r>
              <a:rPr lang="ru-RU" b="1" dirty="0"/>
              <a:t> </a:t>
            </a:r>
            <a:r>
              <a:rPr lang="ru-RU" b="1" dirty="0" err="1"/>
              <a:t>for</a:t>
            </a:r>
            <a:r>
              <a:rPr lang="ru-RU" b="1" dirty="0"/>
              <a:t> Movie Lab:</a:t>
            </a:r>
            <a:endParaRPr lang="ru-RU" dirty="0"/>
          </a:p>
          <a:p>
            <a:pPr lvl="1"/>
            <a:r>
              <a:rPr lang="ru-RU" dirty="0" err="1"/>
              <a:t>Hypothesis</a:t>
            </a:r>
            <a:r>
              <a:rPr lang="ru-RU" dirty="0"/>
              <a:t>: "</a:t>
            </a:r>
            <a:r>
              <a:rPr lang="ru-RU" dirty="0" err="1"/>
              <a:t>Higher-budget</a:t>
            </a:r>
            <a:r>
              <a:rPr lang="ru-RU" dirty="0"/>
              <a:t> </a:t>
            </a:r>
            <a:r>
              <a:rPr lang="ru-RU" dirty="0" err="1"/>
              <a:t>movies</a:t>
            </a:r>
            <a:r>
              <a:rPr lang="ru-RU" dirty="0"/>
              <a:t> </a:t>
            </a:r>
            <a:r>
              <a:rPr lang="ru-RU" dirty="0" err="1"/>
              <a:t>have</a:t>
            </a:r>
            <a:r>
              <a:rPr lang="ru-RU" dirty="0"/>
              <a:t> </a:t>
            </a:r>
            <a:r>
              <a:rPr lang="ru-RU" dirty="0" err="1"/>
              <a:t>diminishing</a:t>
            </a:r>
            <a:r>
              <a:rPr lang="ru-RU" dirty="0"/>
              <a:t> </a:t>
            </a:r>
            <a:r>
              <a:rPr lang="ru-RU" dirty="0" err="1"/>
              <a:t>returns</a:t>
            </a:r>
            <a:r>
              <a:rPr lang="ru-RU" dirty="0"/>
              <a:t> </a:t>
            </a:r>
            <a:r>
              <a:rPr lang="ru-RU" dirty="0" err="1"/>
              <a:t>on</a:t>
            </a:r>
            <a:r>
              <a:rPr lang="ru-RU" dirty="0"/>
              <a:t> </a:t>
            </a:r>
            <a:r>
              <a:rPr lang="ru-RU" dirty="0" err="1"/>
              <a:t>investment</a:t>
            </a:r>
            <a:r>
              <a:rPr lang="ru-RU" dirty="0"/>
              <a:t>"</a:t>
            </a:r>
          </a:p>
          <a:p>
            <a:pPr lvl="1"/>
            <a:r>
              <a:rPr lang="ru-RU" dirty="0"/>
              <a:t>Test: </a:t>
            </a:r>
            <a:r>
              <a:rPr lang="ru-RU" dirty="0" err="1"/>
              <a:t>Plot</a:t>
            </a:r>
            <a:r>
              <a:rPr lang="ru-RU" dirty="0"/>
              <a:t> </a:t>
            </a:r>
            <a:r>
              <a:rPr lang="ru-RU" dirty="0" err="1"/>
              <a:t>budget</a:t>
            </a:r>
            <a:r>
              <a:rPr lang="ru-RU" dirty="0"/>
              <a:t> </a:t>
            </a:r>
            <a:r>
              <a:rPr lang="ru-RU" dirty="0" err="1"/>
              <a:t>vs</a:t>
            </a:r>
            <a:r>
              <a:rPr lang="ru-RU" dirty="0"/>
              <a:t> ROI, </a:t>
            </a:r>
            <a:r>
              <a:rPr lang="ru-RU" dirty="0" err="1"/>
              <a:t>look</a:t>
            </a:r>
            <a:r>
              <a:rPr lang="ru-RU" dirty="0"/>
              <a:t> </a:t>
            </a:r>
            <a:r>
              <a:rPr lang="ru-RU" dirty="0" err="1"/>
              <a:t>for</a:t>
            </a:r>
            <a:r>
              <a:rPr lang="ru-RU" dirty="0"/>
              <a:t> </a:t>
            </a:r>
            <a:r>
              <a:rPr lang="ru-RU" dirty="0" err="1"/>
              <a:t>curve</a:t>
            </a:r>
            <a:endParaRPr lang="ru-RU" dirty="0"/>
          </a:p>
          <a:p>
            <a:pPr lvl="1"/>
            <a:r>
              <a:rPr lang="ru-RU" dirty="0"/>
              <a:t>Analysis: </a:t>
            </a:r>
            <a:r>
              <a:rPr lang="ru-RU" dirty="0" err="1"/>
              <a:t>Calculate</a:t>
            </a:r>
            <a:r>
              <a:rPr lang="ru-RU" dirty="0"/>
              <a:t> </a:t>
            </a:r>
            <a:r>
              <a:rPr lang="ru-RU" dirty="0" err="1"/>
              <a:t>correlation</a:t>
            </a:r>
            <a:r>
              <a:rPr lang="ru-RU" dirty="0"/>
              <a:t> </a:t>
            </a:r>
            <a:r>
              <a:rPr lang="ru-RU" dirty="0" err="1"/>
              <a:t>for</a:t>
            </a:r>
            <a:r>
              <a:rPr lang="ru-RU" dirty="0"/>
              <a:t> </a:t>
            </a:r>
            <a:r>
              <a:rPr lang="ru-RU" dirty="0" err="1"/>
              <a:t>different</a:t>
            </a:r>
            <a:r>
              <a:rPr lang="ru-RU" dirty="0"/>
              <a:t> </a:t>
            </a:r>
            <a:r>
              <a:rPr lang="ru-RU" dirty="0" err="1"/>
              <a:t>budget</a:t>
            </a:r>
            <a:r>
              <a:rPr lang="ru-RU" dirty="0"/>
              <a:t> </a:t>
            </a:r>
            <a:r>
              <a:rPr lang="ru-RU" dirty="0" err="1"/>
              <a:t>ranges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9458317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</TotalTime>
  <Words>4649</Words>
  <Application>Microsoft Office PowerPoint</Application>
  <PresentationFormat>Широкоэкранный</PresentationFormat>
  <Paragraphs>591</Paragraphs>
  <Slides>63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63</vt:i4>
      </vt:variant>
    </vt:vector>
  </HeadingPairs>
  <TitlesOfParts>
    <vt:vector size="67" baseType="lpstr">
      <vt:lpstr>Aptos</vt:lpstr>
      <vt:lpstr>Aptos Display</vt:lpstr>
      <vt:lpstr>Arial</vt:lpstr>
      <vt:lpstr>Тема Office</vt:lpstr>
      <vt:lpstr>STATISTICAL FOUNDATIONS Understanding Data with Numbers</vt:lpstr>
      <vt:lpstr>What Are Statistics?</vt:lpstr>
      <vt:lpstr>Why Learn Statistics?</vt:lpstr>
      <vt:lpstr>Two Main Types of Statistics</vt:lpstr>
      <vt:lpstr>Data Types - The Foundation</vt:lpstr>
      <vt:lpstr>Numerical Data Subtypes</vt:lpstr>
      <vt:lpstr>Categorical Data Subtypes</vt:lpstr>
      <vt:lpstr>Let's Practice - Identify Data Type</vt:lpstr>
      <vt:lpstr>Let's Practice - Identify Data Type</vt:lpstr>
      <vt:lpstr>The Need for Summary</vt:lpstr>
      <vt:lpstr>Three Questions Statistics Answers</vt:lpstr>
      <vt:lpstr>Measures of Center - The Mean</vt:lpstr>
      <vt:lpstr>Python - Calculating Mean</vt:lpstr>
      <vt:lpstr>The Problem with Mean</vt:lpstr>
      <vt:lpstr>Measures of Center - The Median</vt:lpstr>
      <vt:lpstr>Median with Even Number of Values</vt:lpstr>
      <vt:lpstr>Python - Calculating Median</vt:lpstr>
      <vt:lpstr>Measures of Center - The Mode</vt:lpstr>
      <vt:lpstr>When to Use Mean, Median, or Mode</vt:lpstr>
      <vt:lpstr>Real Example - Salaries</vt:lpstr>
      <vt:lpstr>Real Example - Salaries</vt:lpstr>
      <vt:lpstr>Measures of Spread - Why We Need Them</vt:lpstr>
      <vt:lpstr>Simplest Measure - Range</vt:lpstr>
      <vt:lpstr>Better Measure - Variance</vt:lpstr>
      <vt:lpstr>Variance Example</vt:lpstr>
      <vt:lpstr>Most Common Measure - Standard Deviation</vt:lpstr>
      <vt:lpstr>Python - Calculating Spread</vt:lpstr>
      <vt:lpstr>Interpreting Standard Deviation</vt:lpstr>
      <vt:lpstr>Quartiles - Dividing Data</vt:lpstr>
      <vt:lpstr>Interquartile Range (IQR)</vt:lpstr>
      <vt:lpstr>Five-Number Summary</vt:lpstr>
      <vt:lpstr>Python - Five-Number Summary</vt:lpstr>
      <vt:lpstr>Outliers - What Are They?</vt:lpstr>
      <vt:lpstr>Finding Outliers with IQR</vt:lpstr>
      <vt:lpstr>Distribution Shapes</vt:lpstr>
      <vt:lpstr>Real Examples of Each Shape</vt:lpstr>
      <vt:lpstr>The Normal Distribution</vt:lpstr>
      <vt:lpstr>Why Normal Distribution Matters</vt:lpstr>
      <vt:lpstr>Checking Normality Visually</vt:lpstr>
      <vt:lpstr>Checking Normality Visually</vt:lpstr>
      <vt:lpstr>Basic Statistical Plots - Histogram</vt:lpstr>
      <vt:lpstr>Python - Creating Histograms</vt:lpstr>
      <vt:lpstr>Box Plot (Box-and-Whisker)</vt:lpstr>
      <vt:lpstr>Python - Creating Box Plots</vt:lpstr>
      <vt:lpstr>Creating Box Plots</vt:lpstr>
      <vt:lpstr>Reading Box Plots - What to Look For</vt:lpstr>
      <vt:lpstr>Violin Plots - Enhanced Box Plots</vt:lpstr>
      <vt:lpstr>Scatter Plots - For Relationships</vt:lpstr>
      <vt:lpstr>Python - Scatter Plots</vt:lpstr>
      <vt:lpstr>Bar Charts - For Categories</vt:lpstr>
      <vt:lpstr>Python - Bar Charts</vt:lpstr>
      <vt:lpstr>Pie Charts - Use Carefully!</vt:lpstr>
      <vt:lpstr>Example - Student Dataset</vt:lpstr>
      <vt:lpstr>Step-by-Step Analysis</vt:lpstr>
      <vt:lpstr>Analyzing Numerical Variables</vt:lpstr>
      <vt:lpstr>Visualizing Distributions</vt:lpstr>
      <vt:lpstr>Comparing Groups</vt:lpstr>
      <vt:lpstr>Beyond Basic Statistics - Intermediate Concepts</vt:lpstr>
      <vt:lpstr>Understanding Relationships - Correlation</vt:lpstr>
      <vt:lpstr>Calculating Correlation in Python</vt:lpstr>
      <vt:lpstr>Dealing with Skewed Data - Transformations</vt:lpstr>
      <vt:lpstr>Before and After Example:</vt:lpstr>
      <vt:lpstr>Hypothesis-Driven Analysis Framework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Нағметова Анар Айдарбекқызы</dc:creator>
  <cp:lastModifiedBy>Нағметова Анар Айдарбекқызы</cp:lastModifiedBy>
  <cp:revision>15</cp:revision>
  <dcterms:created xsi:type="dcterms:W3CDTF">2026-02-02T10:04:43Z</dcterms:created>
  <dcterms:modified xsi:type="dcterms:W3CDTF">2026-02-03T10:42:31Z</dcterms:modified>
</cp:coreProperties>
</file>