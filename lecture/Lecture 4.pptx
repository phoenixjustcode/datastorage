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31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11" r:id="rId57"/>
    <p:sldId id="312" r:id="rId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2FCC20-603B-EC4D-831D-313F6C7F3B95}" v="5" dt="2026-03-11T18:57:42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Omirbi" userId="S::m_omirbi@kbtu.kz::12f851b2-6dcc-414e-b04c-acfc038edb46" providerId="AD" clId="Web-{A42FCC20-603B-EC4D-831D-313F6C7F3B95}"/>
    <pc:docChg chg="modSld">
      <pc:chgData name="Manas Omirbi" userId="S::m_omirbi@kbtu.kz::12f851b2-6dcc-414e-b04c-acfc038edb46" providerId="AD" clId="Web-{A42FCC20-603B-EC4D-831D-313F6C7F3B95}" dt="2026-03-11T18:57:42.397" v="4" actId="20577"/>
      <pc:docMkLst>
        <pc:docMk/>
      </pc:docMkLst>
      <pc:sldChg chg="modSp">
        <pc:chgData name="Manas Omirbi" userId="S::m_omirbi@kbtu.kz::12f851b2-6dcc-414e-b04c-acfc038edb46" providerId="AD" clId="Web-{A42FCC20-603B-EC4D-831D-313F6C7F3B95}" dt="2026-03-11T18:56:39.271" v="1" actId="1076"/>
        <pc:sldMkLst>
          <pc:docMk/>
          <pc:sldMk cId="254073589" sldId="302"/>
        </pc:sldMkLst>
        <pc:spChg chg="mod">
          <ac:chgData name="Manas Omirbi" userId="S::m_omirbi@kbtu.kz::12f851b2-6dcc-414e-b04c-acfc038edb46" providerId="AD" clId="Web-{A42FCC20-603B-EC4D-831D-313F6C7F3B95}" dt="2026-03-11T18:56:39.271" v="1" actId="1076"/>
          <ac:spMkLst>
            <pc:docMk/>
            <pc:sldMk cId="254073589" sldId="302"/>
            <ac:spMk id="3" creationId="{87CCF6D7-DED7-8F5B-DCC2-C33C31586106}"/>
          </ac:spMkLst>
        </pc:spChg>
      </pc:sldChg>
      <pc:sldChg chg="modSp">
        <pc:chgData name="Manas Omirbi" userId="S::m_omirbi@kbtu.kz::12f851b2-6dcc-414e-b04c-acfc038edb46" providerId="AD" clId="Web-{A42FCC20-603B-EC4D-831D-313F6C7F3B95}" dt="2026-03-11T18:57:42.397" v="4" actId="20577"/>
        <pc:sldMkLst>
          <pc:docMk/>
          <pc:sldMk cId="1074837204" sldId="304"/>
        </pc:sldMkLst>
        <pc:spChg chg="mod">
          <ac:chgData name="Manas Omirbi" userId="S::m_omirbi@kbtu.kz::12f851b2-6dcc-414e-b04c-acfc038edb46" providerId="AD" clId="Web-{A42FCC20-603B-EC4D-831D-313F6C7F3B95}" dt="2026-03-11T18:57:42.397" v="4" actId="20577"/>
          <ac:spMkLst>
            <pc:docMk/>
            <pc:sldMk cId="1074837204" sldId="304"/>
            <ac:spMk id="3" creationId="{D771D9FB-10FC-599D-0402-EC7418EC84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04A66-C6AE-5F4A-91B8-44C9EA775B67}" type="datetimeFigureOut">
              <a:rPr lang="en-KZ" smtClean="0"/>
              <a:t>03/12/2026</a:t>
            </a:fld>
            <a:endParaRPr lang="en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B1DC3-3164-CB4E-B556-A4E9DA5358FC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047287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B1DC3-3164-CB4E-B556-A4E9DA5358FC}" type="slidenum">
              <a:rPr lang="en-KZ" smtClean="0"/>
              <a:t>6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384295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B1DC3-3164-CB4E-B556-A4E9DA5358FC}" type="slidenum">
              <a:rPr lang="en-KZ" smtClean="0"/>
              <a:t>37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087078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E9712-1E04-7CE0-934D-ED8029352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F1028A-506F-6C03-9D1C-A5E9A22ED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3063C9-C9B8-3A4E-F92B-23ED74D5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C155D3-DE91-7F56-AAC7-43CD7A11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43DBFB-0AE3-FE82-674C-7D720DA9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38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DD7BD-8E79-5965-0CB0-85C5DBFE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1924AF-23DF-2284-2140-86103ACD7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AB6B10-3277-7298-3E66-2B34DBD4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A1BE58-974C-1776-4706-2F8BB478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578C70-75ED-A591-2B88-5805C15B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93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7CD52-C782-634F-C129-B5BFFF06F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D2A07D-07BA-D41B-CC74-BB0429D1D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F44870-63F3-2DC2-D642-C05FBA08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547C77-A78B-E0BF-AB39-509E1AB83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6A3771-A72F-3D24-1DBB-A5DC3706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38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EF745-7040-CDD5-4CD0-14FBAE57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0D0AC4-99E9-9575-C41A-908C02B47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98E4F3-58DF-59F2-7C85-CA865D0CC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DA20E8-310A-132B-A482-D0E1AB6C0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A1CC9F-EBCB-8B2B-2923-BF38CB784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F7D6DF-30A0-5ADD-38E2-995F0485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74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D4266-E6B3-2389-3C58-3223FA1A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033AFD-95C4-9B5B-F461-D895D5055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39B673-CA91-BDF6-E744-69414F51E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E60367-4390-5DAD-75E3-210DED957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DC97F6-77F9-3B91-ADF9-40C686D8D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8B1781C-1BA6-8CD5-A9B1-334AA0E6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AD0661-9E25-36AE-D1CB-155D550B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431961-7E5E-1D90-608B-86D607E4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83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ECCA4-F9BC-7ADE-E07C-5F14E378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0E7DAD-D826-A3C1-F308-51E701929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57FD94-AB0B-0340-94D9-EC43DACC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3A7421-AD52-8FF6-2453-59E61173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1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4A3D676-1908-2A70-679B-C2C62694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7DB360-85C4-155F-94B3-EF789AF9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12AE07-1D17-301A-A775-F6DC2ED4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07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20A58-9636-D385-DA5C-89A74A3EC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4D8A8E-5337-3531-BF5F-52CBFDB26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339BEE-F161-28EB-AEEE-EF7777DBB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1CCE6D-931D-76E9-C5F2-30D88E70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E5C20-1B47-F3EF-9BF4-9CC18588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30D1EF-D73B-8D16-2B6F-88875C56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76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7E28-B0F2-1471-6904-BE8C2C58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EECA2D-78D0-9801-947D-D681A810E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57B9F7-B247-B46C-C8A7-6FAD887C9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3BEA49-F899-6C7D-7A3E-07E6EDEE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FA9E9E-2795-F06A-5B0E-4AC018A6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B883E7-451F-5CFE-92CE-A4C64600F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52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375477-334C-FBBC-4207-981D438D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5AB30B-9A2D-0D4C-7CCB-4C040222C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95D858-12AD-1212-E15B-B555EF1C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85A008-F842-1CDD-FD97-7706536D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4AD7BA-2454-5919-5C0A-EEE36CA5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63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14939C0-6C95-952B-ACEE-483B5DF8E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797CD4-65F0-1986-54A0-586438D4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387761-6923-9C5A-3EB1-D3C097023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877AD6-6CD4-7CFB-3DC0-F543288A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D829A9-8379-9C14-8480-16157961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08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7162-DA44-049C-1F56-00299A4D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3FE5BC-AEEF-410A-D89A-407CE898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0058E5-291A-35CF-0FCD-A63D5A961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BCE9B-8D1A-45E5-8AB5-304C2280425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5DE241-B450-7336-B764-07C0E88F1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5F81C-A674-3D96-E864-560EAB23C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07FD7-B09B-4C30-A0CE-38D8454B15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81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06643-37EB-7C9A-A1FE-7470DAB5D7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PROBABILITY FOR DATA ANALYSIS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F19682-442E-B303-DFAF-11EA09715A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WEEK 4 </a:t>
            </a:r>
          </a:p>
        </p:txBody>
      </p:sp>
    </p:spTree>
    <p:extLst>
      <p:ext uri="{BB962C8B-B14F-4D97-AF65-F5344CB8AC3E}">
        <p14:creationId xmlns:p14="http://schemas.microsoft.com/office/powerpoint/2010/main" val="339348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0B73C-EED1-7FED-2639-67B7E84E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INTRODUCTION TO PROBABILITY</a:t>
            </a:r>
            <a:r>
              <a:rPr lang="en-US" b="1"/>
              <a:t>:</a:t>
            </a:r>
            <a:r>
              <a:rPr lang="ru-RU" b="1"/>
              <a:t> </a:t>
            </a:r>
            <a:r>
              <a:rPr lang="ru-RU" b="1" err="1"/>
              <a:t>W</a:t>
            </a:r>
            <a:r>
              <a:rPr lang="en-US" b="1"/>
              <a:t>hy we need probability</a:t>
            </a:r>
            <a:endParaRPr lang="ru-RU" b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77F1D2-E257-98CE-4E15-BD5DA3994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/>
              <a:t>R</a:t>
            </a:r>
            <a:r>
              <a:rPr lang="ru-RU"/>
              <a:t>EAL-WORLD EXAMPLES: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Predicting</a:t>
            </a:r>
            <a:r>
              <a:rPr lang="ru-RU"/>
              <a:t> </a:t>
            </a:r>
            <a:r>
              <a:rPr lang="ru-RU" err="1"/>
              <a:t>customer</a:t>
            </a:r>
            <a:r>
              <a:rPr lang="ru-RU"/>
              <a:t> </a:t>
            </a:r>
            <a:r>
              <a:rPr lang="ru-RU" err="1"/>
              <a:t>churn</a:t>
            </a:r>
            <a:r>
              <a:rPr lang="ru-RU"/>
              <a:t> (85%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they'll</a:t>
            </a:r>
            <a:r>
              <a:rPr lang="ru-RU"/>
              <a:t> </a:t>
            </a:r>
            <a:r>
              <a:rPr lang="ru-RU" err="1"/>
              <a:t>leave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Fraud</a:t>
            </a:r>
            <a:r>
              <a:rPr lang="ru-RU"/>
              <a:t> </a:t>
            </a:r>
            <a:r>
              <a:rPr lang="ru-RU" err="1"/>
              <a:t>detection</a:t>
            </a:r>
            <a:r>
              <a:rPr lang="ru-RU"/>
              <a:t> (99.7%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transaction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fraudulent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A/B </a:t>
            </a:r>
            <a:r>
              <a:rPr lang="ru-RU" err="1"/>
              <a:t>testing</a:t>
            </a:r>
            <a:r>
              <a:rPr lang="ru-RU"/>
              <a:t> (95%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Design B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better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Risk </a:t>
            </a:r>
            <a:r>
              <a:rPr lang="ru-RU" err="1"/>
              <a:t>assessment</a:t>
            </a:r>
            <a:r>
              <a:rPr lang="ru-RU"/>
              <a:t> (1%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system</a:t>
            </a:r>
            <a:r>
              <a:rPr lang="ru-RU"/>
              <a:t> </a:t>
            </a:r>
            <a:r>
              <a:rPr lang="ru-RU" err="1"/>
              <a:t>failure</a:t>
            </a:r>
            <a:r>
              <a:rPr lang="ru-RU"/>
              <a:t>)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346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B2CB6-3486-D5EC-C4E8-4C7DF0994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The Language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Uncertainty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2AE124-F38E-BC70-4451-10D18DE72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ru-RU" err="1"/>
              <a:t>Certainty</a:t>
            </a:r>
            <a:r>
              <a:rPr lang="ru-RU"/>
              <a:t> </a:t>
            </a:r>
            <a:r>
              <a:rPr lang="ru-RU" err="1"/>
              <a:t>Scale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0% (</a:t>
            </a:r>
            <a:r>
              <a:rPr lang="ru-RU" err="1"/>
              <a:t>Impossible</a:t>
            </a:r>
            <a:r>
              <a:rPr lang="ru-RU"/>
              <a:t>) → 50% (</a:t>
            </a:r>
            <a:r>
              <a:rPr lang="ru-RU" err="1"/>
              <a:t>Coin</a:t>
            </a:r>
            <a:r>
              <a:rPr lang="ru-RU"/>
              <a:t> </a:t>
            </a:r>
            <a:r>
              <a:rPr lang="ru-RU" err="1"/>
              <a:t>Toss</a:t>
            </a:r>
            <a:r>
              <a:rPr lang="ru-RU"/>
              <a:t>) → 100% (</a:t>
            </a:r>
            <a:r>
              <a:rPr lang="ru-RU" err="1"/>
              <a:t>Certain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Everyday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Statements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• "</a:t>
            </a:r>
            <a:r>
              <a:rPr lang="ru-RU" err="1"/>
              <a:t>There's</a:t>
            </a:r>
            <a:r>
              <a:rPr lang="ru-RU"/>
              <a:t> a 30% </a:t>
            </a:r>
            <a:r>
              <a:rPr lang="ru-RU" err="1"/>
              <a:t>chance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en-US"/>
              <a:t>rain."</a:t>
            </a:r>
            <a:endParaRPr lang="ru-RU"/>
          </a:p>
          <a:p>
            <a:pPr marL="0" indent="0" latinLnBrk="1">
              <a:buNone/>
            </a:pPr>
            <a:r>
              <a:rPr lang="ru-RU"/>
              <a:t>• "The </a:t>
            </a:r>
            <a:r>
              <a:rPr lang="ru-RU" err="1"/>
              <a:t>patient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80% </a:t>
            </a:r>
            <a:r>
              <a:rPr lang="ru-RU" err="1"/>
              <a:t>survival</a:t>
            </a:r>
            <a:r>
              <a:rPr lang="ru-RU"/>
              <a:t> </a:t>
            </a:r>
            <a:r>
              <a:rPr lang="en-US"/>
              <a:t>rate."</a:t>
            </a:r>
            <a:endParaRPr lang="ru-RU"/>
          </a:p>
          <a:p>
            <a:pPr marL="0" indent="0" latinLnBrk="1">
              <a:buNone/>
            </a:pPr>
            <a:r>
              <a:rPr lang="ru-RU"/>
              <a:t>• "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model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95% </a:t>
            </a:r>
            <a:r>
              <a:rPr lang="en-US"/>
              <a:t>confident."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32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2E693-562B-2FCC-7BA8-3185E546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Two</a:t>
            </a:r>
            <a:r>
              <a:rPr lang="ru-RU" b="1"/>
              <a:t> </a:t>
            </a:r>
            <a:r>
              <a:rPr lang="ru-RU" b="1" err="1"/>
              <a:t>Perspectives</a:t>
            </a:r>
            <a:r>
              <a:rPr lang="ru-RU" b="1"/>
              <a:t> </a:t>
            </a:r>
            <a:r>
              <a:rPr lang="ru-RU" b="1" err="1"/>
              <a:t>on</a:t>
            </a:r>
            <a:r>
              <a:rPr lang="ru-RU" b="1"/>
              <a:t> </a:t>
            </a:r>
            <a:r>
              <a:rPr lang="ru-RU" b="1" err="1"/>
              <a:t>Probability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5D681-AD57-B70F-D30A-C4BC202E6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ru-RU"/>
              <a:t>1. FREQUENTIST PROBABILITY (</a:t>
            </a:r>
            <a:r>
              <a:rPr lang="ru-RU" err="1"/>
              <a:t>Classical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   Definition: Long-</a:t>
            </a:r>
            <a:r>
              <a:rPr lang="ru-RU" err="1"/>
              <a:t>run</a:t>
            </a:r>
            <a:r>
              <a:rPr lang="ru-RU"/>
              <a:t> </a:t>
            </a:r>
            <a:r>
              <a:rPr lang="ru-RU" err="1"/>
              <a:t>relative</a:t>
            </a:r>
            <a:r>
              <a:rPr lang="ru-RU"/>
              <a:t> </a:t>
            </a:r>
            <a:r>
              <a:rPr lang="ru-RU" err="1"/>
              <a:t>frequency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  <a:r>
              <a:rPr lang="ru-RU" err="1"/>
              <a:t>Example</a:t>
            </a:r>
            <a:r>
              <a:rPr lang="ru-RU"/>
              <a:t>: "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flip</a:t>
            </a:r>
            <a:r>
              <a:rPr lang="ru-RU"/>
              <a:t> a </a:t>
            </a:r>
            <a:r>
              <a:rPr lang="ru-RU" err="1"/>
              <a:t>coin</a:t>
            </a:r>
            <a:r>
              <a:rPr lang="ru-RU"/>
              <a:t> 1000 </a:t>
            </a:r>
            <a:r>
              <a:rPr lang="ru-RU" err="1"/>
              <a:t>times</a:t>
            </a:r>
            <a:r>
              <a:rPr lang="ru-RU"/>
              <a:t>, </a:t>
            </a:r>
            <a:r>
              <a:rPr lang="ru-RU" err="1"/>
              <a:t>about</a:t>
            </a:r>
            <a:r>
              <a:rPr lang="ru-RU"/>
              <a:t> 500 </a:t>
            </a:r>
            <a:r>
              <a:rPr lang="ru-RU" err="1"/>
              <a:t>will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heads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   Key </a:t>
            </a:r>
            <a:r>
              <a:rPr lang="ru-RU" err="1"/>
              <a:t>Idea</a:t>
            </a:r>
            <a:r>
              <a:rPr lang="ru-RU"/>
              <a:t>: </a:t>
            </a:r>
            <a:r>
              <a:rPr lang="ru-RU" err="1"/>
              <a:t>Probability</a:t>
            </a:r>
            <a:r>
              <a:rPr lang="ru-RU"/>
              <a:t> = </a:t>
            </a:r>
            <a:r>
              <a:rPr lang="ru-RU" err="1"/>
              <a:t>Limiting</a:t>
            </a:r>
            <a:r>
              <a:rPr lang="ru-RU"/>
              <a:t> </a:t>
            </a:r>
            <a:r>
              <a:rPr lang="ru-RU" err="1"/>
              <a:t>frequency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2. BAYESIAN PROBABILITY (</a:t>
            </a:r>
            <a:r>
              <a:rPr lang="ru-RU" err="1"/>
              <a:t>Subjective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   Definition: </a:t>
            </a:r>
            <a:r>
              <a:rPr lang="ru-RU" err="1"/>
              <a:t>Degree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belief</a:t>
            </a:r>
            <a:r>
              <a:rPr lang="ru-RU"/>
              <a:t> </a:t>
            </a:r>
            <a:r>
              <a:rPr lang="ru-RU" err="1"/>
              <a:t>given</a:t>
            </a:r>
            <a:r>
              <a:rPr lang="ru-RU"/>
              <a:t> </a:t>
            </a:r>
            <a:r>
              <a:rPr lang="ru-RU" err="1"/>
              <a:t>evidence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  <a:r>
              <a:rPr lang="ru-RU" err="1"/>
              <a:t>Example</a:t>
            </a:r>
            <a:r>
              <a:rPr lang="ru-RU"/>
              <a:t>: "Based </a:t>
            </a:r>
            <a:r>
              <a:rPr lang="ru-RU" err="1"/>
              <a:t>on</a:t>
            </a:r>
            <a:r>
              <a:rPr lang="ru-RU"/>
              <a:t> </a:t>
            </a:r>
            <a:r>
              <a:rPr lang="ru-RU" err="1"/>
              <a:t>current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, </a:t>
            </a:r>
            <a:r>
              <a:rPr lang="ru-RU" err="1"/>
              <a:t>I'm</a:t>
            </a:r>
            <a:r>
              <a:rPr lang="ru-RU"/>
              <a:t> 70% </a:t>
            </a:r>
            <a:r>
              <a:rPr lang="ru-RU" err="1"/>
              <a:t>confident</a:t>
            </a:r>
            <a:r>
              <a:rPr lang="ru-RU"/>
              <a:t> </a:t>
            </a:r>
            <a:r>
              <a:rPr lang="ru-RU" err="1"/>
              <a:t>it</a:t>
            </a:r>
            <a:r>
              <a:rPr lang="ru-RU"/>
              <a:t> </a:t>
            </a:r>
            <a:r>
              <a:rPr lang="ru-RU" err="1"/>
              <a:t>will</a:t>
            </a:r>
            <a:r>
              <a:rPr lang="ru-RU"/>
              <a:t> </a:t>
            </a:r>
            <a:r>
              <a:rPr lang="ru-RU" err="1"/>
              <a:t>rain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   Key </a:t>
            </a:r>
            <a:r>
              <a:rPr lang="ru-RU" err="1"/>
              <a:t>Idea</a:t>
            </a:r>
            <a:r>
              <a:rPr lang="ru-RU"/>
              <a:t>: </a:t>
            </a:r>
            <a:r>
              <a:rPr lang="ru-RU" err="1"/>
              <a:t>Probability</a:t>
            </a:r>
            <a:r>
              <a:rPr lang="ru-RU"/>
              <a:t> = Personal </a:t>
            </a:r>
            <a:r>
              <a:rPr lang="ru-RU" err="1"/>
              <a:t>belief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updates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evidence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23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DF7AC-603D-6171-99FA-0F350E07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Basic </a:t>
            </a:r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Vocabulary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60D78-D8B1-AA71-4208-524ACBADB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latinLnBrk="1">
              <a:buNone/>
            </a:pPr>
            <a:r>
              <a:rPr lang="ru-RU"/>
              <a:t>EXPERIMENT: </a:t>
            </a:r>
            <a:r>
              <a:rPr lang="ru-RU" err="1"/>
              <a:t>Any</a:t>
            </a:r>
            <a:r>
              <a:rPr lang="ru-RU"/>
              <a:t> </a:t>
            </a:r>
            <a:r>
              <a:rPr lang="ru-RU" err="1"/>
              <a:t>process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uncertain</a:t>
            </a:r>
            <a:r>
              <a:rPr lang="ru-RU"/>
              <a:t> </a:t>
            </a:r>
            <a:r>
              <a:rPr lang="ru-RU" err="1"/>
              <a:t>outcome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  <a:r>
              <a:rPr lang="ru-RU" err="1"/>
              <a:t>Example</a:t>
            </a:r>
            <a:r>
              <a:rPr lang="ru-RU"/>
              <a:t>: Rolling a </a:t>
            </a:r>
            <a:r>
              <a:rPr lang="ru-RU" err="1"/>
              <a:t>die</a:t>
            </a:r>
            <a:r>
              <a:rPr lang="ru-RU"/>
              <a:t>, </a:t>
            </a:r>
            <a:r>
              <a:rPr lang="ru-RU" err="1"/>
              <a:t>customer</a:t>
            </a:r>
            <a:r>
              <a:rPr lang="ru-RU"/>
              <a:t> </a:t>
            </a:r>
            <a:r>
              <a:rPr lang="ru-RU" err="1"/>
              <a:t>clicking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ad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SAMPLE SPACE (S): </a:t>
            </a:r>
            <a:r>
              <a:rPr lang="ru-RU" err="1"/>
              <a:t>Set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possible</a:t>
            </a:r>
            <a:r>
              <a:rPr lang="ru-RU"/>
              <a:t> </a:t>
            </a:r>
            <a:r>
              <a:rPr lang="ru-RU" err="1"/>
              <a:t>outcomes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  <a:r>
              <a:rPr lang="ru-RU" err="1"/>
              <a:t>Example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die</a:t>
            </a:r>
            <a:r>
              <a:rPr lang="ru-RU"/>
              <a:t>: S = {1, 2, 3, 4, 5, 6}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EVENT (E): </a:t>
            </a:r>
            <a:r>
              <a:rPr lang="ru-RU" err="1"/>
              <a:t>Subset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space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care</a:t>
            </a:r>
            <a:r>
              <a:rPr lang="ru-RU"/>
              <a:t> </a:t>
            </a:r>
            <a:r>
              <a:rPr lang="ru-RU" err="1"/>
              <a:t>about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  <a:r>
              <a:rPr lang="ru-RU" err="1"/>
              <a:t>Example</a:t>
            </a:r>
            <a:r>
              <a:rPr lang="ru-RU"/>
              <a:t>: "Rolling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even</a:t>
            </a:r>
            <a:r>
              <a:rPr lang="ru-RU"/>
              <a:t> </a:t>
            </a:r>
            <a:r>
              <a:rPr lang="ru-RU" err="1"/>
              <a:t>number</a:t>
            </a:r>
            <a:r>
              <a:rPr lang="ru-RU"/>
              <a:t>" = {2, 4, 6}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OUTCOME: Single </a:t>
            </a:r>
            <a:r>
              <a:rPr lang="ru-RU" err="1"/>
              <a:t>result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experiment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  <a:r>
              <a:rPr lang="ru-RU" err="1"/>
              <a:t>Example</a:t>
            </a:r>
            <a:r>
              <a:rPr lang="ru-RU"/>
              <a:t>: Rolling a "4"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39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3ED86-2D57-1F2D-A29A-3A104467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Visualizing</a:t>
            </a:r>
            <a:r>
              <a:rPr lang="ru-RU" b="1"/>
              <a:t> </a:t>
            </a:r>
            <a:r>
              <a:rPr lang="ru-RU" b="1" err="1"/>
              <a:t>Sample</a:t>
            </a:r>
            <a:r>
              <a:rPr lang="ru-RU" b="1"/>
              <a:t> </a:t>
            </a:r>
            <a:r>
              <a:rPr lang="ru-RU" b="1" err="1"/>
              <a:t>Spaces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60067D-7491-7A10-D573-75CE31F71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/>
              <a:t>VENN DIAGRAMS: Visual </a:t>
            </a:r>
            <a:r>
              <a:rPr lang="ru-RU" err="1"/>
              <a:t>representation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events</a:t>
            </a:r>
            <a:endParaRPr lang="ru-RU"/>
          </a:p>
          <a:p>
            <a:pPr marL="0" indent="0" latinLnBrk="1">
              <a:buNone/>
            </a:pPr>
            <a:r>
              <a:rPr lang="ru-RU"/>
              <a:t>TREE DIAGRAMS: For </a:t>
            </a:r>
            <a:r>
              <a:rPr lang="ru-RU" err="1"/>
              <a:t>multi-step</a:t>
            </a:r>
            <a:r>
              <a:rPr lang="ru-RU"/>
              <a:t> </a:t>
            </a:r>
            <a:r>
              <a:rPr lang="ru-RU" err="1"/>
              <a:t>experiments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Flipping</a:t>
            </a:r>
            <a:r>
              <a:rPr lang="ru-RU"/>
              <a:t> </a:t>
            </a: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coins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Sample</a:t>
            </a:r>
            <a:r>
              <a:rPr lang="ru-RU"/>
              <a:t> Space: {HH, HT, TH, TT}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 i="1"/>
              <a:t>Python </a:t>
            </a:r>
            <a:r>
              <a:rPr lang="ru-RU" b="1" i="1" err="1"/>
              <a:t>Visualization</a:t>
            </a:r>
            <a:r>
              <a:rPr lang="ru-RU" b="1" i="1"/>
              <a:t>:</a:t>
            </a:r>
          </a:p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matplotlib.pyplot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plt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matplotlib_venn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venn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Venn</a:t>
            </a:r>
            <a:r>
              <a:rPr lang="ru-RU" i="1"/>
              <a:t> </a:t>
            </a:r>
            <a:r>
              <a:rPr lang="ru-RU" i="1" err="1"/>
              <a:t>diagram</a:t>
            </a:r>
            <a:r>
              <a:rPr lang="ru-RU" i="1"/>
              <a:t> </a:t>
            </a:r>
            <a:r>
              <a:rPr lang="ru-RU" i="1" err="1"/>
              <a:t>for</a:t>
            </a:r>
            <a:r>
              <a:rPr lang="ru-RU" i="1"/>
              <a:t> </a:t>
            </a:r>
            <a:r>
              <a:rPr lang="ru-RU" i="1" err="1"/>
              <a:t>two</a:t>
            </a:r>
            <a:r>
              <a:rPr lang="ru-RU" i="1"/>
              <a:t> </a:t>
            </a:r>
            <a:r>
              <a:rPr lang="ru-RU" i="1" err="1"/>
              <a:t>events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plt.figure</a:t>
            </a:r>
            <a:r>
              <a:rPr lang="ru-RU" i="1"/>
              <a:t>(</a:t>
            </a:r>
            <a:r>
              <a:rPr lang="ru-RU" i="1" err="1"/>
              <a:t>figsize</a:t>
            </a:r>
            <a:r>
              <a:rPr lang="ru-RU" i="1"/>
              <a:t>=(8, 6))</a:t>
            </a:r>
          </a:p>
          <a:p>
            <a:pPr marL="0" indent="0" latinLnBrk="1">
              <a:buNone/>
            </a:pPr>
            <a:r>
              <a:rPr lang="ru-RU" i="1"/>
              <a:t>venn.venn2(</a:t>
            </a:r>
            <a:r>
              <a:rPr lang="ru-RU" i="1" err="1"/>
              <a:t>subsets</a:t>
            </a:r>
            <a:r>
              <a:rPr lang="ru-RU" i="1"/>
              <a:t>=(10, 5, 2), </a:t>
            </a:r>
            <a:r>
              <a:rPr lang="ru-RU" i="1" err="1"/>
              <a:t>set_labels</a:t>
            </a:r>
            <a:r>
              <a:rPr lang="ru-RU" i="1"/>
              <a:t>=('Event A', 'Event B'))</a:t>
            </a:r>
          </a:p>
          <a:p>
            <a:pPr marL="0" indent="0" latinLnBrk="1">
              <a:buNone/>
            </a:pPr>
            <a:r>
              <a:rPr lang="ru-RU" i="1" err="1"/>
              <a:t>plt.title</a:t>
            </a:r>
            <a:r>
              <a:rPr lang="ru-RU" i="1"/>
              <a:t>("</a:t>
            </a:r>
            <a:r>
              <a:rPr lang="ru-RU" i="1" err="1"/>
              <a:t>Venn</a:t>
            </a:r>
            <a:r>
              <a:rPr lang="ru-RU" i="1"/>
              <a:t> </a:t>
            </a:r>
            <a:r>
              <a:rPr lang="ru-RU" i="1" err="1"/>
              <a:t>Diagram</a:t>
            </a:r>
            <a:r>
              <a:rPr lang="ru-RU" i="1"/>
              <a:t>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Two</a:t>
            </a:r>
            <a:r>
              <a:rPr lang="ru-RU" i="1"/>
              <a:t> </a:t>
            </a:r>
            <a:r>
              <a:rPr lang="ru-RU" i="1" err="1"/>
              <a:t>Events</a:t>
            </a:r>
            <a:r>
              <a:rPr lang="ru-RU" i="1"/>
              <a:t>")</a:t>
            </a:r>
          </a:p>
          <a:p>
            <a:pPr marL="0" indent="0" latinLnBrk="1">
              <a:buNone/>
            </a:pPr>
            <a:r>
              <a:rPr lang="ru-RU" i="1" err="1"/>
              <a:t>plt.show</a:t>
            </a:r>
            <a:r>
              <a:rPr lang="ru-RU" i="1"/>
              <a:t>()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48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25263-85C7-B2B6-5FBF-39A168BD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Notation</a:t>
            </a:r>
            <a:r>
              <a:rPr lang="ru-RU" b="1"/>
              <a:t> &amp; </a:t>
            </a:r>
            <a:r>
              <a:rPr lang="ru-RU" b="1" err="1"/>
              <a:t>Rules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40BDD-4BC4-77DE-418D-8A3272FFD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ru-RU"/>
              <a:t>BASIC RULES:</a:t>
            </a:r>
          </a:p>
          <a:p>
            <a:pPr marL="0" indent="0" latinLnBrk="1">
              <a:buNone/>
            </a:pPr>
            <a:r>
              <a:rPr lang="ru-RU"/>
              <a:t>1. 0 ≤ P(A) ≤ 1 (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between</a:t>
            </a:r>
            <a:r>
              <a:rPr lang="ru-RU"/>
              <a:t> 0 </a:t>
            </a:r>
            <a:r>
              <a:rPr lang="ru-RU" err="1"/>
              <a:t>and</a:t>
            </a:r>
            <a:r>
              <a:rPr lang="ru-RU"/>
              <a:t> 1)</a:t>
            </a:r>
          </a:p>
          <a:p>
            <a:pPr marL="0" indent="0" latinLnBrk="1">
              <a:buNone/>
            </a:pPr>
            <a:r>
              <a:rPr lang="ru-RU"/>
              <a:t>2. P(S) = 1 (</a:t>
            </a:r>
            <a:r>
              <a:rPr lang="ru-RU" err="1"/>
              <a:t>Something</a:t>
            </a:r>
            <a:r>
              <a:rPr lang="ru-RU"/>
              <a:t> </a:t>
            </a:r>
            <a:r>
              <a:rPr lang="ru-RU" err="1"/>
              <a:t>must</a:t>
            </a:r>
            <a:r>
              <a:rPr lang="ru-RU"/>
              <a:t> </a:t>
            </a:r>
            <a:r>
              <a:rPr lang="ru-RU" err="1"/>
              <a:t>happen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3. P(∅) = 0 (</a:t>
            </a:r>
            <a:r>
              <a:rPr lang="ru-RU" err="1"/>
              <a:t>Impossible</a:t>
            </a:r>
            <a:r>
              <a:rPr lang="ru-RU"/>
              <a:t> </a:t>
            </a:r>
            <a:r>
              <a:rPr lang="ru-RU" err="1"/>
              <a:t>event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4. P(</a:t>
            </a:r>
            <a:r>
              <a:rPr lang="ru-RU" err="1"/>
              <a:t>not</a:t>
            </a:r>
            <a:r>
              <a:rPr lang="ru-RU"/>
              <a:t> A) = 1 - P(A) (</a:t>
            </a:r>
            <a:r>
              <a:rPr lang="ru-RU" err="1"/>
              <a:t>Complement</a:t>
            </a:r>
            <a:r>
              <a:rPr lang="ru-RU"/>
              <a:t> </a:t>
            </a:r>
            <a:r>
              <a:rPr lang="ru-RU" err="1"/>
              <a:t>rule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INTERPRETATION:</a:t>
            </a:r>
          </a:p>
          <a:p>
            <a:pPr marL="0" indent="0" latinLnBrk="1">
              <a:buNone/>
            </a:pPr>
            <a:r>
              <a:rPr lang="ru-RU"/>
              <a:t>• P(A) = 0: Event A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impossible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P(A) = 0.5: Event A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likely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not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P(A) = 1: Event A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certain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88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24CCB-B8CE-53B8-39AE-8BCABE35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Calculating</a:t>
            </a:r>
            <a:r>
              <a:rPr lang="ru-RU" b="1"/>
              <a:t> Simple </a:t>
            </a:r>
            <a:r>
              <a:rPr lang="ru-RU" b="1" err="1"/>
              <a:t>Probabilities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980CB1-A4C5-F4D4-415C-BBA30BAA0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/>
              <a:t>CLASSICAL APPROACH:</a:t>
            </a:r>
          </a:p>
          <a:p>
            <a:pPr marL="0" indent="0" latinLnBrk="1">
              <a:buNone/>
            </a:pPr>
            <a:r>
              <a:rPr lang="ru-RU"/>
              <a:t>P(A) = (#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favorable</a:t>
            </a:r>
            <a:r>
              <a:rPr lang="ru-RU"/>
              <a:t> </a:t>
            </a:r>
            <a:r>
              <a:rPr lang="ru-RU" err="1"/>
              <a:t>outcomes</a:t>
            </a:r>
            <a:r>
              <a:rPr lang="ru-RU"/>
              <a:t>) / (</a:t>
            </a:r>
            <a:r>
              <a:rPr lang="ru-RU" err="1"/>
              <a:t>total</a:t>
            </a:r>
            <a:r>
              <a:rPr lang="ru-RU"/>
              <a:t> #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possible</a:t>
            </a:r>
            <a:r>
              <a:rPr lang="ru-RU"/>
              <a:t> </a:t>
            </a:r>
            <a:r>
              <a:rPr lang="ru-RU" err="1"/>
              <a:t>outcomes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Examples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1. Rolling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even</a:t>
            </a:r>
            <a:r>
              <a:rPr lang="ru-RU"/>
              <a:t> </a:t>
            </a:r>
            <a:r>
              <a:rPr lang="ru-RU" err="1"/>
              <a:t>number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a </a:t>
            </a:r>
            <a:r>
              <a:rPr lang="ru-RU" err="1"/>
              <a:t>fair</a:t>
            </a:r>
            <a:r>
              <a:rPr lang="ru-RU"/>
              <a:t> </a:t>
            </a:r>
            <a:r>
              <a:rPr lang="ru-RU" err="1"/>
              <a:t>die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   P(</a:t>
            </a:r>
            <a:r>
              <a:rPr lang="ru-RU" err="1"/>
              <a:t>even</a:t>
            </a:r>
            <a:r>
              <a:rPr lang="ru-RU"/>
              <a:t>) = 3/6 = 0.5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2. </a:t>
            </a:r>
            <a:r>
              <a:rPr lang="ru-RU" err="1"/>
              <a:t>Drawing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Ace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a </a:t>
            </a:r>
            <a:r>
              <a:rPr lang="ru-RU" err="1"/>
              <a:t>deck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cards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   P(</a:t>
            </a:r>
            <a:r>
              <a:rPr lang="ru-RU" err="1"/>
              <a:t>Ace</a:t>
            </a:r>
            <a:r>
              <a:rPr lang="ru-RU"/>
              <a:t>) = 4/52 = 1/13 ≈ 0.077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 i="1"/>
              <a:t>Python </a:t>
            </a:r>
            <a:r>
              <a:rPr lang="ru-RU" b="1" i="1" err="1"/>
              <a:t>Implementation</a:t>
            </a:r>
            <a:r>
              <a:rPr lang="ru-RU" b="1" i="1"/>
              <a:t>:</a:t>
            </a:r>
          </a:p>
          <a:p>
            <a:pPr marL="0" indent="0" latinLnBrk="1">
              <a:buNone/>
            </a:pPr>
            <a:r>
              <a:rPr lang="ru-RU" i="1" err="1"/>
              <a:t>def</a:t>
            </a:r>
            <a:r>
              <a:rPr lang="ru-RU" i="1"/>
              <a:t> </a:t>
            </a:r>
            <a:r>
              <a:rPr lang="ru-RU" i="1" err="1"/>
              <a:t>classical_probability</a:t>
            </a:r>
            <a:r>
              <a:rPr lang="ru-RU" i="1"/>
              <a:t>(</a:t>
            </a:r>
            <a:r>
              <a:rPr lang="ru-RU" i="1" err="1"/>
              <a:t>favorable</a:t>
            </a:r>
            <a:r>
              <a:rPr lang="ru-RU" i="1"/>
              <a:t>, </a:t>
            </a:r>
            <a:r>
              <a:rPr lang="ru-RU" i="1" err="1"/>
              <a:t>total</a:t>
            </a:r>
            <a:r>
              <a:rPr lang="ru-RU" i="1"/>
              <a:t>):</a:t>
            </a:r>
          </a:p>
          <a:p>
            <a:pPr marL="0" indent="0" latinLnBrk="1">
              <a:buNone/>
            </a:pPr>
            <a:r>
              <a:rPr lang="ru-RU" i="1"/>
              <a:t>    </a:t>
            </a:r>
            <a:r>
              <a:rPr lang="ru-RU" i="1" err="1"/>
              <a:t>return</a:t>
            </a:r>
            <a:r>
              <a:rPr lang="ru-RU" i="1"/>
              <a:t> </a:t>
            </a:r>
            <a:r>
              <a:rPr lang="ru-RU" i="1" err="1"/>
              <a:t>favorable</a:t>
            </a:r>
            <a:r>
              <a:rPr lang="ru-RU" i="1"/>
              <a:t> / </a:t>
            </a:r>
            <a:r>
              <a:rPr lang="ru-RU" i="1" err="1"/>
              <a:t>total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Example</a:t>
            </a:r>
            <a:r>
              <a:rPr lang="ru-RU" i="1"/>
              <a:t>: </a:t>
            </a:r>
            <a:r>
              <a:rPr lang="ru-RU" i="1" err="1"/>
              <a:t>Probability</a:t>
            </a:r>
            <a:r>
              <a:rPr lang="ru-RU" i="1"/>
              <a:t>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rolling</a:t>
            </a:r>
            <a:r>
              <a:rPr lang="ru-RU" i="1"/>
              <a:t> a 5 </a:t>
            </a:r>
            <a:r>
              <a:rPr lang="ru-RU" i="1" err="1"/>
              <a:t>or</a:t>
            </a:r>
            <a:r>
              <a:rPr lang="ru-RU" i="1"/>
              <a:t> 6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f"P</a:t>
            </a:r>
            <a:r>
              <a:rPr lang="ru-RU" i="1"/>
              <a:t>(5 </a:t>
            </a:r>
            <a:r>
              <a:rPr lang="ru-RU" i="1" err="1"/>
              <a:t>or</a:t>
            </a:r>
            <a:r>
              <a:rPr lang="ru-RU" i="1"/>
              <a:t> 6) = {</a:t>
            </a:r>
            <a:r>
              <a:rPr lang="ru-RU" i="1" err="1"/>
              <a:t>classical_probability</a:t>
            </a:r>
            <a:r>
              <a:rPr lang="ru-RU" i="1"/>
              <a:t>(2, 6):.3f}")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802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86F4B-283F-2EB6-7D15-DA250DFE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Empirical</a:t>
            </a:r>
            <a:r>
              <a:rPr lang="ru-RU" b="1"/>
              <a:t> </a:t>
            </a:r>
            <a:r>
              <a:rPr lang="ru-RU" b="1" err="1"/>
              <a:t>Probability</a:t>
            </a:r>
            <a:r>
              <a:rPr lang="ru-RU" b="1"/>
              <a:t> (From Data)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D5D0D6-46DF-D400-78A5-2FF9B4578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don't</a:t>
            </a:r>
            <a:r>
              <a:rPr lang="ru-RU"/>
              <a:t> </a:t>
            </a:r>
            <a:r>
              <a:rPr lang="ru-RU" err="1"/>
              <a:t>know</a:t>
            </a:r>
            <a:r>
              <a:rPr lang="ru-RU"/>
              <a:t> </a:t>
            </a:r>
            <a:r>
              <a:rPr lang="ru-RU" err="1"/>
              <a:t>theoretical</a:t>
            </a:r>
            <a:r>
              <a:rPr lang="ru-RU"/>
              <a:t> </a:t>
            </a:r>
            <a:r>
              <a:rPr lang="ru-RU" err="1"/>
              <a:t>probabilities</a:t>
            </a:r>
            <a:r>
              <a:rPr lang="ru-RU"/>
              <a:t>,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!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EMPIRICAL PROBABILITY:</a:t>
            </a:r>
          </a:p>
          <a:p>
            <a:pPr marL="0" indent="0" latinLnBrk="1">
              <a:buNone/>
            </a:pPr>
            <a:r>
              <a:rPr lang="ru-RU"/>
              <a:t>P(A) = (# </a:t>
            </a:r>
            <a:r>
              <a:rPr lang="ru-RU" err="1"/>
              <a:t>times</a:t>
            </a:r>
            <a:r>
              <a:rPr lang="ru-RU"/>
              <a:t> A </a:t>
            </a:r>
            <a:r>
              <a:rPr lang="ru-RU" err="1"/>
              <a:t>occurred</a:t>
            </a:r>
            <a:r>
              <a:rPr lang="ru-RU"/>
              <a:t>) / (</a:t>
            </a:r>
            <a:r>
              <a:rPr lang="ru-RU" err="1"/>
              <a:t>total</a:t>
            </a:r>
            <a:r>
              <a:rPr lang="ru-RU"/>
              <a:t> </a:t>
            </a:r>
            <a:r>
              <a:rPr lang="ru-RU" err="1"/>
              <a:t>trials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Example</a:t>
            </a:r>
            <a:r>
              <a:rPr lang="ru-RU"/>
              <a:t>: Customer </a:t>
            </a:r>
            <a:r>
              <a:rPr lang="ru-RU" err="1"/>
              <a:t>conversion</a:t>
            </a:r>
            <a:r>
              <a:rPr lang="ru-RU"/>
              <a:t> </a:t>
            </a:r>
            <a:r>
              <a:rPr lang="ru-RU" err="1"/>
              <a:t>rates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1000 </a:t>
            </a:r>
            <a:r>
              <a:rPr lang="ru-RU" err="1"/>
              <a:t>visitors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website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50 </a:t>
            </a:r>
            <a:r>
              <a:rPr lang="ru-RU" err="1"/>
              <a:t>made</a:t>
            </a:r>
            <a:r>
              <a:rPr lang="ru-RU"/>
              <a:t> a </a:t>
            </a:r>
            <a:r>
              <a:rPr lang="ru-RU" err="1"/>
              <a:t>purchase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purchase</a:t>
            </a:r>
            <a:r>
              <a:rPr lang="ru-RU"/>
              <a:t>) = 50/1000 = 0.05 = 5%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Law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Numbers</a:t>
            </a:r>
            <a:r>
              <a:rPr lang="ru-RU"/>
              <a:t>: As </a:t>
            </a:r>
            <a:r>
              <a:rPr lang="ru-RU" err="1"/>
              <a:t>trials</a:t>
            </a:r>
            <a:r>
              <a:rPr lang="ru-RU"/>
              <a:t> </a:t>
            </a:r>
            <a:r>
              <a:rPr lang="ru-RU" err="1"/>
              <a:t>increase</a:t>
            </a:r>
            <a:r>
              <a:rPr lang="ru-RU"/>
              <a:t>, </a:t>
            </a:r>
            <a:r>
              <a:rPr lang="ru-RU" err="1"/>
              <a:t>empirical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→ </a:t>
            </a:r>
            <a:r>
              <a:rPr lang="ru-RU" err="1"/>
              <a:t>theoretical</a:t>
            </a:r>
            <a:r>
              <a:rPr lang="ru-RU"/>
              <a:t> </a:t>
            </a:r>
            <a:r>
              <a:rPr lang="ru-RU" err="1"/>
              <a:t>probability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301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140D1-6745-116B-DB06-B182993A0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Python - </a:t>
            </a:r>
            <a:r>
              <a:rPr lang="ru-RU" b="1" err="1"/>
              <a:t>Calculating</a:t>
            </a:r>
            <a:r>
              <a:rPr lang="ru-RU" b="1"/>
              <a:t> </a:t>
            </a:r>
            <a:r>
              <a:rPr lang="ru-RU" b="1" err="1"/>
              <a:t>Empirical</a:t>
            </a:r>
            <a:r>
              <a:rPr lang="ru-RU" b="1"/>
              <a:t> </a:t>
            </a:r>
            <a:r>
              <a:rPr lang="ru-RU" b="1" err="1"/>
              <a:t>Probability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95BBD9-9087-C74A-0BBB-8E26C9D43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numpy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np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# </a:t>
            </a:r>
            <a:r>
              <a:rPr lang="ru-RU" i="1" err="1"/>
              <a:t>Simulate</a:t>
            </a:r>
            <a:r>
              <a:rPr lang="ru-RU" i="1"/>
              <a:t> 10,000 </a:t>
            </a:r>
            <a:r>
              <a:rPr lang="ru-RU" i="1" err="1"/>
              <a:t>coin</a:t>
            </a:r>
            <a:r>
              <a:rPr lang="ru-RU" i="1"/>
              <a:t> </a:t>
            </a:r>
            <a:r>
              <a:rPr lang="ru-RU" i="1" err="1"/>
              <a:t>flips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np.random.seed</a:t>
            </a:r>
            <a:r>
              <a:rPr lang="ru-RU" i="1"/>
              <a:t>(42)</a:t>
            </a:r>
          </a:p>
          <a:p>
            <a:pPr marL="0" indent="0" latinLnBrk="1">
              <a:buNone/>
            </a:pPr>
            <a:r>
              <a:rPr lang="ru-RU" i="1" err="1"/>
              <a:t>flips</a:t>
            </a:r>
            <a:r>
              <a:rPr lang="ru-RU" i="1"/>
              <a:t> = </a:t>
            </a:r>
            <a:r>
              <a:rPr lang="ru-RU" i="1" err="1"/>
              <a:t>np.random.choice</a:t>
            </a:r>
            <a:r>
              <a:rPr lang="ru-RU" i="1"/>
              <a:t>(['H', 'T'], </a:t>
            </a:r>
            <a:r>
              <a:rPr lang="ru-RU" i="1" err="1"/>
              <a:t>size</a:t>
            </a:r>
            <a:r>
              <a:rPr lang="ru-RU" i="1"/>
              <a:t>=10000)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empirical</a:t>
            </a:r>
            <a:r>
              <a:rPr lang="ru-RU" i="1"/>
              <a:t> </a:t>
            </a:r>
            <a:r>
              <a:rPr lang="ru-RU" i="1" err="1"/>
              <a:t>probability</a:t>
            </a:r>
            <a:r>
              <a:rPr lang="ru-RU" i="1"/>
              <a:t>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heads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heads_count</a:t>
            </a:r>
            <a:r>
              <a:rPr lang="ru-RU" i="1"/>
              <a:t> = </a:t>
            </a:r>
            <a:r>
              <a:rPr lang="ru-RU" i="1" err="1"/>
              <a:t>np.sum</a:t>
            </a:r>
            <a:r>
              <a:rPr lang="ru-RU" i="1"/>
              <a:t>(</a:t>
            </a:r>
            <a:r>
              <a:rPr lang="ru-RU" i="1" err="1"/>
              <a:t>flips</a:t>
            </a:r>
            <a:r>
              <a:rPr lang="ru-RU" i="1"/>
              <a:t> == 'H')</a:t>
            </a:r>
          </a:p>
          <a:p>
            <a:pPr marL="0" indent="0" latinLnBrk="1">
              <a:buNone/>
            </a:pPr>
            <a:r>
              <a:rPr lang="ru-RU" i="1" err="1"/>
              <a:t>total_flips</a:t>
            </a:r>
            <a:r>
              <a:rPr lang="ru-RU" i="1"/>
              <a:t> = </a:t>
            </a:r>
            <a:r>
              <a:rPr lang="ru-RU" i="1" err="1"/>
              <a:t>len</a:t>
            </a:r>
            <a:r>
              <a:rPr lang="ru-RU" i="1"/>
              <a:t>(</a:t>
            </a:r>
            <a:r>
              <a:rPr lang="ru-RU" i="1" err="1"/>
              <a:t>flips</a:t>
            </a:r>
            <a:r>
              <a:rPr lang="ru-RU" i="1"/>
              <a:t>)</a:t>
            </a:r>
          </a:p>
          <a:p>
            <a:pPr marL="0" indent="0" latinLnBrk="1">
              <a:buNone/>
            </a:pPr>
            <a:r>
              <a:rPr lang="ru-RU" i="1" err="1"/>
              <a:t>p_heads</a:t>
            </a:r>
            <a:r>
              <a:rPr lang="ru-RU" i="1"/>
              <a:t> = </a:t>
            </a:r>
            <a:r>
              <a:rPr lang="ru-RU" i="1" err="1"/>
              <a:t>heads_count</a:t>
            </a:r>
            <a:r>
              <a:rPr lang="ru-RU" i="1"/>
              <a:t> / </a:t>
            </a:r>
            <a:r>
              <a:rPr lang="ru-RU" i="1" err="1"/>
              <a:t>total_flips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f"Total</a:t>
            </a:r>
            <a:r>
              <a:rPr lang="ru-RU" i="1"/>
              <a:t> </a:t>
            </a:r>
            <a:r>
              <a:rPr lang="ru-RU" i="1" err="1"/>
              <a:t>flips</a:t>
            </a:r>
            <a:r>
              <a:rPr lang="ru-RU" i="1"/>
              <a:t>: {</a:t>
            </a:r>
            <a:r>
              <a:rPr lang="ru-RU" i="1" err="1"/>
              <a:t>total_flips</a:t>
            </a:r>
            <a:r>
              <a:rPr lang="ru-RU" i="1"/>
              <a:t>}")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f"Heads</a:t>
            </a:r>
            <a:r>
              <a:rPr lang="ru-RU" i="1"/>
              <a:t> </a:t>
            </a:r>
            <a:r>
              <a:rPr lang="ru-RU" i="1" err="1"/>
              <a:t>count</a:t>
            </a:r>
            <a:r>
              <a:rPr lang="ru-RU" i="1"/>
              <a:t>: {</a:t>
            </a:r>
            <a:r>
              <a:rPr lang="ru-RU" i="1" err="1"/>
              <a:t>heads_count</a:t>
            </a:r>
            <a:r>
              <a:rPr lang="ru-RU" i="1"/>
              <a:t>}")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f"Empirical</a:t>
            </a:r>
            <a:r>
              <a:rPr lang="ru-RU" i="1"/>
              <a:t> P(</a:t>
            </a:r>
            <a:r>
              <a:rPr lang="ru-RU" i="1" err="1"/>
              <a:t>Heads</a:t>
            </a:r>
            <a:r>
              <a:rPr lang="ru-RU" i="1"/>
              <a:t>): {p_heads:.4f}")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f"Theoretical</a:t>
            </a:r>
            <a:r>
              <a:rPr lang="ru-RU" i="1"/>
              <a:t> P(</a:t>
            </a:r>
            <a:r>
              <a:rPr lang="ru-RU" i="1" err="1"/>
              <a:t>Heads</a:t>
            </a:r>
            <a:r>
              <a:rPr lang="ru-RU" i="1"/>
              <a:t>): 0.5000")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Law</a:t>
            </a:r>
            <a:r>
              <a:rPr lang="ru-RU" i="1"/>
              <a:t>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Large</a:t>
            </a:r>
            <a:r>
              <a:rPr lang="ru-RU" i="1"/>
              <a:t> </a:t>
            </a:r>
            <a:r>
              <a:rPr lang="ru-RU" i="1" err="1"/>
              <a:t>Numbers</a:t>
            </a:r>
            <a:r>
              <a:rPr lang="ru-RU" i="1"/>
              <a:t> </a:t>
            </a:r>
            <a:r>
              <a:rPr lang="ru-RU" i="1" err="1"/>
              <a:t>visualization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cumulative_heads</a:t>
            </a:r>
            <a:r>
              <a:rPr lang="ru-RU" i="1"/>
              <a:t> = </a:t>
            </a:r>
            <a:r>
              <a:rPr lang="ru-RU" i="1" err="1"/>
              <a:t>np.cumsum</a:t>
            </a:r>
            <a:r>
              <a:rPr lang="ru-RU" i="1"/>
              <a:t>(</a:t>
            </a:r>
            <a:r>
              <a:rPr lang="ru-RU" i="1" err="1"/>
              <a:t>flips</a:t>
            </a:r>
            <a:r>
              <a:rPr lang="ru-RU" i="1"/>
              <a:t> == 'H')</a:t>
            </a:r>
          </a:p>
          <a:p>
            <a:pPr marL="0" indent="0" latinLnBrk="1">
              <a:buNone/>
            </a:pPr>
            <a:r>
              <a:rPr lang="ru-RU" i="1" err="1"/>
              <a:t>cumulative_probs</a:t>
            </a:r>
            <a:r>
              <a:rPr lang="ru-RU" i="1"/>
              <a:t> = </a:t>
            </a:r>
            <a:r>
              <a:rPr lang="ru-RU" i="1" err="1"/>
              <a:t>cumulative_heads</a:t>
            </a:r>
            <a:r>
              <a:rPr lang="ru-RU" i="1"/>
              <a:t> / </a:t>
            </a:r>
            <a:r>
              <a:rPr lang="ru-RU" i="1" err="1"/>
              <a:t>np.arange</a:t>
            </a:r>
            <a:r>
              <a:rPr lang="ru-RU" i="1"/>
              <a:t>(1, </a:t>
            </a:r>
            <a:r>
              <a:rPr lang="ru-RU" i="1" err="1"/>
              <a:t>len</a:t>
            </a:r>
            <a:r>
              <a:rPr lang="ru-RU" i="1"/>
              <a:t>(</a:t>
            </a:r>
            <a:r>
              <a:rPr lang="ru-RU" i="1" err="1"/>
              <a:t>flips</a:t>
            </a:r>
            <a:r>
              <a:rPr lang="ru-RU" i="1"/>
              <a:t>) + 1)</a:t>
            </a:r>
          </a:p>
          <a:p>
            <a:pPr marL="0" indent="0">
              <a:buNone/>
            </a:pPr>
            <a:endParaRPr lang="ru-RU" i="1"/>
          </a:p>
        </p:txBody>
      </p:sp>
    </p:spTree>
    <p:extLst>
      <p:ext uri="{BB962C8B-B14F-4D97-AF65-F5344CB8AC3E}">
        <p14:creationId xmlns:p14="http://schemas.microsoft.com/office/powerpoint/2010/main" val="54382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07895-8B63-8DB8-4081-954C090C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in</a:t>
            </a:r>
            <a:r>
              <a:rPr lang="ru-RU" b="1"/>
              <a:t> Real Data - </a:t>
            </a:r>
            <a:r>
              <a:rPr lang="ru-RU" b="1" err="1"/>
              <a:t>Missing</a:t>
            </a:r>
            <a:r>
              <a:rPr lang="ru-RU" b="1"/>
              <a:t> </a:t>
            </a:r>
            <a:r>
              <a:rPr lang="ru-RU" b="1" err="1"/>
              <a:t>Values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0B85FB-2567-AD2C-C8B2-53FC3DAB4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ru-RU"/>
              <a:t> </a:t>
            </a:r>
            <a:r>
              <a:rPr lang="ru-RU" err="1"/>
              <a:t>Example</a:t>
            </a:r>
            <a:r>
              <a:rPr lang="ru-RU"/>
              <a:t>: Customer 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15%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records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Instead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deleting</a:t>
            </a:r>
            <a:r>
              <a:rPr lang="ru-RU"/>
              <a:t>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mean</a:t>
            </a:r>
            <a:r>
              <a:rPr lang="ru-RU"/>
              <a:t> </a:t>
            </a:r>
            <a:r>
              <a:rPr lang="ru-RU" err="1"/>
              <a:t>imputation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missing</a:t>
            </a:r>
            <a:r>
              <a:rPr lang="ru-RU"/>
              <a:t>) = 0.15</a:t>
            </a:r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present</a:t>
            </a:r>
            <a:r>
              <a:rPr lang="ru-RU"/>
              <a:t>) = 0.85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decide</a:t>
            </a:r>
            <a:r>
              <a:rPr lang="ru-RU"/>
              <a:t> </a:t>
            </a:r>
            <a:r>
              <a:rPr lang="ru-RU" err="1"/>
              <a:t>imputation</a:t>
            </a:r>
            <a:r>
              <a:rPr lang="ru-RU"/>
              <a:t> </a:t>
            </a:r>
            <a:r>
              <a:rPr lang="ru-RU" err="1"/>
              <a:t>method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Multiple</a:t>
            </a:r>
            <a:r>
              <a:rPr lang="ru-RU"/>
              <a:t> </a:t>
            </a:r>
            <a:r>
              <a:rPr lang="ru-RU" err="1"/>
              <a:t>Imputation</a:t>
            </a:r>
            <a:r>
              <a:rPr lang="ru-RU"/>
              <a:t>: </a:t>
            </a:r>
            <a:r>
              <a:rPr lang="ru-RU" err="1"/>
              <a:t>Create</a:t>
            </a:r>
            <a:r>
              <a:rPr lang="ru-RU"/>
              <a:t> </a:t>
            </a:r>
            <a:r>
              <a:rPr lang="ru-RU" err="1"/>
              <a:t>multiple</a:t>
            </a:r>
            <a:r>
              <a:rPr lang="ru-RU"/>
              <a:t> </a:t>
            </a:r>
            <a:r>
              <a:rPr lang="ru-RU" err="1"/>
              <a:t>datasets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probable</a:t>
            </a:r>
            <a:r>
              <a:rPr lang="ru-RU"/>
              <a:t> </a:t>
            </a:r>
            <a:r>
              <a:rPr lang="ru-RU" err="1"/>
              <a:t>values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32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4D67B-B148-8E82-4D53-12A9D473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Quick Check - </a:t>
            </a:r>
            <a:r>
              <a:rPr lang="ru-RU" b="1" err="1"/>
              <a:t>Understanding</a:t>
            </a:r>
            <a:r>
              <a:rPr lang="ru-RU" b="1"/>
              <a:t> </a:t>
            </a:r>
            <a:r>
              <a:rPr lang="ru-RU" b="1" err="1"/>
              <a:t>Probability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0F0DC7-D30E-1F23-BE5A-C7D671165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ru-RU" b="1"/>
              <a:t>QUESTIONS:</a:t>
            </a:r>
          </a:p>
          <a:p>
            <a:pPr marL="0" indent="0" latinLnBrk="1">
              <a:buNone/>
            </a:pPr>
            <a:r>
              <a:rPr lang="ru-RU"/>
              <a:t>1. </a:t>
            </a:r>
            <a:r>
              <a:rPr lang="ru-RU" err="1"/>
              <a:t>If</a:t>
            </a:r>
            <a:r>
              <a:rPr lang="ru-RU"/>
              <a:t> P(</a:t>
            </a:r>
            <a:r>
              <a:rPr lang="ru-RU" err="1"/>
              <a:t>rain</a:t>
            </a:r>
            <a:r>
              <a:rPr lang="ru-RU"/>
              <a:t>) = 0.3, </a:t>
            </a:r>
            <a:r>
              <a:rPr lang="ru-RU" err="1"/>
              <a:t>what's</a:t>
            </a:r>
            <a:r>
              <a:rPr lang="ru-RU"/>
              <a:t> P(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rain</a:t>
            </a:r>
            <a:r>
              <a:rPr lang="ru-RU"/>
              <a:t>)?</a:t>
            </a:r>
          </a:p>
          <a:p>
            <a:pPr marL="0" indent="0" latinLnBrk="1">
              <a:buNone/>
            </a:pPr>
            <a:r>
              <a:rPr lang="ru-RU"/>
              <a:t>2. In 1000 </a:t>
            </a:r>
            <a:r>
              <a:rPr lang="ru-RU" err="1"/>
              <a:t>patient</a:t>
            </a:r>
            <a:r>
              <a:rPr lang="ru-RU"/>
              <a:t> </a:t>
            </a:r>
            <a:r>
              <a:rPr lang="ru-RU" err="1"/>
              <a:t>records</a:t>
            </a:r>
            <a:r>
              <a:rPr lang="ru-RU"/>
              <a:t>, 250 </a:t>
            </a:r>
            <a:r>
              <a:rPr lang="ru-RU" err="1"/>
              <a:t>have</a:t>
            </a:r>
            <a:r>
              <a:rPr lang="ru-RU"/>
              <a:t> </a:t>
            </a:r>
            <a:r>
              <a:rPr lang="ru-RU" err="1"/>
              <a:t>diabetes</a:t>
            </a:r>
            <a:r>
              <a:rPr lang="ru-RU"/>
              <a:t>. </a:t>
            </a:r>
            <a:r>
              <a:rPr lang="ru-RU" err="1"/>
              <a:t>What's</a:t>
            </a:r>
            <a:r>
              <a:rPr lang="ru-RU"/>
              <a:t> P(</a:t>
            </a:r>
            <a:r>
              <a:rPr lang="ru-RU" err="1"/>
              <a:t>diabetes</a:t>
            </a:r>
            <a:r>
              <a:rPr lang="ru-RU"/>
              <a:t>)?</a:t>
            </a:r>
          </a:p>
          <a:p>
            <a:pPr marL="0" indent="0" latinLnBrk="1">
              <a:buNone/>
            </a:pPr>
            <a:r>
              <a:rPr lang="ru-RU"/>
              <a:t>3. </a:t>
            </a:r>
            <a:r>
              <a:rPr lang="ru-RU" err="1"/>
              <a:t>If</a:t>
            </a:r>
            <a:r>
              <a:rPr lang="ru-RU"/>
              <a:t> a 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0.1% </a:t>
            </a:r>
            <a:r>
              <a:rPr lang="ru-RU" err="1"/>
              <a:t>side</a:t>
            </a:r>
            <a:r>
              <a:rPr lang="ru-RU"/>
              <a:t> </a:t>
            </a:r>
            <a:r>
              <a:rPr lang="ru-RU" err="1"/>
              <a:t>effects</a:t>
            </a:r>
            <a:r>
              <a:rPr lang="ru-RU"/>
              <a:t>, 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10,000 </a:t>
            </a:r>
            <a:r>
              <a:rPr lang="ru-RU" err="1"/>
              <a:t>patients</a:t>
            </a:r>
            <a:r>
              <a:rPr lang="ru-RU"/>
              <a:t>?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934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7761-BB3A-C75D-0A8E-47B7548DE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23834-2E4C-B79B-E7A2-3F08C233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Quick Check - </a:t>
            </a:r>
            <a:r>
              <a:rPr lang="ru-RU" b="1" err="1"/>
              <a:t>Understanding</a:t>
            </a:r>
            <a:r>
              <a:rPr lang="ru-RU" b="1"/>
              <a:t> </a:t>
            </a:r>
            <a:r>
              <a:rPr lang="ru-RU" b="1" err="1"/>
              <a:t>Probability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87C86-DE47-4855-DE44-9C05CB7EA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ru-RU" b="1"/>
              <a:t>QUESTIONS:</a:t>
            </a:r>
          </a:p>
          <a:p>
            <a:pPr marL="0" indent="0" latinLnBrk="1">
              <a:buNone/>
            </a:pPr>
            <a:r>
              <a:rPr lang="ru-RU"/>
              <a:t>1. </a:t>
            </a:r>
            <a:r>
              <a:rPr lang="ru-RU" err="1"/>
              <a:t>If</a:t>
            </a:r>
            <a:r>
              <a:rPr lang="ru-RU"/>
              <a:t> P(</a:t>
            </a:r>
            <a:r>
              <a:rPr lang="ru-RU" err="1"/>
              <a:t>rain</a:t>
            </a:r>
            <a:r>
              <a:rPr lang="ru-RU"/>
              <a:t>) = 0.3, </a:t>
            </a:r>
            <a:r>
              <a:rPr lang="ru-RU" err="1"/>
              <a:t>what's</a:t>
            </a:r>
            <a:r>
              <a:rPr lang="ru-RU"/>
              <a:t> P(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rain</a:t>
            </a:r>
            <a:r>
              <a:rPr lang="ru-RU"/>
              <a:t>)?</a:t>
            </a:r>
          </a:p>
          <a:p>
            <a:pPr marL="0" indent="0" latinLnBrk="1">
              <a:buNone/>
            </a:pPr>
            <a:r>
              <a:rPr lang="ru-RU"/>
              <a:t>2. In 1000 </a:t>
            </a:r>
            <a:r>
              <a:rPr lang="ru-RU" err="1"/>
              <a:t>patient</a:t>
            </a:r>
            <a:r>
              <a:rPr lang="ru-RU"/>
              <a:t> </a:t>
            </a:r>
            <a:r>
              <a:rPr lang="ru-RU" err="1"/>
              <a:t>records</a:t>
            </a:r>
            <a:r>
              <a:rPr lang="ru-RU"/>
              <a:t>, 250 </a:t>
            </a:r>
            <a:r>
              <a:rPr lang="ru-RU" err="1"/>
              <a:t>have</a:t>
            </a:r>
            <a:r>
              <a:rPr lang="ru-RU"/>
              <a:t> </a:t>
            </a:r>
            <a:r>
              <a:rPr lang="ru-RU" err="1"/>
              <a:t>diabetes</a:t>
            </a:r>
            <a:r>
              <a:rPr lang="ru-RU"/>
              <a:t>. </a:t>
            </a:r>
            <a:r>
              <a:rPr lang="ru-RU" err="1"/>
              <a:t>What's</a:t>
            </a:r>
            <a:r>
              <a:rPr lang="ru-RU"/>
              <a:t> P(</a:t>
            </a:r>
            <a:r>
              <a:rPr lang="ru-RU" err="1"/>
              <a:t>diabetes</a:t>
            </a:r>
            <a:r>
              <a:rPr lang="ru-RU"/>
              <a:t>)?</a:t>
            </a:r>
          </a:p>
          <a:p>
            <a:pPr marL="0" indent="0" latinLnBrk="1">
              <a:buNone/>
            </a:pPr>
            <a:r>
              <a:rPr lang="ru-RU"/>
              <a:t>3. </a:t>
            </a:r>
            <a:r>
              <a:rPr lang="ru-RU" err="1"/>
              <a:t>If</a:t>
            </a:r>
            <a:r>
              <a:rPr lang="ru-RU"/>
              <a:t> a 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0.1% </a:t>
            </a:r>
            <a:r>
              <a:rPr lang="ru-RU" err="1"/>
              <a:t>side</a:t>
            </a:r>
            <a:r>
              <a:rPr lang="ru-RU"/>
              <a:t> </a:t>
            </a:r>
            <a:r>
              <a:rPr lang="ru-RU" err="1"/>
              <a:t>effects</a:t>
            </a:r>
            <a:r>
              <a:rPr lang="ru-RU"/>
              <a:t>, 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10,000 </a:t>
            </a:r>
            <a:r>
              <a:rPr lang="ru-RU" err="1"/>
              <a:t>patients</a:t>
            </a:r>
            <a:r>
              <a:rPr lang="ru-RU"/>
              <a:t>?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ANSWERS:</a:t>
            </a:r>
          </a:p>
          <a:p>
            <a:pPr marL="0" indent="0" latinLnBrk="1">
              <a:buNone/>
            </a:pPr>
            <a:r>
              <a:rPr lang="ru-RU"/>
              <a:t>1. P(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rain</a:t>
            </a:r>
            <a:r>
              <a:rPr lang="ru-RU"/>
              <a:t>) = 1 - 0.3 = 0.7</a:t>
            </a:r>
          </a:p>
          <a:p>
            <a:pPr marL="0" indent="0" latinLnBrk="1">
              <a:buNone/>
            </a:pPr>
            <a:r>
              <a:rPr lang="ru-RU"/>
              <a:t>2. P(</a:t>
            </a:r>
            <a:r>
              <a:rPr lang="ru-RU" err="1"/>
              <a:t>diabetes</a:t>
            </a:r>
            <a:r>
              <a:rPr lang="ru-RU"/>
              <a:t>) = 250/1000 = 0.25</a:t>
            </a:r>
          </a:p>
          <a:p>
            <a:pPr marL="0" indent="0" latinLnBrk="1">
              <a:buNone/>
            </a:pPr>
            <a:r>
              <a:rPr lang="ru-RU"/>
              <a:t>3. </a:t>
            </a:r>
            <a:r>
              <a:rPr lang="ru-RU" err="1"/>
              <a:t>Expected</a:t>
            </a:r>
            <a:r>
              <a:rPr lang="ru-RU"/>
              <a:t> </a:t>
            </a:r>
            <a:r>
              <a:rPr lang="ru-RU" err="1"/>
              <a:t>side</a:t>
            </a:r>
            <a:r>
              <a:rPr lang="ru-RU"/>
              <a:t> </a:t>
            </a:r>
            <a:r>
              <a:rPr lang="ru-RU" err="1"/>
              <a:t>effects</a:t>
            </a:r>
            <a:r>
              <a:rPr lang="ru-RU"/>
              <a:t> = 0.001 × 10,000 = 10 </a:t>
            </a:r>
            <a:r>
              <a:rPr lang="ru-RU" err="1"/>
              <a:t>patients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095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66FF7-2868-93A8-6D45-23665853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COMBINING PROBABILITIES</a:t>
            </a:r>
            <a:r>
              <a:rPr lang="en-US" b="1"/>
              <a:t>: </a:t>
            </a:r>
            <a:r>
              <a:rPr lang="ru-RU" b="1" err="1"/>
              <a:t>Compound</a:t>
            </a:r>
            <a:r>
              <a:rPr lang="ru-RU" b="1"/>
              <a:t> </a:t>
            </a:r>
            <a:r>
              <a:rPr lang="ru-RU" b="1" err="1"/>
              <a:t>Events</a:t>
            </a:r>
            <a:r>
              <a:rPr lang="ru-RU" b="1"/>
              <a:t> - AND </a:t>
            </a:r>
            <a:r>
              <a:rPr lang="ru-RU" b="1" err="1"/>
              <a:t>vs</a:t>
            </a:r>
            <a:r>
              <a:rPr lang="ru-RU" b="1"/>
              <a:t> OR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BAE759-C138-C7BA-AAF9-872018E1F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ways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combine</a:t>
            </a:r>
            <a:r>
              <a:rPr lang="ru-RU"/>
              <a:t> </a:t>
            </a:r>
            <a:r>
              <a:rPr lang="ru-RU" err="1"/>
              <a:t>events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1. A AND B: </a:t>
            </a:r>
            <a:r>
              <a:rPr lang="ru-RU" err="1"/>
              <a:t>Both</a:t>
            </a:r>
            <a:r>
              <a:rPr lang="ru-RU"/>
              <a:t> </a:t>
            </a:r>
            <a:r>
              <a:rPr lang="ru-RU" err="1"/>
              <a:t>events</a:t>
            </a:r>
            <a:r>
              <a:rPr lang="ru-RU"/>
              <a:t> </a:t>
            </a:r>
            <a:r>
              <a:rPr lang="ru-RU" err="1"/>
              <a:t>occur</a:t>
            </a:r>
            <a:endParaRPr lang="ru-RU"/>
          </a:p>
          <a:p>
            <a:pPr marL="0" indent="0" latinLnBrk="1">
              <a:buNone/>
            </a:pPr>
            <a:r>
              <a:rPr lang="ru-RU"/>
              <a:t>2. A OR B: </a:t>
            </a:r>
            <a:r>
              <a:rPr lang="ru-RU" err="1"/>
              <a:t>At</a:t>
            </a:r>
            <a:r>
              <a:rPr lang="ru-RU"/>
              <a:t> </a:t>
            </a:r>
            <a:r>
              <a:rPr lang="ru-RU" err="1"/>
              <a:t>least</a:t>
            </a:r>
            <a:r>
              <a:rPr lang="ru-RU"/>
              <a:t>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event</a:t>
            </a:r>
            <a:r>
              <a:rPr lang="ru-RU"/>
              <a:t> </a:t>
            </a:r>
            <a:r>
              <a:rPr lang="ru-RU" err="1"/>
              <a:t>occurs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Venn</a:t>
            </a:r>
            <a:r>
              <a:rPr lang="ru-RU"/>
              <a:t> </a:t>
            </a:r>
            <a:r>
              <a:rPr lang="ru-RU" err="1"/>
              <a:t>Diagram</a:t>
            </a:r>
            <a:r>
              <a:rPr lang="ru-RU"/>
              <a:t> </a:t>
            </a:r>
            <a:r>
              <a:rPr lang="ru-RU" err="1"/>
              <a:t>Representation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• AND: </a:t>
            </a:r>
            <a:r>
              <a:rPr lang="ru-RU" err="1"/>
              <a:t>Intersection</a:t>
            </a:r>
            <a:r>
              <a:rPr lang="ru-RU"/>
              <a:t> (</a:t>
            </a:r>
            <a:r>
              <a:rPr lang="ru-RU" err="1"/>
              <a:t>overlap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OR: Union (</a:t>
            </a:r>
            <a:r>
              <a:rPr lang="ru-RU" err="1"/>
              <a:t>combined</a:t>
            </a:r>
            <a:r>
              <a:rPr lang="ru-RU"/>
              <a:t> </a:t>
            </a:r>
            <a:r>
              <a:rPr lang="ru-RU" err="1"/>
              <a:t>area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390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1D5A6-6684-0EFC-943A-207636A6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The </a:t>
            </a:r>
            <a:r>
              <a:rPr lang="ru-RU" b="1" err="1"/>
              <a:t>Addition</a:t>
            </a:r>
            <a:r>
              <a:rPr lang="ru-RU" b="1"/>
              <a:t> </a:t>
            </a:r>
            <a:r>
              <a:rPr lang="ru-RU" b="1" err="1"/>
              <a:t>Rule</a:t>
            </a:r>
            <a:r>
              <a:rPr lang="ru-RU" b="1"/>
              <a:t> (OR </a:t>
            </a:r>
            <a:r>
              <a:rPr lang="ru-RU" b="1" err="1"/>
              <a:t>Probability</a:t>
            </a:r>
            <a:r>
              <a:rPr lang="ru-RU" b="1"/>
              <a:t>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B00FDF-13E2-1AB7-E423-823D77CB8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ru-RU"/>
              <a:t>P(A OR B) = P(A) + P(B) - P(A AND B)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WHY </a:t>
            </a:r>
            <a:r>
              <a:rPr lang="ru-RU" err="1"/>
              <a:t>subtract</a:t>
            </a:r>
            <a:r>
              <a:rPr lang="ru-RU"/>
              <a:t> P(A AND B)? </a:t>
            </a:r>
          </a:p>
          <a:p>
            <a:pPr marL="0" indent="0" latinLnBrk="1">
              <a:buNone/>
            </a:pPr>
            <a:r>
              <a:rPr lang="ru-RU"/>
              <a:t>To </a:t>
            </a:r>
            <a:r>
              <a:rPr lang="ru-RU" err="1"/>
              <a:t>avoid</a:t>
            </a:r>
            <a:r>
              <a:rPr lang="ru-RU"/>
              <a:t> </a:t>
            </a:r>
            <a:r>
              <a:rPr lang="ru-RU" err="1"/>
              <a:t>double-counting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overlap</a:t>
            </a:r>
            <a:r>
              <a:rPr lang="ru-RU"/>
              <a:t>!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Special Case: MUTUALLY EXCLUSIVE </a:t>
            </a:r>
            <a:r>
              <a:rPr lang="ru-RU" err="1"/>
              <a:t>Events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If</a:t>
            </a:r>
            <a:r>
              <a:rPr lang="ru-RU"/>
              <a:t> A </a:t>
            </a:r>
            <a:r>
              <a:rPr lang="ru-RU" err="1"/>
              <a:t>and</a:t>
            </a:r>
            <a:r>
              <a:rPr lang="ru-RU"/>
              <a:t> B </a:t>
            </a:r>
            <a:r>
              <a:rPr lang="ru-RU" err="1"/>
              <a:t>cannot</a:t>
            </a:r>
            <a:r>
              <a:rPr lang="ru-RU"/>
              <a:t> </a:t>
            </a:r>
            <a:r>
              <a:rPr lang="ru-RU" err="1"/>
              <a:t>happen</a:t>
            </a:r>
            <a:r>
              <a:rPr lang="ru-RU"/>
              <a:t> </a:t>
            </a:r>
            <a:r>
              <a:rPr lang="ru-RU" err="1"/>
              <a:t>together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P(A OR B) = P(A) + P(B)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6972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2950D-7A14-FB3C-1968-31EA02D9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The </a:t>
            </a:r>
            <a:r>
              <a:rPr lang="ru-RU" b="1" err="1"/>
              <a:t>Multiplication</a:t>
            </a:r>
            <a:r>
              <a:rPr lang="ru-RU" b="1"/>
              <a:t> </a:t>
            </a:r>
            <a:r>
              <a:rPr lang="ru-RU" b="1" err="1"/>
              <a:t>Rule</a:t>
            </a:r>
            <a:r>
              <a:rPr lang="ru-RU" b="1"/>
              <a:t> (AND </a:t>
            </a:r>
            <a:r>
              <a:rPr lang="ru-RU" b="1" err="1"/>
              <a:t>Probability</a:t>
            </a:r>
            <a:r>
              <a:rPr lang="ru-RU" b="1"/>
              <a:t>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D94546-E065-29ED-BE7A-FCE9AED74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ru-RU"/>
              <a:t>P(A AND B) = P(A) × P(B|A)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Where</a:t>
            </a:r>
            <a:r>
              <a:rPr lang="ru-RU"/>
              <a:t> P(B|A) =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B GIVEN A </a:t>
            </a:r>
            <a:r>
              <a:rPr lang="ru-RU" err="1"/>
              <a:t>occurred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Special Case: INDEPENDENT </a:t>
            </a:r>
            <a:r>
              <a:rPr lang="ru-RU" err="1"/>
              <a:t>Events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If</a:t>
            </a:r>
            <a:r>
              <a:rPr lang="ru-RU"/>
              <a:t> A </a:t>
            </a:r>
            <a:r>
              <a:rPr lang="ru-RU" err="1"/>
              <a:t>doesn't</a:t>
            </a:r>
            <a:r>
              <a:rPr lang="ru-RU"/>
              <a:t> </a:t>
            </a:r>
            <a:r>
              <a:rPr lang="ru-RU" err="1"/>
              <a:t>affect</a:t>
            </a:r>
            <a:r>
              <a:rPr lang="ru-RU"/>
              <a:t> </a:t>
            </a:r>
            <a:r>
              <a:rPr lang="ru-RU" err="1"/>
              <a:t>B's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P(A AND B) = P(A) × P(</a:t>
            </a:r>
            <a:r>
              <a:rPr lang="ru-RU" err="1"/>
              <a:t>B</a:t>
            </a:r>
            <a:r>
              <a:rPr lang="ru-RU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8489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200F8-B2F8-0F28-1B73-8815A06D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Conditional</a:t>
            </a:r>
            <a:r>
              <a:rPr lang="ru-RU" b="1"/>
              <a:t> </a:t>
            </a:r>
            <a:r>
              <a:rPr lang="ru-RU" b="1" err="1"/>
              <a:t>Probability</a:t>
            </a:r>
            <a:r>
              <a:rPr lang="ru-RU" b="1"/>
              <a:t> - The Key Concept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3C452-6595-CDB1-6F37-B58501E14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ru-RU"/>
              <a:t>P(B|A) =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B GIVEN </a:t>
            </a:r>
            <a:r>
              <a:rPr lang="ru-RU" err="1"/>
              <a:t>that</a:t>
            </a:r>
            <a:r>
              <a:rPr lang="ru-RU"/>
              <a:t> A </a:t>
            </a:r>
            <a:r>
              <a:rPr lang="ru-RU" err="1"/>
              <a:t>occurred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Formula: P(B|A) = P(A AND B) / P(A)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954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981CA-3D02-801E-3722-6399CDE2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Python - </a:t>
            </a:r>
            <a:r>
              <a:rPr lang="ru-RU" b="1" err="1"/>
              <a:t>Conditional</a:t>
            </a:r>
            <a:r>
              <a:rPr lang="ru-RU" b="1"/>
              <a:t> </a:t>
            </a:r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Calculation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53CFB9-D6B4-6E22-D402-4391281CE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pandas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pd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sample</a:t>
            </a:r>
            <a:r>
              <a:rPr lang="ru-RU" i="1"/>
              <a:t> </a:t>
            </a:r>
            <a:r>
              <a:rPr lang="ru-RU" i="1" err="1"/>
              <a:t>customer</a:t>
            </a:r>
            <a:r>
              <a:rPr lang="ru-RU" i="1"/>
              <a:t> </a:t>
            </a:r>
            <a:r>
              <a:rPr lang="ru-RU" i="1" err="1"/>
              <a:t>data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data</a:t>
            </a:r>
            <a:r>
              <a:rPr lang="ru-RU"/>
              <a:t> = {</a:t>
            </a:r>
          </a:p>
          <a:p>
            <a:pPr marL="0" indent="0" latinLnBrk="1">
              <a:buNone/>
            </a:pPr>
            <a:r>
              <a:rPr lang="ru-RU"/>
              <a:t>    '</a:t>
            </a:r>
            <a:r>
              <a:rPr lang="ru-RU" err="1"/>
              <a:t>customer_id</a:t>
            </a:r>
            <a:r>
              <a:rPr lang="ru-RU"/>
              <a:t>': </a:t>
            </a:r>
            <a:r>
              <a:rPr lang="ru-RU" err="1"/>
              <a:t>range</a:t>
            </a:r>
            <a:r>
              <a:rPr lang="ru-RU"/>
              <a:t>(1000),</a:t>
            </a:r>
          </a:p>
          <a:p>
            <a:pPr marL="0" indent="0" latinLnBrk="1">
              <a:buNone/>
            </a:pPr>
            <a:r>
              <a:rPr lang="ru-RU"/>
              <a:t>    '</a:t>
            </a:r>
            <a:r>
              <a:rPr lang="ru-RU" err="1"/>
              <a:t>age_group</a:t>
            </a:r>
            <a:r>
              <a:rPr lang="ru-RU"/>
              <a:t>': </a:t>
            </a:r>
            <a:r>
              <a:rPr lang="ru-RU" err="1"/>
              <a:t>np.random.choice</a:t>
            </a:r>
            <a:r>
              <a:rPr lang="ru-RU"/>
              <a:t>(['Young', 'Middle', '</a:t>
            </a:r>
            <a:r>
              <a:rPr lang="ru-RU" err="1"/>
              <a:t>Senior</a:t>
            </a:r>
            <a:r>
              <a:rPr lang="ru-RU"/>
              <a:t>'], 1000, p=[0.3, 0.5, 0.2]),</a:t>
            </a:r>
          </a:p>
          <a:p>
            <a:pPr marL="0" indent="0" latinLnBrk="1">
              <a:buNone/>
            </a:pPr>
            <a:r>
              <a:rPr lang="ru-RU"/>
              <a:t>    '</a:t>
            </a:r>
            <a:r>
              <a:rPr lang="ru-RU" err="1"/>
              <a:t>purchased</a:t>
            </a:r>
            <a:r>
              <a:rPr lang="ru-RU"/>
              <a:t>': </a:t>
            </a:r>
            <a:r>
              <a:rPr lang="ru-RU" err="1"/>
              <a:t>np.random.binomial</a:t>
            </a:r>
            <a:r>
              <a:rPr lang="ru-RU"/>
              <a:t>(1, 0.1, 1000)  </a:t>
            </a:r>
            <a:endParaRPr lang="en-US"/>
          </a:p>
          <a:p>
            <a:pPr marL="0" indent="0" latinLnBrk="1">
              <a:buNone/>
            </a:pPr>
            <a:r>
              <a:rPr lang="ru-RU" i="1"/>
              <a:t># 10% </a:t>
            </a:r>
            <a:r>
              <a:rPr lang="ru-RU" i="1" err="1"/>
              <a:t>purchase</a:t>
            </a:r>
            <a:r>
              <a:rPr lang="ru-RU" i="1"/>
              <a:t> </a:t>
            </a:r>
            <a:r>
              <a:rPr lang="ru-RU" i="1" err="1"/>
              <a:t>rate</a:t>
            </a:r>
            <a:r>
              <a:rPr lang="ru-RU" i="1"/>
              <a:t> </a:t>
            </a:r>
            <a:r>
              <a:rPr lang="ru-RU" i="1" err="1"/>
              <a:t>overall</a:t>
            </a:r>
            <a:endParaRPr lang="ru-RU"/>
          </a:p>
          <a:p>
            <a:pPr marL="0" indent="0" latinLnBrk="1">
              <a:buNone/>
            </a:pPr>
            <a:r>
              <a:rPr lang="ru-RU"/>
              <a:t>}</a:t>
            </a:r>
          </a:p>
          <a:p>
            <a:pPr marL="0" indent="0" latinLnBrk="1">
              <a:buNone/>
            </a:pPr>
            <a:r>
              <a:rPr lang="ru-RU"/>
              <a:t> </a:t>
            </a:r>
            <a:r>
              <a:rPr lang="ru-RU" err="1"/>
              <a:t>df</a:t>
            </a:r>
            <a:r>
              <a:rPr lang="ru-RU"/>
              <a:t> = </a:t>
            </a:r>
            <a:r>
              <a:rPr lang="ru-RU" err="1"/>
              <a:t>pd.DataFrame</a:t>
            </a:r>
            <a:r>
              <a:rPr lang="ru-RU"/>
              <a:t>(</a:t>
            </a:r>
            <a:r>
              <a:rPr lang="ru-RU" err="1"/>
              <a:t>data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  <a:endParaRPr lang="en-US"/>
          </a:p>
          <a:p>
            <a:pPr marL="0" indent="0" latinLnBrk="1">
              <a:buNone/>
            </a:pPr>
            <a:endParaRPr lang="ru-RU"/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conditional</a:t>
            </a:r>
            <a:r>
              <a:rPr lang="ru-RU" i="1"/>
              <a:t> </a:t>
            </a:r>
            <a:r>
              <a:rPr lang="ru-RU" i="1" err="1"/>
              <a:t>probabilities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def</a:t>
            </a:r>
            <a:r>
              <a:rPr lang="ru-RU"/>
              <a:t> </a:t>
            </a:r>
            <a:r>
              <a:rPr lang="ru-RU" err="1"/>
              <a:t>conditional_prob</a:t>
            </a:r>
            <a:r>
              <a:rPr lang="ru-RU"/>
              <a:t>(</a:t>
            </a:r>
            <a:r>
              <a:rPr lang="ru-RU" err="1"/>
              <a:t>df</a:t>
            </a:r>
            <a:r>
              <a:rPr lang="ru-RU"/>
              <a:t>, </a:t>
            </a:r>
            <a:r>
              <a:rPr lang="ru-RU" err="1"/>
              <a:t>condition_A</a:t>
            </a:r>
            <a:r>
              <a:rPr lang="ru-RU"/>
              <a:t>, </a:t>
            </a:r>
            <a:r>
              <a:rPr lang="ru-RU" err="1"/>
              <a:t>condition_B</a:t>
            </a:r>
            <a:r>
              <a:rPr lang="ru-RU"/>
              <a:t>):</a:t>
            </a:r>
          </a:p>
          <a:p>
            <a:pPr marL="0" indent="0" latinLnBrk="1">
              <a:buNone/>
            </a:pPr>
            <a:r>
              <a:rPr lang="ru-RU"/>
              <a:t>    """</a:t>
            </a:r>
            <a:r>
              <a:rPr lang="ru-RU" err="1"/>
              <a:t>Calculate</a:t>
            </a:r>
            <a:r>
              <a:rPr lang="ru-RU"/>
              <a:t> P(B|A)"""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Filter </a:t>
            </a:r>
            <a:r>
              <a:rPr lang="ru-RU" i="1" err="1"/>
              <a:t>for</a:t>
            </a:r>
            <a:r>
              <a:rPr lang="ru-RU" i="1"/>
              <a:t> A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subset_A</a:t>
            </a:r>
            <a:r>
              <a:rPr lang="ru-RU"/>
              <a:t> = </a:t>
            </a:r>
            <a:r>
              <a:rPr lang="ru-RU" err="1"/>
              <a:t>df</a:t>
            </a:r>
            <a:r>
              <a:rPr lang="ru-RU"/>
              <a:t>[</a:t>
            </a:r>
            <a:r>
              <a:rPr lang="ru-RU" err="1"/>
              <a:t>condition_A</a:t>
            </a:r>
            <a:r>
              <a:rPr lang="ru-RU"/>
              <a:t>]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</a:t>
            </a:r>
            <a:r>
              <a:rPr lang="ru-RU" i="1" err="1"/>
              <a:t>Count</a:t>
            </a:r>
            <a:r>
              <a:rPr lang="ru-RU" i="1"/>
              <a:t> </a:t>
            </a:r>
            <a:r>
              <a:rPr lang="ru-RU" i="1" err="1"/>
              <a:t>how</a:t>
            </a:r>
            <a:r>
              <a:rPr lang="ru-RU" i="1"/>
              <a:t> </a:t>
            </a:r>
            <a:r>
              <a:rPr lang="ru-RU" i="1" err="1"/>
              <a:t>many</a:t>
            </a:r>
            <a:r>
              <a:rPr lang="ru-RU" i="1"/>
              <a:t> </a:t>
            </a:r>
            <a:r>
              <a:rPr lang="ru-RU" i="1" err="1"/>
              <a:t>in</a:t>
            </a:r>
            <a:r>
              <a:rPr lang="ru-RU" i="1"/>
              <a:t> A </a:t>
            </a:r>
            <a:r>
              <a:rPr lang="ru-RU" i="1" err="1"/>
              <a:t>also</a:t>
            </a:r>
            <a:r>
              <a:rPr lang="ru-RU" i="1"/>
              <a:t> </a:t>
            </a:r>
            <a:r>
              <a:rPr lang="ru-RU" i="1" err="1"/>
              <a:t>satisfy</a:t>
            </a:r>
            <a:r>
              <a:rPr lang="ru-RU" i="1"/>
              <a:t> B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count_A_and_B</a:t>
            </a:r>
            <a:r>
              <a:rPr lang="ru-RU"/>
              <a:t> = </a:t>
            </a:r>
            <a:r>
              <a:rPr lang="ru-RU" err="1"/>
              <a:t>subset_A</a:t>
            </a:r>
            <a:r>
              <a:rPr lang="ru-RU"/>
              <a:t>[</a:t>
            </a:r>
            <a:r>
              <a:rPr lang="ru-RU" err="1"/>
              <a:t>condition_B</a:t>
            </a:r>
            <a:r>
              <a:rPr lang="ru-RU"/>
              <a:t>].</a:t>
            </a:r>
            <a:r>
              <a:rPr lang="ru-RU" err="1"/>
              <a:t>shape</a:t>
            </a:r>
            <a:r>
              <a:rPr lang="ru-RU"/>
              <a:t>[0]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count_A</a:t>
            </a:r>
            <a:r>
              <a:rPr lang="ru-RU"/>
              <a:t> = </a:t>
            </a:r>
            <a:r>
              <a:rPr lang="ru-RU" err="1"/>
              <a:t>subset_A.shape</a:t>
            </a:r>
            <a:r>
              <a:rPr lang="ru-RU"/>
              <a:t>[0]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return</a:t>
            </a:r>
            <a:r>
              <a:rPr lang="ru-RU"/>
              <a:t> </a:t>
            </a:r>
            <a:r>
              <a:rPr lang="ru-RU" err="1"/>
              <a:t>count_A_and_B</a:t>
            </a:r>
            <a:r>
              <a:rPr lang="ru-RU"/>
              <a:t> / </a:t>
            </a:r>
            <a:r>
              <a:rPr lang="ru-RU" err="1"/>
              <a:t>count_A</a:t>
            </a:r>
            <a:r>
              <a:rPr lang="ru-RU"/>
              <a:t>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count_A</a:t>
            </a:r>
            <a:r>
              <a:rPr lang="ru-RU"/>
              <a:t> &gt; 0 </a:t>
            </a:r>
            <a:r>
              <a:rPr lang="ru-RU" err="1"/>
              <a:t>else</a:t>
            </a:r>
            <a:r>
              <a:rPr lang="ru-RU"/>
              <a:t> 0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Example</a:t>
            </a:r>
            <a:r>
              <a:rPr lang="ru-RU" i="1"/>
              <a:t>: P(</a:t>
            </a:r>
            <a:r>
              <a:rPr lang="ru-RU" i="1" err="1"/>
              <a:t>Purchase</a:t>
            </a:r>
            <a:r>
              <a:rPr lang="ru-RU" i="1"/>
              <a:t> | </a:t>
            </a:r>
            <a:r>
              <a:rPr lang="ru-RU" i="1" err="1"/>
              <a:t>Senior</a:t>
            </a:r>
            <a:r>
              <a:rPr lang="ru-RU" i="1"/>
              <a:t>)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p_purchase_given_senior</a:t>
            </a:r>
            <a:r>
              <a:rPr lang="ru-RU"/>
              <a:t> = </a:t>
            </a:r>
            <a:r>
              <a:rPr lang="ru-RU" err="1"/>
              <a:t>conditional_prob</a:t>
            </a:r>
            <a:r>
              <a:rPr lang="ru-RU"/>
              <a:t>(</a:t>
            </a:r>
            <a:r>
              <a:rPr lang="ru-RU" err="1"/>
              <a:t>df</a:t>
            </a:r>
            <a:r>
              <a:rPr lang="ru-RU"/>
              <a:t>, </a:t>
            </a:r>
          </a:p>
          <a:p>
            <a:pPr marL="0" indent="0" latinLnBrk="1">
              <a:buNone/>
            </a:pPr>
            <a:r>
              <a:rPr lang="ru-RU"/>
              <a:t>                                          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age_group</a:t>
            </a:r>
            <a:r>
              <a:rPr lang="ru-RU"/>
              <a:t>'] == '</a:t>
            </a:r>
            <a:r>
              <a:rPr lang="ru-RU" err="1"/>
              <a:t>Senior</a:t>
            </a:r>
            <a:r>
              <a:rPr lang="ru-RU"/>
              <a:t>',</a:t>
            </a:r>
          </a:p>
          <a:p>
            <a:pPr marL="0" indent="0" latinLnBrk="1">
              <a:buNone/>
            </a:pPr>
            <a:r>
              <a:rPr lang="ru-RU"/>
              <a:t>                                          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purchased</a:t>
            </a:r>
            <a:r>
              <a:rPr lang="ru-RU"/>
              <a:t>'] == 1)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</a:t>
            </a:r>
            <a:r>
              <a:rPr lang="ru-RU"/>
              <a:t>(</a:t>
            </a:r>
            <a:r>
              <a:rPr lang="ru-RU" err="1"/>
              <a:t>Purchase</a:t>
            </a:r>
            <a:r>
              <a:rPr lang="ru-RU"/>
              <a:t> | </a:t>
            </a:r>
            <a:r>
              <a:rPr lang="ru-RU" err="1"/>
              <a:t>Senior</a:t>
            </a:r>
            <a:r>
              <a:rPr lang="ru-RU"/>
              <a:t>) = {p_purchase_given_senior:.3f}")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123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9FF67-409F-39D7-F288-33D67CBD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Bayes</a:t>
            </a:r>
            <a:r>
              <a:rPr lang="ru-RU" b="1"/>
              <a:t>' </a:t>
            </a:r>
            <a:r>
              <a:rPr lang="ru-RU" b="1" err="1"/>
              <a:t>Theorem</a:t>
            </a:r>
            <a:r>
              <a:rPr lang="ru-RU" b="1"/>
              <a:t> - </a:t>
            </a:r>
            <a:r>
              <a:rPr lang="ru-RU" b="1" err="1"/>
              <a:t>Updating</a:t>
            </a:r>
            <a:r>
              <a:rPr lang="ru-RU" b="1"/>
              <a:t> </a:t>
            </a:r>
            <a:r>
              <a:rPr lang="ru-RU" b="1" err="1"/>
              <a:t>Beliefs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C60F86-D8C0-4218-FAF2-DB14DA746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latinLnBrk="1">
              <a:buNone/>
            </a:pPr>
            <a:r>
              <a:rPr lang="ru-RU"/>
              <a:t>THE MOST IMPORTANT THEOREM IN PROBABILITY!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Bayes</a:t>
            </a:r>
            <a:r>
              <a:rPr lang="ru-RU"/>
              <a:t>' </a:t>
            </a:r>
            <a:r>
              <a:rPr lang="ru-RU" err="1"/>
              <a:t>Theorem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P(A|B) = [P(B|A) × P(A)] / P(B)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Where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• P(A|B) = </a:t>
            </a:r>
            <a:r>
              <a:rPr lang="ru-RU" err="1"/>
              <a:t>Posterior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(</a:t>
            </a:r>
            <a:r>
              <a:rPr lang="ru-RU" err="1"/>
              <a:t>what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want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P(B|A) = </a:t>
            </a:r>
            <a:r>
              <a:rPr lang="ru-RU" err="1"/>
              <a:t>Likelihood</a:t>
            </a:r>
            <a:r>
              <a:rPr lang="ru-RU"/>
              <a:t> (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given</a:t>
            </a:r>
            <a:r>
              <a:rPr lang="ru-RU"/>
              <a:t> </a:t>
            </a:r>
            <a:r>
              <a:rPr lang="ru-RU" err="1"/>
              <a:t>hypothesis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P(A) = </a:t>
            </a:r>
            <a:r>
              <a:rPr lang="ru-RU" err="1"/>
              <a:t>Prior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(</a:t>
            </a:r>
            <a:r>
              <a:rPr lang="ru-RU" err="1"/>
              <a:t>initial</a:t>
            </a:r>
            <a:r>
              <a:rPr lang="ru-RU"/>
              <a:t> </a:t>
            </a:r>
            <a:r>
              <a:rPr lang="ru-RU" err="1"/>
              <a:t>belief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P(B) = </a:t>
            </a:r>
            <a:r>
              <a:rPr lang="ru-RU" err="1"/>
              <a:t>Evidence</a:t>
            </a:r>
            <a:r>
              <a:rPr lang="ru-RU"/>
              <a:t> (</a:t>
            </a:r>
            <a:r>
              <a:rPr lang="ru-RU" err="1"/>
              <a:t>marginal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62346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4FAB4-D325-A585-51E0-7930E510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Bayes</a:t>
            </a:r>
            <a:r>
              <a:rPr lang="ru-RU" b="1"/>
              <a:t>' </a:t>
            </a:r>
            <a:r>
              <a:rPr lang="ru-RU" b="1" err="1"/>
              <a:t>Theorem</a:t>
            </a:r>
            <a:r>
              <a:rPr lang="ru-RU" b="1"/>
              <a:t> </a:t>
            </a:r>
            <a:r>
              <a:rPr lang="ru-RU" b="1" err="1"/>
              <a:t>Example</a:t>
            </a:r>
            <a:r>
              <a:rPr lang="ru-RU" b="1"/>
              <a:t> - Medical </a:t>
            </a:r>
            <a:r>
              <a:rPr lang="ru-RU" b="1" err="1"/>
              <a:t>Testing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20CC7-1788-ED5C-BFCC-5503B94A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b="1"/>
              <a:t>PROBLEM: </a:t>
            </a:r>
            <a:r>
              <a:rPr lang="ru-RU" err="1"/>
              <a:t>Disease</a:t>
            </a:r>
            <a:r>
              <a:rPr lang="ru-RU"/>
              <a:t> </a:t>
            </a:r>
            <a:r>
              <a:rPr lang="ru-RU" err="1"/>
              <a:t>affects</a:t>
            </a:r>
            <a:r>
              <a:rPr lang="ru-RU"/>
              <a:t> 1%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en-US"/>
              <a:t>the population</a:t>
            </a:r>
            <a:endParaRPr lang="ru-RU"/>
          </a:p>
          <a:p>
            <a:pPr marL="0" indent="0" latinLnBrk="1">
              <a:buNone/>
            </a:pPr>
            <a:r>
              <a:rPr lang="en-US"/>
              <a:t>The test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99% </a:t>
            </a:r>
            <a:r>
              <a:rPr lang="ru-RU" err="1"/>
              <a:t>accurate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Positive</a:t>
            </a:r>
            <a:r>
              <a:rPr lang="ru-RU"/>
              <a:t> | </a:t>
            </a:r>
            <a:r>
              <a:rPr lang="ru-RU" err="1"/>
              <a:t>Disease</a:t>
            </a:r>
            <a:r>
              <a:rPr lang="ru-RU"/>
              <a:t>) = 0.99</a:t>
            </a:r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Negative</a:t>
            </a:r>
            <a:r>
              <a:rPr lang="ru-RU"/>
              <a:t> | </a:t>
            </a:r>
            <a:r>
              <a:rPr lang="ru-RU" err="1"/>
              <a:t>Healthy</a:t>
            </a:r>
            <a:r>
              <a:rPr lang="ru-RU"/>
              <a:t>) = 0.99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You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positive</a:t>
            </a:r>
            <a:r>
              <a:rPr lang="ru-RU"/>
              <a:t>. </a:t>
            </a:r>
            <a:r>
              <a:rPr lang="ru-RU" err="1"/>
              <a:t>What's</a:t>
            </a:r>
            <a:r>
              <a:rPr lang="ru-RU"/>
              <a:t> P(</a:t>
            </a:r>
            <a:r>
              <a:rPr lang="ru-RU" err="1"/>
              <a:t>Disease</a:t>
            </a:r>
            <a:r>
              <a:rPr lang="ru-RU"/>
              <a:t> | </a:t>
            </a:r>
            <a:r>
              <a:rPr lang="ru-RU" err="1"/>
              <a:t>Positive</a:t>
            </a:r>
            <a:r>
              <a:rPr lang="ru-RU"/>
              <a:t>)?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CALCULATION:</a:t>
            </a:r>
          </a:p>
          <a:p>
            <a:pPr marL="0" indent="0" latinLnBrk="1">
              <a:buNone/>
            </a:pPr>
            <a:r>
              <a:rPr lang="ru-RU"/>
              <a:t>P(</a:t>
            </a:r>
            <a:r>
              <a:rPr lang="ru-RU" err="1"/>
              <a:t>Disease</a:t>
            </a:r>
            <a:r>
              <a:rPr lang="ru-RU"/>
              <a:t>) = 0.01</a:t>
            </a:r>
          </a:p>
          <a:p>
            <a:pPr marL="0" indent="0" latinLnBrk="1">
              <a:buNone/>
            </a:pPr>
            <a:r>
              <a:rPr lang="ru-RU"/>
              <a:t>P(</a:t>
            </a:r>
            <a:r>
              <a:rPr lang="ru-RU" err="1"/>
              <a:t>Positive|Disease</a:t>
            </a:r>
            <a:r>
              <a:rPr lang="ru-RU"/>
              <a:t>) = 0.99</a:t>
            </a:r>
          </a:p>
          <a:p>
            <a:pPr marL="0" indent="0" latinLnBrk="1">
              <a:buNone/>
            </a:pPr>
            <a:r>
              <a:rPr lang="ru-RU"/>
              <a:t>P(</a:t>
            </a:r>
            <a:r>
              <a:rPr lang="ru-RU" err="1"/>
              <a:t>Positive</a:t>
            </a:r>
            <a:r>
              <a:rPr lang="ru-RU"/>
              <a:t>) = P(</a:t>
            </a:r>
            <a:r>
              <a:rPr lang="ru-RU" err="1"/>
              <a:t>Positive|Disease</a:t>
            </a:r>
            <a:r>
              <a:rPr lang="ru-RU"/>
              <a:t>)×P(</a:t>
            </a:r>
            <a:r>
              <a:rPr lang="ru-RU" err="1"/>
              <a:t>Disease</a:t>
            </a:r>
            <a:r>
              <a:rPr lang="ru-RU"/>
              <a:t>) + P(</a:t>
            </a:r>
            <a:r>
              <a:rPr lang="ru-RU" err="1"/>
              <a:t>Positive|Healthy</a:t>
            </a:r>
            <a:r>
              <a:rPr lang="ru-RU"/>
              <a:t>)×P(</a:t>
            </a:r>
            <a:r>
              <a:rPr lang="ru-RU" err="1"/>
              <a:t>Healthy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            = (0.99×0.01) + (0.01×0.99) = 0.0198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P(</a:t>
            </a:r>
            <a:r>
              <a:rPr lang="ru-RU" err="1"/>
              <a:t>Disease|Positive</a:t>
            </a:r>
            <a:r>
              <a:rPr lang="ru-RU"/>
              <a:t>) = (0.99 × 0.01) / 0.0198 ≈ 0.50</a:t>
            </a:r>
          </a:p>
        </p:txBody>
      </p:sp>
    </p:spTree>
    <p:extLst>
      <p:ext uri="{BB962C8B-B14F-4D97-AF65-F5344CB8AC3E}">
        <p14:creationId xmlns:p14="http://schemas.microsoft.com/office/powerpoint/2010/main" val="126016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52066-0C51-C46C-B4E3-9BA3C5FE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Python - </a:t>
            </a:r>
            <a:r>
              <a:rPr lang="ru-RU" b="1" err="1"/>
              <a:t>Implementing</a:t>
            </a:r>
            <a:r>
              <a:rPr lang="ru-RU" b="1"/>
              <a:t> </a:t>
            </a:r>
            <a:r>
              <a:rPr lang="ru-RU" b="1" err="1"/>
              <a:t>Bayes</a:t>
            </a:r>
            <a:r>
              <a:rPr lang="ru-RU" b="1"/>
              <a:t>' </a:t>
            </a:r>
            <a:r>
              <a:rPr lang="ru-RU" b="1" err="1"/>
              <a:t>Theorem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D5F83C-E8AB-3512-C7CD-5461F03C1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err="1"/>
              <a:t>def</a:t>
            </a:r>
            <a:r>
              <a:rPr lang="ru-RU"/>
              <a:t> </a:t>
            </a:r>
            <a:r>
              <a:rPr lang="ru-RU" err="1"/>
              <a:t>bayes_theorem</a:t>
            </a:r>
            <a:r>
              <a:rPr lang="ru-RU"/>
              <a:t>(</a:t>
            </a:r>
            <a:r>
              <a:rPr lang="ru-RU" err="1"/>
              <a:t>prior</a:t>
            </a:r>
            <a:r>
              <a:rPr lang="ru-RU"/>
              <a:t>, </a:t>
            </a:r>
            <a:r>
              <a:rPr lang="ru-RU" err="1"/>
              <a:t>likelihood</a:t>
            </a:r>
            <a:r>
              <a:rPr lang="ru-RU"/>
              <a:t>, </a:t>
            </a:r>
            <a:r>
              <a:rPr lang="ru-RU" err="1"/>
              <a:t>evidence</a:t>
            </a:r>
            <a:r>
              <a:rPr lang="ru-RU"/>
              <a:t>):</a:t>
            </a:r>
          </a:p>
          <a:p>
            <a:pPr marL="0" indent="0" latinLnBrk="1">
              <a:buNone/>
            </a:pPr>
            <a:r>
              <a:rPr lang="ru-RU"/>
              <a:t>    """</a:t>
            </a:r>
            <a:r>
              <a:rPr lang="ru-RU" err="1"/>
              <a:t>Calculate</a:t>
            </a:r>
            <a:r>
              <a:rPr lang="ru-RU"/>
              <a:t> </a:t>
            </a:r>
            <a:r>
              <a:rPr lang="ru-RU" err="1"/>
              <a:t>posterior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using</a:t>
            </a:r>
            <a:r>
              <a:rPr lang="ru-RU"/>
              <a:t> </a:t>
            </a:r>
            <a:r>
              <a:rPr lang="ru-RU" err="1"/>
              <a:t>Bayes</a:t>
            </a:r>
            <a:r>
              <a:rPr lang="ru-RU"/>
              <a:t>' </a:t>
            </a:r>
            <a:r>
              <a:rPr lang="ru-RU" err="1"/>
              <a:t>theorem</a:t>
            </a:r>
            <a:r>
              <a:rPr lang="ru-RU"/>
              <a:t>"""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return</a:t>
            </a:r>
            <a:r>
              <a:rPr lang="ru-RU"/>
              <a:t> (</a:t>
            </a:r>
            <a:r>
              <a:rPr lang="ru-RU" err="1"/>
              <a:t>likelihood</a:t>
            </a:r>
            <a:r>
              <a:rPr lang="ru-RU"/>
              <a:t> * </a:t>
            </a:r>
            <a:r>
              <a:rPr lang="ru-RU" err="1"/>
              <a:t>prior</a:t>
            </a:r>
            <a:r>
              <a:rPr lang="ru-RU"/>
              <a:t>) / </a:t>
            </a:r>
            <a:r>
              <a:rPr lang="ru-RU" err="1"/>
              <a:t>evidence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Medical </a:t>
            </a:r>
            <a:r>
              <a:rPr lang="ru-RU" i="1" err="1"/>
              <a:t>test</a:t>
            </a:r>
            <a:r>
              <a:rPr lang="ru-RU" i="1"/>
              <a:t> </a:t>
            </a:r>
            <a:r>
              <a:rPr lang="ru-RU" i="1" err="1"/>
              <a:t>example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p_disease</a:t>
            </a:r>
            <a:r>
              <a:rPr lang="ru-RU"/>
              <a:t> = 0.01  </a:t>
            </a:r>
            <a:r>
              <a:rPr lang="ru-RU" i="1"/>
              <a:t># </a:t>
            </a:r>
            <a:r>
              <a:rPr lang="ru-RU" i="1" err="1"/>
              <a:t>Prior</a:t>
            </a:r>
            <a:r>
              <a:rPr lang="ru-RU" i="1"/>
              <a:t>: 1% </a:t>
            </a:r>
            <a:r>
              <a:rPr lang="ru-RU" i="1" err="1"/>
              <a:t>have</a:t>
            </a:r>
            <a:r>
              <a:rPr lang="ru-RU" i="1"/>
              <a:t> </a:t>
            </a:r>
            <a:r>
              <a:rPr lang="ru-RU" i="1" err="1"/>
              <a:t>disease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p_positive_given_disease</a:t>
            </a:r>
            <a:r>
              <a:rPr lang="ru-RU"/>
              <a:t> = 0.99  </a:t>
            </a:r>
            <a:r>
              <a:rPr lang="ru-RU" i="1"/>
              <a:t># Test </a:t>
            </a:r>
            <a:r>
              <a:rPr lang="ru-RU" i="1" err="1"/>
              <a:t>sensitivity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p_positive_given_healthy</a:t>
            </a:r>
            <a:r>
              <a:rPr lang="ru-RU"/>
              <a:t> = 0.01  </a:t>
            </a:r>
            <a:r>
              <a:rPr lang="ru-RU" i="1"/>
              <a:t># </a:t>
            </a:r>
            <a:r>
              <a:rPr lang="ru-RU" i="1" err="1"/>
              <a:t>False</a:t>
            </a:r>
            <a:r>
              <a:rPr lang="ru-RU" i="1"/>
              <a:t> </a:t>
            </a:r>
            <a:r>
              <a:rPr lang="ru-RU" i="1" err="1"/>
              <a:t>positive</a:t>
            </a:r>
            <a:r>
              <a:rPr lang="ru-RU" i="1"/>
              <a:t> </a:t>
            </a:r>
            <a:r>
              <a:rPr lang="ru-RU" i="1" err="1"/>
              <a:t>rate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p_healthy</a:t>
            </a:r>
            <a:r>
              <a:rPr lang="ru-RU"/>
              <a:t> = 1 - </a:t>
            </a:r>
            <a:r>
              <a:rPr lang="ru-RU" err="1"/>
              <a:t>p_disease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evidence</a:t>
            </a:r>
            <a:r>
              <a:rPr lang="ru-RU" i="1"/>
              <a:t>: P(</a:t>
            </a:r>
            <a:r>
              <a:rPr lang="ru-RU" i="1" err="1"/>
              <a:t>Positive</a:t>
            </a:r>
            <a:r>
              <a:rPr lang="ru-RU" i="1"/>
              <a:t>)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p_positive</a:t>
            </a:r>
            <a:r>
              <a:rPr lang="ru-RU"/>
              <a:t> = (</a:t>
            </a:r>
            <a:r>
              <a:rPr lang="ru-RU" err="1"/>
              <a:t>p_positive_given_disease</a:t>
            </a:r>
            <a:r>
              <a:rPr lang="ru-RU"/>
              <a:t> * </a:t>
            </a:r>
            <a:r>
              <a:rPr lang="ru-RU" err="1"/>
              <a:t>p_disease</a:t>
            </a:r>
            <a:r>
              <a:rPr lang="ru-RU"/>
              <a:t> + </a:t>
            </a:r>
          </a:p>
          <a:p>
            <a:pPr marL="0" indent="0" latinLnBrk="1">
              <a:buNone/>
            </a:pPr>
            <a:r>
              <a:rPr lang="ru-RU"/>
              <a:t>              </a:t>
            </a:r>
            <a:r>
              <a:rPr lang="ru-RU" err="1"/>
              <a:t>p_positive_given_healthy</a:t>
            </a:r>
            <a:r>
              <a:rPr lang="ru-RU"/>
              <a:t> * </a:t>
            </a:r>
            <a:r>
              <a:rPr lang="ru-RU" err="1"/>
              <a:t>p_healthy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posterior</a:t>
            </a:r>
            <a:r>
              <a:rPr lang="ru-RU" i="1"/>
              <a:t>: P(</a:t>
            </a:r>
            <a:r>
              <a:rPr lang="ru-RU" i="1" err="1"/>
              <a:t>Disease|Positive</a:t>
            </a:r>
            <a:r>
              <a:rPr lang="ru-RU" i="1"/>
              <a:t>)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p_disease_given_positive</a:t>
            </a:r>
            <a:r>
              <a:rPr lang="ru-RU"/>
              <a:t> = </a:t>
            </a:r>
            <a:r>
              <a:rPr lang="ru-RU" err="1"/>
              <a:t>bayes_theorem</a:t>
            </a:r>
            <a:r>
              <a:rPr lang="ru-RU"/>
              <a:t>(</a:t>
            </a:r>
            <a:r>
              <a:rPr lang="ru-RU" err="1"/>
              <a:t>p_disease</a:t>
            </a:r>
            <a:r>
              <a:rPr lang="ru-RU"/>
              <a:t>, </a:t>
            </a:r>
          </a:p>
          <a:p>
            <a:pPr marL="0" indent="0" latinLnBrk="1">
              <a:buNone/>
            </a:pPr>
            <a:r>
              <a:rPr lang="ru-RU"/>
              <a:t>                                        </a:t>
            </a:r>
            <a:r>
              <a:rPr lang="ru-RU" err="1"/>
              <a:t>p_positive_given_disease</a:t>
            </a:r>
            <a:r>
              <a:rPr lang="ru-RU"/>
              <a:t>, </a:t>
            </a:r>
          </a:p>
          <a:p>
            <a:pPr marL="0" indent="0" latinLnBrk="1">
              <a:buNone/>
            </a:pPr>
            <a:r>
              <a:rPr lang="ru-RU"/>
              <a:t>                                        </a:t>
            </a:r>
            <a:r>
              <a:rPr lang="ru-RU" err="1"/>
              <a:t>p_positive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f"Prior</a:t>
            </a:r>
            <a:r>
              <a:rPr lang="ru-RU"/>
              <a:t> P(</a:t>
            </a:r>
            <a:r>
              <a:rPr lang="ru-RU" err="1"/>
              <a:t>Disease</a:t>
            </a:r>
            <a:r>
              <a:rPr lang="ru-RU"/>
              <a:t>): {p_disease:.3f}")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f"Posterior</a:t>
            </a:r>
            <a:r>
              <a:rPr lang="ru-RU"/>
              <a:t> P(</a:t>
            </a:r>
            <a:r>
              <a:rPr lang="ru-RU" err="1"/>
              <a:t>Disease|Positive</a:t>
            </a:r>
            <a:r>
              <a:rPr lang="ru-RU"/>
              <a:t>): {p_disease_given_positive:.3f}")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(f"\</a:t>
            </a:r>
            <a:r>
              <a:rPr lang="ru-RU" err="1"/>
              <a:t>nEven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positive</a:t>
            </a:r>
            <a:r>
              <a:rPr lang="ru-RU"/>
              <a:t> </a:t>
            </a:r>
            <a:r>
              <a:rPr lang="ru-RU" err="1"/>
              <a:t>test</a:t>
            </a:r>
            <a:r>
              <a:rPr lang="ru-RU"/>
              <a:t>, </a:t>
            </a:r>
            <a:r>
              <a:rPr lang="ru-RU" err="1"/>
              <a:t>only</a:t>
            </a:r>
            <a:r>
              <a:rPr lang="ru-RU"/>
              <a:t> {</a:t>
            </a:r>
            <a:r>
              <a:rPr lang="ru-RU" err="1"/>
              <a:t>p_disease_given_positive</a:t>
            </a:r>
            <a:r>
              <a:rPr lang="ru-RU"/>
              <a:t>*100:.1f}% </a:t>
            </a:r>
            <a:r>
              <a:rPr lang="ru-RU" err="1"/>
              <a:t>chance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disease</a:t>
            </a:r>
            <a:r>
              <a:rPr lang="ru-RU"/>
              <a:t>!")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142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8C60B-C21F-67B3-2D11-16A4DCDCD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Independence</a:t>
            </a:r>
            <a:r>
              <a:rPr lang="ru-RU" b="1"/>
              <a:t> </a:t>
            </a:r>
            <a:r>
              <a:rPr lang="ru-RU" b="1" err="1"/>
              <a:t>vs</a:t>
            </a:r>
            <a:r>
              <a:rPr lang="ru-RU" b="1"/>
              <a:t> </a:t>
            </a:r>
            <a:r>
              <a:rPr lang="ru-RU" b="1" err="1"/>
              <a:t>Dependence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88870-BF20-897E-9AE4-10F66C25D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ru-RU"/>
              <a:t>INDEPENDENT EVENTS: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Occurrence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A </a:t>
            </a:r>
            <a:r>
              <a:rPr lang="ru-RU" err="1"/>
              <a:t>doesn't</a:t>
            </a:r>
            <a:r>
              <a:rPr lang="ru-RU"/>
              <a:t> </a:t>
            </a:r>
            <a:r>
              <a:rPr lang="ru-RU" err="1"/>
              <a:t>affect</a:t>
            </a:r>
            <a:r>
              <a:rPr lang="ru-RU"/>
              <a:t> </a:t>
            </a:r>
            <a:r>
              <a:rPr lang="en-US"/>
              <a:t>the 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B</a:t>
            </a:r>
          </a:p>
          <a:p>
            <a:pPr marL="0" indent="0" latinLnBrk="1">
              <a:buNone/>
            </a:pPr>
            <a:r>
              <a:rPr lang="ru-RU"/>
              <a:t>• P(B|A) = P(B)</a:t>
            </a:r>
          </a:p>
          <a:p>
            <a:pPr marL="0" indent="0" latinLnBrk="1">
              <a:buNone/>
            </a:pPr>
            <a:r>
              <a:rPr lang="ru-RU"/>
              <a:t>• P(A AND B) = P(A) × P(B)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Coin</a:t>
            </a:r>
            <a:r>
              <a:rPr lang="ru-RU"/>
              <a:t> </a:t>
            </a:r>
            <a:r>
              <a:rPr lang="ru-RU" err="1"/>
              <a:t>flips</a:t>
            </a:r>
            <a:r>
              <a:rPr lang="ru-RU"/>
              <a:t>, 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DEPENDENT EVENTS: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Occurrence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A </a:t>
            </a:r>
            <a:r>
              <a:rPr lang="ru-RU" err="1"/>
              <a:t>affects</a:t>
            </a:r>
            <a:r>
              <a:rPr lang="ru-RU"/>
              <a:t> </a:t>
            </a:r>
            <a:r>
              <a:rPr lang="en-US"/>
              <a:t>the 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B</a:t>
            </a:r>
          </a:p>
          <a:p>
            <a:pPr marL="0" indent="0" latinLnBrk="1">
              <a:buNone/>
            </a:pPr>
            <a:r>
              <a:rPr lang="ru-RU"/>
              <a:t>• P(B|A) ≠ P(B)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Drawing</a:t>
            </a:r>
            <a:r>
              <a:rPr lang="ru-RU"/>
              <a:t> </a:t>
            </a:r>
            <a:r>
              <a:rPr lang="ru-RU" err="1"/>
              <a:t>cards</a:t>
            </a:r>
            <a:r>
              <a:rPr lang="ru-RU"/>
              <a:t> </a:t>
            </a:r>
            <a:r>
              <a:rPr lang="ru-RU" err="1"/>
              <a:t>without</a:t>
            </a:r>
            <a:r>
              <a:rPr lang="ru-RU"/>
              <a:t> </a:t>
            </a:r>
            <a:r>
              <a:rPr lang="ru-RU" err="1"/>
              <a:t>replacement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084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2EE76-60A3-18CD-D216-4817BD0C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Testing</a:t>
            </a:r>
            <a:r>
              <a:rPr lang="ru-RU" b="1"/>
              <a:t> </a:t>
            </a:r>
            <a:r>
              <a:rPr lang="ru-RU" b="1" err="1"/>
              <a:t>for</a:t>
            </a:r>
            <a:r>
              <a:rPr lang="ru-RU" b="1"/>
              <a:t> </a:t>
            </a:r>
            <a:r>
              <a:rPr lang="ru-RU" b="1" err="1"/>
              <a:t>Independence</a:t>
            </a:r>
            <a:r>
              <a:rPr lang="ru-RU" b="1"/>
              <a:t> </a:t>
            </a:r>
            <a:r>
              <a:rPr lang="ru-RU" b="1" err="1"/>
              <a:t>in</a:t>
            </a:r>
            <a:r>
              <a:rPr lang="ru-RU" b="1"/>
              <a:t> 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913B45-88D8-582A-0DA0-FFAA149C5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pandas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pd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numpy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np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dataset</a:t>
            </a:r>
            <a:r>
              <a:rPr lang="ru-RU" i="1"/>
              <a:t> </a:t>
            </a:r>
            <a:r>
              <a:rPr lang="ru-RU" i="1" err="1"/>
              <a:t>with</a:t>
            </a:r>
            <a:r>
              <a:rPr lang="ru-RU" i="1"/>
              <a:t> </a:t>
            </a:r>
            <a:r>
              <a:rPr lang="ru-RU" i="1" err="1"/>
              <a:t>potentially</a:t>
            </a:r>
            <a:r>
              <a:rPr lang="ru-RU" i="1"/>
              <a:t> </a:t>
            </a:r>
            <a:r>
              <a:rPr lang="ru-RU" i="1" err="1"/>
              <a:t>dependent</a:t>
            </a:r>
            <a:r>
              <a:rPr lang="ru-RU" i="1"/>
              <a:t> </a:t>
            </a:r>
            <a:r>
              <a:rPr lang="ru-RU" i="1" err="1"/>
              <a:t>variables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np.random.seed</a:t>
            </a:r>
            <a:r>
              <a:rPr lang="ru-RU" i="1"/>
              <a:t>(42)</a:t>
            </a:r>
          </a:p>
          <a:p>
            <a:pPr marL="0" indent="0" latinLnBrk="1">
              <a:buNone/>
            </a:pPr>
            <a:r>
              <a:rPr lang="ru-RU" i="1"/>
              <a:t>n = 1000</a:t>
            </a:r>
          </a:p>
          <a:p>
            <a:pPr marL="0" indent="0" latinLnBrk="1">
              <a:buNone/>
            </a:pPr>
            <a:r>
              <a:rPr lang="ru-RU" i="1" err="1"/>
              <a:t>data</a:t>
            </a:r>
            <a:r>
              <a:rPr lang="ru-RU" i="1"/>
              <a:t> = </a:t>
            </a:r>
            <a:r>
              <a:rPr lang="ru-RU" i="1" err="1"/>
              <a:t>pd.DataFrame</a:t>
            </a:r>
            <a:r>
              <a:rPr lang="ru-RU" i="1"/>
              <a:t>({</a:t>
            </a:r>
          </a:p>
          <a:p>
            <a:pPr marL="0" indent="0" latinLnBrk="1">
              <a:buNone/>
            </a:pPr>
            <a:r>
              <a:rPr lang="ru-RU" i="1"/>
              <a:t>    '</a:t>
            </a:r>
            <a:r>
              <a:rPr lang="ru-RU" i="1" err="1"/>
              <a:t>visited_blog</a:t>
            </a:r>
            <a:r>
              <a:rPr lang="ru-RU" i="1"/>
              <a:t>': </a:t>
            </a:r>
            <a:r>
              <a:rPr lang="ru-RU" i="1" err="1"/>
              <a:t>np.random.binomial</a:t>
            </a:r>
            <a:r>
              <a:rPr lang="ru-RU" i="1"/>
              <a:t>(1, 0.3, n),</a:t>
            </a:r>
          </a:p>
          <a:p>
            <a:pPr marL="0" indent="0" latinLnBrk="1">
              <a:buNone/>
            </a:pPr>
            <a:r>
              <a:rPr lang="ru-RU" i="1"/>
              <a:t>    '</a:t>
            </a:r>
            <a:r>
              <a:rPr lang="ru-RU" i="1" err="1"/>
              <a:t>subscribed</a:t>
            </a:r>
            <a:r>
              <a:rPr lang="ru-RU" i="1"/>
              <a:t>': </a:t>
            </a:r>
            <a:r>
              <a:rPr lang="ru-RU" i="1" err="1"/>
              <a:t>np.zeros</a:t>
            </a:r>
            <a:r>
              <a:rPr lang="ru-RU" i="1"/>
              <a:t>(n)</a:t>
            </a:r>
          </a:p>
          <a:p>
            <a:pPr marL="0" indent="0" latinLnBrk="1">
              <a:buNone/>
            </a:pPr>
            <a:r>
              <a:rPr lang="ru-RU" i="1"/>
              <a:t>})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dependence</a:t>
            </a:r>
            <a:r>
              <a:rPr lang="ru-RU" i="1"/>
              <a:t>: </a:t>
            </a:r>
            <a:r>
              <a:rPr lang="ru-RU" i="1" err="1"/>
              <a:t>Blog</a:t>
            </a:r>
            <a:r>
              <a:rPr lang="ru-RU" i="1"/>
              <a:t> </a:t>
            </a:r>
            <a:r>
              <a:rPr lang="ru-RU" i="1" err="1"/>
              <a:t>visitors</a:t>
            </a:r>
            <a:r>
              <a:rPr lang="ru-RU" i="1"/>
              <a:t> </a:t>
            </a:r>
            <a:r>
              <a:rPr lang="ru-RU" i="1" err="1"/>
              <a:t>more</a:t>
            </a:r>
            <a:r>
              <a:rPr lang="ru-RU" i="1"/>
              <a:t> </a:t>
            </a:r>
            <a:r>
              <a:rPr lang="ru-RU" i="1" err="1"/>
              <a:t>likely</a:t>
            </a:r>
            <a:r>
              <a:rPr lang="ru-RU" i="1"/>
              <a:t> </a:t>
            </a:r>
            <a:r>
              <a:rPr lang="ru-RU" i="1" err="1"/>
              <a:t>to</a:t>
            </a:r>
            <a:r>
              <a:rPr lang="ru-RU" i="1"/>
              <a:t> </a:t>
            </a:r>
            <a:r>
              <a:rPr lang="ru-RU" i="1" err="1"/>
              <a:t>subscribe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for</a:t>
            </a:r>
            <a:r>
              <a:rPr lang="ru-RU" i="1"/>
              <a:t> i </a:t>
            </a:r>
            <a:r>
              <a:rPr lang="ru-RU" i="1" err="1"/>
              <a:t>in</a:t>
            </a:r>
            <a:r>
              <a:rPr lang="ru-RU" i="1"/>
              <a:t> </a:t>
            </a:r>
            <a:r>
              <a:rPr lang="ru-RU" i="1" err="1"/>
              <a:t>range</a:t>
            </a:r>
            <a:r>
              <a:rPr lang="ru-RU" i="1"/>
              <a:t>(n):</a:t>
            </a:r>
          </a:p>
          <a:p>
            <a:pPr marL="0" indent="0" latinLnBrk="1">
              <a:buNone/>
            </a:pPr>
            <a:r>
              <a:rPr lang="ru-RU" i="1"/>
              <a:t>    </a:t>
            </a:r>
            <a:r>
              <a:rPr lang="ru-RU" i="1" err="1"/>
              <a:t>if</a:t>
            </a:r>
            <a:r>
              <a:rPr lang="ru-RU" i="1"/>
              <a:t> </a:t>
            </a:r>
            <a:r>
              <a:rPr lang="ru-RU" i="1" err="1"/>
              <a:t>data.loc</a:t>
            </a:r>
            <a:r>
              <a:rPr lang="ru-RU" i="1"/>
              <a:t>[i, '</a:t>
            </a:r>
            <a:r>
              <a:rPr lang="ru-RU" i="1" err="1"/>
              <a:t>visited_blog</a:t>
            </a:r>
            <a:r>
              <a:rPr lang="ru-RU" i="1"/>
              <a:t>'] == 1:</a:t>
            </a:r>
          </a:p>
          <a:p>
            <a:pPr marL="0" indent="0" latinLnBrk="1">
              <a:buNone/>
            </a:pPr>
            <a:r>
              <a:rPr lang="ru-RU" i="1"/>
              <a:t>        </a:t>
            </a:r>
            <a:r>
              <a:rPr lang="ru-RU" i="1" err="1"/>
              <a:t>data.loc</a:t>
            </a:r>
            <a:r>
              <a:rPr lang="ru-RU" i="1"/>
              <a:t>[i, '</a:t>
            </a:r>
            <a:r>
              <a:rPr lang="ru-RU" i="1" err="1"/>
              <a:t>subscribed</a:t>
            </a:r>
            <a:r>
              <a:rPr lang="ru-RU" i="1"/>
              <a:t>'] = </a:t>
            </a:r>
            <a:r>
              <a:rPr lang="ru-RU" i="1" err="1"/>
              <a:t>np.random.binomial</a:t>
            </a:r>
            <a:r>
              <a:rPr lang="ru-RU" i="1"/>
              <a:t>(1, 0.15)  # 15% </a:t>
            </a:r>
            <a:r>
              <a:rPr lang="ru-RU" i="1" err="1"/>
              <a:t>if</a:t>
            </a:r>
            <a:r>
              <a:rPr lang="ru-RU" i="1"/>
              <a:t> </a:t>
            </a:r>
            <a:r>
              <a:rPr lang="ru-RU" i="1" err="1"/>
              <a:t>visited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    </a:t>
            </a:r>
            <a:r>
              <a:rPr lang="ru-RU" i="1" err="1"/>
              <a:t>else</a:t>
            </a:r>
            <a:r>
              <a:rPr lang="ru-RU" i="1"/>
              <a:t>:</a:t>
            </a:r>
          </a:p>
          <a:p>
            <a:pPr marL="0" indent="0" latinLnBrk="1">
              <a:buNone/>
            </a:pPr>
            <a:r>
              <a:rPr lang="ru-RU" i="1"/>
              <a:t>        </a:t>
            </a:r>
            <a:r>
              <a:rPr lang="ru-RU" i="1" err="1"/>
              <a:t>data.loc</a:t>
            </a:r>
            <a:r>
              <a:rPr lang="ru-RU" i="1"/>
              <a:t>[i, '</a:t>
            </a:r>
            <a:r>
              <a:rPr lang="ru-RU" i="1" err="1"/>
              <a:t>subscribed</a:t>
            </a:r>
            <a:r>
              <a:rPr lang="ru-RU" i="1"/>
              <a:t>'] = </a:t>
            </a:r>
            <a:r>
              <a:rPr lang="ru-RU" i="1" err="1"/>
              <a:t>np.random.binomial</a:t>
            </a:r>
            <a:r>
              <a:rPr lang="ru-RU" i="1"/>
              <a:t>(1, 0.02)  # 2% </a:t>
            </a:r>
            <a:r>
              <a:rPr lang="ru-RU" i="1" err="1"/>
              <a:t>if</a:t>
            </a:r>
            <a:r>
              <a:rPr lang="ru-RU" i="1"/>
              <a:t> </a:t>
            </a:r>
            <a:r>
              <a:rPr lang="ru-RU" i="1" err="1"/>
              <a:t>not</a:t>
            </a:r>
            <a:r>
              <a:rPr lang="ru-RU" i="1"/>
              <a:t> </a:t>
            </a:r>
            <a:r>
              <a:rPr lang="ru-RU" i="1" err="1"/>
              <a:t>visited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Test </a:t>
            </a:r>
            <a:r>
              <a:rPr lang="ru-RU" i="1" err="1"/>
              <a:t>for</a:t>
            </a:r>
            <a:r>
              <a:rPr lang="ru-RU" i="1"/>
              <a:t> </a:t>
            </a:r>
            <a:r>
              <a:rPr lang="ru-RU" i="1" err="1"/>
              <a:t>independence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p_subscribe</a:t>
            </a:r>
            <a:r>
              <a:rPr lang="ru-RU" i="1"/>
              <a:t> = </a:t>
            </a:r>
            <a:r>
              <a:rPr lang="ru-RU" i="1" err="1"/>
              <a:t>data</a:t>
            </a:r>
            <a:r>
              <a:rPr lang="ru-RU" i="1"/>
              <a:t>['</a:t>
            </a:r>
            <a:r>
              <a:rPr lang="ru-RU" i="1" err="1"/>
              <a:t>subscribed</a:t>
            </a:r>
            <a:r>
              <a:rPr lang="ru-RU" i="1"/>
              <a:t>'].</a:t>
            </a:r>
            <a:r>
              <a:rPr lang="ru-RU" i="1" err="1"/>
              <a:t>mean</a:t>
            </a:r>
            <a:r>
              <a:rPr lang="ru-RU" i="1"/>
              <a:t>()</a:t>
            </a:r>
          </a:p>
          <a:p>
            <a:pPr marL="0" indent="0" latinLnBrk="1">
              <a:buNone/>
            </a:pPr>
            <a:r>
              <a:rPr lang="ru-RU" i="1" err="1"/>
              <a:t>p_subscribe_given_blog</a:t>
            </a:r>
            <a:r>
              <a:rPr lang="ru-RU" i="1"/>
              <a:t> = </a:t>
            </a:r>
            <a:r>
              <a:rPr lang="ru-RU" i="1" err="1"/>
              <a:t>data</a:t>
            </a:r>
            <a:r>
              <a:rPr lang="ru-RU" i="1"/>
              <a:t>[</a:t>
            </a:r>
            <a:r>
              <a:rPr lang="ru-RU" i="1" err="1"/>
              <a:t>data</a:t>
            </a:r>
            <a:r>
              <a:rPr lang="ru-RU" i="1"/>
              <a:t>['</a:t>
            </a:r>
            <a:r>
              <a:rPr lang="ru-RU" i="1" err="1"/>
              <a:t>visited_blog</a:t>
            </a:r>
            <a:r>
              <a:rPr lang="ru-RU" i="1"/>
              <a:t>'] == 1]['</a:t>
            </a:r>
            <a:r>
              <a:rPr lang="ru-RU" i="1" err="1"/>
              <a:t>subscribed</a:t>
            </a:r>
            <a:r>
              <a:rPr lang="ru-RU" i="1"/>
              <a:t>'].</a:t>
            </a:r>
            <a:r>
              <a:rPr lang="ru-RU" i="1" err="1"/>
              <a:t>mean</a:t>
            </a:r>
            <a:r>
              <a:rPr lang="ru-RU" i="1"/>
              <a:t>()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f"Overall</a:t>
            </a:r>
            <a:r>
              <a:rPr lang="ru-RU" i="1"/>
              <a:t> P(</a:t>
            </a:r>
            <a:r>
              <a:rPr lang="ru-RU" i="1" err="1"/>
              <a:t>Subscribe</a:t>
            </a:r>
            <a:r>
              <a:rPr lang="ru-RU" i="1"/>
              <a:t>): {p_subscribe:.3f}")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f"P</a:t>
            </a:r>
            <a:r>
              <a:rPr lang="ru-RU" i="1"/>
              <a:t>(</a:t>
            </a:r>
            <a:r>
              <a:rPr lang="ru-RU" i="1" err="1"/>
              <a:t>Subscribe</a:t>
            </a:r>
            <a:r>
              <a:rPr lang="ru-RU" i="1"/>
              <a:t> | </a:t>
            </a:r>
            <a:r>
              <a:rPr lang="ru-RU" i="1" err="1"/>
              <a:t>Visited</a:t>
            </a:r>
            <a:r>
              <a:rPr lang="ru-RU" i="1"/>
              <a:t> </a:t>
            </a:r>
            <a:r>
              <a:rPr lang="ru-RU" i="1" err="1"/>
              <a:t>Blog</a:t>
            </a:r>
            <a:r>
              <a:rPr lang="ru-RU" i="1"/>
              <a:t>): {p_subscribe_given_blog:.3f}")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(f"\</a:t>
            </a:r>
            <a:r>
              <a:rPr lang="ru-RU" i="1" err="1"/>
              <a:t>nIndependent</a:t>
            </a:r>
            <a:r>
              <a:rPr lang="ru-RU" i="1"/>
              <a:t>? {</a:t>
            </a:r>
            <a:r>
              <a:rPr lang="ru-RU" i="1" err="1"/>
              <a:t>abs</a:t>
            </a:r>
            <a:r>
              <a:rPr lang="ru-RU" i="1"/>
              <a:t>(</a:t>
            </a:r>
            <a:r>
              <a:rPr lang="ru-RU" i="1" err="1"/>
              <a:t>p_subscribe</a:t>
            </a:r>
            <a:r>
              <a:rPr lang="ru-RU" i="1"/>
              <a:t> - </a:t>
            </a:r>
            <a:r>
              <a:rPr lang="ru-RU" i="1" err="1"/>
              <a:t>p_subscribe_given_blog</a:t>
            </a:r>
            <a:r>
              <a:rPr lang="ru-RU" i="1"/>
              <a:t>) &lt; 0.01}")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("</a:t>
            </a:r>
            <a:r>
              <a:rPr lang="ru-RU" i="1" err="1"/>
              <a:t>These</a:t>
            </a:r>
            <a:r>
              <a:rPr lang="ru-RU" i="1"/>
              <a:t> </a:t>
            </a:r>
            <a:r>
              <a:rPr lang="ru-RU" i="1" err="1"/>
              <a:t>events</a:t>
            </a:r>
            <a:r>
              <a:rPr lang="ru-RU" i="1"/>
              <a:t> </a:t>
            </a:r>
            <a:r>
              <a:rPr lang="ru-RU" i="1" err="1"/>
              <a:t>are</a:t>
            </a:r>
            <a:r>
              <a:rPr lang="ru-RU" i="1"/>
              <a:t> DEPENDENT - </a:t>
            </a:r>
            <a:r>
              <a:rPr lang="ru-RU" i="1" err="1"/>
              <a:t>blog</a:t>
            </a:r>
            <a:r>
              <a:rPr lang="ru-RU" i="1"/>
              <a:t> </a:t>
            </a:r>
            <a:r>
              <a:rPr lang="ru-RU" i="1" err="1"/>
              <a:t>visits</a:t>
            </a:r>
            <a:r>
              <a:rPr lang="ru-RU" i="1"/>
              <a:t> </a:t>
            </a:r>
            <a:r>
              <a:rPr lang="ru-RU" i="1" err="1"/>
              <a:t>affect</a:t>
            </a:r>
            <a:r>
              <a:rPr lang="ru-RU" i="1"/>
              <a:t> </a:t>
            </a:r>
            <a:r>
              <a:rPr lang="ru-RU" i="1" err="1"/>
              <a:t>subscription</a:t>
            </a:r>
            <a:r>
              <a:rPr lang="ru-RU" i="1"/>
              <a:t> </a:t>
            </a:r>
            <a:r>
              <a:rPr lang="ru-RU" i="1" err="1"/>
              <a:t>probability</a:t>
            </a:r>
            <a:r>
              <a:rPr lang="ru-RU" i="1"/>
              <a:t>")</a:t>
            </a:r>
          </a:p>
          <a:p>
            <a:pPr marL="0" indent="0">
              <a:buNone/>
            </a:pPr>
            <a:endParaRPr lang="ru-RU" i="1"/>
          </a:p>
        </p:txBody>
      </p:sp>
    </p:spTree>
    <p:extLst>
      <p:ext uri="{BB962C8B-B14F-4D97-AF65-F5344CB8AC3E}">
        <p14:creationId xmlns:p14="http://schemas.microsoft.com/office/powerpoint/2010/main" val="1587916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49BED-0801-D2B7-8267-D525F133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The </a:t>
            </a:r>
            <a:r>
              <a:rPr lang="ru-RU" b="1" err="1"/>
              <a:t>Law</a:t>
            </a:r>
            <a:r>
              <a:rPr lang="ru-RU" b="1"/>
              <a:t> </a:t>
            </a:r>
            <a:r>
              <a:rPr lang="ru-RU" b="1" err="1"/>
              <a:t>of</a:t>
            </a:r>
            <a:r>
              <a:rPr lang="ru-RU" b="1"/>
              <a:t> Total </a:t>
            </a:r>
            <a:r>
              <a:rPr lang="ru-RU" b="1" err="1"/>
              <a:t>Probability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4F5CD5-92CE-DA57-1FF0-6B7D10056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/>
              <a:t>For </a:t>
            </a:r>
            <a:r>
              <a:rPr lang="ru-RU" err="1"/>
              <a:t>partitioning</a:t>
            </a:r>
            <a:r>
              <a:rPr lang="ru-RU"/>
              <a:t>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space</a:t>
            </a:r>
            <a:r>
              <a:rPr lang="ru-RU"/>
              <a:t> </a:t>
            </a:r>
            <a:r>
              <a:rPr lang="ru-RU" err="1"/>
              <a:t>into</a:t>
            </a:r>
            <a:r>
              <a:rPr lang="ru-RU"/>
              <a:t> </a:t>
            </a:r>
            <a:r>
              <a:rPr lang="ru-RU" err="1"/>
              <a:t>exhaustive</a:t>
            </a:r>
            <a:r>
              <a:rPr lang="ru-RU"/>
              <a:t>, </a:t>
            </a:r>
            <a:r>
              <a:rPr lang="ru-RU" err="1"/>
              <a:t>mutually</a:t>
            </a:r>
            <a:r>
              <a:rPr lang="ru-RU"/>
              <a:t> </a:t>
            </a:r>
            <a:r>
              <a:rPr lang="ru-RU" err="1"/>
              <a:t>exclusive</a:t>
            </a:r>
            <a:r>
              <a:rPr lang="ru-RU"/>
              <a:t> </a:t>
            </a:r>
            <a:r>
              <a:rPr lang="ru-RU" err="1"/>
              <a:t>events</a:t>
            </a:r>
            <a:r>
              <a:rPr lang="ru-RU"/>
              <a:t> B₁, B₂, ..., Bₙ: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P(A) = Σ P(A|Bᵢ) × P(Bᵢ)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APPLICATION: </a:t>
            </a:r>
            <a:r>
              <a:rPr lang="ru-RU" err="1"/>
              <a:t>Calculating</a:t>
            </a:r>
            <a:r>
              <a:rPr lang="ru-RU"/>
              <a:t> </a:t>
            </a:r>
            <a:r>
              <a:rPr lang="ru-RU" err="1"/>
              <a:t>marginal</a:t>
            </a:r>
            <a:r>
              <a:rPr lang="ru-RU"/>
              <a:t> </a:t>
            </a:r>
            <a:r>
              <a:rPr lang="ru-RU" err="1"/>
              <a:t>probabilities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 err="1"/>
              <a:t>Example</a:t>
            </a:r>
            <a:r>
              <a:rPr lang="ru-RU" b="1"/>
              <a:t>: </a:t>
            </a:r>
            <a:r>
              <a:rPr lang="ru-RU"/>
              <a:t>Customer </a:t>
            </a:r>
            <a:r>
              <a:rPr lang="ru-RU" err="1"/>
              <a:t>purchases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three</a:t>
            </a:r>
            <a:r>
              <a:rPr lang="ru-RU"/>
              <a:t> </a:t>
            </a:r>
            <a:r>
              <a:rPr lang="ru-RU" err="1"/>
              <a:t>regions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P(Region1) = 0.5, P(Purchase|Region1) = 0.1</a:t>
            </a:r>
          </a:p>
          <a:p>
            <a:pPr marL="0" indent="0" latinLnBrk="1">
              <a:buNone/>
            </a:pPr>
            <a:r>
              <a:rPr lang="ru-RU"/>
              <a:t>• P(Region2) = 0.3, P(Purchase|Region2) = 0.2  </a:t>
            </a:r>
          </a:p>
          <a:p>
            <a:pPr marL="0" indent="0" latinLnBrk="1">
              <a:buNone/>
            </a:pPr>
            <a:r>
              <a:rPr lang="ru-RU"/>
              <a:t>• P(Region3) = 0.2, P(Purchase|Region3) = 0.05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P(</a:t>
            </a:r>
            <a:r>
              <a:rPr lang="ru-RU" err="1"/>
              <a:t>Purchase</a:t>
            </a:r>
            <a:r>
              <a:rPr lang="ru-RU"/>
              <a:t>) = (0.1×0.5) + (0.2×0.3) + (0.05×0.2) = 0.12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1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79A33-C1D7-AFBC-67EA-5F6CC3B4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Practice</a:t>
            </a:r>
            <a:r>
              <a:rPr lang="ru-RU" b="1"/>
              <a:t> </a:t>
            </a:r>
            <a:r>
              <a:rPr lang="ru-RU" b="1" err="1"/>
              <a:t>Problems</a:t>
            </a:r>
            <a:r>
              <a:rPr lang="ru-RU" b="1"/>
              <a:t> - </a:t>
            </a:r>
            <a:r>
              <a:rPr lang="ru-RU" b="1" err="1"/>
              <a:t>Combining</a:t>
            </a:r>
            <a:r>
              <a:rPr lang="ru-RU" b="1"/>
              <a:t> </a:t>
            </a:r>
            <a:r>
              <a:rPr lang="ru-RU" b="1" err="1"/>
              <a:t>Probabilities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E7348F-F2ED-CFD1-CD83-072AAE57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/>
              <a:t>PROBLEM 1: </a:t>
            </a:r>
            <a:r>
              <a:rPr lang="ru-RU" err="1"/>
              <a:t>Email</a:t>
            </a:r>
            <a:r>
              <a:rPr lang="ru-RU"/>
              <a:t> System</a:t>
            </a:r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Spam</a:t>
            </a:r>
            <a:r>
              <a:rPr lang="ru-RU"/>
              <a:t>) = 0.3</a:t>
            </a:r>
          </a:p>
          <a:p>
            <a:pPr marL="0" indent="0" latinLnBrk="1">
              <a:buNone/>
            </a:pPr>
            <a:r>
              <a:rPr lang="ru-RU"/>
              <a:t>• P("</a:t>
            </a:r>
            <a:r>
              <a:rPr lang="ru-RU" err="1"/>
              <a:t>Winner</a:t>
            </a:r>
            <a:r>
              <a:rPr lang="ru-RU"/>
              <a:t>"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subject</a:t>
            </a:r>
            <a:r>
              <a:rPr lang="ru-RU"/>
              <a:t> | </a:t>
            </a:r>
            <a:r>
              <a:rPr lang="ru-RU" err="1"/>
              <a:t>Spam</a:t>
            </a:r>
            <a:r>
              <a:rPr lang="ru-RU"/>
              <a:t>) = 0.8</a:t>
            </a:r>
          </a:p>
          <a:p>
            <a:pPr marL="0" indent="0" latinLnBrk="1">
              <a:buNone/>
            </a:pPr>
            <a:r>
              <a:rPr lang="ru-RU"/>
              <a:t>• P("</a:t>
            </a:r>
            <a:r>
              <a:rPr lang="ru-RU" err="1"/>
              <a:t>Winner</a:t>
            </a:r>
            <a:r>
              <a:rPr lang="ru-RU"/>
              <a:t>"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subject</a:t>
            </a:r>
            <a:r>
              <a:rPr lang="ru-RU"/>
              <a:t> |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Spam</a:t>
            </a:r>
            <a:r>
              <a:rPr lang="ru-RU"/>
              <a:t>) = 0.01</a:t>
            </a:r>
          </a:p>
          <a:p>
            <a:pPr marL="0" indent="0" latinLnBrk="1">
              <a:buNone/>
            </a:pPr>
            <a:r>
              <a:rPr lang="ru-RU" err="1"/>
              <a:t>What's</a:t>
            </a:r>
            <a:r>
              <a:rPr lang="ru-RU"/>
              <a:t> P(</a:t>
            </a:r>
            <a:r>
              <a:rPr lang="ru-RU" err="1"/>
              <a:t>Spam</a:t>
            </a:r>
            <a:r>
              <a:rPr lang="ru-RU"/>
              <a:t> | "</a:t>
            </a:r>
            <a:r>
              <a:rPr lang="ru-RU" err="1"/>
              <a:t>Winner</a:t>
            </a:r>
            <a:r>
              <a:rPr lang="ru-RU"/>
              <a:t>"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subject</a:t>
            </a:r>
            <a:r>
              <a:rPr lang="ru-RU"/>
              <a:t>)?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PROBLEM 2: Customer </a:t>
            </a:r>
            <a:r>
              <a:rPr lang="ru-RU" err="1"/>
              <a:t>Journey</a:t>
            </a:r>
            <a:endParaRPr lang="ru-RU"/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Visit</a:t>
            </a:r>
            <a:r>
              <a:rPr lang="ru-RU"/>
              <a:t> </a:t>
            </a:r>
            <a:r>
              <a:rPr lang="ru-RU" err="1"/>
              <a:t>website</a:t>
            </a:r>
            <a:r>
              <a:rPr lang="ru-RU"/>
              <a:t>) = 0.4</a:t>
            </a:r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Add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cart</a:t>
            </a:r>
            <a:r>
              <a:rPr lang="ru-RU"/>
              <a:t> | </a:t>
            </a:r>
            <a:r>
              <a:rPr lang="ru-RU" err="1"/>
              <a:t>Visit</a:t>
            </a:r>
            <a:r>
              <a:rPr lang="ru-RU"/>
              <a:t>) = 0.2</a:t>
            </a:r>
          </a:p>
          <a:p>
            <a:pPr marL="0" indent="0" latinLnBrk="1">
              <a:buNone/>
            </a:pPr>
            <a:r>
              <a:rPr lang="ru-RU"/>
              <a:t>• P(</a:t>
            </a:r>
            <a:r>
              <a:rPr lang="ru-RU" err="1"/>
              <a:t>Purchase</a:t>
            </a:r>
            <a:r>
              <a:rPr lang="ru-RU"/>
              <a:t> | </a:t>
            </a:r>
            <a:r>
              <a:rPr lang="ru-RU" err="1"/>
              <a:t>Add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cart</a:t>
            </a:r>
            <a:r>
              <a:rPr lang="ru-RU"/>
              <a:t>) = 0.5</a:t>
            </a:r>
          </a:p>
          <a:p>
            <a:pPr marL="0" indent="0" latinLnBrk="1">
              <a:buNone/>
            </a:pPr>
            <a:r>
              <a:rPr lang="ru-RU" err="1"/>
              <a:t>What's</a:t>
            </a:r>
            <a:r>
              <a:rPr lang="ru-RU"/>
              <a:t> P(</a:t>
            </a:r>
            <a:r>
              <a:rPr lang="ru-RU" err="1"/>
              <a:t>Purchase</a:t>
            </a:r>
            <a:r>
              <a:rPr lang="ru-RU"/>
              <a:t> </a:t>
            </a:r>
            <a:r>
              <a:rPr lang="ru-RU" err="1"/>
              <a:t>overall</a:t>
            </a:r>
            <a:r>
              <a:rPr lang="ru-RU"/>
              <a:t>)?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PROBLEM 3: A/B </a:t>
            </a:r>
            <a:r>
              <a:rPr lang="ru-RU" err="1"/>
              <a:t>Testing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Variant</a:t>
            </a:r>
            <a:r>
              <a:rPr lang="ru-RU"/>
              <a:t> A: 50/1000 </a:t>
            </a:r>
            <a:r>
              <a:rPr lang="ru-RU" err="1"/>
              <a:t>conversions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Variant</a:t>
            </a:r>
            <a:r>
              <a:rPr lang="ru-RU"/>
              <a:t> B: 65/1000 </a:t>
            </a:r>
            <a:r>
              <a:rPr lang="ru-RU" err="1"/>
              <a:t>conversions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difference</a:t>
            </a:r>
            <a:r>
              <a:rPr lang="ru-RU"/>
              <a:t> </a:t>
            </a:r>
            <a:r>
              <a:rPr lang="ru-RU" err="1"/>
              <a:t>statistically</a:t>
            </a:r>
            <a:r>
              <a:rPr lang="ru-RU"/>
              <a:t> </a:t>
            </a:r>
            <a:r>
              <a:rPr lang="ru-RU" err="1"/>
              <a:t>significant</a:t>
            </a:r>
            <a:r>
              <a:rPr lang="ru-RU"/>
              <a:t>?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719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3AA80-8B3C-FDA6-929F-79C84206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RANDOM VARIABLES &amp; DISTRIBUTIONS</a:t>
            </a:r>
            <a:r>
              <a:rPr lang="en-US" b="1"/>
              <a:t>: </a:t>
            </a:r>
            <a:r>
              <a:rPr lang="ru-RU" b="1" err="1"/>
              <a:t>Random</a:t>
            </a:r>
            <a:r>
              <a:rPr lang="ru-RU" b="1"/>
              <a:t> </a:t>
            </a:r>
            <a:r>
              <a:rPr lang="ru-RU" b="1" err="1"/>
              <a:t>Variables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56B2DC-A65E-8C55-32D8-437AE74C6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ru-RU"/>
              <a:t>RANDOM VARIABLE (X): </a:t>
            </a:r>
            <a:r>
              <a:rPr lang="ru-RU" err="1"/>
              <a:t>Numerical</a:t>
            </a:r>
            <a:r>
              <a:rPr lang="ru-RU"/>
              <a:t> </a:t>
            </a:r>
            <a:r>
              <a:rPr lang="ru-RU" err="1"/>
              <a:t>summary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random</a:t>
            </a:r>
            <a:r>
              <a:rPr lang="ru-RU"/>
              <a:t> </a:t>
            </a:r>
            <a:r>
              <a:rPr lang="ru-RU" err="1"/>
              <a:t>outcome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Maps </a:t>
            </a:r>
            <a:r>
              <a:rPr lang="ru-RU" err="1"/>
              <a:t>outcomes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numbers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Example</a:t>
            </a:r>
            <a:r>
              <a:rPr lang="ru-RU"/>
              <a:t>: X = "Number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heads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10 </a:t>
            </a:r>
            <a:r>
              <a:rPr lang="ru-RU" err="1"/>
              <a:t>coin</a:t>
            </a:r>
            <a:r>
              <a:rPr lang="ru-RU"/>
              <a:t> </a:t>
            </a:r>
            <a:r>
              <a:rPr lang="ru-RU" err="1"/>
              <a:t>flips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TWO TYPES:</a:t>
            </a:r>
          </a:p>
          <a:p>
            <a:pPr marL="0" indent="0" latinLnBrk="1">
              <a:buNone/>
            </a:pPr>
            <a:r>
              <a:rPr lang="ru-RU"/>
              <a:t>1. DISCRETE RANDOM VARIABLE: </a:t>
            </a:r>
            <a:r>
              <a:rPr lang="ru-RU" err="1"/>
              <a:t>Countable</a:t>
            </a:r>
            <a:r>
              <a:rPr lang="ru-RU"/>
              <a:t> </a:t>
            </a:r>
            <a:r>
              <a:rPr lang="ru-RU" err="1"/>
              <a:t>outcomes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Number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, </a:t>
            </a:r>
            <a:r>
              <a:rPr lang="ru-RU" err="1"/>
              <a:t>defect</a:t>
            </a:r>
            <a:r>
              <a:rPr lang="ru-RU"/>
              <a:t> </a:t>
            </a:r>
            <a:r>
              <a:rPr lang="ru-RU" err="1"/>
              <a:t>counts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2. CONTINUOUS RANDOM VARIABLE: </a:t>
            </a:r>
            <a:r>
              <a:rPr lang="ru-RU" err="1"/>
              <a:t>Measurable</a:t>
            </a:r>
            <a:r>
              <a:rPr lang="ru-RU"/>
              <a:t> </a:t>
            </a:r>
            <a:r>
              <a:rPr lang="ru-RU" err="1"/>
              <a:t>quantities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Time, </a:t>
            </a:r>
            <a:r>
              <a:rPr lang="ru-RU" err="1"/>
              <a:t>temperature</a:t>
            </a:r>
            <a:r>
              <a:rPr lang="ru-RU"/>
              <a:t>, </a:t>
            </a:r>
            <a:r>
              <a:rPr lang="ru-RU" err="1"/>
              <a:t>height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168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352A8-121C-7CCD-0A11-280D9D1A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Distributions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2981FD-A3DB-F3BB-74E9-E5419151F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b="1"/>
              <a:t>PROBABILITY DISTRIBUTION: </a:t>
            </a:r>
            <a:r>
              <a:rPr lang="ru-RU" err="1"/>
              <a:t>Describes</a:t>
            </a:r>
            <a:r>
              <a:rPr lang="ru-RU"/>
              <a:t> 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probabilities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distributed</a:t>
            </a:r>
            <a:r>
              <a:rPr lang="ru-RU"/>
              <a:t> </a:t>
            </a:r>
            <a:r>
              <a:rPr lang="ru-RU" err="1"/>
              <a:t>over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X</a:t>
            </a:r>
          </a:p>
          <a:p>
            <a:pPr marL="0" indent="0" latinLnBrk="1">
              <a:buNone/>
            </a:pPr>
            <a:r>
              <a:rPr lang="ru-RU" b="1"/>
              <a:t> </a:t>
            </a:r>
          </a:p>
          <a:p>
            <a:pPr marL="0" indent="0" latinLnBrk="1">
              <a:buNone/>
            </a:pPr>
            <a:r>
              <a:rPr lang="ru-RU" b="1"/>
              <a:t>For DISCRETE: </a:t>
            </a:r>
            <a:r>
              <a:rPr lang="ru-RU" err="1"/>
              <a:t>Probability</a:t>
            </a:r>
            <a:r>
              <a:rPr lang="ru-RU"/>
              <a:t> Mass </a:t>
            </a:r>
            <a:r>
              <a:rPr lang="ru-RU" err="1"/>
              <a:t>Function</a:t>
            </a:r>
            <a:r>
              <a:rPr lang="ru-RU"/>
              <a:t> (PMF)</a:t>
            </a:r>
          </a:p>
          <a:p>
            <a:pPr marL="0" indent="0" latinLnBrk="1">
              <a:buNone/>
            </a:pPr>
            <a:r>
              <a:rPr lang="ru-RU"/>
              <a:t>• P(X = x)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possible</a:t>
            </a:r>
            <a:r>
              <a:rPr lang="ru-RU"/>
              <a:t> x</a:t>
            </a:r>
          </a:p>
          <a:p>
            <a:pPr marL="0" indent="0" latinLnBrk="1">
              <a:buNone/>
            </a:pPr>
            <a:r>
              <a:rPr lang="ru-RU" b="1"/>
              <a:t> </a:t>
            </a:r>
          </a:p>
          <a:p>
            <a:pPr marL="0" indent="0" latinLnBrk="1">
              <a:buNone/>
            </a:pPr>
            <a:r>
              <a:rPr lang="ru-RU" b="1"/>
              <a:t>For CONTINUOUS: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Density</a:t>
            </a:r>
            <a:r>
              <a:rPr lang="ru-RU"/>
              <a:t> </a:t>
            </a:r>
            <a:r>
              <a:rPr lang="ru-RU" err="1"/>
              <a:t>Function</a:t>
            </a:r>
            <a:r>
              <a:rPr lang="ru-RU"/>
              <a:t> (PDF)</a:t>
            </a:r>
          </a:p>
          <a:p>
            <a:pPr marL="0" indent="0" latinLnBrk="1">
              <a:buNone/>
            </a:pPr>
            <a:r>
              <a:rPr lang="ru-RU"/>
              <a:t>• P(a ≤ X ≤ b) = ∫ PDF </a:t>
            </a:r>
            <a:r>
              <a:rPr lang="ru-RU" err="1"/>
              <a:t>from</a:t>
            </a:r>
            <a:r>
              <a:rPr lang="ru-RU"/>
              <a:t> a </a:t>
            </a:r>
            <a:r>
              <a:rPr lang="ru-RU" err="1"/>
              <a:t>to</a:t>
            </a:r>
            <a:r>
              <a:rPr lang="ru-RU"/>
              <a:t> b</a:t>
            </a:r>
          </a:p>
          <a:p>
            <a:pPr marL="0" indent="0" latinLnBrk="1">
              <a:buNone/>
            </a:pPr>
            <a:r>
              <a:rPr lang="ru-RU"/>
              <a:t> </a:t>
            </a:r>
            <a:endParaRPr lang="ru-RU" b="1"/>
          </a:p>
          <a:p>
            <a:pPr marL="0" indent="0" latinLnBrk="1">
              <a:buNone/>
            </a:pPr>
            <a:r>
              <a:rPr lang="ru-RU" b="1"/>
              <a:t>CUMULATIVE DISTRIBUTION FUNCTION (CDF):</a:t>
            </a:r>
          </a:p>
          <a:p>
            <a:pPr marL="0" indent="0" latinLnBrk="1">
              <a:buNone/>
            </a:pPr>
            <a:r>
              <a:rPr lang="ru-RU"/>
              <a:t>• F(x) = P(X ≤ x)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Same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both</a:t>
            </a:r>
            <a:r>
              <a:rPr lang="ru-RU"/>
              <a:t> </a:t>
            </a:r>
            <a:r>
              <a:rPr lang="ru-RU" err="1"/>
              <a:t>discrete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continuous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24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3528B-362B-3876-BDB4-A98271E5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Expected</a:t>
            </a:r>
            <a:r>
              <a:rPr lang="ru-RU" b="1"/>
              <a:t> Value - The Long-</a:t>
            </a:r>
            <a:r>
              <a:rPr lang="ru-RU" b="1" err="1"/>
              <a:t>Run</a:t>
            </a:r>
            <a:r>
              <a:rPr lang="ru-RU" b="1"/>
              <a:t> </a:t>
            </a:r>
            <a:r>
              <a:rPr lang="ru-RU" b="1" err="1"/>
              <a:t>Average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E48310-4434-E224-5C93-B3144BC77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latinLnBrk="1">
              <a:buNone/>
            </a:pPr>
            <a:r>
              <a:rPr lang="ru-RU"/>
              <a:t>EXPECTED VALUE (E[X] </a:t>
            </a:r>
            <a:r>
              <a:rPr lang="ru-RU" err="1"/>
              <a:t>or</a:t>
            </a:r>
            <a:r>
              <a:rPr lang="ru-RU"/>
              <a:t> μ): </a:t>
            </a:r>
            <a:r>
              <a:rPr lang="ru-RU" err="1"/>
              <a:t>Weighted</a:t>
            </a:r>
            <a:r>
              <a:rPr lang="ru-RU"/>
              <a:t> </a:t>
            </a:r>
            <a:r>
              <a:rPr lang="ru-RU" err="1"/>
              <a:t>average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possible</a:t>
            </a:r>
            <a:r>
              <a:rPr lang="ru-RU"/>
              <a:t> </a:t>
            </a:r>
            <a:r>
              <a:rPr lang="ru-RU" err="1"/>
              <a:t>values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For </a:t>
            </a:r>
            <a:r>
              <a:rPr lang="ru-RU" err="1"/>
              <a:t>discrete</a:t>
            </a:r>
            <a:r>
              <a:rPr lang="ru-RU"/>
              <a:t>: E[X] = Σ x × P(X = x)</a:t>
            </a:r>
          </a:p>
          <a:p>
            <a:pPr marL="0" indent="0" latinLnBrk="1">
              <a:buNone/>
            </a:pPr>
            <a:r>
              <a:rPr lang="ru-RU"/>
              <a:t>For </a:t>
            </a:r>
            <a:r>
              <a:rPr lang="ru-RU" err="1"/>
              <a:t>continuous</a:t>
            </a:r>
            <a:r>
              <a:rPr lang="ru-RU"/>
              <a:t>: E[X] = ∫ x × f(x) </a:t>
            </a:r>
            <a:r>
              <a:rPr lang="ru-RU" err="1"/>
              <a:t>dx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INTERPRETATION:</a:t>
            </a:r>
          </a:p>
          <a:p>
            <a:pPr marL="0" indent="0" latinLnBrk="1">
              <a:buNone/>
            </a:pPr>
            <a:r>
              <a:rPr lang="ru-RU"/>
              <a:t>• Long-</a:t>
            </a:r>
            <a:r>
              <a:rPr lang="ru-RU" err="1"/>
              <a:t>run</a:t>
            </a:r>
            <a:r>
              <a:rPr lang="ru-RU"/>
              <a:t> </a:t>
            </a:r>
            <a:r>
              <a:rPr lang="ru-RU" err="1"/>
              <a:t>average</a:t>
            </a:r>
            <a:r>
              <a:rPr lang="ru-RU"/>
              <a:t>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experiment</a:t>
            </a:r>
            <a:r>
              <a:rPr lang="ru-RU"/>
              <a:t> </a:t>
            </a:r>
            <a:r>
              <a:rPr lang="ru-RU" err="1"/>
              <a:t>repeated</a:t>
            </a:r>
            <a:r>
              <a:rPr lang="ru-RU"/>
              <a:t>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times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Center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distribution</a:t>
            </a:r>
            <a:endParaRPr lang="ru-RU"/>
          </a:p>
          <a:p>
            <a:pPr marL="0" indent="0" latinLnBrk="1">
              <a:buNone/>
            </a:pPr>
            <a:r>
              <a:rPr lang="ru-RU"/>
              <a:t>• NOT </a:t>
            </a:r>
            <a:r>
              <a:rPr lang="ru-RU" err="1"/>
              <a:t>necessarily</a:t>
            </a:r>
            <a:r>
              <a:rPr lang="ru-RU"/>
              <a:t> a </a:t>
            </a:r>
            <a:r>
              <a:rPr lang="ru-RU" err="1"/>
              <a:t>possible</a:t>
            </a:r>
            <a:r>
              <a:rPr lang="ru-RU"/>
              <a:t> </a:t>
            </a:r>
            <a:r>
              <a:rPr lang="ru-RU" err="1"/>
              <a:t>outcome</a:t>
            </a:r>
            <a:r>
              <a:rPr lang="ru-RU"/>
              <a:t>!</a:t>
            </a:r>
          </a:p>
          <a:p>
            <a:pPr marL="0" indent="0" latinLnBrk="1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546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69798-3602-575F-B483-E013246F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Variance</a:t>
            </a:r>
            <a:r>
              <a:rPr lang="ru-RU" b="1"/>
              <a:t> &amp; Standard </a:t>
            </a:r>
            <a:r>
              <a:rPr lang="ru-RU" b="1" err="1"/>
              <a:t>Deviation</a:t>
            </a:r>
            <a:r>
              <a:rPr lang="ru-RU" b="1"/>
              <a:t>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Random</a:t>
            </a:r>
            <a:r>
              <a:rPr lang="ru-RU" b="1"/>
              <a:t> </a:t>
            </a:r>
            <a:r>
              <a:rPr lang="ru-RU" b="1" err="1"/>
              <a:t>Variables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856469-EDB1-AA9E-A83E-CE2B46503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ru-RU"/>
              <a:t>VARIANCE (</a:t>
            </a:r>
            <a:r>
              <a:rPr lang="ru-RU" err="1"/>
              <a:t>Var</a:t>
            </a:r>
            <a:r>
              <a:rPr lang="ru-RU"/>
              <a:t>[X] </a:t>
            </a:r>
            <a:r>
              <a:rPr lang="ru-RU" err="1"/>
              <a:t>or</a:t>
            </a:r>
            <a:r>
              <a:rPr lang="ru-RU"/>
              <a:t> σ²): </a:t>
            </a:r>
            <a:r>
              <a:rPr lang="ru-RU" err="1"/>
              <a:t>Measures</a:t>
            </a:r>
            <a:r>
              <a:rPr lang="ru-RU"/>
              <a:t> </a:t>
            </a:r>
            <a:r>
              <a:rPr lang="ru-RU" err="1"/>
              <a:t>spread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distribution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Var</a:t>
            </a:r>
            <a:r>
              <a:rPr lang="ru-RU"/>
              <a:t>[X] = E[(X - μ)²] = E[X²] - (E[X])²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STANDARD DEVIATION (SD </a:t>
            </a:r>
            <a:r>
              <a:rPr lang="ru-RU" err="1"/>
              <a:t>or</a:t>
            </a:r>
            <a:r>
              <a:rPr lang="ru-RU"/>
              <a:t> σ): Square </a:t>
            </a:r>
            <a:r>
              <a:rPr lang="ru-RU" err="1"/>
              <a:t>root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variance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In </a:t>
            </a:r>
            <a:r>
              <a:rPr lang="en-US"/>
              <a:t>the same</a:t>
            </a:r>
            <a:r>
              <a:rPr lang="ru-RU"/>
              <a:t> </a:t>
            </a:r>
            <a:r>
              <a:rPr lang="ru-RU" err="1"/>
              <a:t>units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X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Easier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interpret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Example</a:t>
            </a:r>
            <a:r>
              <a:rPr lang="ru-RU"/>
              <a:t>: Investment </a:t>
            </a:r>
            <a:r>
              <a:rPr lang="ru-RU" err="1"/>
              <a:t>returns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High </a:t>
            </a:r>
            <a:r>
              <a:rPr lang="ru-RU" err="1"/>
              <a:t>variance</a:t>
            </a:r>
            <a:r>
              <a:rPr lang="ru-RU"/>
              <a:t> = High </a:t>
            </a:r>
            <a:r>
              <a:rPr lang="ru-RU" err="1"/>
              <a:t>risk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Low</a:t>
            </a:r>
            <a:r>
              <a:rPr lang="ru-RU"/>
              <a:t> </a:t>
            </a:r>
            <a:r>
              <a:rPr lang="ru-RU" err="1"/>
              <a:t>variance</a:t>
            </a:r>
            <a:r>
              <a:rPr lang="ru-RU"/>
              <a:t> = </a:t>
            </a:r>
            <a:r>
              <a:rPr lang="ru-RU" err="1"/>
              <a:t>Stable</a:t>
            </a:r>
            <a:r>
              <a:rPr lang="ru-RU"/>
              <a:t> </a:t>
            </a:r>
            <a:r>
              <a:rPr lang="ru-RU" err="1"/>
              <a:t>returns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499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11A8C-40EE-2305-F5FB-8CFCD38C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Python - </a:t>
            </a:r>
            <a:r>
              <a:rPr lang="ru-RU" b="1" err="1"/>
              <a:t>Working</a:t>
            </a:r>
            <a:r>
              <a:rPr lang="ru-RU" b="1"/>
              <a:t> </a:t>
            </a:r>
            <a:r>
              <a:rPr lang="ru-RU" b="1" err="1"/>
              <a:t>with</a:t>
            </a:r>
            <a:r>
              <a:rPr lang="ru-RU" b="1"/>
              <a:t> </a:t>
            </a:r>
            <a:r>
              <a:rPr lang="ru-RU" b="1" err="1"/>
              <a:t>Random</a:t>
            </a:r>
            <a:r>
              <a:rPr lang="ru-RU" b="1"/>
              <a:t> </a:t>
            </a:r>
            <a:r>
              <a:rPr lang="ru-RU" b="1" err="1"/>
              <a:t>Variables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E473FE-9624-6CBA-4F63-BAE101418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numpy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np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matplotlib.pyplot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plt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Define</a:t>
            </a:r>
            <a:r>
              <a:rPr lang="ru-RU" i="1"/>
              <a:t> a </a:t>
            </a:r>
            <a:r>
              <a:rPr lang="ru-RU" i="1" err="1"/>
              <a:t>discrete</a:t>
            </a:r>
            <a:r>
              <a:rPr lang="ru-RU" i="1"/>
              <a:t> </a:t>
            </a:r>
            <a:r>
              <a:rPr lang="ru-RU" i="1" err="1"/>
              <a:t>random</a:t>
            </a:r>
            <a:r>
              <a:rPr lang="ru-RU" i="1"/>
              <a:t> </a:t>
            </a:r>
            <a:r>
              <a:rPr lang="ru-RU" i="1" err="1"/>
              <a:t>variable</a:t>
            </a:r>
            <a:r>
              <a:rPr lang="ru-RU" i="1"/>
              <a:t>: Number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website</a:t>
            </a:r>
            <a:r>
              <a:rPr lang="ru-RU" i="1"/>
              <a:t> </a:t>
            </a:r>
            <a:r>
              <a:rPr lang="ru-RU" i="1" err="1"/>
              <a:t>visitors</a:t>
            </a:r>
            <a:r>
              <a:rPr lang="ru-RU" i="1"/>
              <a:t> </a:t>
            </a:r>
            <a:r>
              <a:rPr lang="ru-RU" i="1" err="1"/>
              <a:t>per</a:t>
            </a:r>
            <a:r>
              <a:rPr lang="ru-RU" i="1"/>
              <a:t> </a:t>
            </a:r>
            <a:r>
              <a:rPr lang="ru-RU" i="1" err="1"/>
              <a:t>hour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Possible</a:t>
            </a:r>
            <a:r>
              <a:rPr lang="ru-RU" i="1"/>
              <a:t> </a:t>
            </a:r>
            <a:r>
              <a:rPr lang="ru-RU" i="1" err="1"/>
              <a:t>values</a:t>
            </a:r>
            <a:r>
              <a:rPr lang="ru-RU" i="1"/>
              <a:t>: 0, 1, 2, 3, 4, 5+ </a:t>
            </a:r>
            <a:r>
              <a:rPr lang="ru-RU" i="1" err="1"/>
              <a:t>visitors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values</a:t>
            </a:r>
            <a:r>
              <a:rPr lang="ru-RU" i="1"/>
              <a:t> = [0, 1, 2, 3, 4, 5]</a:t>
            </a:r>
          </a:p>
          <a:p>
            <a:pPr marL="0" indent="0" latinLnBrk="1">
              <a:buNone/>
            </a:pPr>
            <a:r>
              <a:rPr lang="ru-RU" i="1" err="1"/>
              <a:t>probabilities</a:t>
            </a:r>
            <a:r>
              <a:rPr lang="ru-RU" i="1"/>
              <a:t> = [0.1, 0.2, 0.3, 0.2, 0.15, 0.05]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expected</a:t>
            </a:r>
            <a:r>
              <a:rPr lang="ru-RU" i="1"/>
              <a:t> </a:t>
            </a:r>
            <a:r>
              <a:rPr lang="ru-RU" i="1" err="1"/>
              <a:t>value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expected_value</a:t>
            </a:r>
            <a:r>
              <a:rPr lang="ru-RU" i="1"/>
              <a:t> = </a:t>
            </a:r>
            <a:r>
              <a:rPr lang="ru-RU" i="1" err="1"/>
              <a:t>sum</a:t>
            </a:r>
            <a:r>
              <a:rPr lang="ru-RU" i="1"/>
              <a:t>(v * p </a:t>
            </a:r>
            <a:r>
              <a:rPr lang="ru-RU" i="1" err="1"/>
              <a:t>for</a:t>
            </a:r>
            <a:r>
              <a:rPr lang="ru-RU" i="1"/>
              <a:t> v, p </a:t>
            </a:r>
            <a:r>
              <a:rPr lang="ru-RU" i="1" err="1"/>
              <a:t>in</a:t>
            </a:r>
            <a:r>
              <a:rPr lang="ru-RU" i="1"/>
              <a:t> </a:t>
            </a:r>
            <a:r>
              <a:rPr lang="ru-RU" i="1" err="1"/>
              <a:t>zip</a:t>
            </a:r>
            <a:r>
              <a:rPr lang="ru-RU" i="1"/>
              <a:t>(</a:t>
            </a:r>
            <a:r>
              <a:rPr lang="ru-RU" i="1" err="1"/>
              <a:t>values</a:t>
            </a:r>
            <a:r>
              <a:rPr lang="ru-RU" i="1"/>
              <a:t>, </a:t>
            </a:r>
            <a:r>
              <a:rPr lang="ru-RU" i="1" err="1"/>
              <a:t>probabilities</a:t>
            </a:r>
            <a:r>
              <a:rPr lang="ru-RU" i="1"/>
              <a:t>))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f"Expected</a:t>
            </a:r>
            <a:r>
              <a:rPr lang="ru-RU" i="1"/>
              <a:t> </a:t>
            </a:r>
            <a:r>
              <a:rPr lang="ru-RU" i="1" err="1"/>
              <a:t>visitors</a:t>
            </a:r>
            <a:r>
              <a:rPr lang="ru-RU" i="1"/>
              <a:t> </a:t>
            </a:r>
            <a:r>
              <a:rPr lang="ru-RU" i="1" err="1"/>
              <a:t>per</a:t>
            </a:r>
            <a:r>
              <a:rPr lang="ru-RU" i="1"/>
              <a:t> </a:t>
            </a:r>
            <a:r>
              <a:rPr lang="ru-RU" i="1" err="1"/>
              <a:t>hour</a:t>
            </a:r>
            <a:r>
              <a:rPr lang="ru-RU" i="1"/>
              <a:t>: {expected_value:.2f}")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variance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variance</a:t>
            </a:r>
            <a:r>
              <a:rPr lang="ru-RU" i="1"/>
              <a:t> = </a:t>
            </a:r>
            <a:r>
              <a:rPr lang="ru-RU" i="1" err="1"/>
              <a:t>sum</a:t>
            </a:r>
            <a:r>
              <a:rPr lang="ru-RU" i="1"/>
              <a:t>((v - </a:t>
            </a:r>
            <a:r>
              <a:rPr lang="ru-RU" i="1" err="1"/>
              <a:t>expected_value</a:t>
            </a:r>
            <a:r>
              <a:rPr lang="ru-RU" i="1"/>
              <a:t>)**2 * p </a:t>
            </a:r>
            <a:r>
              <a:rPr lang="ru-RU" i="1" err="1"/>
              <a:t>for</a:t>
            </a:r>
            <a:r>
              <a:rPr lang="ru-RU" i="1"/>
              <a:t> v, p </a:t>
            </a:r>
            <a:r>
              <a:rPr lang="ru-RU" i="1" err="1"/>
              <a:t>in</a:t>
            </a:r>
            <a:r>
              <a:rPr lang="ru-RU" i="1"/>
              <a:t> </a:t>
            </a:r>
            <a:r>
              <a:rPr lang="ru-RU" i="1" err="1"/>
              <a:t>zip</a:t>
            </a:r>
            <a:r>
              <a:rPr lang="ru-RU" i="1"/>
              <a:t>(</a:t>
            </a:r>
            <a:r>
              <a:rPr lang="ru-RU" i="1" err="1"/>
              <a:t>values</a:t>
            </a:r>
            <a:r>
              <a:rPr lang="ru-RU" i="1"/>
              <a:t>, </a:t>
            </a:r>
            <a:r>
              <a:rPr lang="ru-RU" i="1" err="1"/>
              <a:t>probabilities</a:t>
            </a:r>
            <a:r>
              <a:rPr lang="ru-RU" i="1"/>
              <a:t>))</a:t>
            </a:r>
          </a:p>
          <a:p>
            <a:pPr marL="0" indent="0" latinLnBrk="1">
              <a:buNone/>
            </a:pPr>
            <a:r>
              <a:rPr lang="ru-RU" i="1" err="1"/>
              <a:t>std_dev</a:t>
            </a:r>
            <a:r>
              <a:rPr lang="ru-RU" i="1"/>
              <a:t> = </a:t>
            </a:r>
            <a:r>
              <a:rPr lang="ru-RU" i="1" err="1"/>
              <a:t>np.sqrt</a:t>
            </a:r>
            <a:r>
              <a:rPr lang="ru-RU" i="1"/>
              <a:t>(</a:t>
            </a:r>
            <a:r>
              <a:rPr lang="ru-RU" i="1" err="1"/>
              <a:t>variance</a:t>
            </a:r>
            <a:r>
              <a:rPr lang="ru-RU" i="1"/>
              <a:t>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f"Standard</a:t>
            </a:r>
            <a:r>
              <a:rPr lang="ru-RU" i="1"/>
              <a:t> </a:t>
            </a:r>
            <a:r>
              <a:rPr lang="ru-RU" i="1" err="1"/>
              <a:t>deviation</a:t>
            </a:r>
            <a:r>
              <a:rPr lang="ru-RU" i="1"/>
              <a:t>: {std_dev:.2f}")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Visualize</a:t>
            </a:r>
            <a:r>
              <a:rPr lang="ru-RU" i="1"/>
              <a:t> </a:t>
            </a:r>
            <a:r>
              <a:rPr lang="ru-RU" i="1" err="1"/>
              <a:t>the</a:t>
            </a:r>
            <a:r>
              <a:rPr lang="ru-RU" i="1"/>
              <a:t> </a:t>
            </a:r>
            <a:r>
              <a:rPr lang="ru-RU" i="1" err="1"/>
              <a:t>distribution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plt.figure</a:t>
            </a:r>
            <a:r>
              <a:rPr lang="ru-RU" i="1"/>
              <a:t>(</a:t>
            </a:r>
            <a:r>
              <a:rPr lang="ru-RU" i="1" err="1"/>
              <a:t>figsize</a:t>
            </a:r>
            <a:r>
              <a:rPr lang="ru-RU" i="1"/>
              <a:t>=(10, 6))</a:t>
            </a:r>
          </a:p>
          <a:p>
            <a:pPr marL="0" indent="0" latinLnBrk="1">
              <a:buNone/>
            </a:pPr>
            <a:r>
              <a:rPr lang="ru-RU" i="1" err="1"/>
              <a:t>plt.bar</a:t>
            </a:r>
            <a:r>
              <a:rPr lang="ru-RU" i="1"/>
              <a:t>(</a:t>
            </a:r>
            <a:r>
              <a:rPr lang="ru-RU" i="1" err="1"/>
              <a:t>values</a:t>
            </a:r>
            <a:r>
              <a:rPr lang="ru-RU" i="1"/>
              <a:t>, </a:t>
            </a:r>
            <a:r>
              <a:rPr lang="ru-RU" i="1" err="1"/>
              <a:t>probabilities</a:t>
            </a:r>
            <a:r>
              <a:rPr lang="ru-RU" i="1"/>
              <a:t>, </a:t>
            </a:r>
            <a:r>
              <a:rPr lang="ru-RU" i="1" err="1"/>
              <a:t>alpha</a:t>
            </a:r>
            <a:r>
              <a:rPr lang="ru-RU" i="1"/>
              <a:t>=0.7, </a:t>
            </a:r>
            <a:r>
              <a:rPr lang="ru-RU" i="1" err="1"/>
              <a:t>edgecolor</a:t>
            </a:r>
            <a:r>
              <a:rPr lang="ru-RU" i="1"/>
              <a:t>='</a:t>
            </a:r>
            <a:r>
              <a:rPr lang="ru-RU" i="1" err="1"/>
              <a:t>black</a:t>
            </a:r>
            <a:r>
              <a:rPr lang="ru-RU" i="1"/>
              <a:t>')</a:t>
            </a:r>
          </a:p>
          <a:p>
            <a:pPr marL="0" indent="0" latinLnBrk="1">
              <a:buNone/>
            </a:pPr>
            <a:r>
              <a:rPr lang="ru-RU" i="1" err="1"/>
              <a:t>plt.axvline</a:t>
            </a:r>
            <a:r>
              <a:rPr lang="ru-RU" i="1"/>
              <a:t>(</a:t>
            </a:r>
            <a:r>
              <a:rPr lang="ru-RU" i="1" err="1"/>
              <a:t>expected_value</a:t>
            </a:r>
            <a:r>
              <a:rPr lang="ru-RU" i="1"/>
              <a:t>, </a:t>
            </a:r>
            <a:r>
              <a:rPr lang="ru-RU" i="1" err="1"/>
              <a:t>color</a:t>
            </a:r>
            <a:r>
              <a:rPr lang="ru-RU" i="1"/>
              <a:t>='</a:t>
            </a:r>
            <a:r>
              <a:rPr lang="ru-RU" i="1" err="1"/>
              <a:t>red</a:t>
            </a:r>
            <a:r>
              <a:rPr lang="ru-RU" i="1"/>
              <a:t>', </a:t>
            </a:r>
            <a:r>
              <a:rPr lang="ru-RU" i="1" err="1"/>
              <a:t>linestyle</a:t>
            </a:r>
            <a:r>
              <a:rPr lang="ru-RU" i="1"/>
              <a:t>='--', </a:t>
            </a:r>
          </a:p>
          <a:p>
            <a:pPr marL="0" indent="0" latinLnBrk="1">
              <a:buNone/>
            </a:pPr>
            <a:r>
              <a:rPr lang="ru-RU" i="1"/>
              <a:t>            </a:t>
            </a:r>
            <a:r>
              <a:rPr lang="ru-RU" i="1" err="1"/>
              <a:t>label</a:t>
            </a:r>
            <a:r>
              <a:rPr lang="ru-RU" i="1"/>
              <a:t>=</a:t>
            </a:r>
            <a:r>
              <a:rPr lang="ru-RU" i="1" err="1"/>
              <a:t>f'Expected</a:t>
            </a:r>
            <a:r>
              <a:rPr lang="ru-RU" i="1"/>
              <a:t> Value: {expected_value:.2f}')</a:t>
            </a:r>
          </a:p>
          <a:p>
            <a:pPr marL="0" indent="0" latinLnBrk="1">
              <a:buNone/>
            </a:pPr>
            <a:r>
              <a:rPr lang="ru-RU" i="1" err="1"/>
              <a:t>plt.xlabel</a:t>
            </a:r>
            <a:r>
              <a:rPr lang="ru-RU" i="1"/>
              <a:t>('Number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Visitors</a:t>
            </a:r>
            <a:r>
              <a:rPr lang="ru-RU" i="1"/>
              <a:t>')</a:t>
            </a:r>
          </a:p>
          <a:p>
            <a:pPr marL="0" indent="0" latinLnBrk="1">
              <a:buNone/>
            </a:pPr>
            <a:r>
              <a:rPr lang="ru-RU" i="1" err="1"/>
              <a:t>plt.ylabel</a:t>
            </a:r>
            <a:r>
              <a:rPr lang="ru-RU" i="1"/>
              <a:t>('</a:t>
            </a:r>
            <a:r>
              <a:rPr lang="ru-RU" i="1" err="1"/>
              <a:t>Probability</a:t>
            </a:r>
            <a:r>
              <a:rPr lang="ru-RU" i="1"/>
              <a:t>')</a:t>
            </a:r>
          </a:p>
          <a:p>
            <a:pPr marL="0" indent="0" latinLnBrk="1">
              <a:buNone/>
            </a:pPr>
            <a:r>
              <a:rPr lang="ru-RU" i="1" err="1"/>
              <a:t>plt.title</a:t>
            </a:r>
            <a:r>
              <a:rPr lang="ru-RU" i="1"/>
              <a:t>('</a:t>
            </a:r>
            <a:r>
              <a:rPr lang="ru-RU" i="1" err="1"/>
              <a:t>Probability</a:t>
            </a:r>
            <a:r>
              <a:rPr lang="ru-RU" i="1"/>
              <a:t> Distribution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Website</a:t>
            </a:r>
            <a:r>
              <a:rPr lang="ru-RU" i="1"/>
              <a:t> </a:t>
            </a:r>
            <a:r>
              <a:rPr lang="ru-RU" i="1" err="1"/>
              <a:t>Visitors</a:t>
            </a:r>
            <a:r>
              <a:rPr lang="ru-RU" i="1"/>
              <a:t> </a:t>
            </a:r>
            <a:r>
              <a:rPr lang="ru-RU" i="1" err="1"/>
              <a:t>per</a:t>
            </a:r>
            <a:r>
              <a:rPr lang="ru-RU" i="1"/>
              <a:t> </a:t>
            </a:r>
            <a:r>
              <a:rPr lang="ru-RU" i="1" err="1"/>
              <a:t>Hour</a:t>
            </a:r>
            <a:r>
              <a:rPr lang="ru-RU" i="1"/>
              <a:t>')</a:t>
            </a:r>
          </a:p>
          <a:p>
            <a:pPr marL="0" indent="0" latinLnBrk="1">
              <a:buNone/>
            </a:pPr>
            <a:r>
              <a:rPr lang="ru-RU" i="1" err="1"/>
              <a:t>plt.legend</a:t>
            </a:r>
            <a:r>
              <a:rPr lang="ru-RU" i="1"/>
              <a:t>()</a:t>
            </a:r>
          </a:p>
          <a:p>
            <a:pPr marL="0" indent="0" latinLnBrk="1">
              <a:buNone/>
            </a:pPr>
            <a:r>
              <a:rPr lang="ru-RU" i="1" err="1"/>
              <a:t>plt.grid</a:t>
            </a:r>
            <a:r>
              <a:rPr lang="ru-RU" i="1"/>
              <a:t>(True, </a:t>
            </a:r>
            <a:r>
              <a:rPr lang="ru-RU" i="1" err="1"/>
              <a:t>alpha</a:t>
            </a:r>
            <a:r>
              <a:rPr lang="ru-RU" i="1"/>
              <a:t>=0.3)</a:t>
            </a:r>
          </a:p>
          <a:p>
            <a:pPr marL="0" indent="0" latinLnBrk="1">
              <a:buNone/>
            </a:pPr>
            <a:r>
              <a:rPr lang="ru-RU" i="1" err="1"/>
              <a:t>plt.show</a:t>
            </a:r>
            <a:r>
              <a:rPr lang="ru-RU" i="1"/>
              <a:t>()</a:t>
            </a:r>
          </a:p>
          <a:p>
            <a:pPr marL="0" indent="0">
              <a:buNone/>
            </a:pPr>
            <a:endParaRPr lang="ru-RU" i="1"/>
          </a:p>
        </p:txBody>
      </p:sp>
    </p:spTree>
    <p:extLst>
      <p:ext uri="{BB962C8B-B14F-4D97-AF65-F5344CB8AC3E}">
        <p14:creationId xmlns:p14="http://schemas.microsoft.com/office/powerpoint/2010/main" val="3392094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A37F7-52AA-4789-0372-DD522A84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Common </a:t>
            </a:r>
            <a:r>
              <a:rPr lang="ru-RU" b="1" err="1"/>
              <a:t>Discrete</a:t>
            </a:r>
            <a:r>
              <a:rPr lang="ru-RU" b="1"/>
              <a:t> </a:t>
            </a:r>
            <a:r>
              <a:rPr lang="ru-RU" b="1" err="1"/>
              <a:t>Distributions</a:t>
            </a:r>
            <a:r>
              <a:rPr lang="ru-RU" b="1"/>
              <a:t> </a:t>
            </a:r>
            <a:r>
              <a:rPr lang="ru-RU" b="1" err="1"/>
              <a:t>Overview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5C1B38-78E7-1D54-75C7-2953E73F2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/>
              <a:t>1. BERNOULLI: Single </a:t>
            </a:r>
            <a:r>
              <a:rPr lang="ru-RU" err="1"/>
              <a:t>trial</a:t>
            </a:r>
            <a:r>
              <a:rPr lang="ru-RU"/>
              <a:t>, </a:t>
            </a:r>
            <a:r>
              <a:rPr lang="ru-RU" err="1"/>
              <a:t>success</a:t>
            </a:r>
            <a:r>
              <a:rPr lang="ru-RU"/>
              <a:t>/</a:t>
            </a:r>
            <a:r>
              <a:rPr lang="ru-RU" err="1"/>
              <a:t>failure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Coin</a:t>
            </a:r>
            <a:r>
              <a:rPr lang="ru-RU"/>
              <a:t> </a:t>
            </a:r>
            <a:r>
              <a:rPr lang="ru-RU" err="1"/>
              <a:t>flip</a:t>
            </a:r>
            <a:r>
              <a:rPr lang="ru-RU"/>
              <a:t>, </a:t>
            </a:r>
            <a:r>
              <a:rPr lang="ru-RU" err="1"/>
              <a:t>click</a:t>
            </a:r>
            <a:r>
              <a:rPr lang="ru-RU"/>
              <a:t>/</a:t>
            </a:r>
            <a:r>
              <a:rPr lang="ru-RU" err="1"/>
              <a:t>no-click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2. BINOMIAL: </a:t>
            </a:r>
            <a:r>
              <a:rPr lang="ru-RU" err="1"/>
              <a:t>Fixed</a:t>
            </a:r>
            <a:r>
              <a:rPr lang="ru-RU"/>
              <a:t> </a:t>
            </a:r>
            <a:r>
              <a:rPr lang="ru-RU" err="1"/>
              <a:t>trials</a:t>
            </a:r>
            <a:r>
              <a:rPr lang="ru-RU"/>
              <a:t>, </a:t>
            </a:r>
            <a:r>
              <a:rPr lang="ru-RU" err="1"/>
              <a:t>independent</a:t>
            </a:r>
            <a:r>
              <a:rPr lang="ru-RU"/>
              <a:t> </a:t>
            </a:r>
            <a:r>
              <a:rPr lang="ru-RU" err="1"/>
              <a:t>success</a:t>
            </a:r>
            <a:r>
              <a:rPr lang="ru-RU"/>
              <a:t> </a:t>
            </a:r>
            <a:r>
              <a:rPr lang="ru-RU" err="1"/>
              <a:t>probability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Number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heads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10 </a:t>
            </a:r>
            <a:r>
              <a:rPr lang="ru-RU" err="1"/>
              <a:t>flips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3. POISSON: </a:t>
            </a:r>
            <a:r>
              <a:rPr lang="ru-RU" err="1"/>
              <a:t>Counts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en-US"/>
              <a:t>a fixed</a:t>
            </a:r>
            <a:r>
              <a:rPr lang="ru-RU"/>
              <a:t> </a:t>
            </a:r>
            <a:r>
              <a:rPr lang="ru-RU" err="1"/>
              <a:t>interval</a:t>
            </a:r>
            <a:r>
              <a:rPr lang="ru-RU"/>
              <a:t>/</a:t>
            </a:r>
            <a:r>
              <a:rPr lang="ru-RU" err="1"/>
              <a:t>area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Customers</a:t>
            </a:r>
            <a:r>
              <a:rPr lang="ru-RU"/>
              <a:t> </a:t>
            </a:r>
            <a:r>
              <a:rPr lang="ru-RU" err="1"/>
              <a:t>per</a:t>
            </a:r>
            <a:r>
              <a:rPr lang="ru-RU"/>
              <a:t> </a:t>
            </a:r>
            <a:r>
              <a:rPr lang="ru-RU" err="1"/>
              <a:t>hour</a:t>
            </a:r>
            <a:r>
              <a:rPr lang="ru-RU"/>
              <a:t>, </a:t>
            </a:r>
            <a:r>
              <a:rPr lang="ru-RU" err="1"/>
              <a:t>defects</a:t>
            </a:r>
            <a:r>
              <a:rPr lang="ru-RU"/>
              <a:t> </a:t>
            </a:r>
            <a:r>
              <a:rPr lang="ru-RU" err="1"/>
              <a:t>per</a:t>
            </a:r>
            <a:r>
              <a:rPr lang="ru-RU"/>
              <a:t> </a:t>
            </a:r>
            <a:r>
              <a:rPr lang="ru-RU" err="1"/>
              <a:t>batch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4. GEOMETRIC: </a:t>
            </a:r>
            <a:r>
              <a:rPr lang="ru-RU" err="1"/>
              <a:t>Trials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</a:t>
            </a:r>
            <a:r>
              <a:rPr lang="ru-RU" err="1"/>
              <a:t>first</a:t>
            </a:r>
            <a:r>
              <a:rPr lang="ru-RU"/>
              <a:t> </a:t>
            </a:r>
            <a:r>
              <a:rPr lang="ru-RU" err="1"/>
              <a:t>success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Attempts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</a:t>
            </a:r>
            <a:r>
              <a:rPr lang="ru-RU" err="1"/>
              <a:t>first</a:t>
            </a:r>
            <a:r>
              <a:rPr lang="ru-RU"/>
              <a:t> </a:t>
            </a:r>
            <a:r>
              <a:rPr lang="ru-RU" err="1"/>
              <a:t>conversion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5. NEGATIVE BINOMIAL: </a:t>
            </a:r>
            <a:r>
              <a:rPr lang="ru-RU" err="1"/>
              <a:t>Trials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r-</a:t>
            </a:r>
            <a:r>
              <a:rPr lang="ru-RU" err="1"/>
              <a:t>th</a:t>
            </a:r>
            <a:r>
              <a:rPr lang="ru-RU"/>
              <a:t> </a:t>
            </a:r>
            <a:r>
              <a:rPr lang="ru-RU" err="1"/>
              <a:t>success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Visitors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3 </a:t>
            </a:r>
            <a:r>
              <a:rPr lang="ru-RU" err="1"/>
              <a:t>purchases</a:t>
            </a:r>
            <a:endParaRPr lang="ru-RU"/>
          </a:p>
          <a:p>
            <a:pPr marL="0" indent="0">
              <a:buNone/>
            </a:pPr>
            <a:endParaRPr lang="ru-RU" b="1"/>
          </a:p>
        </p:txBody>
      </p:sp>
    </p:spTree>
    <p:extLst>
      <p:ext uri="{BB962C8B-B14F-4D97-AF65-F5344CB8AC3E}">
        <p14:creationId xmlns:p14="http://schemas.microsoft.com/office/powerpoint/2010/main" val="2758480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BF1F4-5C12-16EB-B45D-0FD0F652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Bernoulli</a:t>
            </a:r>
            <a:r>
              <a:rPr lang="ru-RU" b="1"/>
              <a:t> Distribution - The Building Block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6F570-AC7C-B93D-2659-252BAFAF9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b="1"/>
              <a:t>SINGLE BINARY TRIAL:</a:t>
            </a:r>
          </a:p>
          <a:p>
            <a:pPr marL="0" indent="0" latinLnBrk="1">
              <a:buNone/>
            </a:pPr>
            <a:r>
              <a:rPr lang="ru-RU"/>
              <a:t>• X = 1 (</a:t>
            </a:r>
            <a:r>
              <a:rPr lang="ru-RU" err="1"/>
              <a:t>success</a:t>
            </a:r>
            <a:r>
              <a:rPr lang="ru-RU"/>
              <a:t>)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p</a:t>
            </a:r>
          </a:p>
          <a:p>
            <a:pPr marL="0" indent="0" latinLnBrk="1">
              <a:buNone/>
            </a:pPr>
            <a:r>
              <a:rPr lang="ru-RU"/>
              <a:t>• X = 0 (</a:t>
            </a:r>
            <a:r>
              <a:rPr lang="ru-RU" err="1"/>
              <a:t>failure</a:t>
            </a:r>
            <a:r>
              <a:rPr lang="ru-RU"/>
              <a:t>)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(1-p)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PARAMETERS: </a:t>
            </a:r>
            <a:r>
              <a:rPr lang="ru-RU"/>
              <a:t>p (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success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PROPERTIES:</a:t>
            </a:r>
          </a:p>
          <a:p>
            <a:pPr marL="0" indent="0" latinLnBrk="1">
              <a:buNone/>
            </a:pPr>
            <a:r>
              <a:rPr lang="ru-RU"/>
              <a:t>• E[X] = p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Var</a:t>
            </a:r>
            <a:r>
              <a:rPr lang="ru-RU"/>
              <a:t>[X] = p(1-p)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APPLICATIONS:</a:t>
            </a:r>
          </a:p>
          <a:p>
            <a:pPr marL="0" indent="0" latinLnBrk="1">
              <a:buNone/>
            </a:pPr>
            <a:r>
              <a:rPr lang="ru-RU"/>
              <a:t>• User </a:t>
            </a:r>
            <a:r>
              <a:rPr lang="ru-RU" err="1"/>
              <a:t>clicks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ad</a:t>
            </a:r>
            <a:r>
              <a:rPr lang="ru-RU"/>
              <a:t> (p = </a:t>
            </a:r>
            <a:r>
              <a:rPr lang="ru-RU" err="1"/>
              <a:t>click-through</a:t>
            </a:r>
            <a:r>
              <a:rPr lang="ru-RU"/>
              <a:t> </a:t>
            </a:r>
            <a:r>
              <a:rPr lang="ru-RU" err="1"/>
              <a:t>rate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Transaction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fraudulent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Patient</a:t>
            </a:r>
            <a:r>
              <a:rPr lang="ru-RU"/>
              <a:t> </a:t>
            </a:r>
            <a:r>
              <a:rPr lang="ru-RU" err="1"/>
              <a:t>responds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treatment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650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A4DF0-FF70-C3FE-89B2-EA2A80EC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Binomial</a:t>
            </a:r>
            <a:r>
              <a:rPr lang="ru-RU" b="1"/>
              <a:t> Distribution - </a:t>
            </a:r>
            <a:r>
              <a:rPr lang="ru-RU" b="1" err="1"/>
              <a:t>Counting</a:t>
            </a:r>
            <a:r>
              <a:rPr lang="ru-RU" b="1"/>
              <a:t> </a:t>
            </a:r>
            <a:r>
              <a:rPr lang="ru-RU" b="1" err="1"/>
              <a:t>Successes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60FDAC-7D35-94F4-83A4-5CC9D526D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ru-RU" sz="1400" b="1"/>
              <a:t>FIXED NUMBER OF INDEPENDENT BERNOULLI TRIALS</a:t>
            </a:r>
          </a:p>
          <a:p>
            <a:pPr marL="0" indent="0" latinLnBrk="1">
              <a:buNone/>
            </a:pPr>
            <a:r>
              <a:rPr lang="ru-RU" sz="1400" b="1"/>
              <a:t> PARAMETERS:</a:t>
            </a:r>
          </a:p>
          <a:p>
            <a:pPr marL="0" indent="0" latinLnBrk="1">
              <a:buNone/>
            </a:pPr>
            <a:r>
              <a:rPr lang="ru-RU" sz="1400"/>
              <a:t>• n = </a:t>
            </a:r>
            <a:r>
              <a:rPr lang="ru-RU" sz="1400" err="1"/>
              <a:t>number</a:t>
            </a:r>
            <a:r>
              <a:rPr lang="ru-RU" sz="1400"/>
              <a:t> </a:t>
            </a:r>
            <a:r>
              <a:rPr lang="ru-RU" sz="1400" err="1"/>
              <a:t>of</a:t>
            </a:r>
            <a:r>
              <a:rPr lang="ru-RU" sz="1400"/>
              <a:t> </a:t>
            </a:r>
            <a:r>
              <a:rPr lang="ru-RU" sz="1400" err="1"/>
              <a:t>trials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p = </a:t>
            </a:r>
            <a:r>
              <a:rPr lang="ru-RU" sz="1400" err="1"/>
              <a:t>probability</a:t>
            </a:r>
            <a:r>
              <a:rPr lang="ru-RU" sz="1400"/>
              <a:t> </a:t>
            </a:r>
            <a:r>
              <a:rPr lang="ru-RU" sz="1400" err="1"/>
              <a:t>of</a:t>
            </a:r>
            <a:r>
              <a:rPr lang="ru-RU" sz="1400"/>
              <a:t> </a:t>
            </a:r>
            <a:r>
              <a:rPr lang="ru-RU" sz="1400" err="1"/>
              <a:t>success</a:t>
            </a:r>
            <a:r>
              <a:rPr lang="ru-RU" sz="1400"/>
              <a:t> </a:t>
            </a:r>
            <a:r>
              <a:rPr lang="ru-RU" sz="1400" err="1"/>
              <a:t>in</a:t>
            </a:r>
            <a:r>
              <a:rPr lang="ru-RU" sz="1400"/>
              <a:t> </a:t>
            </a:r>
            <a:r>
              <a:rPr lang="ru-RU" sz="1400" err="1"/>
              <a:t>each</a:t>
            </a:r>
            <a:r>
              <a:rPr lang="ru-RU" sz="1400"/>
              <a:t> </a:t>
            </a:r>
            <a:r>
              <a:rPr lang="ru-RU" sz="1400" err="1"/>
              <a:t>trial</a:t>
            </a:r>
            <a:endParaRPr lang="ru-RU" sz="1400"/>
          </a:p>
          <a:p>
            <a:pPr marL="0" indent="0" latinLnBrk="1">
              <a:buNone/>
            </a:pPr>
            <a:r>
              <a:rPr lang="ru-RU" sz="1400" b="1"/>
              <a:t> PROBABILITY MASS FUNCTION:</a:t>
            </a:r>
          </a:p>
          <a:p>
            <a:pPr marL="0" indent="0" latinLnBrk="1">
              <a:buNone/>
            </a:pPr>
            <a:r>
              <a:rPr lang="ru-RU" sz="1400"/>
              <a:t>P(X = k) = C(</a:t>
            </a:r>
            <a:r>
              <a:rPr lang="ru-RU" sz="1400" err="1"/>
              <a:t>n,k</a:t>
            </a:r>
            <a:r>
              <a:rPr lang="ru-RU" sz="1400"/>
              <a:t>) × </a:t>
            </a:r>
            <a:r>
              <a:rPr lang="ru-RU" sz="1400" err="1"/>
              <a:t>p^k</a:t>
            </a:r>
            <a:r>
              <a:rPr lang="ru-RU" sz="1400"/>
              <a:t> × (1-p)^{(n-k)}</a:t>
            </a:r>
          </a:p>
          <a:p>
            <a:pPr marL="0" indent="0" latinLnBrk="1">
              <a:buNone/>
            </a:pPr>
            <a:r>
              <a:rPr lang="ru-RU" sz="1400" err="1"/>
              <a:t>Where</a:t>
            </a:r>
            <a:r>
              <a:rPr lang="ru-RU" sz="1400"/>
              <a:t> C(</a:t>
            </a:r>
            <a:r>
              <a:rPr lang="ru-RU" sz="1400" err="1"/>
              <a:t>n,k</a:t>
            </a:r>
            <a:r>
              <a:rPr lang="ru-RU" sz="1400"/>
              <a:t>) = n!/(k!(n-k)!)</a:t>
            </a:r>
          </a:p>
          <a:p>
            <a:pPr marL="0" indent="0" latinLnBrk="1">
              <a:buNone/>
            </a:pPr>
            <a:r>
              <a:rPr lang="ru-RU" sz="1400" b="1"/>
              <a:t> PROPERTIES:</a:t>
            </a:r>
          </a:p>
          <a:p>
            <a:pPr marL="0" indent="0" latinLnBrk="1">
              <a:buNone/>
            </a:pPr>
            <a:r>
              <a:rPr lang="ru-RU" sz="1400"/>
              <a:t>• E[X] = n × p</a:t>
            </a:r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Var</a:t>
            </a:r>
            <a:r>
              <a:rPr lang="ru-RU" sz="1400"/>
              <a:t>[X] = n × p × (1-p)</a:t>
            </a:r>
          </a:p>
          <a:p>
            <a:pPr marL="0" indent="0" latinLnBrk="1">
              <a:buNone/>
            </a:pPr>
            <a:r>
              <a:rPr lang="ru-RU" sz="1400"/>
              <a:t> </a:t>
            </a:r>
            <a:r>
              <a:rPr lang="ru-RU" sz="1400" b="1"/>
              <a:t>APPLICATIONS:</a:t>
            </a:r>
          </a:p>
          <a:p>
            <a:pPr marL="0" indent="0" latinLnBrk="1">
              <a:buNone/>
            </a:pPr>
            <a:r>
              <a:rPr lang="ru-RU" sz="1400"/>
              <a:t>• Number </a:t>
            </a:r>
            <a:r>
              <a:rPr lang="ru-RU" sz="1400" err="1"/>
              <a:t>of</a:t>
            </a:r>
            <a:r>
              <a:rPr lang="ru-RU" sz="1400"/>
              <a:t> </a:t>
            </a:r>
            <a:r>
              <a:rPr lang="ru-RU" sz="1400" err="1"/>
              <a:t>conversions</a:t>
            </a:r>
            <a:r>
              <a:rPr lang="ru-RU" sz="1400"/>
              <a:t> </a:t>
            </a:r>
            <a:r>
              <a:rPr lang="ru-RU" sz="1400" err="1"/>
              <a:t>out</a:t>
            </a:r>
            <a:r>
              <a:rPr lang="ru-RU" sz="1400"/>
              <a:t> </a:t>
            </a:r>
            <a:r>
              <a:rPr lang="ru-RU" sz="1400" err="1"/>
              <a:t>of</a:t>
            </a:r>
            <a:r>
              <a:rPr lang="ru-RU" sz="1400"/>
              <a:t> 1000 </a:t>
            </a:r>
            <a:r>
              <a:rPr lang="ru-RU" sz="1400" err="1"/>
              <a:t>visitors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Defective</a:t>
            </a:r>
            <a:r>
              <a:rPr lang="ru-RU" sz="1400"/>
              <a:t> </a:t>
            </a:r>
            <a:r>
              <a:rPr lang="ru-RU" sz="1400" err="1"/>
              <a:t>items</a:t>
            </a:r>
            <a:r>
              <a:rPr lang="ru-RU" sz="1400"/>
              <a:t> </a:t>
            </a:r>
            <a:r>
              <a:rPr lang="ru-RU" sz="1400" err="1"/>
              <a:t>in</a:t>
            </a:r>
            <a:r>
              <a:rPr lang="ru-RU" sz="1400"/>
              <a:t> a </a:t>
            </a:r>
            <a:r>
              <a:rPr lang="ru-RU" sz="1400" err="1"/>
              <a:t>batch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Successful</a:t>
            </a:r>
            <a:r>
              <a:rPr lang="ru-RU" sz="1400"/>
              <a:t> </a:t>
            </a:r>
            <a:r>
              <a:rPr lang="ru-RU" sz="1400" err="1"/>
              <a:t>drug</a:t>
            </a:r>
            <a:r>
              <a:rPr lang="ru-RU" sz="1400"/>
              <a:t> </a:t>
            </a:r>
            <a:r>
              <a:rPr lang="ru-RU" sz="1400" err="1"/>
              <a:t>treatments</a:t>
            </a:r>
            <a:r>
              <a:rPr lang="ru-RU" sz="1400"/>
              <a:t> </a:t>
            </a:r>
            <a:r>
              <a:rPr lang="ru-RU" sz="1400" err="1"/>
              <a:t>in</a:t>
            </a:r>
            <a:r>
              <a:rPr lang="ru-RU" sz="1400"/>
              <a:t> </a:t>
            </a:r>
            <a:r>
              <a:rPr lang="ru-RU" sz="1400" err="1"/>
              <a:t>clinical</a:t>
            </a:r>
            <a:r>
              <a:rPr lang="ru-RU" sz="1400"/>
              <a:t> </a:t>
            </a:r>
            <a:r>
              <a:rPr lang="ru-RU" sz="1400" err="1"/>
              <a:t>trial</a:t>
            </a:r>
            <a:endParaRPr lang="ru-RU" sz="1400"/>
          </a:p>
          <a:p>
            <a:pPr marL="0" indent="0">
              <a:buNone/>
            </a:pPr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3433474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7E1DF-01B6-8B97-3C82-9B020FE5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Python - </a:t>
            </a:r>
            <a:r>
              <a:rPr lang="ru-RU" b="1" err="1"/>
              <a:t>Binomial</a:t>
            </a:r>
            <a:r>
              <a:rPr lang="ru-RU" b="1"/>
              <a:t> Distribution </a:t>
            </a:r>
            <a:r>
              <a:rPr lang="ru-RU" b="1" err="1"/>
              <a:t>Examples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272D9-33BF-EB91-6D47-0934C3EFA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pPr marL="0" indent="0" latinLnBrk="1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scipy.stats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binom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matplotlib.pyplot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plt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Example</a:t>
            </a:r>
            <a:r>
              <a:rPr lang="ru-RU" i="1"/>
              <a:t>: </a:t>
            </a:r>
            <a:r>
              <a:rPr lang="ru-RU" i="1" err="1"/>
              <a:t>Email</a:t>
            </a:r>
            <a:r>
              <a:rPr lang="ru-RU" i="1"/>
              <a:t> </a:t>
            </a:r>
            <a:r>
              <a:rPr lang="ru-RU" i="1" err="1"/>
              <a:t>campaign</a:t>
            </a:r>
            <a:endParaRPr lang="ru-RU"/>
          </a:p>
          <a:p>
            <a:pPr marL="0" indent="0" latinLnBrk="1">
              <a:buNone/>
            </a:pPr>
            <a:r>
              <a:rPr lang="ru-RU"/>
              <a:t>n = 1000  </a:t>
            </a:r>
            <a:r>
              <a:rPr lang="ru-RU" i="1"/>
              <a:t># Number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emails</a:t>
            </a:r>
            <a:r>
              <a:rPr lang="ru-RU" i="1"/>
              <a:t> </a:t>
            </a:r>
            <a:r>
              <a:rPr lang="ru-RU" i="1" err="1"/>
              <a:t>sent</a:t>
            </a:r>
            <a:endParaRPr lang="ru-RU"/>
          </a:p>
          <a:p>
            <a:pPr marL="0" indent="0" latinLnBrk="1">
              <a:buNone/>
            </a:pPr>
            <a:r>
              <a:rPr lang="ru-RU"/>
              <a:t>p = 0.02  </a:t>
            </a:r>
            <a:r>
              <a:rPr lang="ru-RU" i="1"/>
              <a:t># 2% </a:t>
            </a:r>
            <a:r>
              <a:rPr lang="ru-RU" i="1" err="1"/>
              <a:t>open</a:t>
            </a:r>
            <a:r>
              <a:rPr lang="ru-RU" i="1"/>
              <a:t> </a:t>
            </a:r>
            <a:r>
              <a:rPr lang="ru-RU" i="1" err="1"/>
              <a:t>rate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binomial</a:t>
            </a:r>
            <a:r>
              <a:rPr lang="ru-RU" i="1"/>
              <a:t> </a:t>
            </a:r>
            <a:r>
              <a:rPr lang="ru-RU" i="1" err="1"/>
              <a:t>distribution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dist</a:t>
            </a:r>
            <a:r>
              <a:rPr lang="ru-RU"/>
              <a:t> = </a:t>
            </a:r>
            <a:r>
              <a:rPr lang="ru-RU" err="1"/>
              <a:t>binom</a:t>
            </a:r>
            <a:r>
              <a:rPr lang="ru-RU"/>
              <a:t>(n, p)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probabilities</a:t>
            </a:r>
            <a:endParaRPr lang="ru-RU"/>
          </a:p>
          <a:p>
            <a:pPr marL="0" indent="0" latinLnBrk="1">
              <a:buNone/>
            </a:pPr>
            <a:r>
              <a:rPr lang="ru-RU"/>
              <a:t>prob_20_opens = </a:t>
            </a:r>
            <a:r>
              <a:rPr lang="ru-RU" err="1"/>
              <a:t>dist.pmf</a:t>
            </a:r>
            <a:r>
              <a:rPr lang="ru-RU"/>
              <a:t>(20)  </a:t>
            </a:r>
            <a:r>
              <a:rPr lang="ru-RU" i="1"/>
              <a:t># </a:t>
            </a:r>
            <a:r>
              <a:rPr lang="ru-RU" i="1" err="1"/>
              <a:t>Exactly</a:t>
            </a:r>
            <a:r>
              <a:rPr lang="ru-RU" i="1"/>
              <a:t> 20 </a:t>
            </a:r>
            <a:r>
              <a:rPr lang="ru-RU" i="1" err="1"/>
              <a:t>opens</a:t>
            </a:r>
            <a:endParaRPr lang="ru-RU"/>
          </a:p>
          <a:p>
            <a:pPr marL="0" indent="0" latinLnBrk="1">
              <a:buNone/>
            </a:pPr>
            <a:r>
              <a:rPr lang="ru-RU"/>
              <a:t>prob_at_least_25 = 1 - </a:t>
            </a:r>
            <a:r>
              <a:rPr lang="ru-RU" err="1"/>
              <a:t>dist.cdf</a:t>
            </a:r>
            <a:r>
              <a:rPr lang="ru-RU"/>
              <a:t>(24)  </a:t>
            </a:r>
            <a:r>
              <a:rPr lang="ru-RU" i="1"/>
              <a:t># 25 </a:t>
            </a:r>
            <a:r>
              <a:rPr lang="ru-RU" i="1" err="1"/>
              <a:t>or</a:t>
            </a:r>
            <a:r>
              <a:rPr lang="ru-RU" i="1"/>
              <a:t> </a:t>
            </a:r>
            <a:r>
              <a:rPr lang="ru-RU" i="1" err="1"/>
              <a:t>more</a:t>
            </a:r>
            <a:r>
              <a:rPr lang="ru-RU" i="1"/>
              <a:t> </a:t>
            </a:r>
            <a:r>
              <a:rPr lang="ru-RU" i="1" err="1"/>
              <a:t>opens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expected_opens</a:t>
            </a:r>
            <a:r>
              <a:rPr lang="ru-RU"/>
              <a:t> = n * p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f"Expected</a:t>
            </a:r>
            <a:r>
              <a:rPr lang="ru-RU"/>
              <a:t> </a:t>
            </a:r>
            <a:r>
              <a:rPr lang="ru-RU" err="1"/>
              <a:t>opens</a:t>
            </a:r>
            <a:r>
              <a:rPr lang="ru-RU"/>
              <a:t>: {expected_opens:.1f}")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</a:t>
            </a:r>
            <a:r>
              <a:rPr lang="ru-RU"/>
              <a:t>(</a:t>
            </a:r>
            <a:r>
              <a:rPr lang="ru-RU" err="1"/>
              <a:t>Exactly</a:t>
            </a:r>
            <a:r>
              <a:rPr lang="ru-RU"/>
              <a:t> 20 </a:t>
            </a:r>
            <a:r>
              <a:rPr lang="ru-RU" err="1"/>
              <a:t>opens</a:t>
            </a:r>
            <a:r>
              <a:rPr lang="ru-RU"/>
              <a:t>): {prob_20_opens:.4f}")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</a:t>
            </a:r>
            <a:r>
              <a:rPr lang="ru-RU"/>
              <a:t>(25+ </a:t>
            </a:r>
            <a:r>
              <a:rPr lang="ru-RU" err="1"/>
              <a:t>opens</a:t>
            </a:r>
            <a:r>
              <a:rPr lang="ru-RU"/>
              <a:t>): {prob_at_least_25:.4f}")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Visualize</a:t>
            </a:r>
            <a:endParaRPr lang="ru-RU"/>
          </a:p>
          <a:p>
            <a:pPr marL="0" indent="0" latinLnBrk="1">
              <a:buNone/>
            </a:pPr>
            <a:r>
              <a:rPr lang="ru-RU"/>
              <a:t>x = </a:t>
            </a:r>
            <a:r>
              <a:rPr lang="ru-RU" err="1"/>
              <a:t>range</a:t>
            </a:r>
            <a:r>
              <a:rPr lang="ru-RU"/>
              <a:t>(0, 50)</a:t>
            </a:r>
          </a:p>
          <a:p>
            <a:pPr marL="0" indent="0" latinLnBrk="1">
              <a:buNone/>
            </a:pPr>
            <a:r>
              <a:rPr lang="ru-RU" err="1"/>
              <a:t>pmf_values</a:t>
            </a:r>
            <a:r>
              <a:rPr lang="ru-RU"/>
              <a:t> = </a:t>
            </a:r>
            <a:r>
              <a:rPr lang="ru-RU" err="1"/>
              <a:t>dist.pmf</a:t>
            </a:r>
            <a:r>
              <a:rPr lang="ru-RU"/>
              <a:t>(x)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=(10, 6))</a:t>
            </a:r>
          </a:p>
          <a:p>
            <a:pPr marL="0" indent="0" latinLnBrk="1">
              <a:buNone/>
            </a:pPr>
            <a:r>
              <a:rPr lang="ru-RU" err="1"/>
              <a:t>plt.bar</a:t>
            </a:r>
            <a:r>
              <a:rPr lang="ru-RU"/>
              <a:t>(x, </a:t>
            </a:r>
            <a:r>
              <a:rPr lang="ru-RU" err="1"/>
              <a:t>pmf_values</a:t>
            </a:r>
            <a:r>
              <a:rPr lang="ru-RU"/>
              <a:t>, </a:t>
            </a:r>
            <a:r>
              <a:rPr lang="ru-RU" err="1"/>
              <a:t>alpha</a:t>
            </a:r>
            <a:r>
              <a:rPr lang="ru-RU"/>
              <a:t>=0.7, </a:t>
            </a:r>
            <a:r>
              <a:rPr lang="ru-RU" err="1"/>
              <a:t>edgecolor</a:t>
            </a:r>
            <a:r>
              <a:rPr lang="ru-RU"/>
              <a:t>='</a:t>
            </a:r>
            <a:r>
              <a:rPr lang="ru-RU" err="1"/>
              <a:t>black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 err="1"/>
              <a:t>plt.axvline</a:t>
            </a:r>
            <a:r>
              <a:rPr lang="ru-RU"/>
              <a:t>(</a:t>
            </a:r>
            <a:r>
              <a:rPr lang="ru-RU" err="1"/>
              <a:t>expected_opens</a:t>
            </a:r>
            <a:r>
              <a:rPr lang="ru-RU"/>
              <a:t>, </a:t>
            </a:r>
            <a:r>
              <a:rPr lang="ru-RU" err="1"/>
              <a:t>color</a:t>
            </a:r>
            <a:r>
              <a:rPr lang="ru-RU"/>
              <a:t>='</a:t>
            </a:r>
            <a:r>
              <a:rPr lang="ru-RU" err="1"/>
              <a:t>red</a:t>
            </a:r>
            <a:r>
              <a:rPr lang="ru-RU"/>
              <a:t>', </a:t>
            </a:r>
            <a:r>
              <a:rPr lang="ru-RU" err="1"/>
              <a:t>linestyle</a:t>
            </a:r>
            <a:r>
              <a:rPr lang="ru-RU"/>
              <a:t>='--', </a:t>
            </a:r>
          </a:p>
          <a:p>
            <a:pPr marL="0" indent="0" latinLnBrk="1">
              <a:buNone/>
            </a:pPr>
            <a:r>
              <a:rPr lang="ru-RU"/>
              <a:t>            </a:t>
            </a:r>
            <a:r>
              <a:rPr lang="ru-RU" err="1"/>
              <a:t>label</a:t>
            </a:r>
            <a:r>
              <a:rPr lang="ru-RU"/>
              <a:t>=</a:t>
            </a:r>
            <a:r>
              <a:rPr lang="ru-RU" err="1"/>
              <a:t>f'Expected</a:t>
            </a:r>
            <a:r>
              <a:rPr lang="ru-RU"/>
              <a:t>: {expected_opens:.1f}')</a:t>
            </a:r>
          </a:p>
          <a:p>
            <a:pPr marL="0" indent="0" latinLnBrk="1">
              <a:buNone/>
            </a:pPr>
            <a:r>
              <a:rPr lang="ru-RU" err="1"/>
              <a:t>plt.xlabel</a:t>
            </a:r>
            <a:r>
              <a:rPr lang="ru-RU"/>
              <a:t>('Number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Opens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Probability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 err="1"/>
              <a:t>plt.title</a:t>
            </a:r>
            <a:r>
              <a:rPr lang="ru-RU"/>
              <a:t>(</a:t>
            </a:r>
            <a:r>
              <a:rPr lang="ru-RU" err="1"/>
              <a:t>f'Binomial</a:t>
            </a:r>
            <a:r>
              <a:rPr lang="ru-RU"/>
              <a:t> Distribution (n={n}, p={p})')</a:t>
            </a:r>
          </a:p>
          <a:p>
            <a:pPr marL="0" indent="0" latinLnBrk="1">
              <a:buNone/>
            </a:pPr>
            <a:r>
              <a:rPr lang="ru-RU" err="1"/>
              <a:t>plt.legend</a:t>
            </a:r>
            <a:r>
              <a:rPr lang="ru-RU"/>
              <a:t>()</a:t>
            </a:r>
          </a:p>
          <a:p>
            <a:pPr marL="0" indent="0" latinLnBrk="1">
              <a:buNone/>
            </a:pPr>
            <a:r>
              <a:rPr lang="ru-RU" err="1"/>
              <a:t>plt.grid</a:t>
            </a:r>
            <a:r>
              <a:rPr lang="ru-RU"/>
              <a:t>(True, </a:t>
            </a:r>
            <a:r>
              <a:rPr lang="ru-RU" err="1"/>
              <a:t>alpha</a:t>
            </a:r>
            <a:r>
              <a:rPr lang="ru-RU"/>
              <a:t>=0.3)</a:t>
            </a:r>
          </a:p>
          <a:p>
            <a:pPr marL="0" indent="0" latinLnBrk="1">
              <a:buNone/>
            </a:pPr>
            <a:r>
              <a:rPr lang="ru-RU" err="1"/>
              <a:t>plt.show</a:t>
            </a:r>
            <a:r>
              <a:rPr lang="ru-RU"/>
              <a:t>()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614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3D619B-8128-D02A-976D-973A23BC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Poisson</a:t>
            </a:r>
            <a:r>
              <a:rPr lang="ru-RU" b="1"/>
              <a:t> Distribution - </a:t>
            </a:r>
            <a:r>
              <a:rPr lang="ru-RU" b="1" err="1"/>
              <a:t>Counting</a:t>
            </a:r>
            <a:r>
              <a:rPr lang="ru-RU" b="1"/>
              <a:t> </a:t>
            </a:r>
            <a:r>
              <a:rPr lang="ru-RU" b="1" err="1"/>
              <a:t>Rare</a:t>
            </a:r>
            <a:r>
              <a:rPr lang="ru-RU" b="1"/>
              <a:t> </a:t>
            </a:r>
            <a:r>
              <a:rPr lang="ru-RU" b="1" err="1"/>
              <a:t>Events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209A13-DF8A-8F98-B282-0F333636F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ru-RU" sz="1200" b="1"/>
              <a:t>MODELS NUMBER OF EVENTS IN FIXED INTERVAL</a:t>
            </a:r>
          </a:p>
          <a:p>
            <a:pPr marL="0" indent="0" latinLnBrk="1">
              <a:buNone/>
            </a:pPr>
            <a:r>
              <a:rPr lang="ru-RU" sz="1200" b="1"/>
              <a:t> ASSUMPTIONS:</a:t>
            </a:r>
          </a:p>
          <a:p>
            <a:pPr marL="0" indent="0" latinLnBrk="1">
              <a:buNone/>
            </a:pPr>
            <a:r>
              <a:rPr lang="ru-RU" sz="1200"/>
              <a:t>1. </a:t>
            </a:r>
            <a:r>
              <a:rPr lang="ru-RU" sz="1200" err="1"/>
              <a:t>Events</a:t>
            </a:r>
            <a:r>
              <a:rPr lang="ru-RU" sz="1200"/>
              <a:t> </a:t>
            </a:r>
            <a:r>
              <a:rPr lang="ru-RU" sz="1200" err="1"/>
              <a:t>occur</a:t>
            </a:r>
            <a:r>
              <a:rPr lang="ru-RU" sz="1200"/>
              <a:t> </a:t>
            </a:r>
            <a:r>
              <a:rPr lang="ru-RU" sz="1200" err="1"/>
              <a:t>independently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2. </a:t>
            </a:r>
            <a:r>
              <a:rPr lang="ru-RU" sz="1200" err="1"/>
              <a:t>Average</a:t>
            </a:r>
            <a:r>
              <a:rPr lang="ru-RU" sz="1200"/>
              <a:t> </a:t>
            </a:r>
            <a:r>
              <a:rPr lang="ru-RU" sz="1200" err="1"/>
              <a:t>rate</a:t>
            </a:r>
            <a:r>
              <a:rPr lang="ru-RU" sz="1200"/>
              <a:t> (λ) </a:t>
            </a:r>
            <a:r>
              <a:rPr lang="ru-RU" sz="1200" err="1"/>
              <a:t>is</a:t>
            </a:r>
            <a:r>
              <a:rPr lang="ru-RU" sz="1200"/>
              <a:t> </a:t>
            </a:r>
            <a:r>
              <a:rPr lang="ru-RU" sz="1200" err="1"/>
              <a:t>constant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3. </a:t>
            </a:r>
            <a:r>
              <a:rPr lang="ru-RU" sz="1200" err="1"/>
              <a:t>Two</a:t>
            </a:r>
            <a:r>
              <a:rPr lang="ru-RU" sz="1200"/>
              <a:t> </a:t>
            </a:r>
            <a:r>
              <a:rPr lang="ru-RU" sz="1200" err="1"/>
              <a:t>events</a:t>
            </a:r>
            <a:r>
              <a:rPr lang="ru-RU" sz="1200"/>
              <a:t> </a:t>
            </a:r>
            <a:r>
              <a:rPr lang="ru-RU" sz="1200" err="1"/>
              <a:t>cannot</a:t>
            </a:r>
            <a:r>
              <a:rPr lang="ru-RU" sz="1200"/>
              <a:t> </a:t>
            </a:r>
            <a:r>
              <a:rPr lang="ru-RU" sz="1200" err="1"/>
              <a:t>occur</a:t>
            </a:r>
            <a:r>
              <a:rPr lang="ru-RU" sz="1200"/>
              <a:t> </a:t>
            </a:r>
            <a:r>
              <a:rPr lang="ru-RU" sz="1200" err="1"/>
              <a:t>at</a:t>
            </a:r>
            <a:r>
              <a:rPr lang="ru-RU" sz="1200"/>
              <a:t> </a:t>
            </a:r>
            <a:r>
              <a:rPr lang="ru-RU" sz="1200" err="1"/>
              <a:t>exactly</a:t>
            </a:r>
            <a:r>
              <a:rPr lang="ru-RU" sz="1200"/>
              <a:t> </a:t>
            </a:r>
            <a:r>
              <a:rPr lang="ru-RU" sz="1200" err="1"/>
              <a:t>the</a:t>
            </a:r>
            <a:r>
              <a:rPr lang="ru-RU" sz="1200"/>
              <a:t> </a:t>
            </a:r>
            <a:r>
              <a:rPr lang="ru-RU" sz="1200" err="1"/>
              <a:t>same</a:t>
            </a:r>
            <a:r>
              <a:rPr lang="ru-RU" sz="1200"/>
              <a:t> </a:t>
            </a:r>
            <a:r>
              <a:rPr lang="ru-RU" sz="1200" err="1"/>
              <a:t>time</a:t>
            </a:r>
            <a:endParaRPr lang="ru-RU" sz="1200"/>
          </a:p>
          <a:p>
            <a:pPr marL="0" indent="0" latinLnBrk="1">
              <a:buNone/>
            </a:pPr>
            <a:r>
              <a:rPr lang="ru-RU" sz="1200" b="1"/>
              <a:t> PARAMETER: </a:t>
            </a:r>
            <a:r>
              <a:rPr lang="ru-RU" sz="1200"/>
              <a:t>λ (</a:t>
            </a:r>
            <a:r>
              <a:rPr lang="ru-RU" sz="1200" err="1"/>
              <a:t>average</a:t>
            </a:r>
            <a:r>
              <a:rPr lang="ru-RU" sz="1200"/>
              <a:t> </a:t>
            </a:r>
            <a:r>
              <a:rPr lang="ru-RU" sz="1200" err="1"/>
              <a:t>rate</a:t>
            </a:r>
            <a:r>
              <a:rPr lang="ru-RU" sz="1200"/>
              <a:t>)</a:t>
            </a:r>
          </a:p>
          <a:p>
            <a:pPr marL="0" indent="0" latinLnBrk="1">
              <a:buNone/>
            </a:pPr>
            <a:r>
              <a:rPr lang="ru-RU" sz="1200" b="1"/>
              <a:t> PROPERTIES:</a:t>
            </a:r>
          </a:p>
          <a:p>
            <a:pPr marL="0" indent="0" latinLnBrk="1">
              <a:buNone/>
            </a:pPr>
            <a:r>
              <a:rPr lang="ru-RU" sz="1200"/>
              <a:t>• E[X] = λ</a:t>
            </a:r>
          </a:p>
          <a:p>
            <a:pPr marL="0" indent="0" latinLnBrk="1">
              <a:buNone/>
            </a:pPr>
            <a:r>
              <a:rPr lang="ru-RU" sz="1200"/>
              <a:t>• </a:t>
            </a:r>
            <a:r>
              <a:rPr lang="ru-RU" sz="1200" err="1"/>
              <a:t>Var</a:t>
            </a:r>
            <a:r>
              <a:rPr lang="ru-RU" sz="1200"/>
              <a:t>[X] = λ</a:t>
            </a:r>
          </a:p>
          <a:p>
            <a:pPr marL="0" indent="0" latinLnBrk="1">
              <a:buNone/>
            </a:pPr>
            <a:r>
              <a:rPr lang="ru-RU" sz="1200" b="1"/>
              <a:t> APPLICATIONS:</a:t>
            </a:r>
          </a:p>
          <a:p>
            <a:pPr marL="0" indent="0" latinLnBrk="1">
              <a:buNone/>
            </a:pPr>
            <a:r>
              <a:rPr lang="ru-RU" sz="1200"/>
              <a:t>• </a:t>
            </a:r>
            <a:r>
              <a:rPr lang="ru-RU" sz="1200" err="1"/>
              <a:t>Customers</a:t>
            </a:r>
            <a:r>
              <a:rPr lang="ru-RU" sz="1200"/>
              <a:t> </a:t>
            </a:r>
            <a:r>
              <a:rPr lang="ru-RU" sz="1200" err="1"/>
              <a:t>arriving</a:t>
            </a:r>
            <a:r>
              <a:rPr lang="ru-RU" sz="1200"/>
              <a:t> </a:t>
            </a:r>
            <a:r>
              <a:rPr lang="ru-RU" sz="1200" err="1"/>
              <a:t>per</a:t>
            </a:r>
            <a:r>
              <a:rPr lang="ru-RU" sz="1200"/>
              <a:t> </a:t>
            </a:r>
            <a:r>
              <a:rPr lang="ru-RU" sz="1200" err="1"/>
              <a:t>hour</a:t>
            </a:r>
            <a:r>
              <a:rPr lang="ru-RU" sz="1200"/>
              <a:t> (λ = 10/</a:t>
            </a:r>
            <a:r>
              <a:rPr lang="ru-RU" sz="1200" err="1"/>
              <a:t>hour</a:t>
            </a:r>
            <a:r>
              <a:rPr lang="ru-RU" sz="1200"/>
              <a:t>)</a:t>
            </a:r>
          </a:p>
          <a:p>
            <a:pPr marL="0" indent="0" latinLnBrk="1">
              <a:buNone/>
            </a:pPr>
            <a:r>
              <a:rPr lang="ru-RU" sz="1200"/>
              <a:t>• </a:t>
            </a:r>
            <a:r>
              <a:rPr lang="ru-RU" sz="1200" err="1"/>
              <a:t>Website</a:t>
            </a:r>
            <a:r>
              <a:rPr lang="ru-RU" sz="1200"/>
              <a:t> </a:t>
            </a:r>
            <a:r>
              <a:rPr lang="ru-RU" sz="1200" err="1"/>
              <a:t>hits</a:t>
            </a:r>
            <a:r>
              <a:rPr lang="ru-RU" sz="1200"/>
              <a:t> </a:t>
            </a:r>
            <a:r>
              <a:rPr lang="ru-RU" sz="1200" err="1"/>
              <a:t>per</a:t>
            </a:r>
            <a:r>
              <a:rPr lang="ru-RU" sz="1200"/>
              <a:t> </a:t>
            </a:r>
            <a:r>
              <a:rPr lang="ru-RU" sz="1200" err="1"/>
              <a:t>minute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• </a:t>
            </a:r>
            <a:r>
              <a:rPr lang="ru-RU" sz="1200" err="1"/>
              <a:t>Defects</a:t>
            </a:r>
            <a:r>
              <a:rPr lang="ru-RU" sz="1200"/>
              <a:t> </a:t>
            </a:r>
            <a:r>
              <a:rPr lang="ru-RU" sz="1200" err="1"/>
              <a:t>per</a:t>
            </a:r>
            <a:r>
              <a:rPr lang="ru-RU" sz="1200"/>
              <a:t> </a:t>
            </a:r>
            <a:r>
              <a:rPr lang="ru-RU" sz="1200" err="1"/>
              <a:t>square</a:t>
            </a:r>
            <a:r>
              <a:rPr lang="ru-RU" sz="1200"/>
              <a:t> </a:t>
            </a:r>
            <a:r>
              <a:rPr lang="ru-RU" sz="1200" err="1"/>
              <a:t>meter</a:t>
            </a:r>
            <a:r>
              <a:rPr lang="ru-RU" sz="1200"/>
              <a:t> </a:t>
            </a:r>
            <a:r>
              <a:rPr lang="ru-RU" sz="1200" err="1"/>
              <a:t>of</a:t>
            </a:r>
            <a:r>
              <a:rPr lang="ru-RU" sz="1200"/>
              <a:t> </a:t>
            </a:r>
            <a:r>
              <a:rPr lang="ru-RU" sz="1200" err="1"/>
              <a:t>fabric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• </a:t>
            </a:r>
            <a:r>
              <a:rPr lang="ru-RU" sz="1200" err="1"/>
              <a:t>Emails</a:t>
            </a:r>
            <a:r>
              <a:rPr lang="ru-RU" sz="1200"/>
              <a:t> </a:t>
            </a:r>
            <a:r>
              <a:rPr lang="ru-RU" sz="1200" err="1"/>
              <a:t>received</a:t>
            </a:r>
            <a:r>
              <a:rPr lang="ru-RU" sz="1200"/>
              <a:t> </a:t>
            </a:r>
            <a:r>
              <a:rPr lang="ru-RU" sz="1200" err="1"/>
              <a:t>per</a:t>
            </a:r>
            <a:r>
              <a:rPr lang="ru-RU" sz="1200"/>
              <a:t> </a:t>
            </a:r>
            <a:r>
              <a:rPr lang="ru-RU" sz="1200" err="1"/>
              <a:t>day</a:t>
            </a:r>
            <a:endParaRPr lang="ru-RU" sz="1200"/>
          </a:p>
          <a:p>
            <a:pPr marL="0" indent="0">
              <a:buNone/>
            </a:pPr>
            <a:endParaRPr lang="ru-RU" sz="1050"/>
          </a:p>
        </p:txBody>
      </p:sp>
    </p:spTree>
    <p:extLst>
      <p:ext uri="{BB962C8B-B14F-4D97-AF65-F5344CB8AC3E}">
        <p14:creationId xmlns:p14="http://schemas.microsoft.com/office/powerpoint/2010/main" val="3020765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ADEDC-EF35-547B-C003-85D49624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Poisson</a:t>
            </a:r>
            <a:r>
              <a:rPr lang="ru-RU" b="1"/>
              <a:t> </a:t>
            </a:r>
            <a:r>
              <a:rPr lang="ru-RU" b="1" err="1"/>
              <a:t>vs</a:t>
            </a:r>
            <a:r>
              <a:rPr lang="ru-RU" b="1"/>
              <a:t> </a:t>
            </a:r>
            <a:r>
              <a:rPr lang="ru-RU" b="1" err="1"/>
              <a:t>Binomial</a:t>
            </a:r>
            <a:r>
              <a:rPr lang="ru-RU" b="1"/>
              <a:t> - </a:t>
            </a:r>
            <a:r>
              <a:rPr lang="ru-RU" b="1" err="1"/>
              <a:t>When</a:t>
            </a:r>
            <a:r>
              <a:rPr lang="ru-RU" b="1"/>
              <a:t> </a:t>
            </a:r>
            <a:r>
              <a:rPr lang="ru-RU" b="1" err="1"/>
              <a:t>to</a:t>
            </a:r>
            <a:r>
              <a:rPr lang="ru-RU" b="1"/>
              <a:t> </a:t>
            </a:r>
            <a:r>
              <a:rPr lang="ru-RU" b="1" err="1"/>
              <a:t>Use</a:t>
            </a:r>
            <a:r>
              <a:rPr lang="ru-RU" b="1"/>
              <a:t> </a:t>
            </a:r>
            <a:r>
              <a:rPr lang="ru-RU" b="1" err="1"/>
              <a:t>Which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44532-A253-54EA-09B6-659C05D1B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411"/>
            <a:ext cx="10515600" cy="4351338"/>
          </a:xfrm>
        </p:spPr>
        <p:txBody>
          <a:bodyPr>
            <a:noAutofit/>
          </a:bodyPr>
          <a:lstStyle/>
          <a:p>
            <a:pPr marL="0" indent="0" latinLnBrk="1">
              <a:buNone/>
            </a:pPr>
            <a:r>
              <a:rPr lang="ru-RU" sz="1200" b="1"/>
              <a:t>POISSON APPROXIMATION TO BINOMIAL</a:t>
            </a:r>
            <a:r>
              <a:rPr lang="ru-RU" sz="1200"/>
              <a:t>:</a:t>
            </a:r>
          </a:p>
          <a:p>
            <a:pPr marL="0" indent="0" latinLnBrk="1">
              <a:buNone/>
            </a:pPr>
            <a:r>
              <a:rPr lang="ru-RU" sz="1200" err="1"/>
              <a:t>When</a:t>
            </a:r>
            <a:r>
              <a:rPr lang="ru-RU" sz="1200"/>
              <a:t> n </a:t>
            </a:r>
            <a:r>
              <a:rPr lang="ru-RU" sz="1200" err="1"/>
              <a:t>is</a:t>
            </a:r>
            <a:r>
              <a:rPr lang="ru-RU" sz="1200"/>
              <a:t> </a:t>
            </a:r>
            <a:r>
              <a:rPr lang="ru-RU" sz="1200" err="1"/>
              <a:t>large</a:t>
            </a:r>
            <a:r>
              <a:rPr lang="ru-RU" sz="1200"/>
              <a:t> </a:t>
            </a:r>
            <a:r>
              <a:rPr lang="ru-RU" sz="1200" err="1"/>
              <a:t>and</a:t>
            </a:r>
            <a:r>
              <a:rPr lang="ru-RU" sz="1200"/>
              <a:t> p </a:t>
            </a:r>
            <a:r>
              <a:rPr lang="ru-RU" sz="1200" err="1"/>
              <a:t>is</a:t>
            </a:r>
            <a:r>
              <a:rPr lang="ru-RU" sz="1200"/>
              <a:t> </a:t>
            </a:r>
            <a:r>
              <a:rPr lang="ru-RU" sz="1200" err="1"/>
              <a:t>small</a:t>
            </a:r>
            <a:r>
              <a:rPr lang="ru-RU" sz="1200"/>
              <a:t>, </a:t>
            </a:r>
            <a:r>
              <a:rPr lang="ru-RU" sz="1200" err="1"/>
              <a:t>Binomial</a:t>
            </a:r>
            <a:r>
              <a:rPr lang="ru-RU" sz="1200"/>
              <a:t>(</a:t>
            </a:r>
            <a:r>
              <a:rPr lang="ru-RU" sz="1200" err="1"/>
              <a:t>n,p</a:t>
            </a:r>
            <a:r>
              <a:rPr lang="ru-RU" sz="1200"/>
              <a:t>) ≈ </a:t>
            </a:r>
            <a:r>
              <a:rPr lang="ru-RU" sz="1200" err="1"/>
              <a:t>Poisson</a:t>
            </a:r>
            <a:r>
              <a:rPr lang="ru-RU" sz="1200"/>
              <a:t>(λ=</a:t>
            </a:r>
            <a:r>
              <a:rPr lang="ru-RU" sz="1200" err="1"/>
              <a:t>np</a:t>
            </a:r>
            <a:r>
              <a:rPr lang="ru-RU" sz="1200"/>
              <a:t>)</a:t>
            </a:r>
          </a:p>
          <a:p>
            <a:pPr marL="0" indent="0" latinLnBrk="1">
              <a:buNone/>
            </a:pPr>
            <a:r>
              <a:rPr lang="ru-RU" sz="1200"/>
              <a:t> </a:t>
            </a:r>
            <a:r>
              <a:rPr lang="ru-RU" sz="1200" b="1"/>
              <a:t>GUIDELINES:</a:t>
            </a:r>
          </a:p>
          <a:p>
            <a:pPr marL="0" indent="0" latinLnBrk="1">
              <a:buNone/>
            </a:pPr>
            <a:r>
              <a:rPr lang="ru-RU" sz="1200"/>
              <a:t>• </a:t>
            </a:r>
            <a:r>
              <a:rPr lang="ru-RU" sz="1200" err="1"/>
              <a:t>Use</a:t>
            </a:r>
            <a:r>
              <a:rPr lang="ru-RU" sz="1200"/>
              <a:t> BINOMIAL </a:t>
            </a:r>
            <a:r>
              <a:rPr lang="ru-RU" sz="1200" err="1"/>
              <a:t>when</a:t>
            </a:r>
            <a:r>
              <a:rPr lang="ru-RU" sz="1200"/>
              <a:t>:</a:t>
            </a:r>
          </a:p>
          <a:p>
            <a:pPr marL="0" indent="0" latinLnBrk="1">
              <a:buNone/>
            </a:pPr>
            <a:r>
              <a:rPr lang="ru-RU" sz="1200"/>
              <a:t>  - </a:t>
            </a:r>
            <a:r>
              <a:rPr lang="ru-RU" sz="1200" err="1"/>
              <a:t>Fixed</a:t>
            </a:r>
            <a:r>
              <a:rPr lang="ru-RU" sz="1200"/>
              <a:t> </a:t>
            </a:r>
            <a:r>
              <a:rPr lang="ru-RU" sz="1200" err="1"/>
              <a:t>number</a:t>
            </a:r>
            <a:r>
              <a:rPr lang="ru-RU" sz="1200"/>
              <a:t> </a:t>
            </a:r>
            <a:r>
              <a:rPr lang="ru-RU" sz="1200" err="1"/>
              <a:t>of</a:t>
            </a:r>
            <a:r>
              <a:rPr lang="ru-RU" sz="1200"/>
              <a:t> </a:t>
            </a:r>
            <a:r>
              <a:rPr lang="ru-RU" sz="1200" err="1"/>
              <a:t>trials</a:t>
            </a:r>
            <a:r>
              <a:rPr lang="ru-RU" sz="1200"/>
              <a:t> (n)</a:t>
            </a:r>
          </a:p>
          <a:p>
            <a:pPr marL="0" indent="0" latinLnBrk="1">
              <a:buNone/>
            </a:pPr>
            <a:r>
              <a:rPr lang="ru-RU" sz="1200"/>
              <a:t>  - </a:t>
            </a:r>
            <a:r>
              <a:rPr lang="ru-RU" sz="1200" err="1"/>
              <a:t>Each</a:t>
            </a:r>
            <a:r>
              <a:rPr lang="ru-RU" sz="1200"/>
              <a:t> </a:t>
            </a:r>
            <a:r>
              <a:rPr lang="ru-RU" sz="1200" err="1"/>
              <a:t>trial</a:t>
            </a:r>
            <a:r>
              <a:rPr lang="ru-RU" sz="1200"/>
              <a:t> </a:t>
            </a:r>
            <a:r>
              <a:rPr lang="ru-RU" sz="1200" err="1"/>
              <a:t>has</a:t>
            </a:r>
            <a:r>
              <a:rPr lang="ru-RU" sz="1200"/>
              <a:t> </a:t>
            </a:r>
            <a:r>
              <a:rPr lang="en-US" sz="1200"/>
              <a:t>the </a:t>
            </a:r>
            <a:r>
              <a:rPr lang="ru-RU" sz="1200" err="1"/>
              <a:t>same</a:t>
            </a:r>
            <a:r>
              <a:rPr lang="ru-RU" sz="1200"/>
              <a:t> </a:t>
            </a:r>
            <a:r>
              <a:rPr lang="ru-RU" sz="1200" err="1"/>
              <a:t>success</a:t>
            </a:r>
            <a:r>
              <a:rPr lang="ru-RU" sz="1200"/>
              <a:t> </a:t>
            </a:r>
            <a:r>
              <a:rPr lang="ru-RU" sz="1200" err="1"/>
              <a:t>probability</a:t>
            </a:r>
            <a:r>
              <a:rPr lang="ru-RU" sz="1200"/>
              <a:t> (p)</a:t>
            </a:r>
          </a:p>
          <a:p>
            <a:pPr marL="0" indent="0" latinLnBrk="1">
              <a:buNone/>
            </a:pPr>
            <a:r>
              <a:rPr lang="ru-RU" sz="1200"/>
              <a:t>  • </a:t>
            </a:r>
            <a:r>
              <a:rPr lang="ru-RU" sz="1200" err="1"/>
              <a:t>Use</a:t>
            </a:r>
            <a:r>
              <a:rPr lang="ru-RU" sz="1200"/>
              <a:t> POISSON </a:t>
            </a:r>
            <a:r>
              <a:rPr lang="ru-RU" sz="1200" err="1"/>
              <a:t>when</a:t>
            </a:r>
            <a:r>
              <a:rPr lang="ru-RU" sz="1200"/>
              <a:t>:</a:t>
            </a:r>
          </a:p>
          <a:p>
            <a:pPr marL="0" indent="0" latinLnBrk="1">
              <a:buNone/>
            </a:pPr>
            <a:r>
              <a:rPr lang="ru-RU" sz="1200"/>
              <a:t>  - </a:t>
            </a:r>
            <a:r>
              <a:rPr lang="ru-RU" sz="1200" err="1"/>
              <a:t>Events</a:t>
            </a:r>
            <a:r>
              <a:rPr lang="ru-RU" sz="1200"/>
              <a:t> </a:t>
            </a:r>
            <a:r>
              <a:rPr lang="ru-RU" sz="1200" err="1"/>
              <a:t>occur</a:t>
            </a:r>
            <a:r>
              <a:rPr lang="ru-RU" sz="1200"/>
              <a:t> </a:t>
            </a:r>
            <a:r>
              <a:rPr lang="ru-RU" sz="1200" err="1"/>
              <a:t>at</a:t>
            </a:r>
            <a:r>
              <a:rPr lang="ru-RU" sz="1200"/>
              <a:t> </a:t>
            </a:r>
            <a:r>
              <a:rPr lang="en-US" sz="1200"/>
              <a:t>a constant</a:t>
            </a:r>
            <a:r>
              <a:rPr lang="ru-RU" sz="1200"/>
              <a:t> </a:t>
            </a:r>
            <a:r>
              <a:rPr lang="ru-RU" sz="1200" err="1"/>
              <a:t>average</a:t>
            </a:r>
            <a:r>
              <a:rPr lang="ru-RU" sz="1200"/>
              <a:t> </a:t>
            </a:r>
            <a:r>
              <a:rPr lang="ru-RU" sz="1200" err="1"/>
              <a:t>rate</a:t>
            </a:r>
            <a:r>
              <a:rPr lang="ru-RU" sz="1200"/>
              <a:t> (λ)</a:t>
            </a:r>
          </a:p>
          <a:p>
            <a:pPr marL="0" indent="0" latinLnBrk="1">
              <a:buNone/>
            </a:pPr>
            <a:r>
              <a:rPr lang="ru-RU" sz="1200"/>
              <a:t>  - Focus </a:t>
            </a:r>
            <a:r>
              <a:rPr lang="ru-RU" sz="1200" err="1"/>
              <a:t>is</a:t>
            </a:r>
            <a:r>
              <a:rPr lang="ru-RU" sz="1200"/>
              <a:t> </a:t>
            </a:r>
            <a:r>
              <a:rPr lang="ru-RU" sz="1200" err="1"/>
              <a:t>on</a:t>
            </a:r>
            <a:r>
              <a:rPr lang="ru-RU" sz="1200"/>
              <a:t> </a:t>
            </a:r>
            <a:r>
              <a:rPr lang="ru-RU" sz="1200" err="1"/>
              <a:t>counts</a:t>
            </a:r>
            <a:r>
              <a:rPr lang="ru-RU" sz="1200"/>
              <a:t> </a:t>
            </a:r>
            <a:r>
              <a:rPr lang="ru-RU" sz="1200" err="1"/>
              <a:t>in</a:t>
            </a:r>
            <a:r>
              <a:rPr lang="ru-RU" sz="1200"/>
              <a:t> </a:t>
            </a:r>
            <a:r>
              <a:rPr lang="ru-RU" sz="1200" err="1"/>
              <a:t>time</a:t>
            </a:r>
            <a:r>
              <a:rPr lang="ru-RU" sz="1200"/>
              <a:t>/</a:t>
            </a:r>
            <a:r>
              <a:rPr lang="ru-RU" sz="1200" err="1"/>
              <a:t>space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  - n </a:t>
            </a:r>
            <a:r>
              <a:rPr lang="ru-RU" sz="1200" err="1"/>
              <a:t>is</a:t>
            </a:r>
            <a:r>
              <a:rPr lang="ru-RU" sz="1200"/>
              <a:t> </a:t>
            </a:r>
            <a:r>
              <a:rPr lang="ru-RU" sz="1200" err="1"/>
              <a:t>large</a:t>
            </a:r>
            <a:r>
              <a:rPr lang="ru-RU" sz="1200"/>
              <a:t>, p </a:t>
            </a:r>
            <a:r>
              <a:rPr lang="ru-RU" sz="1200" err="1"/>
              <a:t>is</a:t>
            </a:r>
            <a:r>
              <a:rPr lang="ru-RU" sz="1200"/>
              <a:t> </a:t>
            </a:r>
            <a:r>
              <a:rPr lang="ru-RU" sz="1200" err="1"/>
              <a:t>small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 </a:t>
            </a:r>
            <a:r>
              <a:rPr lang="ru-RU" sz="1200" b="1"/>
              <a:t>EXAMPLE: </a:t>
            </a:r>
          </a:p>
          <a:p>
            <a:pPr marL="0" indent="0" latinLnBrk="1">
              <a:buNone/>
            </a:pPr>
            <a:r>
              <a:rPr lang="ru-RU" sz="1200"/>
              <a:t>• 1000 </a:t>
            </a:r>
            <a:r>
              <a:rPr lang="ru-RU" sz="1200" err="1"/>
              <a:t>emails</a:t>
            </a:r>
            <a:r>
              <a:rPr lang="ru-RU" sz="1200"/>
              <a:t>, 2% </a:t>
            </a:r>
            <a:r>
              <a:rPr lang="ru-RU" sz="1200" err="1"/>
              <a:t>open</a:t>
            </a:r>
            <a:r>
              <a:rPr lang="ru-RU" sz="1200"/>
              <a:t> </a:t>
            </a:r>
            <a:r>
              <a:rPr lang="ru-RU" sz="1200" err="1"/>
              <a:t>rate</a:t>
            </a:r>
            <a:r>
              <a:rPr lang="ru-RU" sz="1200"/>
              <a:t> → </a:t>
            </a:r>
            <a:r>
              <a:rPr lang="ru-RU" sz="1200" err="1"/>
              <a:t>Binomial</a:t>
            </a:r>
            <a:r>
              <a:rPr lang="ru-RU" sz="1200"/>
              <a:t>(1000, 0.02)</a:t>
            </a:r>
          </a:p>
          <a:p>
            <a:pPr marL="0" indent="0" latinLnBrk="1">
              <a:buNone/>
            </a:pPr>
            <a:r>
              <a:rPr lang="ru-RU" sz="1200"/>
              <a:t>• </a:t>
            </a:r>
            <a:r>
              <a:rPr lang="ru-RU" sz="1200" err="1"/>
              <a:t>Average</a:t>
            </a:r>
            <a:r>
              <a:rPr lang="ru-RU" sz="1200"/>
              <a:t> 20 </a:t>
            </a:r>
            <a:r>
              <a:rPr lang="ru-RU" sz="1200" err="1"/>
              <a:t>opens</a:t>
            </a:r>
            <a:r>
              <a:rPr lang="ru-RU" sz="1200"/>
              <a:t> </a:t>
            </a:r>
            <a:r>
              <a:rPr lang="ru-RU" sz="1200" err="1"/>
              <a:t>per</a:t>
            </a:r>
            <a:r>
              <a:rPr lang="ru-RU" sz="1200"/>
              <a:t> </a:t>
            </a:r>
            <a:r>
              <a:rPr lang="ru-RU" sz="1200" err="1"/>
              <a:t>batch</a:t>
            </a:r>
            <a:r>
              <a:rPr lang="ru-RU" sz="1200"/>
              <a:t> → </a:t>
            </a:r>
            <a:r>
              <a:rPr lang="ru-RU" sz="1200" err="1"/>
              <a:t>Poisson</a:t>
            </a:r>
            <a:r>
              <a:rPr lang="ru-RU" sz="1200"/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39247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D23ED-3FA7-40E5-9047-11002DE7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Geometric</a:t>
            </a:r>
            <a:r>
              <a:rPr lang="ru-RU" b="1"/>
              <a:t> &amp; </a:t>
            </a:r>
            <a:r>
              <a:rPr lang="ru-RU" b="1" err="1"/>
              <a:t>Negative</a:t>
            </a:r>
            <a:r>
              <a:rPr lang="ru-RU" b="1"/>
              <a:t> </a:t>
            </a:r>
            <a:r>
              <a:rPr lang="ru-RU" b="1" err="1"/>
              <a:t>Binomial</a:t>
            </a:r>
            <a:r>
              <a:rPr lang="ru-RU" b="1"/>
              <a:t> - </a:t>
            </a:r>
            <a:r>
              <a:rPr lang="ru-RU" b="1" err="1"/>
              <a:t>Waiting</a:t>
            </a:r>
            <a:r>
              <a:rPr lang="ru-RU" b="1"/>
              <a:t> Time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999C65-A573-0571-5A5B-C3822F469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b="1"/>
              <a:t>GEOMETRIC: </a:t>
            </a:r>
            <a:r>
              <a:rPr lang="ru-RU" err="1"/>
              <a:t>Trials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</a:t>
            </a:r>
            <a:r>
              <a:rPr lang="ru-RU" err="1"/>
              <a:t>first</a:t>
            </a:r>
            <a:r>
              <a:rPr lang="ru-RU"/>
              <a:t> </a:t>
            </a:r>
            <a:r>
              <a:rPr lang="ru-RU" err="1"/>
              <a:t>success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P(X = k) = (1-p)^{k-1} × p</a:t>
            </a:r>
          </a:p>
          <a:p>
            <a:pPr marL="0" indent="0" latinLnBrk="1">
              <a:buNone/>
            </a:pPr>
            <a:r>
              <a:rPr lang="ru-RU"/>
              <a:t>• E[X] = 1/p</a:t>
            </a:r>
          </a:p>
          <a:p>
            <a:pPr marL="0" indent="0" latinLnBrk="1">
              <a:buNone/>
            </a:pPr>
            <a:r>
              <a:rPr lang="ru-RU"/>
              <a:t>• Application: </a:t>
            </a:r>
            <a:r>
              <a:rPr lang="ru-RU" err="1"/>
              <a:t>Visitors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</a:t>
            </a:r>
            <a:r>
              <a:rPr lang="ru-RU" err="1"/>
              <a:t>first</a:t>
            </a:r>
            <a:r>
              <a:rPr lang="ru-RU"/>
              <a:t> </a:t>
            </a:r>
            <a:r>
              <a:rPr lang="ru-RU" err="1"/>
              <a:t>purchase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NEGATIVE BINOMIAL: </a:t>
            </a:r>
            <a:r>
              <a:rPr lang="ru-RU" err="1"/>
              <a:t>Trials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r-</a:t>
            </a:r>
            <a:r>
              <a:rPr lang="ru-RU" err="1"/>
              <a:t>th</a:t>
            </a:r>
            <a:r>
              <a:rPr lang="ru-RU"/>
              <a:t> </a:t>
            </a:r>
            <a:r>
              <a:rPr lang="ru-RU" err="1"/>
              <a:t>success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Generalization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geometric</a:t>
            </a:r>
            <a:endParaRPr lang="ru-RU"/>
          </a:p>
          <a:p>
            <a:pPr marL="0" indent="0" latinLnBrk="1">
              <a:buNone/>
            </a:pPr>
            <a:r>
              <a:rPr lang="ru-RU"/>
              <a:t>• E[X] = r/p</a:t>
            </a:r>
          </a:p>
          <a:p>
            <a:pPr marL="0" indent="0" latinLnBrk="1">
              <a:buNone/>
            </a:pPr>
            <a:r>
              <a:rPr lang="ru-RU"/>
              <a:t>• Application: </a:t>
            </a:r>
            <a:r>
              <a:rPr lang="ru-RU" err="1"/>
              <a:t>Visitors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5th </a:t>
            </a:r>
            <a:r>
              <a:rPr lang="ru-RU" err="1"/>
              <a:t>subscription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endParaRPr lang="en-US"/>
          </a:p>
          <a:p>
            <a:pPr marL="0" indent="0" latinLnBrk="1">
              <a:buNone/>
            </a:pPr>
            <a:r>
              <a:rPr lang="ru-RU" b="1" i="1"/>
              <a:t>Python </a:t>
            </a:r>
            <a:r>
              <a:rPr lang="ru-RU" b="1" i="1" err="1"/>
              <a:t>Example</a:t>
            </a:r>
            <a:r>
              <a:rPr lang="ru-RU" b="1" i="1"/>
              <a:t>:</a:t>
            </a:r>
          </a:p>
          <a:p>
            <a:pPr marL="0" indent="0">
              <a:buNone/>
            </a:pPr>
            <a:r>
              <a:rPr lang="ru-RU" i="1" err="1"/>
              <a:t>from</a:t>
            </a:r>
            <a:r>
              <a:rPr lang="ru-RU" i="1"/>
              <a:t> </a:t>
            </a:r>
            <a:r>
              <a:rPr lang="ru-RU" i="1" err="1"/>
              <a:t>scipy.stats</a:t>
            </a:r>
            <a:r>
              <a:rPr lang="ru-RU" i="1"/>
              <a:t> </a:t>
            </a: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geom</a:t>
            </a:r>
            <a:r>
              <a:rPr lang="ru-RU" i="1"/>
              <a:t>, </a:t>
            </a:r>
            <a:r>
              <a:rPr lang="ru-RU" i="1" err="1"/>
              <a:t>nbinom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Geometric</a:t>
            </a:r>
            <a:r>
              <a:rPr lang="ru-RU" i="1"/>
              <a:t>: </a:t>
            </a:r>
            <a:r>
              <a:rPr lang="ru-RU" i="1" err="1"/>
              <a:t>Until</a:t>
            </a:r>
            <a:r>
              <a:rPr lang="ru-RU" i="1"/>
              <a:t> </a:t>
            </a:r>
            <a:r>
              <a:rPr lang="ru-RU" i="1" err="1"/>
              <a:t>first</a:t>
            </a:r>
            <a:r>
              <a:rPr lang="ru-RU" i="1"/>
              <a:t> </a:t>
            </a:r>
            <a:r>
              <a:rPr lang="ru-RU" i="1" err="1"/>
              <a:t>purchase</a:t>
            </a:r>
            <a:r>
              <a:rPr lang="ru-RU" i="1"/>
              <a:t> (p = 0.05)</a:t>
            </a:r>
          </a:p>
          <a:p>
            <a:pPr marL="0" indent="0" latinLnBrk="1">
              <a:buNone/>
            </a:pPr>
            <a:r>
              <a:rPr lang="ru-RU" i="1"/>
              <a:t>p = 0.05</a:t>
            </a:r>
          </a:p>
          <a:p>
            <a:pPr marL="0" indent="0" latinLnBrk="1">
              <a:buNone/>
            </a:pPr>
            <a:r>
              <a:rPr lang="ru-RU" i="1" err="1"/>
              <a:t>geom_dist</a:t>
            </a:r>
            <a:r>
              <a:rPr lang="ru-RU" i="1"/>
              <a:t> = </a:t>
            </a:r>
            <a:r>
              <a:rPr lang="ru-RU" i="1" err="1"/>
              <a:t>geom</a:t>
            </a:r>
            <a:r>
              <a:rPr lang="ru-RU" i="1"/>
              <a:t>(p)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f"Expected</a:t>
            </a:r>
            <a:r>
              <a:rPr lang="ru-RU" i="1"/>
              <a:t> </a:t>
            </a:r>
            <a:r>
              <a:rPr lang="ru-RU" i="1" err="1"/>
              <a:t>visitors</a:t>
            </a:r>
            <a:r>
              <a:rPr lang="ru-RU" i="1"/>
              <a:t> </a:t>
            </a:r>
            <a:r>
              <a:rPr lang="ru-RU" i="1" err="1"/>
              <a:t>until</a:t>
            </a:r>
            <a:r>
              <a:rPr lang="ru-RU" i="1"/>
              <a:t> </a:t>
            </a:r>
            <a:r>
              <a:rPr lang="ru-RU" i="1" err="1"/>
              <a:t>first</a:t>
            </a:r>
            <a:r>
              <a:rPr lang="ru-RU" i="1"/>
              <a:t> </a:t>
            </a:r>
            <a:r>
              <a:rPr lang="ru-RU" i="1" err="1"/>
              <a:t>purchase</a:t>
            </a:r>
            <a:r>
              <a:rPr lang="ru-RU" i="1"/>
              <a:t>: {1/p:.0f}")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Negative</a:t>
            </a:r>
            <a:r>
              <a:rPr lang="ru-RU" i="1"/>
              <a:t> </a:t>
            </a:r>
            <a:r>
              <a:rPr lang="ru-RU" i="1" err="1"/>
              <a:t>Binomial</a:t>
            </a:r>
            <a:r>
              <a:rPr lang="ru-RU" i="1"/>
              <a:t>: </a:t>
            </a:r>
            <a:r>
              <a:rPr lang="ru-RU" i="1" err="1"/>
              <a:t>Until</a:t>
            </a:r>
            <a:r>
              <a:rPr lang="ru-RU" i="1"/>
              <a:t> 3rd </a:t>
            </a:r>
            <a:r>
              <a:rPr lang="ru-RU" i="1" err="1"/>
              <a:t>purchase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r = 3</a:t>
            </a:r>
          </a:p>
          <a:p>
            <a:pPr marL="0" indent="0" latinLnBrk="1">
              <a:buNone/>
            </a:pPr>
            <a:r>
              <a:rPr lang="ru-RU" i="1" err="1"/>
              <a:t>nbinom_dist</a:t>
            </a:r>
            <a:r>
              <a:rPr lang="ru-RU" i="1"/>
              <a:t> = </a:t>
            </a:r>
            <a:r>
              <a:rPr lang="ru-RU" i="1" err="1"/>
              <a:t>nbinom</a:t>
            </a:r>
            <a:r>
              <a:rPr lang="ru-RU" i="1"/>
              <a:t>(r, p)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f"Expected</a:t>
            </a:r>
            <a:r>
              <a:rPr lang="ru-RU" i="1"/>
              <a:t> </a:t>
            </a:r>
            <a:r>
              <a:rPr lang="ru-RU" i="1" err="1"/>
              <a:t>visitors</a:t>
            </a:r>
            <a:r>
              <a:rPr lang="ru-RU" i="1"/>
              <a:t> </a:t>
            </a:r>
            <a:r>
              <a:rPr lang="ru-RU" i="1" err="1"/>
              <a:t>until</a:t>
            </a:r>
            <a:r>
              <a:rPr lang="ru-RU" i="1"/>
              <a:t> 3 </a:t>
            </a:r>
            <a:r>
              <a:rPr lang="ru-RU" i="1" err="1"/>
              <a:t>purchases</a:t>
            </a:r>
            <a:r>
              <a:rPr lang="ru-RU" i="1"/>
              <a:t>: {r/p:.0f}")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575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9A390-C5DA-56C1-EAC0-68920D7E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CONTINUOUS DISTRIBUTIONS</a:t>
            </a:r>
            <a:r>
              <a:rPr lang="en-US" b="1"/>
              <a:t>: </a:t>
            </a:r>
            <a:r>
              <a:rPr lang="ru-RU" b="1" err="1"/>
              <a:t>Continuous</a:t>
            </a:r>
            <a:r>
              <a:rPr lang="ru-RU" b="1"/>
              <a:t> </a:t>
            </a:r>
            <a:r>
              <a:rPr lang="ru-RU" b="1" err="1"/>
              <a:t>Random</a:t>
            </a:r>
            <a:r>
              <a:rPr lang="ru-RU" b="1"/>
              <a:t> </a:t>
            </a:r>
            <a:r>
              <a:rPr lang="ru-RU" b="1" err="1"/>
              <a:t>Variables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42620-36B4-8574-966D-2152330E1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latinLnBrk="1">
              <a:buNone/>
            </a:pPr>
            <a:r>
              <a:rPr lang="ru-RU"/>
              <a:t>KEY DIFFERENCES FROM DISCRETE:</a:t>
            </a:r>
          </a:p>
          <a:p>
            <a:pPr marL="0" indent="0" latinLnBrk="1">
              <a:buNone/>
            </a:pPr>
            <a:r>
              <a:rPr lang="ru-RU"/>
              <a:t>1. </a:t>
            </a: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take</a:t>
            </a:r>
            <a:r>
              <a:rPr lang="ru-RU"/>
              <a:t> ANY 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interval</a:t>
            </a:r>
            <a:endParaRPr lang="ru-RU"/>
          </a:p>
          <a:p>
            <a:pPr marL="0" indent="0" latinLnBrk="1">
              <a:buNone/>
            </a:pPr>
            <a:r>
              <a:rPr lang="ru-RU"/>
              <a:t>2. P(X = x) = 0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any</a:t>
            </a:r>
            <a:r>
              <a:rPr lang="ru-RU"/>
              <a:t> </a:t>
            </a:r>
            <a:r>
              <a:rPr lang="ru-RU" err="1"/>
              <a:t>specific</a:t>
            </a:r>
            <a:r>
              <a:rPr lang="ru-RU"/>
              <a:t> x</a:t>
            </a:r>
          </a:p>
          <a:p>
            <a:pPr marL="0" indent="0" latinLnBrk="1">
              <a:buNone/>
            </a:pPr>
            <a:r>
              <a:rPr lang="ru-RU"/>
              <a:t>3.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Density</a:t>
            </a:r>
            <a:r>
              <a:rPr lang="ru-RU"/>
              <a:t> </a:t>
            </a:r>
            <a:r>
              <a:rPr lang="ru-RU" err="1"/>
              <a:t>Function</a:t>
            </a:r>
            <a:r>
              <a:rPr lang="ru-RU"/>
              <a:t> (PDF)</a:t>
            </a:r>
          </a:p>
          <a:p>
            <a:pPr marL="0" indent="0" latinLnBrk="1">
              <a:buNone/>
            </a:pPr>
            <a:r>
              <a:rPr lang="ru-RU"/>
              <a:t>4. </a:t>
            </a:r>
            <a:r>
              <a:rPr lang="ru-RU" err="1"/>
              <a:t>Probability</a:t>
            </a:r>
            <a:r>
              <a:rPr lang="ru-RU"/>
              <a:t> = Area </a:t>
            </a:r>
            <a:r>
              <a:rPr lang="ru-RU" err="1"/>
              <a:t>under</a:t>
            </a:r>
            <a:r>
              <a:rPr lang="ru-RU"/>
              <a:t> PDF </a:t>
            </a:r>
            <a:r>
              <a:rPr lang="ru-RU" err="1"/>
              <a:t>curve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PROBABILITY CALCULATION:</a:t>
            </a:r>
          </a:p>
          <a:p>
            <a:pPr marL="0" indent="0" latinLnBrk="1">
              <a:buNone/>
            </a:pPr>
            <a:r>
              <a:rPr lang="ru-RU"/>
              <a:t>P(a ≤ X ≤ b) = ∫ f(x) </a:t>
            </a:r>
            <a:r>
              <a:rPr lang="ru-RU" err="1"/>
              <a:t>dx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a </a:t>
            </a:r>
            <a:r>
              <a:rPr lang="ru-RU" err="1"/>
              <a:t>to</a:t>
            </a:r>
            <a:r>
              <a:rPr lang="ru-RU"/>
              <a:t> b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CUMULATIVE DISTRIBUTION FUNCTION (CDF):</a:t>
            </a:r>
          </a:p>
          <a:p>
            <a:pPr marL="0" indent="0" latinLnBrk="1">
              <a:buNone/>
            </a:pPr>
            <a:r>
              <a:rPr lang="ru-RU"/>
              <a:t>F(x) = P(X ≤ x) = ∫ f(t) </a:t>
            </a:r>
            <a:r>
              <a:rPr lang="ru-RU" err="1"/>
              <a:t>dt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-∞ </a:t>
            </a:r>
            <a:r>
              <a:rPr lang="ru-RU" err="1"/>
              <a:t>to</a:t>
            </a:r>
            <a:r>
              <a:rPr lang="ru-RU"/>
              <a:t> x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3388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1D72B-4A9E-0D92-05DC-4FF5554E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Uniform</a:t>
            </a:r>
            <a:r>
              <a:rPr lang="ru-RU" b="1"/>
              <a:t> Distribution - </a:t>
            </a:r>
            <a:r>
              <a:rPr lang="ru-RU" b="1" err="1"/>
              <a:t>Equal</a:t>
            </a:r>
            <a:r>
              <a:rPr lang="ru-RU" b="1"/>
              <a:t> </a:t>
            </a:r>
            <a:r>
              <a:rPr lang="ru-RU" b="1" err="1"/>
              <a:t>Probability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5FE-451C-EDCF-550C-900E401CF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b="1"/>
              <a:t>SIMPLEST CONTINUOUS DISTRIBUTION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PARAMETERS:</a:t>
            </a:r>
            <a:r>
              <a:rPr lang="ru-RU"/>
              <a:t> a (</a:t>
            </a:r>
            <a:r>
              <a:rPr lang="ru-RU" err="1"/>
              <a:t>minimum</a:t>
            </a:r>
            <a:r>
              <a:rPr lang="ru-RU"/>
              <a:t>), b (</a:t>
            </a:r>
            <a:r>
              <a:rPr lang="ru-RU" err="1"/>
              <a:t>maximum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PDF: f(x) = 1/(b-a) </a:t>
            </a:r>
            <a:r>
              <a:rPr lang="ru-RU" err="1"/>
              <a:t>for</a:t>
            </a:r>
            <a:r>
              <a:rPr lang="ru-RU"/>
              <a:t> a ≤ x ≤ b, 0 </a:t>
            </a:r>
            <a:r>
              <a:rPr lang="ru-RU" err="1"/>
              <a:t>otherwise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PROPERTIES:</a:t>
            </a:r>
          </a:p>
          <a:p>
            <a:pPr marL="0" indent="0" latinLnBrk="1">
              <a:buNone/>
            </a:pPr>
            <a:r>
              <a:rPr lang="ru-RU"/>
              <a:t>• E[X] = (a + b)/2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Var</a:t>
            </a:r>
            <a:r>
              <a:rPr lang="ru-RU"/>
              <a:t>[X] = (b-a)²/12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APPLICATIONS: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Random</a:t>
            </a:r>
            <a:r>
              <a:rPr lang="ru-RU"/>
              <a:t> </a:t>
            </a:r>
            <a:r>
              <a:rPr lang="ru-RU" err="1"/>
              <a:t>number</a:t>
            </a:r>
            <a:r>
              <a:rPr lang="ru-RU"/>
              <a:t> </a:t>
            </a:r>
            <a:r>
              <a:rPr lang="ru-RU" err="1"/>
              <a:t>generation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prior</a:t>
            </a:r>
            <a:r>
              <a:rPr lang="ru-RU"/>
              <a:t> </a:t>
            </a:r>
            <a:r>
              <a:rPr lang="ru-RU" err="1"/>
              <a:t>information</a:t>
            </a:r>
            <a:r>
              <a:rPr lang="ru-RU"/>
              <a:t> </a:t>
            </a:r>
            <a:r>
              <a:rPr lang="ru-RU" err="1"/>
              <a:t>about</a:t>
            </a:r>
            <a:r>
              <a:rPr lang="ru-RU"/>
              <a:t> </a:t>
            </a:r>
            <a:r>
              <a:rPr lang="ru-RU" err="1"/>
              <a:t>distribution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Rounding</a:t>
            </a:r>
            <a:r>
              <a:rPr lang="ru-RU"/>
              <a:t> </a:t>
            </a:r>
            <a:r>
              <a:rPr lang="ru-RU" err="1"/>
              <a:t>errors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616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394BC-E77B-2F16-B439-A6E79D60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Normal</a:t>
            </a:r>
            <a:r>
              <a:rPr lang="ru-RU" b="1"/>
              <a:t> Distribution - The Bell </a:t>
            </a:r>
            <a:r>
              <a:rPr lang="ru-RU" b="1" err="1"/>
              <a:t>Curve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99D108-02E4-0DB6-5140-75E92C90C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b="1"/>
              <a:t>THE MOST IMPORTANT DISTRIBUTION IN STATISTICS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PARAMETERS: </a:t>
            </a:r>
            <a:r>
              <a:rPr lang="ru-RU"/>
              <a:t>μ (</a:t>
            </a:r>
            <a:r>
              <a:rPr lang="ru-RU" err="1"/>
              <a:t>mean</a:t>
            </a:r>
            <a:r>
              <a:rPr lang="ru-RU"/>
              <a:t>), σ (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deviation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PDF: </a:t>
            </a:r>
            <a:r>
              <a:rPr lang="ru-RU"/>
              <a:t>f(x) = (1/(σ√(2π))) × </a:t>
            </a:r>
            <a:r>
              <a:rPr lang="ru-RU" err="1"/>
              <a:t>exp</a:t>
            </a:r>
            <a:r>
              <a:rPr lang="ru-RU"/>
              <a:t>(-(x-μ)²/(2σ²))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PROPERTIES: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Symmetric</a:t>
            </a:r>
            <a:r>
              <a:rPr lang="ru-RU"/>
              <a:t>, </a:t>
            </a:r>
            <a:r>
              <a:rPr lang="ru-RU" err="1"/>
              <a:t>bell-shaped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Mean</a:t>
            </a:r>
            <a:r>
              <a:rPr lang="ru-RU"/>
              <a:t> = </a:t>
            </a:r>
            <a:r>
              <a:rPr lang="ru-RU" err="1"/>
              <a:t>Median</a:t>
            </a:r>
            <a:r>
              <a:rPr lang="ru-RU"/>
              <a:t> = Mode = μ</a:t>
            </a:r>
          </a:p>
          <a:p>
            <a:pPr marL="0" indent="0" latinLnBrk="1">
              <a:buNone/>
            </a:pPr>
            <a:r>
              <a:rPr lang="ru-RU"/>
              <a:t>• 68-95-99.7 </a:t>
            </a:r>
            <a:r>
              <a:rPr lang="ru-RU" err="1"/>
              <a:t>Rule</a:t>
            </a:r>
            <a:endParaRPr lang="ru-RU"/>
          </a:p>
          <a:p>
            <a:pPr marL="0" indent="0" latinLnBrk="1">
              <a:buNone/>
            </a:pPr>
            <a:r>
              <a:rPr lang="ru-RU" b="1"/>
              <a:t> </a:t>
            </a:r>
          </a:p>
          <a:p>
            <a:pPr marL="0" indent="0" latinLnBrk="1">
              <a:buNone/>
            </a:pPr>
            <a:r>
              <a:rPr lang="ru-RU" b="1"/>
              <a:t>WHY IT'S EVERYWHERE:</a:t>
            </a:r>
          </a:p>
          <a:p>
            <a:pPr marL="0" indent="0" latinLnBrk="1">
              <a:buNone/>
            </a:pPr>
            <a:r>
              <a:rPr lang="ru-RU"/>
              <a:t>1. Natural </a:t>
            </a:r>
            <a:r>
              <a:rPr lang="ru-RU" err="1"/>
              <a:t>phenomena</a:t>
            </a:r>
            <a:r>
              <a:rPr lang="ru-RU"/>
              <a:t> </a:t>
            </a:r>
            <a:r>
              <a:rPr lang="ru-RU" err="1"/>
              <a:t>often</a:t>
            </a:r>
            <a:r>
              <a:rPr lang="ru-RU"/>
              <a:t> </a:t>
            </a:r>
            <a:r>
              <a:rPr lang="ru-RU" err="1"/>
              <a:t>normal</a:t>
            </a:r>
            <a:endParaRPr lang="ru-RU"/>
          </a:p>
          <a:p>
            <a:pPr marL="0" indent="0" latinLnBrk="1">
              <a:buNone/>
            </a:pPr>
            <a:r>
              <a:rPr lang="ru-RU"/>
              <a:t>2. Central </a:t>
            </a:r>
            <a:r>
              <a:rPr lang="ru-RU" err="1"/>
              <a:t>Limit</a:t>
            </a:r>
            <a:r>
              <a:rPr lang="ru-RU"/>
              <a:t> </a:t>
            </a:r>
            <a:r>
              <a:rPr lang="ru-RU" err="1"/>
              <a:t>Theorem</a:t>
            </a:r>
            <a:r>
              <a:rPr lang="ru-RU"/>
              <a:t>: </a:t>
            </a:r>
            <a:r>
              <a:rPr lang="ru-RU" err="1"/>
              <a:t>Means</a:t>
            </a:r>
            <a:r>
              <a:rPr lang="ru-RU"/>
              <a:t> </a:t>
            </a:r>
            <a:r>
              <a:rPr lang="ru-RU" err="1"/>
              <a:t>tend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normal</a:t>
            </a:r>
            <a:endParaRPr lang="ru-RU"/>
          </a:p>
          <a:p>
            <a:pPr marL="0" indent="0" latinLnBrk="1">
              <a:buNone/>
            </a:pPr>
            <a:r>
              <a:rPr lang="ru-RU"/>
              <a:t>3.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statistical</a:t>
            </a:r>
            <a:r>
              <a:rPr lang="ru-RU"/>
              <a:t> </a:t>
            </a:r>
            <a:r>
              <a:rPr lang="ru-RU" err="1"/>
              <a:t>tests</a:t>
            </a:r>
            <a:r>
              <a:rPr lang="ru-RU"/>
              <a:t> </a:t>
            </a:r>
            <a:r>
              <a:rPr lang="ru-RU" err="1"/>
              <a:t>assume</a:t>
            </a:r>
            <a:r>
              <a:rPr lang="ru-RU"/>
              <a:t> </a:t>
            </a:r>
            <a:r>
              <a:rPr lang="ru-RU" err="1"/>
              <a:t>normality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506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48A82-2EC9-D415-0DFE-CD399CAD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Python - </a:t>
            </a:r>
            <a:r>
              <a:rPr lang="ru-RU" b="1" err="1"/>
              <a:t>Normal</a:t>
            </a:r>
            <a:r>
              <a:rPr lang="ru-RU" b="1"/>
              <a:t> Distribution </a:t>
            </a:r>
            <a:r>
              <a:rPr lang="ru-RU" b="1" err="1"/>
              <a:t>Examples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CA182D-121F-C20D-9E30-FEA8361D1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 latinLnBrk="1">
              <a:buNone/>
            </a:pPr>
            <a:r>
              <a:rPr lang="ru-RU" sz="1000" err="1"/>
              <a:t>import</a:t>
            </a:r>
            <a:r>
              <a:rPr lang="ru-RU" sz="1000"/>
              <a:t> </a:t>
            </a:r>
            <a:r>
              <a:rPr lang="ru-RU" sz="1000" err="1"/>
              <a:t>numpy</a:t>
            </a:r>
            <a:r>
              <a:rPr lang="ru-RU" sz="1000"/>
              <a:t> </a:t>
            </a:r>
            <a:r>
              <a:rPr lang="ru-RU" sz="1000" err="1"/>
              <a:t>as</a:t>
            </a:r>
            <a:r>
              <a:rPr lang="ru-RU" sz="1000"/>
              <a:t> </a:t>
            </a:r>
            <a:r>
              <a:rPr lang="ru-RU" sz="1000" err="1"/>
              <a:t>np</a:t>
            </a:r>
            <a:endParaRPr lang="ru-RU" sz="1000"/>
          </a:p>
          <a:p>
            <a:pPr marL="0" indent="0" latinLnBrk="1">
              <a:buNone/>
            </a:pPr>
            <a:r>
              <a:rPr lang="ru-RU" sz="1000" err="1"/>
              <a:t>from</a:t>
            </a:r>
            <a:r>
              <a:rPr lang="ru-RU" sz="1000"/>
              <a:t> </a:t>
            </a:r>
            <a:r>
              <a:rPr lang="ru-RU" sz="1000" err="1"/>
              <a:t>scipy.stats</a:t>
            </a:r>
            <a:r>
              <a:rPr lang="ru-RU" sz="1000"/>
              <a:t> </a:t>
            </a:r>
            <a:r>
              <a:rPr lang="ru-RU" sz="1000" err="1"/>
              <a:t>import</a:t>
            </a:r>
            <a:r>
              <a:rPr lang="ru-RU" sz="1000"/>
              <a:t> </a:t>
            </a:r>
            <a:r>
              <a:rPr lang="ru-RU" sz="1000" err="1"/>
              <a:t>norm</a:t>
            </a:r>
            <a:endParaRPr lang="ru-RU" sz="1000"/>
          </a:p>
          <a:p>
            <a:pPr marL="0" indent="0" latinLnBrk="1">
              <a:buNone/>
            </a:pPr>
            <a:r>
              <a:rPr lang="ru-RU" sz="1000" err="1"/>
              <a:t>import</a:t>
            </a:r>
            <a:r>
              <a:rPr lang="ru-RU" sz="1000"/>
              <a:t> </a:t>
            </a:r>
            <a:r>
              <a:rPr lang="ru-RU" sz="1000" err="1"/>
              <a:t>matplotlib.pyplot</a:t>
            </a:r>
            <a:r>
              <a:rPr lang="ru-RU" sz="1000"/>
              <a:t> </a:t>
            </a:r>
            <a:r>
              <a:rPr lang="ru-RU" sz="1000" err="1"/>
              <a:t>as</a:t>
            </a:r>
            <a:r>
              <a:rPr lang="ru-RU" sz="1000"/>
              <a:t> </a:t>
            </a:r>
            <a:r>
              <a:rPr lang="ru-RU" sz="1000" err="1"/>
              <a:t>plt</a:t>
            </a:r>
            <a:endParaRPr lang="ru-RU" sz="1000"/>
          </a:p>
          <a:p>
            <a:pPr marL="0" indent="0" latinLnBrk="1">
              <a:buNone/>
            </a:pPr>
            <a:r>
              <a:rPr lang="ru-RU" sz="1000" b="1"/>
              <a:t> </a:t>
            </a:r>
            <a:r>
              <a:rPr lang="ru-RU" sz="1000" b="1" i="1"/>
              <a:t># </a:t>
            </a:r>
            <a:r>
              <a:rPr lang="ru-RU" sz="1000" b="1" i="1" err="1"/>
              <a:t>Example</a:t>
            </a:r>
            <a:r>
              <a:rPr lang="ru-RU" sz="1000" b="1" i="1"/>
              <a:t>: </a:t>
            </a:r>
            <a:r>
              <a:rPr lang="ru-RU" sz="1000" b="1" i="1" err="1"/>
              <a:t>Student</a:t>
            </a:r>
            <a:r>
              <a:rPr lang="ru-RU" sz="1000" b="1" i="1"/>
              <a:t> </a:t>
            </a:r>
            <a:r>
              <a:rPr lang="ru-RU" sz="1000" b="1" i="1" err="1"/>
              <a:t>test</a:t>
            </a:r>
            <a:r>
              <a:rPr lang="ru-RU" sz="1000" b="1" i="1"/>
              <a:t> </a:t>
            </a:r>
            <a:r>
              <a:rPr lang="ru-RU" sz="1000" b="1" i="1" err="1"/>
              <a:t>scores</a:t>
            </a:r>
            <a:endParaRPr lang="ru-RU" sz="1000" b="1"/>
          </a:p>
          <a:p>
            <a:pPr marL="0" indent="0" latinLnBrk="1">
              <a:buNone/>
            </a:pPr>
            <a:r>
              <a:rPr lang="ru-RU" sz="1000" err="1"/>
              <a:t>mu</a:t>
            </a:r>
            <a:r>
              <a:rPr lang="ru-RU" sz="1000"/>
              <a:t> = 75  </a:t>
            </a:r>
            <a:r>
              <a:rPr lang="ru-RU" sz="1000" i="1"/>
              <a:t># </a:t>
            </a:r>
            <a:r>
              <a:rPr lang="ru-RU" sz="1000" i="1" err="1"/>
              <a:t>Mean</a:t>
            </a:r>
            <a:r>
              <a:rPr lang="ru-RU" sz="1000" i="1"/>
              <a:t> </a:t>
            </a:r>
            <a:r>
              <a:rPr lang="ru-RU" sz="1000" i="1" err="1"/>
              <a:t>score</a:t>
            </a:r>
            <a:endParaRPr lang="ru-RU" sz="1000"/>
          </a:p>
          <a:p>
            <a:pPr marL="0" indent="0" latinLnBrk="1">
              <a:buNone/>
            </a:pPr>
            <a:r>
              <a:rPr lang="ru-RU" sz="1000" err="1"/>
              <a:t>sigma</a:t>
            </a:r>
            <a:r>
              <a:rPr lang="ru-RU" sz="1000"/>
              <a:t> = 10  </a:t>
            </a:r>
            <a:r>
              <a:rPr lang="ru-RU" sz="1000" i="1"/>
              <a:t># Standard </a:t>
            </a:r>
            <a:r>
              <a:rPr lang="ru-RU" sz="1000" i="1" err="1"/>
              <a:t>deviation</a:t>
            </a:r>
            <a:endParaRPr lang="ru-RU" sz="1000"/>
          </a:p>
          <a:p>
            <a:pPr marL="0" indent="0" latinLnBrk="1">
              <a:buNone/>
            </a:pPr>
            <a:r>
              <a:rPr lang="ru-RU" sz="1000" b="1"/>
              <a:t> </a:t>
            </a:r>
            <a:r>
              <a:rPr lang="ru-RU" sz="1000" b="1" i="1"/>
              <a:t># </a:t>
            </a:r>
            <a:r>
              <a:rPr lang="ru-RU" sz="1000" b="1" i="1" err="1"/>
              <a:t>Create</a:t>
            </a:r>
            <a:r>
              <a:rPr lang="ru-RU" sz="1000" b="1" i="1"/>
              <a:t> </a:t>
            </a:r>
            <a:r>
              <a:rPr lang="ru-RU" sz="1000" b="1" i="1" err="1"/>
              <a:t>normal</a:t>
            </a:r>
            <a:r>
              <a:rPr lang="ru-RU" sz="1000" b="1" i="1"/>
              <a:t> </a:t>
            </a:r>
            <a:r>
              <a:rPr lang="ru-RU" sz="1000" b="1" i="1" err="1"/>
              <a:t>distribution</a:t>
            </a:r>
            <a:endParaRPr lang="ru-RU" sz="1000" b="1"/>
          </a:p>
          <a:p>
            <a:pPr marL="0" indent="0" latinLnBrk="1">
              <a:buNone/>
            </a:pPr>
            <a:r>
              <a:rPr lang="ru-RU" sz="1000" err="1"/>
              <a:t>dist</a:t>
            </a:r>
            <a:r>
              <a:rPr lang="ru-RU" sz="1000"/>
              <a:t> = </a:t>
            </a:r>
            <a:r>
              <a:rPr lang="ru-RU" sz="1000" err="1"/>
              <a:t>norm</a:t>
            </a:r>
            <a:r>
              <a:rPr lang="ru-RU" sz="1000"/>
              <a:t>(</a:t>
            </a:r>
            <a:r>
              <a:rPr lang="ru-RU" sz="1000" err="1"/>
              <a:t>mu</a:t>
            </a:r>
            <a:r>
              <a:rPr lang="ru-RU" sz="1000"/>
              <a:t>, </a:t>
            </a:r>
            <a:r>
              <a:rPr lang="ru-RU" sz="1000" err="1"/>
              <a:t>sigma</a:t>
            </a:r>
            <a:r>
              <a:rPr lang="ru-RU" sz="1000"/>
              <a:t>)</a:t>
            </a:r>
          </a:p>
          <a:p>
            <a:pPr marL="0" indent="0" latinLnBrk="1">
              <a:buNone/>
            </a:pPr>
            <a:r>
              <a:rPr lang="ru-RU" sz="1000" b="1"/>
              <a:t> </a:t>
            </a:r>
            <a:r>
              <a:rPr lang="ru-RU" sz="1000" b="1" i="1"/>
              <a:t># </a:t>
            </a:r>
            <a:r>
              <a:rPr lang="ru-RU" sz="1000" b="1" i="1" err="1"/>
              <a:t>Calculate</a:t>
            </a:r>
            <a:r>
              <a:rPr lang="ru-RU" sz="1000" b="1" i="1"/>
              <a:t> </a:t>
            </a:r>
            <a:r>
              <a:rPr lang="ru-RU" sz="1000" b="1" i="1" err="1"/>
              <a:t>probabilities</a:t>
            </a:r>
            <a:endParaRPr lang="ru-RU" sz="1000" b="1"/>
          </a:p>
          <a:p>
            <a:pPr marL="0" indent="0" latinLnBrk="1">
              <a:buNone/>
            </a:pPr>
            <a:r>
              <a:rPr lang="ru-RU" sz="1000"/>
              <a:t>prob_above_85 = 1 - </a:t>
            </a:r>
            <a:r>
              <a:rPr lang="ru-RU" sz="1000" err="1"/>
              <a:t>dist.cdf</a:t>
            </a:r>
            <a:r>
              <a:rPr lang="ru-RU" sz="1000"/>
              <a:t>(85)  </a:t>
            </a:r>
            <a:r>
              <a:rPr lang="ru-RU" sz="1000" i="1"/>
              <a:t># P(X &gt; 85)</a:t>
            </a:r>
            <a:endParaRPr lang="ru-RU" sz="1000"/>
          </a:p>
          <a:p>
            <a:pPr marL="0" indent="0" latinLnBrk="1">
              <a:buNone/>
            </a:pPr>
            <a:r>
              <a:rPr lang="ru-RU" sz="1000"/>
              <a:t>prob_between_70_80 = </a:t>
            </a:r>
            <a:r>
              <a:rPr lang="ru-RU" sz="1000" err="1"/>
              <a:t>dist.cdf</a:t>
            </a:r>
            <a:r>
              <a:rPr lang="ru-RU" sz="1000"/>
              <a:t>(80) - </a:t>
            </a:r>
            <a:r>
              <a:rPr lang="ru-RU" sz="1000" err="1"/>
              <a:t>dist.cdf</a:t>
            </a:r>
            <a:r>
              <a:rPr lang="ru-RU" sz="1000"/>
              <a:t>(70)  </a:t>
            </a:r>
            <a:r>
              <a:rPr lang="ru-RU" sz="1000" i="1"/>
              <a:t># P(70 &lt; X &lt; 80)</a:t>
            </a:r>
            <a:endParaRPr lang="ru-RU" sz="1000"/>
          </a:p>
          <a:p>
            <a:pPr marL="0" indent="0" latinLnBrk="1">
              <a:buNone/>
            </a:pPr>
            <a:r>
              <a:rPr lang="ru-RU" sz="1000"/>
              <a:t>score_90th_percentile = </a:t>
            </a:r>
            <a:r>
              <a:rPr lang="ru-RU" sz="1000" err="1"/>
              <a:t>dist.ppf</a:t>
            </a:r>
            <a:r>
              <a:rPr lang="ru-RU" sz="1000"/>
              <a:t>(0.9)  </a:t>
            </a:r>
            <a:r>
              <a:rPr lang="ru-RU" sz="1000" i="1"/>
              <a:t># </a:t>
            </a:r>
            <a:r>
              <a:rPr lang="ru-RU" sz="1000" i="1" err="1"/>
              <a:t>Score</a:t>
            </a:r>
            <a:r>
              <a:rPr lang="ru-RU" sz="1000" i="1"/>
              <a:t> </a:t>
            </a:r>
            <a:r>
              <a:rPr lang="ru-RU" sz="1000" i="1" err="1"/>
              <a:t>at</a:t>
            </a:r>
            <a:r>
              <a:rPr lang="ru-RU" sz="1000" i="1"/>
              <a:t> 90th </a:t>
            </a:r>
            <a:r>
              <a:rPr lang="ru-RU" sz="1000" i="1" err="1"/>
              <a:t>percentile</a:t>
            </a:r>
            <a:endParaRPr lang="ru-RU" sz="1000"/>
          </a:p>
          <a:p>
            <a:pPr marL="0" indent="0" latinLnBrk="1">
              <a:buNone/>
            </a:pPr>
            <a:r>
              <a:rPr lang="ru-RU" sz="1000"/>
              <a:t> </a:t>
            </a:r>
            <a:r>
              <a:rPr lang="ru-RU" sz="1000" err="1"/>
              <a:t>print</a:t>
            </a:r>
            <a:r>
              <a:rPr lang="ru-RU" sz="1000"/>
              <a:t>(</a:t>
            </a:r>
            <a:r>
              <a:rPr lang="ru-RU" sz="1000" err="1"/>
              <a:t>f"P</a:t>
            </a:r>
            <a:r>
              <a:rPr lang="ru-RU" sz="1000"/>
              <a:t>(</a:t>
            </a:r>
            <a:r>
              <a:rPr lang="ru-RU" sz="1000" err="1"/>
              <a:t>Score</a:t>
            </a:r>
            <a:r>
              <a:rPr lang="ru-RU" sz="1000"/>
              <a:t> &gt; 85): {prob_above_85:.3f}")</a:t>
            </a:r>
          </a:p>
          <a:p>
            <a:pPr marL="0" indent="0" latinLnBrk="1">
              <a:buNone/>
            </a:pPr>
            <a:r>
              <a:rPr lang="ru-RU" sz="1000" err="1"/>
              <a:t>print</a:t>
            </a:r>
            <a:r>
              <a:rPr lang="ru-RU" sz="1000"/>
              <a:t>(</a:t>
            </a:r>
            <a:r>
              <a:rPr lang="ru-RU" sz="1000" err="1"/>
              <a:t>f"P</a:t>
            </a:r>
            <a:r>
              <a:rPr lang="ru-RU" sz="1000"/>
              <a:t>(70 &lt; </a:t>
            </a:r>
            <a:r>
              <a:rPr lang="ru-RU" sz="1000" err="1"/>
              <a:t>Score</a:t>
            </a:r>
            <a:r>
              <a:rPr lang="ru-RU" sz="1000"/>
              <a:t> &lt; 80): {prob_between_70_80:.3f}")</a:t>
            </a:r>
          </a:p>
          <a:p>
            <a:pPr marL="0" indent="0" latinLnBrk="1">
              <a:buNone/>
            </a:pPr>
            <a:r>
              <a:rPr lang="ru-RU" sz="1000" err="1"/>
              <a:t>print</a:t>
            </a:r>
            <a:r>
              <a:rPr lang="ru-RU" sz="1000"/>
              <a:t>(f"90th </a:t>
            </a:r>
            <a:r>
              <a:rPr lang="ru-RU" sz="1000" err="1"/>
              <a:t>percentile</a:t>
            </a:r>
            <a:r>
              <a:rPr lang="ru-RU" sz="1000"/>
              <a:t> </a:t>
            </a:r>
            <a:r>
              <a:rPr lang="ru-RU" sz="1000" err="1"/>
              <a:t>score</a:t>
            </a:r>
            <a:r>
              <a:rPr lang="ru-RU" sz="1000"/>
              <a:t>: {score_90th_percentile:.1f}")</a:t>
            </a:r>
          </a:p>
          <a:p>
            <a:pPr marL="0" indent="0" latinLnBrk="1">
              <a:buNone/>
            </a:pPr>
            <a:r>
              <a:rPr lang="ru-RU" sz="1000" b="1"/>
              <a:t> </a:t>
            </a:r>
            <a:r>
              <a:rPr lang="ru-RU" sz="1000" b="1" i="1"/>
              <a:t># </a:t>
            </a:r>
            <a:r>
              <a:rPr lang="ru-RU" sz="1000" b="1" i="1" err="1"/>
              <a:t>Visualize</a:t>
            </a:r>
            <a:r>
              <a:rPr lang="ru-RU" sz="1000" b="1" i="1"/>
              <a:t> </a:t>
            </a:r>
            <a:r>
              <a:rPr lang="ru-RU" sz="1000" b="1" i="1" err="1"/>
              <a:t>with</a:t>
            </a:r>
            <a:r>
              <a:rPr lang="ru-RU" sz="1000" b="1" i="1"/>
              <a:t> 68-95-99.7 </a:t>
            </a:r>
            <a:r>
              <a:rPr lang="ru-RU" sz="1000" b="1" i="1" err="1"/>
              <a:t>rule</a:t>
            </a:r>
            <a:endParaRPr lang="ru-RU" sz="1000" b="1"/>
          </a:p>
          <a:p>
            <a:pPr marL="0" indent="0" latinLnBrk="1">
              <a:buNone/>
            </a:pPr>
            <a:r>
              <a:rPr lang="ru-RU" sz="1000"/>
              <a:t>x = </a:t>
            </a:r>
            <a:r>
              <a:rPr lang="ru-RU" sz="1000" err="1"/>
              <a:t>np.linspace</a:t>
            </a:r>
            <a:r>
              <a:rPr lang="ru-RU" sz="1000"/>
              <a:t>(</a:t>
            </a:r>
            <a:r>
              <a:rPr lang="ru-RU" sz="1000" err="1"/>
              <a:t>mu</a:t>
            </a:r>
            <a:r>
              <a:rPr lang="ru-RU" sz="1000"/>
              <a:t> - 4*</a:t>
            </a:r>
            <a:r>
              <a:rPr lang="ru-RU" sz="1000" err="1"/>
              <a:t>sigma</a:t>
            </a:r>
            <a:r>
              <a:rPr lang="ru-RU" sz="1000"/>
              <a:t>, </a:t>
            </a:r>
            <a:r>
              <a:rPr lang="ru-RU" sz="1000" err="1"/>
              <a:t>mu</a:t>
            </a:r>
            <a:r>
              <a:rPr lang="ru-RU" sz="1000"/>
              <a:t> + 4*</a:t>
            </a:r>
            <a:r>
              <a:rPr lang="ru-RU" sz="1000" err="1"/>
              <a:t>sigma</a:t>
            </a:r>
            <a:r>
              <a:rPr lang="ru-RU" sz="1000"/>
              <a:t>, 1000)</a:t>
            </a:r>
          </a:p>
          <a:p>
            <a:pPr marL="0" indent="0" latinLnBrk="1">
              <a:buNone/>
            </a:pPr>
            <a:r>
              <a:rPr lang="ru-RU" sz="1000" err="1"/>
              <a:t>pdf</a:t>
            </a:r>
            <a:r>
              <a:rPr lang="ru-RU" sz="1000"/>
              <a:t> = dist.pdf(x)</a:t>
            </a:r>
          </a:p>
          <a:p>
            <a:pPr marL="0" indent="0" latinLnBrk="1">
              <a:buNone/>
            </a:pPr>
            <a:r>
              <a:rPr lang="ru-RU" sz="1000"/>
              <a:t> </a:t>
            </a:r>
            <a:r>
              <a:rPr lang="ru-RU" sz="1000" err="1"/>
              <a:t>plt.figure</a:t>
            </a:r>
            <a:r>
              <a:rPr lang="ru-RU" sz="1000"/>
              <a:t>(</a:t>
            </a:r>
            <a:r>
              <a:rPr lang="ru-RU" sz="1000" err="1"/>
              <a:t>figsize</a:t>
            </a:r>
            <a:r>
              <a:rPr lang="ru-RU" sz="1000"/>
              <a:t>=(10, 6))</a:t>
            </a:r>
          </a:p>
          <a:p>
            <a:pPr marL="0" indent="0" latinLnBrk="1">
              <a:buNone/>
            </a:pPr>
            <a:r>
              <a:rPr lang="ru-RU" sz="1000" err="1"/>
              <a:t>plt.plot</a:t>
            </a:r>
            <a:r>
              <a:rPr lang="ru-RU" sz="1000"/>
              <a:t>(x, </a:t>
            </a:r>
            <a:r>
              <a:rPr lang="ru-RU" sz="1000" err="1"/>
              <a:t>pdf</a:t>
            </a:r>
            <a:r>
              <a:rPr lang="ru-RU" sz="1000"/>
              <a:t>, 'b-', </a:t>
            </a:r>
            <a:r>
              <a:rPr lang="ru-RU" sz="1000" err="1"/>
              <a:t>linewidth</a:t>
            </a:r>
            <a:r>
              <a:rPr lang="ru-RU" sz="1000"/>
              <a:t>=2, </a:t>
            </a:r>
            <a:r>
              <a:rPr lang="ru-RU" sz="1000" err="1"/>
              <a:t>label</a:t>
            </a:r>
            <a:r>
              <a:rPr lang="ru-RU" sz="1000"/>
              <a:t>='PDF')</a:t>
            </a:r>
          </a:p>
          <a:p>
            <a:pPr marL="0" indent="0" latinLnBrk="1">
              <a:buNone/>
            </a:pPr>
            <a:r>
              <a:rPr lang="ru-RU" sz="1000" err="1"/>
              <a:t>plt.fill_between</a:t>
            </a:r>
            <a:r>
              <a:rPr lang="ru-RU" sz="1000"/>
              <a:t>(x, </a:t>
            </a:r>
            <a:r>
              <a:rPr lang="ru-RU" sz="1000" err="1"/>
              <a:t>pdf</a:t>
            </a:r>
            <a:r>
              <a:rPr lang="ru-RU" sz="1000"/>
              <a:t>, </a:t>
            </a:r>
            <a:r>
              <a:rPr lang="ru-RU" sz="1000" err="1"/>
              <a:t>where</a:t>
            </a:r>
            <a:r>
              <a:rPr lang="ru-RU" sz="1000"/>
              <a:t>=(x &gt;= </a:t>
            </a:r>
            <a:r>
              <a:rPr lang="ru-RU" sz="1000" err="1"/>
              <a:t>mu-sigma</a:t>
            </a:r>
            <a:r>
              <a:rPr lang="ru-RU" sz="1000"/>
              <a:t>) &amp; (x &lt;= </a:t>
            </a:r>
            <a:r>
              <a:rPr lang="ru-RU" sz="1000" err="1"/>
              <a:t>mu+sigma</a:t>
            </a:r>
            <a:r>
              <a:rPr lang="ru-RU" sz="1000"/>
              <a:t>), </a:t>
            </a:r>
          </a:p>
          <a:p>
            <a:pPr marL="0" indent="0" latinLnBrk="1">
              <a:buNone/>
            </a:pPr>
            <a:r>
              <a:rPr lang="ru-RU" sz="1000"/>
              <a:t>                 </a:t>
            </a:r>
            <a:r>
              <a:rPr lang="ru-RU" sz="1000" err="1"/>
              <a:t>alpha</a:t>
            </a:r>
            <a:r>
              <a:rPr lang="ru-RU" sz="1000"/>
              <a:t>=0.3, </a:t>
            </a:r>
            <a:r>
              <a:rPr lang="ru-RU" sz="1000" err="1"/>
              <a:t>color</a:t>
            </a:r>
            <a:r>
              <a:rPr lang="ru-RU" sz="1000"/>
              <a:t>='</a:t>
            </a:r>
            <a:r>
              <a:rPr lang="ru-RU" sz="1000" err="1"/>
              <a:t>blue</a:t>
            </a:r>
            <a:r>
              <a:rPr lang="ru-RU" sz="1000"/>
              <a:t>', </a:t>
            </a:r>
            <a:r>
              <a:rPr lang="ru-RU" sz="1000" err="1"/>
              <a:t>label</a:t>
            </a:r>
            <a:r>
              <a:rPr lang="ru-RU" sz="1000"/>
              <a:t>='68% (μ ± σ)')</a:t>
            </a:r>
          </a:p>
          <a:p>
            <a:pPr marL="0" indent="0" latinLnBrk="1">
              <a:buNone/>
            </a:pPr>
            <a:r>
              <a:rPr lang="ru-RU" sz="1000" err="1"/>
              <a:t>plt.fill_between</a:t>
            </a:r>
            <a:r>
              <a:rPr lang="ru-RU" sz="1000"/>
              <a:t>(x, </a:t>
            </a:r>
            <a:r>
              <a:rPr lang="ru-RU" sz="1000" err="1"/>
              <a:t>pdf</a:t>
            </a:r>
            <a:r>
              <a:rPr lang="ru-RU" sz="1000"/>
              <a:t>, </a:t>
            </a:r>
            <a:r>
              <a:rPr lang="ru-RU" sz="1000" err="1"/>
              <a:t>where</a:t>
            </a:r>
            <a:r>
              <a:rPr lang="ru-RU" sz="1000"/>
              <a:t>=(x &gt;= mu-2*</a:t>
            </a:r>
            <a:r>
              <a:rPr lang="ru-RU" sz="1000" err="1"/>
              <a:t>sigma</a:t>
            </a:r>
            <a:r>
              <a:rPr lang="ru-RU" sz="1000"/>
              <a:t>) &amp; (x &lt;= mu+2*</a:t>
            </a:r>
            <a:r>
              <a:rPr lang="ru-RU" sz="1000" err="1"/>
              <a:t>sigma</a:t>
            </a:r>
            <a:r>
              <a:rPr lang="ru-RU" sz="1000"/>
              <a:t>), </a:t>
            </a:r>
          </a:p>
          <a:p>
            <a:pPr marL="0" indent="0" latinLnBrk="1">
              <a:buNone/>
            </a:pPr>
            <a:r>
              <a:rPr lang="ru-RU" sz="1000"/>
              <a:t>                 </a:t>
            </a:r>
            <a:r>
              <a:rPr lang="ru-RU" sz="1000" err="1"/>
              <a:t>alpha</a:t>
            </a:r>
            <a:r>
              <a:rPr lang="ru-RU" sz="1000"/>
              <a:t>=0.2, </a:t>
            </a:r>
            <a:r>
              <a:rPr lang="ru-RU" sz="1000" err="1"/>
              <a:t>color</a:t>
            </a:r>
            <a:r>
              <a:rPr lang="ru-RU" sz="1000"/>
              <a:t>='</a:t>
            </a:r>
            <a:r>
              <a:rPr lang="ru-RU" sz="1000" err="1"/>
              <a:t>green</a:t>
            </a:r>
            <a:r>
              <a:rPr lang="ru-RU" sz="1000"/>
              <a:t>', </a:t>
            </a:r>
            <a:r>
              <a:rPr lang="ru-RU" sz="1000" err="1"/>
              <a:t>label</a:t>
            </a:r>
            <a:r>
              <a:rPr lang="ru-RU" sz="1000"/>
              <a:t>='95% (μ ± 2σ)')</a:t>
            </a:r>
          </a:p>
          <a:p>
            <a:pPr marL="0" indent="0" latinLnBrk="1">
              <a:buNone/>
            </a:pPr>
            <a:r>
              <a:rPr lang="ru-RU" sz="1000" err="1"/>
              <a:t>plt.axvline</a:t>
            </a:r>
            <a:r>
              <a:rPr lang="ru-RU" sz="1000"/>
              <a:t>(</a:t>
            </a:r>
            <a:r>
              <a:rPr lang="ru-RU" sz="1000" err="1"/>
              <a:t>mu</a:t>
            </a:r>
            <a:r>
              <a:rPr lang="ru-RU" sz="1000"/>
              <a:t>, </a:t>
            </a:r>
            <a:r>
              <a:rPr lang="ru-RU" sz="1000" err="1"/>
              <a:t>color</a:t>
            </a:r>
            <a:r>
              <a:rPr lang="ru-RU" sz="1000"/>
              <a:t>='</a:t>
            </a:r>
            <a:r>
              <a:rPr lang="ru-RU" sz="1000" err="1"/>
              <a:t>red</a:t>
            </a:r>
            <a:r>
              <a:rPr lang="ru-RU" sz="1000"/>
              <a:t>', </a:t>
            </a:r>
            <a:r>
              <a:rPr lang="ru-RU" sz="1000" err="1"/>
              <a:t>linestyle</a:t>
            </a:r>
            <a:r>
              <a:rPr lang="ru-RU" sz="1000"/>
              <a:t>='--', </a:t>
            </a:r>
            <a:r>
              <a:rPr lang="ru-RU" sz="1000" err="1"/>
              <a:t>label</a:t>
            </a:r>
            <a:r>
              <a:rPr lang="ru-RU" sz="1000"/>
              <a:t>=</a:t>
            </a:r>
            <a:r>
              <a:rPr lang="ru-RU" sz="1000" err="1"/>
              <a:t>f'Mean</a:t>
            </a:r>
            <a:r>
              <a:rPr lang="ru-RU" sz="1000"/>
              <a:t>: {</a:t>
            </a:r>
            <a:r>
              <a:rPr lang="ru-RU" sz="1000" err="1"/>
              <a:t>mu</a:t>
            </a:r>
            <a:r>
              <a:rPr lang="ru-RU" sz="1000"/>
              <a:t>}')</a:t>
            </a:r>
          </a:p>
          <a:p>
            <a:pPr marL="0" indent="0" latinLnBrk="1">
              <a:buNone/>
            </a:pPr>
            <a:r>
              <a:rPr lang="ru-RU" sz="1000" err="1"/>
              <a:t>plt.xlabel</a:t>
            </a:r>
            <a:r>
              <a:rPr lang="ru-RU" sz="1000"/>
              <a:t>('Test </a:t>
            </a:r>
            <a:r>
              <a:rPr lang="ru-RU" sz="1000" err="1"/>
              <a:t>Score</a:t>
            </a:r>
            <a:r>
              <a:rPr lang="ru-RU" sz="1000"/>
              <a:t>')</a:t>
            </a:r>
          </a:p>
          <a:p>
            <a:pPr marL="0" indent="0" latinLnBrk="1">
              <a:buNone/>
            </a:pPr>
            <a:r>
              <a:rPr lang="ru-RU" sz="1000" err="1"/>
              <a:t>plt.ylabel</a:t>
            </a:r>
            <a:r>
              <a:rPr lang="ru-RU" sz="1000"/>
              <a:t>('</a:t>
            </a:r>
            <a:r>
              <a:rPr lang="ru-RU" sz="1000" err="1"/>
              <a:t>Probability</a:t>
            </a:r>
            <a:r>
              <a:rPr lang="ru-RU" sz="1000"/>
              <a:t> </a:t>
            </a:r>
            <a:r>
              <a:rPr lang="ru-RU" sz="1000" err="1"/>
              <a:t>Density</a:t>
            </a:r>
            <a:r>
              <a:rPr lang="ru-RU" sz="1000"/>
              <a:t>')</a:t>
            </a:r>
          </a:p>
          <a:p>
            <a:pPr marL="0" indent="0" latinLnBrk="1">
              <a:buNone/>
            </a:pPr>
            <a:r>
              <a:rPr lang="ru-RU" sz="1000" err="1"/>
              <a:t>plt.title</a:t>
            </a:r>
            <a:r>
              <a:rPr lang="ru-RU" sz="1000"/>
              <a:t>(</a:t>
            </a:r>
            <a:r>
              <a:rPr lang="ru-RU" sz="1000" err="1"/>
              <a:t>f'Normal</a:t>
            </a:r>
            <a:r>
              <a:rPr lang="ru-RU" sz="1000"/>
              <a:t> Distribution </a:t>
            </a:r>
            <a:r>
              <a:rPr lang="ru-RU" sz="1000" err="1"/>
              <a:t>of</a:t>
            </a:r>
            <a:r>
              <a:rPr lang="ru-RU" sz="1000"/>
              <a:t> Test </a:t>
            </a:r>
            <a:r>
              <a:rPr lang="ru-RU" sz="1000" err="1"/>
              <a:t>Scores</a:t>
            </a:r>
            <a:r>
              <a:rPr lang="ru-RU" sz="1000"/>
              <a:t> (μ={</a:t>
            </a:r>
            <a:r>
              <a:rPr lang="ru-RU" sz="1000" err="1"/>
              <a:t>mu</a:t>
            </a:r>
            <a:r>
              <a:rPr lang="ru-RU" sz="1000"/>
              <a:t>}, σ={</a:t>
            </a:r>
            <a:r>
              <a:rPr lang="ru-RU" sz="1000" err="1"/>
              <a:t>sigma</a:t>
            </a:r>
            <a:r>
              <a:rPr lang="ru-RU" sz="1000"/>
              <a:t>})')</a:t>
            </a:r>
          </a:p>
          <a:p>
            <a:pPr marL="0" indent="0" latinLnBrk="1">
              <a:buNone/>
            </a:pPr>
            <a:r>
              <a:rPr lang="ru-RU" sz="1000" err="1"/>
              <a:t>plt.legend</a:t>
            </a:r>
            <a:r>
              <a:rPr lang="ru-RU" sz="1000"/>
              <a:t>()</a:t>
            </a:r>
          </a:p>
          <a:p>
            <a:pPr marL="0" indent="0" latinLnBrk="1">
              <a:buNone/>
            </a:pPr>
            <a:r>
              <a:rPr lang="ru-RU" sz="1000" err="1"/>
              <a:t>plt.grid</a:t>
            </a:r>
            <a:r>
              <a:rPr lang="ru-RU" sz="1000"/>
              <a:t>(True, </a:t>
            </a:r>
            <a:r>
              <a:rPr lang="ru-RU" sz="1000" err="1"/>
              <a:t>alpha</a:t>
            </a:r>
            <a:r>
              <a:rPr lang="ru-RU" sz="1000"/>
              <a:t>=0.3)</a:t>
            </a:r>
          </a:p>
          <a:p>
            <a:pPr marL="0" indent="0" latinLnBrk="1">
              <a:buNone/>
            </a:pPr>
            <a:r>
              <a:rPr lang="ru-RU" sz="1000" err="1"/>
              <a:t>plt.show</a:t>
            </a:r>
            <a:r>
              <a:rPr lang="ru-RU" sz="1000"/>
              <a:t>()</a:t>
            </a:r>
          </a:p>
          <a:p>
            <a:pPr marL="0" indent="0">
              <a:buNone/>
            </a:pP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588868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C7BA9-48A0-A88B-2C39-B4A8D198F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Exponential</a:t>
            </a:r>
            <a:r>
              <a:rPr lang="ru-RU" b="1"/>
              <a:t> Distribution - Time </a:t>
            </a:r>
            <a:r>
              <a:rPr lang="ru-RU" b="1" err="1"/>
              <a:t>Between</a:t>
            </a:r>
            <a:r>
              <a:rPr lang="ru-RU" b="1"/>
              <a:t> </a:t>
            </a:r>
            <a:r>
              <a:rPr lang="ru-RU" b="1" err="1"/>
              <a:t>Events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C6E29-650E-50E0-F410-A4BBC9DCA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b="1"/>
              <a:t>MODELS TIME BETWEEN POISSON EVENTS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PARAMETER: </a:t>
            </a:r>
            <a:r>
              <a:rPr lang="ru-RU"/>
              <a:t>λ (</a:t>
            </a:r>
            <a:r>
              <a:rPr lang="ru-RU" err="1"/>
              <a:t>rate</a:t>
            </a:r>
            <a:r>
              <a:rPr lang="ru-RU"/>
              <a:t> </a:t>
            </a:r>
            <a:r>
              <a:rPr lang="ru-RU" err="1"/>
              <a:t>parameter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PDF: </a:t>
            </a:r>
            <a:r>
              <a:rPr lang="ru-RU"/>
              <a:t>f(x) = λ × </a:t>
            </a:r>
            <a:r>
              <a:rPr lang="ru-RU" err="1"/>
              <a:t>exp</a:t>
            </a:r>
            <a:r>
              <a:rPr lang="ru-RU"/>
              <a:t>(-</a:t>
            </a:r>
            <a:r>
              <a:rPr lang="ru-RU" err="1"/>
              <a:t>λx</a:t>
            </a:r>
            <a:r>
              <a:rPr lang="ru-RU"/>
              <a:t>) </a:t>
            </a:r>
            <a:r>
              <a:rPr lang="ru-RU" err="1"/>
              <a:t>for</a:t>
            </a:r>
            <a:r>
              <a:rPr lang="ru-RU"/>
              <a:t> x ≥ 0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PROPERTIES:</a:t>
            </a:r>
          </a:p>
          <a:p>
            <a:pPr marL="0" indent="0" latinLnBrk="1">
              <a:buNone/>
            </a:pPr>
            <a:r>
              <a:rPr lang="ru-RU"/>
              <a:t>• E[X] = 1/λ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Var</a:t>
            </a:r>
            <a:r>
              <a:rPr lang="ru-RU"/>
              <a:t>[X] = 1/λ²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Memoryless</a:t>
            </a:r>
            <a:r>
              <a:rPr lang="ru-RU"/>
              <a:t>: P(X &gt; </a:t>
            </a:r>
            <a:r>
              <a:rPr lang="ru-RU" err="1"/>
              <a:t>s+t</a:t>
            </a:r>
            <a:r>
              <a:rPr lang="ru-RU"/>
              <a:t> | X &gt; s) = P(X &gt; t)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APPLICATIONS:</a:t>
            </a:r>
          </a:p>
          <a:p>
            <a:pPr marL="0" indent="0" latinLnBrk="1">
              <a:buNone/>
            </a:pPr>
            <a:r>
              <a:rPr lang="ru-RU"/>
              <a:t>• Time </a:t>
            </a:r>
            <a:r>
              <a:rPr lang="ru-RU" err="1"/>
              <a:t>between</a:t>
            </a:r>
            <a:r>
              <a:rPr lang="ru-RU"/>
              <a:t> </a:t>
            </a:r>
            <a:r>
              <a:rPr lang="ru-RU" err="1"/>
              <a:t>customer</a:t>
            </a:r>
            <a:r>
              <a:rPr lang="ru-RU"/>
              <a:t> </a:t>
            </a:r>
            <a:r>
              <a:rPr lang="ru-RU" err="1"/>
              <a:t>arrivals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Equipment </a:t>
            </a:r>
            <a:r>
              <a:rPr lang="ru-RU" err="1"/>
              <a:t>failure</a:t>
            </a:r>
            <a:r>
              <a:rPr lang="ru-RU"/>
              <a:t> </a:t>
            </a:r>
            <a:r>
              <a:rPr lang="ru-RU" err="1"/>
              <a:t>times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Duration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phone</a:t>
            </a:r>
            <a:r>
              <a:rPr lang="ru-RU"/>
              <a:t> </a:t>
            </a:r>
            <a:r>
              <a:rPr lang="ru-RU" err="1"/>
              <a:t>calls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Web </a:t>
            </a:r>
            <a:r>
              <a:rPr lang="ru-RU" err="1"/>
              <a:t>session</a:t>
            </a:r>
            <a:r>
              <a:rPr lang="ru-RU"/>
              <a:t> </a:t>
            </a:r>
            <a:r>
              <a:rPr lang="ru-RU" err="1"/>
              <a:t>lengths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2143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A4C8A-F5D4-172F-A753-4F49D2763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Real-World </a:t>
            </a:r>
            <a:r>
              <a:rPr lang="ru-RU" b="1" err="1"/>
              <a:t>Example</a:t>
            </a:r>
            <a:r>
              <a:rPr lang="ru-RU" b="1"/>
              <a:t>: Server Response Times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A01A49-DC43-FC4E-AF1C-F82B713E6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numpy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np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from</a:t>
            </a:r>
            <a:r>
              <a:rPr lang="ru-RU" i="1"/>
              <a:t> </a:t>
            </a:r>
            <a:r>
              <a:rPr lang="ru-RU" i="1" err="1"/>
              <a:t>scipy.stats</a:t>
            </a:r>
            <a:r>
              <a:rPr lang="ru-RU" i="1"/>
              <a:t> </a:t>
            </a: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expon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import</a:t>
            </a:r>
            <a:r>
              <a:rPr lang="ru-RU" i="1"/>
              <a:t> </a:t>
            </a:r>
            <a:r>
              <a:rPr lang="ru-RU" i="1" err="1"/>
              <a:t>matplotlib.pyplot</a:t>
            </a:r>
            <a:r>
              <a:rPr lang="ru-RU" i="1"/>
              <a:t> </a:t>
            </a:r>
            <a:r>
              <a:rPr lang="ru-RU" i="1" err="1"/>
              <a:t>as</a:t>
            </a:r>
            <a:r>
              <a:rPr lang="ru-RU" i="1"/>
              <a:t> </a:t>
            </a:r>
            <a:r>
              <a:rPr lang="ru-RU" i="1" err="1"/>
              <a:t>plt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Server </a:t>
            </a:r>
            <a:r>
              <a:rPr lang="ru-RU" i="1" err="1"/>
              <a:t>response</a:t>
            </a:r>
            <a:r>
              <a:rPr lang="ru-RU" i="1"/>
              <a:t> </a:t>
            </a:r>
            <a:r>
              <a:rPr lang="ru-RU" i="1" err="1"/>
              <a:t>times</a:t>
            </a:r>
            <a:r>
              <a:rPr lang="ru-RU" i="1"/>
              <a:t> (</a:t>
            </a:r>
            <a:r>
              <a:rPr lang="ru-RU" i="1" err="1"/>
              <a:t>exponential</a:t>
            </a:r>
            <a:r>
              <a:rPr lang="ru-RU" i="1"/>
              <a:t> </a:t>
            </a:r>
            <a:r>
              <a:rPr lang="ru-RU" i="1" err="1"/>
              <a:t>distribution</a:t>
            </a:r>
            <a:r>
              <a:rPr lang="ru-RU" i="1"/>
              <a:t>)</a:t>
            </a:r>
          </a:p>
          <a:p>
            <a:pPr marL="0" indent="0" latinLnBrk="1">
              <a:buNone/>
            </a:pPr>
            <a:r>
              <a:rPr lang="ru-RU" i="1" err="1"/>
              <a:t>lambda_rate</a:t>
            </a:r>
            <a:r>
              <a:rPr lang="ru-RU" i="1"/>
              <a:t> = 0.5  # </a:t>
            </a:r>
            <a:r>
              <a:rPr lang="ru-RU" i="1" err="1"/>
              <a:t>Average</a:t>
            </a:r>
            <a:r>
              <a:rPr lang="ru-RU" i="1"/>
              <a:t> 2 </a:t>
            </a:r>
            <a:r>
              <a:rPr lang="ru-RU" i="1" err="1"/>
              <a:t>seconds</a:t>
            </a:r>
            <a:r>
              <a:rPr lang="ru-RU" i="1"/>
              <a:t> </a:t>
            </a:r>
            <a:r>
              <a:rPr lang="ru-RU" i="1" err="1"/>
              <a:t>between</a:t>
            </a:r>
            <a:r>
              <a:rPr lang="ru-RU" i="1"/>
              <a:t> </a:t>
            </a:r>
            <a:r>
              <a:rPr lang="ru-RU" i="1" err="1"/>
              <a:t>requests</a:t>
            </a:r>
            <a:r>
              <a:rPr lang="ru-RU" i="1"/>
              <a:t> (1/λ = 2)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exponential</a:t>
            </a:r>
            <a:r>
              <a:rPr lang="ru-RU" i="1"/>
              <a:t> </a:t>
            </a:r>
            <a:r>
              <a:rPr lang="ru-RU" i="1" err="1"/>
              <a:t>distribution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dist</a:t>
            </a:r>
            <a:r>
              <a:rPr lang="ru-RU" i="1"/>
              <a:t> = </a:t>
            </a:r>
            <a:r>
              <a:rPr lang="ru-RU" i="1" err="1"/>
              <a:t>expon</a:t>
            </a:r>
            <a:r>
              <a:rPr lang="ru-RU" i="1"/>
              <a:t>(</a:t>
            </a:r>
            <a:r>
              <a:rPr lang="ru-RU" i="1" err="1"/>
              <a:t>scale</a:t>
            </a:r>
            <a:r>
              <a:rPr lang="ru-RU" i="1"/>
              <a:t>=1/</a:t>
            </a:r>
            <a:r>
              <a:rPr lang="ru-RU" i="1" err="1"/>
              <a:t>lambda_rate</a:t>
            </a:r>
            <a:r>
              <a:rPr lang="ru-RU" i="1"/>
              <a:t>)  # </a:t>
            </a:r>
            <a:r>
              <a:rPr lang="ru-RU" i="1" err="1"/>
              <a:t>scale</a:t>
            </a:r>
            <a:r>
              <a:rPr lang="ru-RU" i="1"/>
              <a:t> = 1/λ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probabilities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prob_less_than_1 = </a:t>
            </a:r>
            <a:r>
              <a:rPr lang="ru-RU" i="1" err="1"/>
              <a:t>dist.cdf</a:t>
            </a:r>
            <a:r>
              <a:rPr lang="ru-RU" i="1"/>
              <a:t>(1)  # P(Response &lt; 1 </a:t>
            </a:r>
            <a:r>
              <a:rPr lang="ru-RU" i="1" err="1"/>
              <a:t>second</a:t>
            </a:r>
            <a:r>
              <a:rPr lang="ru-RU" i="1"/>
              <a:t>)</a:t>
            </a:r>
          </a:p>
          <a:p>
            <a:pPr marL="0" indent="0" latinLnBrk="1">
              <a:buNone/>
            </a:pPr>
            <a:r>
              <a:rPr lang="ru-RU" i="1"/>
              <a:t>prob_greater_than_5 = 1 - </a:t>
            </a:r>
            <a:r>
              <a:rPr lang="ru-RU" i="1" err="1"/>
              <a:t>dist.cdf</a:t>
            </a:r>
            <a:r>
              <a:rPr lang="ru-RU" i="1"/>
              <a:t>(5)  # P(Response &gt; 5 </a:t>
            </a:r>
            <a:r>
              <a:rPr lang="ru-RU" i="1" err="1"/>
              <a:t>seconds</a:t>
            </a:r>
            <a:r>
              <a:rPr lang="ru-RU" i="1"/>
              <a:t>)</a:t>
            </a:r>
          </a:p>
          <a:p>
            <a:pPr marL="0" indent="0" latinLnBrk="1">
              <a:buNone/>
            </a:pPr>
            <a:r>
              <a:rPr lang="ru-RU" i="1" err="1"/>
              <a:t>median_time</a:t>
            </a:r>
            <a:r>
              <a:rPr lang="ru-RU" i="1"/>
              <a:t> = </a:t>
            </a:r>
            <a:r>
              <a:rPr lang="ru-RU" i="1" err="1"/>
              <a:t>dist.ppf</a:t>
            </a:r>
            <a:r>
              <a:rPr lang="ru-RU" i="1"/>
              <a:t>(0.5)  # </a:t>
            </a:r>
            <a:r>
              <a:rPr lang="ru-RU" i="1" err="1"/>
              <a:t>Median</a:t>
            </a:r>
            <a:r>
              <a:rPr lang="ru-RU" i="1"/>
              <a:t> </a:t>
            </a:r>
            <a:r>
              <a:rPr lang="ru-RU" i="1" err="1"/>
              <a:t>response</a:t>
            </a:r>
            <a:r>
              <a:rPr lang="ru-RU" i="1"/>
              <a:t> </a:t>
            </a:r>
            <a:r>
              <a:rPr lang="ru-RU" i="1" err="1"/>
              <a:t>time</a:t>
            </a:r>
            <a:endParaRPr lang="ru-RU" i="1"/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f"Average</a:t>
            </a:r>
            <a:r>
              <a:rPr lang="ru-RU" i="1"/>
              <a:t> </a:t>
            </a:r>
            <a:r>
              <a:rPr lang="ru-RU" i="1" err="1"/>
              <a:t>response</a:t>
            </a:r>
            <a:r>
              <a:rPr lang="ru-RU" i="1"/>
              <a:t> </a:t>
            </a:r>
            <a:r>
              <a:rPr lang="ru-RU" i="1" err="1"/>
              <a:t>time</a:t>
            </a:r>
            <a:r>
              <a:rPr lang="ru-RU" i="1"/>
              <a:t>: {1/lambda_rate:.1f} </a:t>
            </a:r>
            <a:r>
              <a:rPr lang="ru-RU" i="1" err="1"/>
              <a:t>seconds</a:t>
            </a:r>
            <a:r>
              <a:rPr lang="ru-RU" i="1"/>
              <a:t>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f"P</a:t>
            </a:r>
            <a:r>
              <a:rPr lang="ru-RU" i="1"/>
              <a:t>(Response &lt; 1s): {prob_less_than_1:.3f}")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f"P</a:t>
            </a:r>
            <a:r>
              <a:rPr lang="ru-RU" i="1"/>
              <a:t>(Response &gt; 5s): {prob_greater_than_5:.3f}")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f"Median</a:t>
            </a:r>
            <a:r>
              <a:rPr lang="ru-RU" i="1"/>
              <a:t> </a:t>
            </a:r>
            <a:r>
              <a:rPr lang="ru-RU" i="1" err="1"/>
              <a:t>response</a:t>
            </a:r>
            <a:r>
              <a:rPr lang="ru-RU" i="1"/>
              <a:t> </a:t>
            </a:r>
            <a:r>
              <a:rPr lang="ru-RU" i="1" err="1"/>
              <a:t>time</a:t>
            </a:r>
            <a:r>
              <a:rPr lang="ru-RU" i="1"/>
              <a:t>: {median_time:.1f} </a:t>
            </a:r>
            <a:r>
              <a:rPr lang="ru-RU" i="1" err="1"/>
              <a:t>seconds</a:t>
            </a:r>
            <a:r>
              <a:rPr lang="ru-RU" i="1"/>
              <a:t>")</a:t>
            </a:r>
          </a:p>
          <a:p>
            <a:pPr marL="0" indent="0" latinLnBrk="1">
              <a:buNone/>
            </a:pPr>
            <a:r>
              <a:rPr lang="ru-RU" i="1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Memoryless</a:t>
            </a:r>
            <a:r>
              <a:rPr lang="ru-RU" i="1"/>
              <a:t> </a:t>
            </a:r>
            <a:r>
              <a:rPr lang="ru-RU" i="1" err="1"/>
              <a:t>property</a:t>
            </a:r>
            <a:r>
              <a:rPr lang="ru-RU" i="1"/>
              <a:t> </a:t>
            </a:r>
            <a:r>
              <a:rPr lang="ru-RU" i="1" err="1"/>
              <a:t>demonstration</a:t>
            </a:r>
            <a:endParaRPr lang="ru-RU" i="1"/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(f"\</a:t>
            </a:r>
            <a:r>
              <a:rPr lang="ru-RU" i="1" err="1"/>
              <a:t>nMemoryless</a:t>
            </a:r>
            <a:r>
              <a:rPr lang="ru-RU" i="1"/>
              <a:t> </a:t>
            </a:r>
            <a:r>
              <a:rPr lang="ru-RU" i="1" err="1"/>
              <a:t>property</a:t>
            </a:r>
            <a:r>
              <a:rPr lang="ru-RU" i="1"/>
              <a:t> </a:t>
            </a:r>
            <a:r>
              <a:rPr lang="ru-RU" i="1" err="1"/>
              <a:t>check</a:t>
            </a:r>
            <a:r>
              <a:rPr lang="ru-RU" i="1"/>
              <a:t>:")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</a:t>
            </a:r>
            <a:r>
              <a:rPr lang="ru-RU" i="1" err="1"/>
              <a:t>f"P</a:t>
            </a:r>
            <a:r>
              <a:rPr lang="ru-RU" i="1"/>
              <a:t>(</a:t>
            </a:r>
            <a:r>
              <a:rPr lang="ru-RU" i="1" err="1"/>
              <a:t>Wait</a:t>
            </a:r>
            <a:r>
              <a:rPr lang="ru-RU" i="1"/>
              <a:t> &gt; 10s | </a:t>
            </a:r>
            <a:r>
              <a:rPr lang="ru-RU" i="1" err="1"/>
              <a:t>Already</a:t>
            </a:r>
            <a:r>
              <a:rPr lang="ru-RU" i="1"/>
              <a:t> </a:t>
            </a:r>
            <a:r>
              <a:rPr lang="ru-RU" i="1" err="1"/>
              <a:t>waited</a:t>
            </a:r>
            <a:r>
              <a:rPr lang="ru-RU" i="1"/>
              <a:t> 5s) = P(</a:t>
            </a:r>
            <a:r>
              <a:rPr lang="ru-RU" i="1" err="1"/>
              <a:t>Wait</a:t>
            </a:r>
            <a:r>
              <a:rPr lang="ru-RU" i="1"/>
              <a:t> &gt; 5s)")</a:t>
            </a:r>
          </a:p>
          <a:p>
            <a:pPr marL="0" indent="0" latinLnBrk="1">
              <a:buNone/>
            </a:pPr>
            <a:r>
              <a:rPr lang="ru-RU" i="1" err="1"/>
              <a:t>print</a:t>
            </a:r>
            <a:r>
              <a:rPr lang="ru-RU" i="1"/>
              <a:t>(f"{1-dist.cdf(10+5)/(1-dist.cdf(5)):.3f} ≈ {1-dist.cdf(5):.3f}")</a:t>
            </a:r>
          </a:p>
          <a:p>
            <a:pPr marL="0" indent="0">
              <a:buNone/>
            </a:pPr>
            <a:endParaRPr lang="ru-RU" i="1"/>
          </a:p>
        </p:txBody>
      </p:sp>
    </p:spTree>
    <p:extLst>
      <p:ext uri="{BB962C8B-B14F-4D97-AF65-F5344CB8AC3E}">
        <p14:creationId xmlns:p14="http://schemas.microsoft.com/office/powerpoint/2010/main" val="1214610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E09F9-FF60-9923-C55F-D4CC4F7B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Central </a:t>
            </a:r>
            <a:r>
              <a:rPr lang="ru-RU" b="1" err="1"/>
              <a:t>Limit</a:t>
            </a:r>
            <a:r>
              <a:rPr lang="ru-RU" b="1"/>
              <a:t> </a:t>
            </a:r>
            <a:r>
              <a:rPr lang="ru-RU" b="1" err="1"/>
              <a:t>Theorem</a:t>
            </a:r>
            <a:r>
              <a:rPr lang="ru-RU" b="1"/>
              <a:t> - The Foundation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2D3D18-496A-88E4-AE1E-F1CB295B4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b="1"/>
              <a:t>THE MOST IMPORTANT THEOREM IN STATISTICS!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STATEMENT: </a:t>
            </a:r>
            <a:r>
              <a:rPr lang="ru-RU"/>
              <a:t>For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enough</a:t>
            </a:r>
            <a:r>
              <a:rPr lang="ru-RU"/>
              <a:t>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size</a:t>
            </a:r>
            <a:r>
              <a:rPr lang="ru-RU"/>
              <a:t> n,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distribution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means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1.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approximately</a:t>
            </a:r>
            <a:r>
              <a:rPr lang="ru-RU"/>
              <a:t> NORMAL</a:t>
            </a:r>
          </a:p>
          <a:p>
            <a:pPr marL="0" indent="0" latinLnBrk="1">
              <a:buNone/>
            </a:pPr>
            <a:r>
              <a:rPr lang="ru-RU"/>
              <a:t>2.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mean</a:t>
            </a:r>
            <a:r>
              <a:rPr lang="ru-RU"/>
              <a:t> = </a:t>
            </a:r>
            <a:r>
              <a:rPr lang="ru-RU" err="1"/>
              <a:t>population</a:t>
            </a:r>
            <a:r>
              <a:rPr lang="ru-RU"/>
              <a:t> </a:t>
            </a:r>
            <a:r>
              <a:rPr lang="ru-RU" err="1"/>
              <a:t>mean</a:t>
            </a:r>
            <a:r>
              <a:rPr lang="ru-RU"/>
              <a:t> (μ)</a:t>
            </a:r>
          </a:p>
          <a:p>
            <a:pPr marL="0" indent="0" latinLnBrk="1">
              <a:buNone/>
            </a:pPr>
            <a:r>
              <a:rPr lang="ru-RU"/>
              <a:t>3.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deviation</a:t>
            </a:r>
            <a:r>
              <a:rPr lang="ru-RU"/>
              <a:t> = σ/√n (Standard </a:t>
            </a:r>
            <a:r>
              <a:rPr lang="ru-RU" err="1"/>
              <a:t>Error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REGARDLESS OF POPULATION DISTRIBUTION!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IMPLICATIONS:</a:t>
            </a:r>
          </a:p>
          <a:p>
            <a:pPr marL="0" indent="0" latinLnBrk="1">
              <a:buNone/>
            </a:pPr>
            <a:r>
              <a:rPr lang="ru-RU"/>
              <a:t>1. </a:t>
            </a:r>
            <a:r>
              <a:rPr lang="ru-RU" err="1"/>
              <a:t>Means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normally</a:t>
            </a:r>
            <a:r>
              <a:rPr lang="ru-RU"/>
              <a:t> </a:t>
            </a:r>
            <a:r>
              <a:rPr lang="ru-RU" err="1"/>
              <a:t>distributed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large</a:t>
            </a:r>
            <a:r>
              <a:rPr lang="ru-RU"/>
              <a:t> n</a:t>
            </a:r>
          </a:p>
          <a:p>
            <a:pPr marL="0" indent="0" latinLnBrk="1">
              <a:buNone/>
            </a:pPr>
            <a:r>
              <a:rPr lang="ru-RU"/>
              <a:t>2. </a:t>
            </a:r>
            <a:r>
              <a:rPr lang="ru-RU" err="1"/>
              <a:t>Justifies</a:t>
            </a:r>
            <a:r>
              <a:rPr lang="ru-RU"/>
              <a:t>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statistical</a:t>
            </a:r>
            <a:r>
              <a:rPr lang="ru-RU"/>
              <a:t> </a:t>
            </a:r>
            <a:r>
              <a:rPr lang="ru-RU" err="1"/>
              <a:t>methods</a:t>
            </a:r>
            <a:endParaRPr lang="ru-RU"/>
          </a:p>
          <a:p>
            <a:pPr marL="0" indent="0" latinLnBrk="1">
              <a:buNone/>
            </a:pPr>
            <a:r>
              <a:rPr lang="ru-RU"/>
              <a:t>3. Foundation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confidence</a:t>
            </a:r>
            <a:r>
              <a:rPr lang="ru-RU"/>
              <a:t> </a:t>
            </a:r>
            <a:r>
              <a:rPr lang="ru-RU" err="1"/>
              <a:t>intervals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5639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A3326-BB16-C20C-8982-727179DF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Visualizing</a:t>
            </a:r>
            <a:r>
              <a:rPr lang="ru-RU" b="1"/>
              <a:t> </a:t>
            </a:r>
            <a:r>
              <a:rPr lang="ru-RU" b="1" err="1"/>
              <a:t>the</a:t>
            </a:r>
            <a:r>
              <a:rPr lang="ru-RU" b="1"/>
              <a:t> Central </a:t>
            </a:r>
            <a:r>
              <a:rPr lang="ru-RU" b="1" err="1"/>
              <a:t>Limit</a:t>
            </a:r>
            <a:r>
              <a:rPr lang="ru-RU" b="1"/>
              <a:t> </a:t>
            </a:r>
            <a:r>
              <a:rPr lang="ru-RU" b="1" err="1"/>
              <a:t>Theorem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CC2D2F-7F4E-8810-AD93-9F718B217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Autofit/>
          </a:bodyPr>
          <a:lstStyle/>
          <a:p>
            <a:pPr marL="0" indent="0" latinLnBrk="1">
              <a:buNone/>
            </a:pPr>
            <a:r>
              <a:rPr lang="ru-RU" sz="1000" i="1" err="1"/>
              <a:t>import</a:t>
            </a:r>
            <a:r>
              <a:rPr lang="ru-RU" sz="1000" i="1"/>
              <a:t> </a:t>
            </a:r>
            <a:r>
              <a:rPr lang="ru-RU" sz="1000" i="1" err="1"/>
              <a:t>numpy</a:t>
            </a:r>
            <a:r>
              <a:rPr lang="ru-RU" sz="1000" i="1"/>
              <a:t> </a:t>
            </a:r>
            <a:r>
              <a:rPr lang="ru-RU" sz="1000" i="1" err="1"/>
              <a:t>as</a:t>
            </a:r>
            <a:r>
              <a:rPr lang="ru-RU" sz="1000" i="1"/>
              <a:t> </a:t>
            </a:r>
            <a:r>
              <a:rPr lang="ru-RU" sz="1000" i="1" err="1"/>
              <a:t>np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 err="1"/>
              <a:t>import</a:t>
            </a:r>
            <a:r>
              <a:rPr lang="ru-RU" sz="1000" i="1"/>
              <a:t> </a:t>
            </a:r>
            <a:r>
              <a:rPr lang="ru-RU" sz="1000" i="1" err="1"/>
              <a:t>matplotlib.pyplot</a:t>
            </a:r>
            <a:r>
              <a:rPr lang="ru-RU" sz="1000" i="1"/>
              <a:t> </a:t>
            </a:r>
            <a:r>
              <a:rPr lang="ru-RU" sz="1000" i="1" err="1"/>
              <a:t>as</a:t>
            </a:r>
            <a:r>
              <a:rPr lang="ru-RU" sz="1000" i="1"/>
              <a:t> </a:t>
            </a:r>
            <a:r>
              <a:rPr lang="ru-RU" sz="1000" i="1" err="1"/>
              <a:t>plt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 err="1"/>
              <a:t>from</a:t>
            </a:r>
            <a:r>
              <a:rPr lang="ru-RU" sz="1000" i="1"/>
              <a:t> </a:t>
            </a:r>
            <a:r>
              <a:rPr lang="ru-RU" sz="1000" i="1" err="1"/>
              <a:t>scipy.stats</a:t>
            </a:r>
            <a:r>
              <a:rPr lang="ru-RU" sz="1000" i="1"/>
              <a:t> </a:t>
            </a:r>
            <a:r>
              <a:rPr lang="ru-RU" sz="1000" i="1" err="1"/>
              <a:t>import</a:t>
            </a:r>
            <a:r>
              <a:rPr lang="ru-RU" sz="1000" i="1"/>
              <a:t> </a:t>
            </a:r>
            <a:r>
              <a:rPr lang="ru-RU" sz="1000" i="1" err="1"/>
              <a:t>skewnorm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 </a:t>
            </a:r>
          </a:p>
          <a:p>
            <a:pPr marL="0" indent="0" latinLnBrk="1">
              <a:buNone/>
            </a:pPr>
            <a:r>
              <a:rPr lang="ru-RU" sz="1000" i="1"/>
              <a:t># </a:t>
            </a:r>
            <a:r>
              <a:rPr lang="ru-RU" sz="1000" i="1" err="1"/>
              <a:t>Create</a:t>
            </a:r>
            <a:r>
              <a:rPr lang="ru-RU" sz="1000" i="1"/>
              <a:t> </a:t>
            </a:r>
            <a:r>
              <a:rPr lang="ru-RU" sz="1000" i="1" err="1"/>
              <a:t>skewed</a:t>
            </a:r>
            <a:r>
              <a:rPr lang="ru-RU" sz="1000" i="1"/>
              <a:t> </a:t>
            </a:r>
            <a:r>
              <a:rPr lang="ru-RU" sz="1000" i="1" err="1"/>
              <a:t>population</a:t>
            </a:r>
            <a:r>
              <a:rPr lang="ru-RU" sz="1000" i="1"/>
              <a:t> </a:t>
            </a:r>
            <a:r>
              <a:rPr lang="ru-RU" sz="1000" i="1" err="1"/>
              <a:t>data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 err="1"/>
              <a:t>population</a:t>
            </a:r>
            <a:r>
              <a:rPr lang="ru-RU" sz="1000" i="1"/>
              <a:t> = </a:t>
            </a:r>
            <a:r>
              <a:rPr lang="ru-RU" sz="1000" i="1" err="1"/>
              <a:t>skewnorm.rvs</a:t>
            </a:r>
            <a:r>
              <a:rPr lang="ru-RU" sz="1000" i="1"/>
              <a:t>(5, </a:t>
            </a:r>
            <a:r>
              <a:rPr lang="ru-RU" sz="1000" i="1" err="1"/>
              <a:t>size</a:t>
            </a:r>
            <a:r>
              <a:rPr lang="ru-RU" sz="1000" i="1"/>
              <a:t>=10000)  # </a:t>
            </a:r>
            <a:r>
              <a:rPr lang="ru-RU" sz="1000" i="1" err="1"/>
              <a:t>Highly</a:t>
            </a:r>
            <a:r>
              <a:rPr lang="ru-RU" sz="1000" i="1"/>
              <a:t> </a:t>
            </a:r>
            <a:r>
              <a:rPr lang="ru-RU" sz="1000" i="1" err="1"/>
              <a:t>skewed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 </a:t>
            </a:r>
          </a:p>
          <a:p>
            <a:pPr marL="0" indent="0" latinLnBrk="1">
              <a:buNone/>
            </a:pPr>
            <a:r>
              <a:rPr lang="ru-RU" sz="1000" i="1"/>
              <a:t># </a:t>
            </a:r>
            <a:r>
              <a:rPr lang="ru-RU" sz="1000" i="1" err="1"/>
              <a:t>Demonstrate</a:t>
            </a:r>
            <a:r>
              <a:rPr lang="ru-RU" sz="1000" i="1"/>
              <a:t> CLT</a:t>
            </a:r>
          </a:p>
          <a:p>
            <a:pPr marL="0" indent="0" latinLnBrk="1">
              <a:buNone/>
            </a:pPr>
            <a:r>
              <a:rPr lang="ru-RU" sz="1000" i="1" err="1"/>
              <a:t>sample_means</a:t>
            </a:r>
            <a:r>
              <a:rPr lang="ru-RU" sz="1000" i="1"/>
              <a:t> = []</a:t>
            </a:r>
          </a:p>
          <a:p>
            <a:pPr marL="0" indent="0" latinLnBrk="1">
              <a:buNone/>
            </a:pPr>
            <a:r>
              <a:rPr lang="ru-RU" sz="1000" i="1" err="1"/>
              <a:t>sample_sizes</a:t>
            </a:r>
            <a:r>
              <a:rPr lang="ru-RU" sz="1000" i="1"/>
              <a:t> = [1, 5, 10, 30, 100]</a:t>
            </a:r>
          </a:p>
          <a:p>
            <a:pPr marL="0" indent="0" latinLnBrk="1">
              <a:buNone/>
            </a:pPr>
            <a:r>
              <a:rPr lang="ru-RU" sz="1000" i="1" err="1"/>
              <a:t>n_simulations</a:t>
            </a:r>
            <a:r>
              <a:rPr lang="ru-RU" sz="1000" i="1"/>
              <a:t> = 1000</a:t>
            </a:r>
          </a:p>
          <a:p>
            <a:pPr marL="0" indent="0" latinLnBrk="1">
              <a:buNone/>
            </a:pPr>
            <a:r>
              <a:rPr lang="ru-RU" sz="1000" i="1"/>
              <a:t> </a:t>
            </a:r>
          </a:p>
          <a:p>
            <a:pPr marL="0" indent="0" latinLnBrk="1">
              <a:buNone/>
            </a:pPr>
            <a:r>
              <a:rPr lang="ru-RU" sz="1000" i="1" err="1"/>
              <a:t>plt.figure</a:t>
            </a:r>
            <a:r>
              <a:rPr lang="ru-RU" sz="1000" i="1"/>
              <a:t>(</a:t>
            </a:r>
            <a:r>
              <a:rPr lang="ru-RU" sz="1000" i="1" err="1"/>
              <a:t>figsize</a:t>
            </a:r>
            <a:r>
              <a:rPr lang="ru-RU" sz="1000" i="1"/>
              <a:t>=(15, 10))</a:t>
            </a:r>
          </a:p>
          <a:p>
            <a:pPr marL="0" indent="0" latinLnBrk="1">
              <a:buNone/>
            </a:pPr>
            <a:r>
              <a:rPr lang="ru-RU" sz="1000" i="1"/>
              <a:t> </a:t>
            </a:r>
          </a:p>
          <a:p>
            <a:pPr marL="0" indent="0" latinLnBrk="1">
              <a:buNone/>
            </a:pPr>
            <a:r>
              <a:rPr lang="ru-RU" sz="1000" i="1" err="1"/>
              <a:t>for</a:t>
            </a:r>
            <a:r>
              <a:rPr lang="ru-RU" sz="1000" i="1"/>
              <a:t> i, n </a:t>
            </a:r>
            <a:r>
              <a:rPr lang="ru-RU" sz="1000" i="1" err="1"/>
              <a:t>in</a:t>
            </a:r>
            <a:r>
              <a:rPr lang="ru-RU" sz="1000" i="1"/>
              <a:t> </a:t>
            </a:r>
            <a:r>
              <a:rPr lang="ru-RU" sz="1000" i="1" err="1"/>
              <a:t>enumerate</a:t>
            </a:r>
            <a:r>
              <a:rPr lang="ru-RU" sz="1000" i="1"/>
              <a:t>(</a:t>
            </a:r>
            <a:r>
              <a:rPr lang="ru-RU" sz="1000" i="1" err="1"/>
              <a:t>sample_sizes</a:t>
            </a:r>
            <a:r>
              <a:rPr lang="ru-RU" sz="1000" i="1"/>
              <a:t>, 1):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means</a:t>
            </a:r>
            <a:r>
              <a:rPr lang="ru-RU" sz="1000" i="1"/>
              <a:t> = []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for</a:t>
            </a:r>
            <a:r>
              <a:rPr lang="ru-RU" sz="1000" i="1"/>
              <a:t> _ </a:t>
            </a:r>
            <a:r>
              <a:rPr lang="ru-RU" sz="1000" i="1" err="1"/>
              <a:t>in</a:t>
            </a:r>
            <a:r>
              <a:rPr lang="ru-RU" sz="1000" i="1"/>
              <a:t> </a:t>
            </a:r>
            <a:r>
              <a:rPr lang="ru-RU" sz="1000" i="1" err="1"/>
              <a:t>range</a:t>
            </a:r>
            <a:r>
              <a:rPr lang="ru-RU" sz="1000" i="1"/>
              <a:t>(</a:t>
            </a:r>
            <a:r>
              <a:rPr lang="ru-RU" sz="1000" i="1" err="1"/>
              <a:t>n_simulations</a:t>
            </a:r>
            <a:r>
              <a:rPr lang="ru-RU" sz="1000" i="1"/>
              <a:t>):</a:t>
            </a:r>
          </a:p>
          <a:p>
            <a:pPr marL="0" indent="0" latinLnBrk="1">
              <a:buNone/>
            </a:pPr>
            <a:r>
              <a:rPr lang="ru-RU" sz="1000" i="1"/>
              <a:t>        </a:t>
            </a:r>
            <a:r>
              <a:rPr lang="ru-RU" sz="1000" i="1" err="1"/>
              <a:t>sample</a:t>
            </a:r>
            <a:r>
              <a:rPr lang="ru-RU" sz="1000" i="1"/>
              <a:t> = </a:t>
            </a:r>
            <a:r>
              <a:rPr lang="ru-RU" sz="1000" i="1" err="1"/>
              <a:t>np.random.choice</a:t>
            </a:r>
            <a:r>
              <a:rPr lang="ru-RU" sz="1000" i="1"/>
              <a:t>(</a:t>
            </a:r>
            <a:r>
              <a:rPr lang="ru-RU" sz="1000" i="1" err="1"/>
              <a:t>population</a:t>
            </a:r>
            <a:r>
              <a:rPr lang="ru-RU" sz="1000" i="1"/>
              <a:t>, n, </a:t>
            </a:r>
            <a:r>
              <a:rPr lang="ru-RU" sz="1000" i="1" err="1"/>
              <a:t>replace</a:t>
            </a:r>
            <a:r>
              <a:rPr lang="ru-RU" sz="1000" i="1"/>
              <a:t>=</a:t>
            </a:r>
            <a:r>
              <a:rPr lang="ru-RU" sz="1000" i="1" err="1"/>
              <a:t>False</a:t>
            </a:r>
            <a:r>
              <a:rPr lang="ru-RU" sz="1000" i="1"/>
              <a:t>)</a:t>
            </a:r>
          </a:p>
          <a:p>
            <a:pPr marL="0" indent="0" latinLnBrk="1">
              <a:buNone/>
            </a:pPr>
            <a:r>
              <a:rPr lang="ru-RU" sz="1000" i="1"/>
              <a:t>        </a:t>
            </a:r>
            <a:r>
              <a:rPr lang="ru-RU" sz="1000" i="1" err="1"/>
              <a:t>means.append</a:t>
            </a:r>
            <a:r>
              <a:rPr lang="ru-RU" sz="1000" i="1"/>
              <a:t>(</a:t>
            </a:r>
            <a:r>
              <a:rPr lang="ru-RU" sz="1000" i="1" err="1"/>
              <a:t>np.mean</a:t>
            </a:r>
            <a:r>
              <a:rPr lang="ru-RU" sz="1000" i="1"/>
              <a:t>(</a:t>
            </a:r>
            <a:r>
              <a:rPr lang="ru-RU" sz="1000" i="1" err="1"/>
              <a:t>sample</a:t>
            </a:r>
            <a:r>
              <a:rPr lang="ru-RU" sz="1000" i="1"/>
              <a:t>))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sample_means.append</a:t>
            </a:r>
            <a:r>
              <a:rPr lang="ru-RU" sz="1000" i="1"/>
              <a:t>(</a:t>
            </a:r>
            <a:r>
              <a:rPr lang="ru-RU" sz="1000" i="1" err="1"/>
              <a:t>means</a:t>
            </a:r>
            <a:r>
              <a:rPr lang="ru-RU" sz="1000" i="1"/>
              <a:t>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plt.subplot</a:t>
            </a:r>
            <a:r>
              <a:rPr lang="ru-RU" sz="1000" i="1"/>
              <a:t>(2, 3, i)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plt.hist</a:t>
            </a:r>
            <a:r>
              <a:rPr lang="ru-RU" sz="1000" i="1"/>
              <a:t>(</a:t>
            </a:r>
            <a:r>
              <a:rPr lang="ru-RU" sz="1000" i="1" err="1"/>
              <a:t>means</a:t>
            </a:r>
            <a:r>
              <a:rPr lang="ru-RU" sz="1000" i="1"/>
              <a:t>, </a:t>
            </a:r>
            <a:r>
              <a:rPr lang="ru-RU" sz="1000" i="1" err="1"/>
              <a:t>bins</a:t>
            </a:r>
            <a:r>
              <a:rPr lang="ru-RU" sz="1000" i="1"/>
              <a:t>=30, </a:t>
            </a:r>
            <a:r>
              <a:rPr lang="ru-RU" sz="1000" i="1" err="1"/>
              <a:t>edgecolor</a:t>
            </a:r>
            <a:r>
              <a:rPr lang="ru-RU" sz="1000" i="1"/>
              <a:t>='</a:t>
            </a:r>
            <a:r>
              <a:rPr lang="ru-RU" sz="1000" i="1" err="1"/>
              <a:t>black</a:t>
            </a:r>
            <a:r>
              <a:rPr lang="ru-RU" sz="1000" i="1"/>
              <a:t>', </a:t>
            </a:r>
            <a:r>
              <a:rPr lang="ru-RU" sz="1000" i="1" err="1"/>
              <a:t>alpha</a:t>
            </a:r>
            <a:r>
              <a:rPr lang="ru-RU" sz="1000" i="1"/>
              <a:t>=0.7, </a:t>
            </a:r>
            <a:r>
              <a:rPr lang="ru-RU" sz="1000" i="1" err="1"/>
              <a:t>density</a:t>
            </a:r>
            <a:r>
              <a:rPr lang="ru-RU" sz="1000" i="1"/>
              <a:t>=True)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# </a:t>
            </a:r>
            <a:r>
              <a:rPr lang="ru-RU" sz="1000" i="1" err="1"/>
              <a:t>Add</a:t>
            </a:r>
            <a:r>
              <a:rPr lang="ru-RU" sz="1000" i="1"/>
              <a:t> </a:t>
            </a:r>
            <a:r>
              <a:rPr lang="ru-RU" sz="1000" i="1" err="1"/>
              <a:t>normal</a:t>
            </a:r>
            <a:r>
              <a:rPr lang="ru-RU" sz="1000" i="1"/>
              <a:t> </a:t>
            </a:r>
            <a:r>
              <a:rPr lang="ru-RU" sz="1000" i="1" err="1"/>
              <a:t>curve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x = </a:t>
            </a:r>
            <a:r>
              <a:rPr lang="ru-RU" sz="1000" i="1" err="1"/>
              <a:t>np.linspace</a:t>
            </a:r>
            <a:r>
              <a:rPr lang="ru-RU" sz="1000" i="1"/>
              <a:t>(</a:t>
            </a:r>
            <a:r>
              <a:rPr lang="ru-RU" sz="1000" i="1" err="1"/>
              <a:t>min</a:t>
            </a:r>
            <a:r>
              <a:rPr lang="ru-RU" sz="1000" i="1"/>
              <a:t>(</a:t>
            </a:r>
            <a:r>
              <a:rPr lang="ru-RU" sz="1000" i="1" err="1"/>
              <a:t>means</a:t>
            </a:r>
            <a:r>
              <a:rPr lang="ru-RU" sz="1000" i="1"/>
              <a:t>), </a:t>
            </a:r>
            <a:r>
              <a:rPr lang="ru-RU" sz="1000" i="1" err="1"/>
              <a:t>max</a:t>
            </a:r>
            <a:r>
              <a:rPr lang="ru-RU" sz="1000" i="1"/>
              <a:t>(</a:t>
            </a:r>
            <a:r>
              <a:rPr lang="ru-RU" sz="1000" i="1" err="1"/>
              <a:t>means</a:t>
            </a:r>
            <a:r>
              <a:rPr lang="ru-RU" sz="1000" i="1"/>
              <a:t>), 100)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mu</a:t>
            </a:r>
            <a:r>
              <a:rPr lang="ru-RU" sz="1000" i="1"/>
              <a:t> = </a:t>
            </a:r>
            <a:r>
              <a:rPr lang="ru-RU" sz="1000" i="1" err="1"/>
              <a:t>np.mean</a:t>
            </a:r>
            <a:r>
              <a:rPr lang="ru-RU" sz="1000" i="1"/>
              <a:t>(</a:t>
            </a:r>
            <a:r>
              <a:rPr lang="ru-RU" sz="1000" i="1" err="1"/>
              <a:t>means</a:t>
            </a:r>
            <a:r>
              <a:rPr lang="ru-RU" sz="1000" i="1"/>
              <a:t>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sigma</a:t>
            </a:r>
            <a:r>
              <a:rPr lang="ru-RU" sz="1000" i="1"/>
              <a:t> = </a:t>
            </a:r>
            <a:r>
              <a:rPr lang="ru-RU" sz="1000" i="1" err="1"/>
              <a:t>np.std</a:t>
            </a:r>
            <a:r>
              <a:rPr lang="ru-RU" sz="1000" i="1"/>
              <a:t>(</a:t>
            </a:r>
            <a:r>
              <a:rPr lang="ru-RU" sz="1000" i="1" err="1"/>
              <a:t>means</a:t>
            </a:r>
            <a:r>
              <a:rPr lang="ru-RU" sz="1000" i="1"/>
              <a:t>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from</a:t>
            </a:r>
            <a:r>
              <a:rPr lang="ru-RU" sz="1000" i="1"/>
              <a:t> </a:t>
            </a:r>
            <a:r>
              <a:rPr lang="ru-RU" sz="1000" i="1" err="1"/>
              <a:t>scipy.stats</a:t>
            </a:r>
            <a:r>
              <a:rPr lang="ru-RU" sz="1000" i="1"/>
              <a:t> </a:t>
            </a:r>
            <a:r>
              <a:rPr lang="ru-RU" sz="1000" i="1" err="1"/>
              <a:t>import</a:t>
            </a:r>
            <a:r>
              <a:rPr lang="ru-RU" sz="1000" i="1"/>
              <a:t> </a:t>
            </a:r>
            <a:r>
              <a:rPr lang="ru-RU" sz="1000" i="1" err="1"/>
              <a:t>norm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y = norm.pdf(x, </a:t>
            </a:r>
            <a:r>
              <a:rPr lang="ru-RU" sz="1000" i="1" err="1"/>
              <a:t>mu</a:t>
            </a:r>
            <a:r>
              <a:rPr lang="ru-RU" sz="1000" i="1"/>
              <a:t>, </a:t>
            </a:r>
            <a:r>
              <a:rPr lang="ru-RU" sz="1000" i="1" err="1"/>
              <a:t>sigma</a:t>
            </a:r>
            <a:r>
              <a:rPr lang="ru-RU" sz="1000" i="1"/>
              <a:t>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plt.plot</a:t>
            </a:r>
            <a:r>
              <a:rPr lang="ru-RU" sz="1000" i="1"/>
              <a:t>(x, y, 'r-', </a:t>
            </a:r>
            <a:r>
              <a:rPr lang="ru-RU" sz="1000" i="1" err="1"/>
              <a:t>linewidth</a:t>
            </a:r>
            <a:r>
              <a:rPr lang="ru-RU" sz="1000" i="1"/>
              <a:t>=2)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plt.title</a:t>
            </a:r>
            <a:r>
              <a:rPr lang="ru-RU" sz="1000" i="1"/>
              <a:t>(</a:t>
            </a:r>
            <a:r>
              <a:rPr lang="ru-RU" sz="1000" i="1" err="1"/>
              <a:t>f'Sample</a:t>
            </a:r>
            <a:r>
              <a:rPr lang="ru-RU" sz="1000" i="1"/>
              <a:t> </a:t>
            </a:r>
            <a:r>
              <a:rPr lang="ru-RU" sz="1000" i="1" err="1"/>
              <a:t>Size</a:t>
            </a:r>
            <a:r>
              <a:rPr lang="ru-RU" sz="1000" i="1"/>
              <a:t> n = {n}\</a:t>
            </a:r>
            <a:r>
              <a:rPr lang="ru-RU" sz="1000" i="1" err="1"/>
              <a:t>nMean</a:t>
            </a:r>
            <a:r>
              <a:rPr lang="ru-RU" sz="1000" i="1"/>
              <a:t> = {mu:.3f}, SE = {sigma:.3f}')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plt.xlabel</a:t>
            </a:r>
            <a:r>
              <a:rPr lang="ru-RU" sz="1000" i="1"/>
              <a:t>('</a:t>
            </a:r>
            <a:r>
              <a:rPr lang="ru-RU" sz="1000" i="1" err="1"/>
              <a:t>Sample</a:t>
            </a:r>
            <a:r>
              <a:rPr lang="ru-RU" sz="1000" i="1"/>
              <a:t> </a:t>
            </a:r>
            <a:r>
              <a:rPr lang="ru-RU" sz="1000" i="1" err="1"/>
              <a:t>Mean</a:t>
            </a:r>
            <a:r>
              <a:rPr lang="ru-RU" sz="1000" i="1"/>
              <a:t>')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plt.ylabel</a:t>
            </a:r>
            <a:r>
              <a:rPr lang="ru-RU" sz="1000" i="1"/>
              <a:t>('</a:t>
            </a:r>
            <a:r>
              <a:rPr lang="ru-RU" sz="1000" i="1" err="1"/>
              <a:t>Density</a:t>
            </a:r>
            <a:r>
              <a:rPr lang="ru-RU" sz="1000" i="1"/>
              <a:t>')</a:t>
            </a:r>
          </a:p>
          <a:p>
            <a:pPr marL="0" indent="0" latinLnBrk="1">
              <a:buNone/>
            </a:pPr>
            <a:r>
              <a:rPr lang="ru-RU" sz="1000" i="1"/>
              <a:t> </a:t>
            </a:r>
          </a:p>
          <a:p>
            <a:pPr marL="0" indent="0" latinLnBrk="1">
              <a:buNone/>
            </a:pPr>
            <a:r>
              <a:rPr lang="ru-RU" sz="1000" i="1" err="1"/>
              <a:t>plt.suptitle</a:t>
            </a:r>
            <a:r>
              <a:rPr lang="ru-RU" sz="1000" i="1"/>
              <a:t>('Central </a:t>
            </a:r>
            <a:r>
              <a:rPr lang="ru-RU" sz="1000" i="1" err="1"/>
              <a:t>Limit</a:t>
            </a:r>
            <a:r>
              <a:rPr lang="ru-RU" sz="1000" i="1"/>
              <a:t> </a:t>
            </a:r>
            <a:r>
              <a:rPr lang="ru-RU" sz="1000" i="1" err="1"/>
              <a:t>Theorem</a:t>
            </a:r>
            <a:r>
              <a:rPr lang="ru-RU" sz="1000" i="1"/>
              <a:t> </a:t>
            </a:r>
            <a:r>
              <a:rPr lang="ru-RU" sz="1000" i="1" err="1"/>
              <a:t>Demonstration</a:t>
            </a:r>
            <a:r>
              <a:rPr lang="ru-RU" sz="1000" i="1"/>
              <a:t>', </a:t>
            </a:r>
            <a:r>
              <a:rPr lang="ru-RU" sz="1000" i="1" err="1"/>
              <a:t>fontsize</a:t>
            </a:r>
            <a:r>
              <a:rPr lang="ru-RU" sz="1000" i="1"/>
              <a:t>=16)</a:t>
            </a:r>
          </a:p>
          <a:p>
            <a:pPr marL="0" indent="0" latinLnBrk="1">
              <a:buNone/>
            </a:pPr>
            <a:r>
              <a:rPr lang="ru-RU" sz="1000" i="1" err="1"/>
              <a:t>plt.tight_layout</a:t>
            </a:r>
            <a:r>
              <a:rPr lang="ru-RU" sz="1000" i="1"/>
              <a:t>()</a:t>
            </a:r>
          </a:p>
          <a:p>
            <a:pPr marL="0" indent="0" latinLnBrk="1">
              <a:buNone/>
            </a:pPr>
            <a:r>
              <a:rPr lang="ru-RU" sz="1000" i="1" err="1"/>
              <a:t>plt.show</a:t>
            </a:r>
            <a:r>
              <a:rPr lang="ru-RU" sz="1000" i="1"/>
              <a:t>()</a:t>
            </a:r>
          </a:p>
          <a:p>
            <a:pPr marL="0" indent="0" latinLnBrk="1">
              <a:buNone/>
            </a:pPr>
            <a:r>
              <a:rPr lang="ru-RU" sz="1000" i="1"/>
              <a:t> </a:t>
            </a:r>
          </a:p>
          <a:p>
            <a:pPr marL="0" indent="0" latinLnBrk="1">
              <a:buNone/>
            </a:pPr>
            <a:r>
              <a:rPr lang="ru-RU" sz="1000" i="1" err="1"/>
              <a:t>print</a:t>
            </a:r>
            <a:r>
              <a:rPr lang="ru-RU" sz="1000" i="1"/>
              <a:t>("As n </a:t>
            </a:r>
            <a:r>
              <a:rPr lang="ru-RU" sz="1000" i="1" err="1"/>
              <a:t>increases</a:t>
            </a:r>
            <a:r>
              <a:rPr lang="ru-RU" sz="1000" i="1"/>
              <a:t>, </a:t>
            </a:r>
            <a:r>
              <a:rPr lang="ru-RU" sz="1000" i="1" err="1"/>
              <a:t>distribution</a:t>
            </a:r>
            <a:r>
              <a:rPr lang="ru-RU" sz="1000" i="1"/>
              <a:t> </a:t>
            </a:r>
            <a:r>
              <a:rPr lang="ru-RU" sz="1000" i="1" err="1"/>
              <a:t>becomes</a:t>
            </a:r>
            <a:r>
              <a:rPr lang="ru-RU" sz="1000" i="1"/>
              <a:t> </a:t>
            </a:r>
            <a:r>
              <a:rPr lang="ru-RU" sz="1000" i="1" err="1"/>
              <a:t>more</a:t>
            </a:r>
            <a:r>
              <a:rPr lang="ru-RU" sz="1000" i="1"/>
              <a:t> </a:t>
            </a:r>
            <a:r>
              <a:rPr lang="ru-RU" sz="1000" i="1" err="1"/>
              <a:t>normal</a:t>
            </a:r>
            <a:r>
              <a:rPr lang="ru-RU" sz="1000" i="1"/>
              <a:t>!")</a:t>
            </a:r>
          </a:p>
          <a:p>
            <a:pPr marL="0" indent="0">
              <a:buNone/>
            </a:pPr>
            <a:endParaRPr lang="ru-RU" sz="1000" i="1"/>
          </a:p>
        </p:txBody>
      </p:sp>
    </p:spTree>
    <p:extLst>
      <p:ext uri="{BB962C8B-B14F-4D97-AF65-F5344CB8AC3E}">
        <p14:creationId xmlns:p14="http://schemas.microsoft.com/office/powerpoint/2010/main" val="42201490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DFD36-8BBA-3A02-761A-ADBA7B1D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Other</a:t>
            </a:r>
            <a:r>
              <a:rPr lang="ru-RU" b="1"/>
              <a:t> </a:t>
            </a:r>
            <a:r>
              <a:rPr lang="ru-RU" b="1" err="1"/>
              <a:t>Important</a:t>
            </a:r>
            <a:r>
              <a:rPr lang="ru-RU" b="1"/>
              <a:t> </a:t>
            </a:r>
            <a:r>
              <a:rPr lang="ru-RU" b="1" err="1"/>
              <a:t>Continuous</a:t>
            </a:r>
            <a:r>
              <a:rPr lang="ru-RU" b="1"/>
              <a:t> </a:t>
            </a:r>
            <a:r>
              <a:rPr lang="ru-RU" b="1" err="1"/>
              <a:t>Distributions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7F8C5A-EA49-A642-6BB0-0DDB25C48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/>
              <a:t>1. LOG-NORMAL: </a:t>
            </a: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log</a:t>
            </a:r>
            <a:r>
              <a:rPr lang="ru-RU"/>
              <a:t>(X)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normal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Applications: </a:t>
            </a:r>
            <a:r>
              <a:rPr lang="ru-RU" err="1"/>
              <a:t>Income</a:t>
            </a:r>
            <a:r>
              <a:rPr lang="ru-RU"/>
              <a:t>, </a:t>
            </a:r>
            <a:r>
              <a:rPr lang="ru-RU" err="1"/>
              <a:t>stock</a:t>
            </a:r>
            <a:r>
              <a:rPr lang="ru-RU"/>
              <a:t> </a:t>
            </a:r>
            <a:r>
              <a:rPr lang="ru-RU" err="1"/>
              <a:t>prices</a:t>
            </a:r>
            <a:r>
              <a:rPr lang="ru-RU"/>
              <a:t>, </a:t>
            </a:r>
            <a:r>
              <a:rPr lang="ru-RU" err="1"/>
              <a:t>city</a:t>
            </a:r>
            <a:r>
              <a:rPr lang="ru-RU"/>
              <a:t> </a:t>
            </a:r>
            <a:r>
              <a:rPr lang="ru-RU" err="1"/>
              <a:t>sizes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2. BETA: </a:t>
            </a:r>
            <a:r>
              <a:rPr lang="ru-RU" err="1"/>
              <a:t>Between</a:t>
            </a:r>
            <a:r>
              <a:rPr lang="ru-RU"/>
              <a:t> 0 </a:t>
            </a:r>
            <a:r>
              <a:rPr lang="ru-RU" err="1"/>
              <a:t>and</a:t>
            </a:r>
            <a:r>
              <a:rPr lang="ru-RU"/>
              <a:t> 1, </a:t>
            </a:r>
            <a:r>
              <a:rPr lang="ru-RU" err="1"/>
              <a:t>flexible</a:t>
            </a:r>
            <a:r>
              <a:rPr lang="ru-RU"/>
              <a:t> </a:t>
            </a:r>
            <a:r>
              <a:rPr lang="ru-RU" err="1"/>
              <a:t>shapes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Applications: </a:t>
            </a:r>
            <a:r>
              <a:rPr lang="ru-RU" err="1"/>
              <a:t>Proportions</a:t>
            </a:r>
            <a:r>
              <a:rPr lang="ru-RU"/>
              <a:t>, </a:t>
            </a:r>
            <a:r>
              <a:rPr lang="ru-RU" err="1"/>
              <a:t>probabilities</a:t>
            </a:r>
            <a:r>
              <a:rPr lang="ru-RU"/>
              <a:t>, A/B </a:t>
            </a:r>
            <a:r>
              <a:rPr lang="ru-RU" err="1"/>
              <a:t>testing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3. GAMMA: </a:t>
            </a:r>
            <a:r>
              <a:rPr lang="ru-RU" err="1"/>
              <a:t>Generalization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exponential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Applications: </a:t>
            </a:r>
            <a:r>
              <a:rPr lang="ru-RU" err="1"/>
              <a:t>Waiting</a:t>
            </a:r>
            <a:r>
              <a:rPr lang="ru-RU"/>
              <a:t> </a:t>
            </a:r>
            <a:r>
              <a:rPr lang="ru-RU" err="1"/>
              <a:t>times</a:t>
            </a:r>
            <a:r>
              <a:rPr lang="ru-RU"/>
              <a:t>, </a:t>
            </a:r>
            <a:r>
              <a:rPr lang="ru-RU" err="1"/>
              <a:t>rainfall</a:t>
            </a:r>
            <a:r>
              <a:rPr lang="ru-RU"/>
              <a:t>, </a:t>
            </a:r>
            <a:r>
              <a:rPr lang="ru-RU" err="1"/>
              <a:t>insurance</a:t>
            </a:r>
            <a:r>
              <a:rPr lang="ru-RU"/>
              <a:t> </a:t>
            </a:r>
            <a:r>
              <a:rPr lang="ru-RU" err="1"/>
              <a:t>claims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4. WEIBULL: </a:t>
            </a:r>
            <a:r>
              <a:rPr lang="ru-RU" err="1"/>
              <a:t>Reliability</a:t>
            </a:r>
            <a:r>
              <a:rPr lang="ru-RU"/>
              <a:t> </a:t>
            </a:r>
            <a:r>
              <a:rPr lang="ru-RU" err="1"/>
              <a:t>engineering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Applications: </a:t>
            </a:r>
            <a:r>
              <a:rPr lang="ru-RU" err="1"/>
              <a:t>Failure</a:t>
            </a:r>
            <a:r>
              <a:rPr lang="ru-RU"/>
              <a:t> </a:t>
            </a:r>
            <a:r>
              <a:rPr lang="ru-RU" err="1"/>
              <a:t>times</a:t>
            </a:r>
            <a:r>
              <a:rPr lang="ru-RU"/>
              <a:t>, </a:t>
            </a:r>
            <a:r>
              <a:rPr lang="ru-RU" err="1"/>
              <a:t>survival</a:t>
            </a:r>
            <a:r>
              <a:rPr lang="ru-RU"/>
              <a:t> </a:t>
            </a:r>
            <a:r>
              <a:rPr lang="ru-RU" err="1"/>
              <a:t>analysis</a:t>
            </a:r>
            <a:endParaRPr lang="ru-RU"/>
          </a:p>
          <a:p>
            <a:pPr marL="0" indent="0" latinLnBrk="1">
              <a:buNone/>
            </a:pPr>
            <a:r>
              <a:rPr lang="ru-RU"/>
              <a:t>   </a:t>
            </a:r>
          </a:p>
          <a:p>
            <a:pPr marL="0" indent="0" latinLnBrk="1">
              <a:buNone/>
            </a:pPr>
            <a:r>
              <a:rPr lang="ru-RU"/>
              <a:t>5. t-DISTRIBUTION: </a:t>
            </a:r>
            <a:r>
              <a:rPr lang="ru-RU" err="1"/>
              <a:t>Like</a:t>
            </a:r>
            <a:r>
              <a:rPr lang="ru-RU"/>
              <a:t> </a:t>
            </a:r>
            <a:r>
              <a:rPr lang="ru-RU" err="1"/>
              <a:t>normal</a:t>
            </a:r>
            <a:r>
              <a:rPr lang="ru-RU"/>
              <a:t>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heavier</a:t>
            </a:r>
            <a:r>
              <a:rPr lang="ru-RU"/>
              <a:t> </a:t>
            </a:r>
            <a:r>
              <a:rPr lang="ru-RU" err="1"/>
              <a:t>tails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Applications: Small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inference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5497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CA8AC-5A9D-64B9-B5C0-CF761860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Distribution </a:t>
            </a:r>
            <a:r>
              <a:rPr lang="ru-RU" b="1" err="1"/>
              <a:t>Selection</a:t>
            </a:r>
            <a:r>
              <a:rPr lang="ru-RU" b="1"/>
              <a:t> Guide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CF6D7-DED7-8F5B-DCC2-C33C31586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latinLnBrk="1">
              <a:buNone/>
            </a:pPr>
            <a:r>
              <a:rPr lang="ru-RU" sz="1400" b="1"/>
              <a:t>CHOOSING THE RIGHT DISTRIBUTION:</a:t>
            </a:r>
          </a:p>
          <a:p>
            <a:pPr marL="0" indent="0" latinLnBrk="1">
              <a:buNone/>
            </a:pPr>
            <a:r>
              <a:rPr lang="ru-RU" sz="1400" b="1"/>
              <a:t> For COUNTS:</a:t>
            </a:r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Fixed</a:t>
            </a:r>
            <a:r>
              <a:rPr lang="ru-RU" sz="1400"/>
              <a:t> </a:t>
            </a:r>
            <a:r>
              <a:rPr lang="ru-RU" sz="1400" err="1"/>
              <a:t>trials</a:t>
            </a:r>
            <a:r>
              <a:rPr lang="ru-RU" sz="1400"/>
              <a:t>, </a:t>
            </a:r>
            <a:r>
              <a:rPr lang="ru-RU" sz="1400" err="1"/>
              <a:t>success</a:t>
            </a:r>
            <a:r>
              <a:rPr lang="ru-RU" sz="1400"/>
              <a:t> </a:t>
            </a:r>
            <a:r>
              <a:rPr lang="ru-RU" sz="1400" err="1"/>
              <a:t>probability</a:t>
            </a:r>
            <a:r>
              <a:rPr lang="ru-RU" sz="1400"/>
              <a:t> → </a:t>
            </a:r>
            <a:r>
              <a:rPr lang="ru-RU" sz="1400" err="1"/>
              <a:t>Binomial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Rare</a:t>
            </a:r>
            <a:r>
              <a:rPr lang="ru-RU" sz="1400"/>
              <a:t> </a:t>
            </a:r>
            <a:r>
              <a:rPr lang="ru-RU" sz="1400" err="1"/>
              <a:t>events</a:t>
            </a:r>
            <a:r>
              <a:rPr lang="ru-RU" sz="1400"/>
              <a:t>, </a:t>
            </a:r>
            <a:r>
              <a:rPr lang="ru-RU" sz="1400" err="1"/>
              <a:t>rate</a:t>
            </a:r>
            <a:r>
              <a:rPr lang="ru-RU" sz="1400"/>
              <a:t> </a:t>
            </a:r>
            <a:r>
              <a:rPr lang="ru-RU" sz="1400" err="1"/>
              <a:t>parameter</a:t>
            </a:r>
            <a:r>
              <a:rPr lang="ru-RU" sz="1400"/>
              <a:t> → </a:t>
            </a:r>
            <a:r>
              <a:rPr lang="ru-RU" sz="1400" err="1"/>
              <a:t>Poisson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Until</a:t>
            </a:r>
            <a:r>
              <a:rPr lang="ru-RU" sz="1400"/>
              <a:t> </a:t>
            </a:r>
            <a:r>
              <a:rPr lang="ru-RU" sz="1400" err="1"/>
              <a:t>first</a:t>
            </a:r>
            <a:r>
              <a:rPr lang="ru-RU" sz="1400"/>
              <a:t> </a:t>
            </a:r>
            <a:r>
              <a:rPr lang="ru-RU" sz="1400" err="1"/>
              <a:t>success</a:t>
            </a:r>
            <a:r>
              <a:rPr lang="ru-RU" sz="1400"/>
              <a:t> → </a:t>
            </a:r>
            <a:r>
              <a:rPr lang="ru-RU" sz="1400" err="1"/>
              <a:t>Geometric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 </a:t>
            </a:r>
            <a:r>
              <a:rPr lang="ru-RU" sz="1400" b="1"/>
              <a:t>For TIMES/DURATIONS:</a:t>
            </a:r>
          </a:p>
          <a:p>
            <a:pPr marL="0" indent="0" latinLnBrk="1">
              <a:buNone/>
            </a:pPr>
            <a:r>
              <a:rPr lang="ru-RU" sz="1400"/>
              <a:t>• Time </a:t>
            </a:r>
            <a:r>
              <a:rPr lang="ru-RU" sz="1400" err="1"/>
              <a:t>between</a:t>
            </a:r>
            <a:r>
              <a:rPr lang="ru-RU" sz="1400"/>
              <a:t> </a:t>
            </a:r>
            <a:r>
              <a:rPr lang="ru-RU" sz="1400" err="1"/>
              <a:t>events</a:t>
            </a:r>
            <a:r>
              <a:rPr lang="ru-RU" sz="1400"/>
              <a:t> → </a:t>
            </a:r>
            <a:r>
              <a:rPr lang="ru-RU" sz="1400" err="1"/>
              <a:t>Exponential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Sum</a:t>
            </a:r>
            <a:r>
              <a:rPr lang="ru-RU" sz="1400"/>
              <a:t> </a:t>
            </a:r>
            <a:r>
              <a:rPr lang="ru-RU" sz="1400" err="1"/>
              <a:t>of</a:t>
            </a:r>
            <a:r>
              <a:rPr lang="ru-RU" sz="1400"/>
              <a:t> </a:t>
            </a:r>
            <a:r>
              <a:rPr lang="ru-RU" sz="1400" err="1"/>
              <a:t>exponentials</a:t>
            </a:r>
            <a:r>
              <a:rPr lang="ru-RU" sz="1400"/>
              <a:t> → </a:t>
            </a:r>
            <a:r>
              <a:rPr lang="ru-RU" sz="1400" err="1"/>
              <a:t>Gamma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Reliability</a:t>
            </a:r>
            <a:r>
              <a:rPr lang="ru-RU" sz="1400"/>
              <a:t>/</a:t>
            </a:r>
            <a:r>
              <a:rPr lang="ru-RU" sz="1400" err="1"/>
              <a:t>survival</a:t>
            </a:r>
            <a:r>
              <a:rPr lang="ru-RU" sz="1400"/>
              <a:t> → </a:t>
            </a:r>
            <a:r>
              <a:rPr lang="ru-RU" sz="1400" err="1"/>
              <a:t>Weibull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 </a:t>
            </a:r>
            <a:r>
              <a:rPr lang="ru-RU" sz="1400" b="1"/>
              <a:t>For CONTINUOUS MEASUREMENTS:</a:t>
            </a:r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Symmetric</a:t>
            </a:r>
            <a:r>
              <a:rPr lang="ru-RU" sz="1400"/>
              <a:t>, </a:t>
            </a:r>
            <a:r>
              <a:rPr lang="ru-RU" sz="1400" err="1"/>
              <a:t>bell-shaped</a:t>
            </a:r>
            <a:r>
              <a:rPr lang="ru-RU" sz="1400"/>
              <a:t> → </a:t>
            </a:r>
            <a:r>
              <a:rPr lang="ru-RU" sz="1400" err="1"/>
              <a:t>Normal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Positive</a:t>
            </a:r>
            <a:r>
              <a:rPr lang="ru-RU" sz="1400"/>
              <a:t>, </a:t>
            </a:r>
            <a:r>
              <a:rPr lang="ru-RU" sz="1400" err="1"/>
              <a:t>right-skewed</a:t>
            </a:r>
            <a:r>
              <a:rPr lang="ru-RU" sz="1400"/>
              <a:t> → </a:t>
            </a:r>
            <a:r>
              <a:rPr lang="ru-RU" sz="1400" err="1"/>
              <a:t>Log-normal</a:t>
            </a:r>
            <a:endParaRPr lang="ru-RU" sz="1400"/>
          </a:p>
          <a:p>
            <a:pPr marL="0" indent="0" latinLnBrk="1">
              <a:buNone/>
            </a:pPr>
            <a:r>
              <a:rPr lang="ru-RU" sz="1400"/>
              <a:t>• </a:t>
            </a:r>
            <a:r>
              <a:rPr lang="ru-RU" sz="1400" err="1"/>
              <a:t>Proportions</a:t>
            </a:r>
            <a:r>
              <a:rPr lang="ru-RU" sz="1400"/>
              <a:t> (0 </a:t>
            </a:r>
            <a:r>
              <a:rPr lang="ru-RU" sz="1400" err="1"/>
              <a:t>to</a:t>
            </a:r>
            <a:r>
              <a:rPr lang="ru-RU" sz="1400"/>
              <a:t> 1) → </a:t>
            </a:r>
            <a:r>
              <a:rPr lang="ru-RU" sz="1400" err="1"/>
              <a:t>Beta</a:t>
            </a:r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2540735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2983B-43CA-C53C-10A8-6BCEA231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376"/>
            <a:ext cx="10515600" cy="1029109"/>
          </a:xfrm>
        </p:spPr>
        <p:txBody>
          <a:bodyPr/>
          <a:lstStyle/>
          <a:p>
            <a:r>
              <a:rPr lang="ru-RU" b="1" err="1"/>
              <a:t>Fitting</a:t>
            </a:r>
            <a:r>
              <a:rPr lang="ru-RU" b="1"/>
              <a:t> </a:t>
            </a:r>
            <a:r>
              <a:rPr lang="ru-RU" b="1" err="1"/>
              <a:t>Distributions</a:t>
            </a:r>
            <a:r>
              <a:rPr lang="ru-RU" b="1"/>
              <a:t> </a:t>
            </a:r>
            <a:r>
              <a:rPr lang="ru-RU" b="1" err="1"/>
              <a:t>to</a:t>
            </a:r>
            <a:r>
              <a:rPr lang="ru-RU" b="1"/>
              <a:t> Real Data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41E0FD-9287-384B-3B49-0F54CB0E9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126"/>
            <a:ext cx="10515600" cy="4952245"/>
          </a:xfrm>
        </p:spPr>
        <p:txBody>
          <a:bodyPr numCol="3">
            <a:noAutofit/>
          </a:bodyPr>
          <a:lstStyle/>
          <a:p>
            <a:pPr marL="0" indent="0" latinLnBrk="1">
              <a:buNone/>
            </a:pPr>
            <a:r>
              <a:rPr lang="ru-RU" sz="1200" err="1"/>
              <a:t>import</a:t>
            </a:r>
            <a:r>
              <a:rPr lang="ru-RU" sz="1200"/>
              <a:t> </a:t>
            </a:r>
            <a:r>
              <a:rPr lang="ru-RU" sz="1200" err="1"/>
              <a:t>numpy</a:t>
            </a:r>
            <a:r>
              <a:rPr lang="ru-RU" sz="1200"/>
              <a:t> </a:t>
            </a:r>
            <a:r>
              <a:rPr lang="ru-RU" sz="1200" err="1"/>
              <a:t>as</a:t>
            </a:r>
            <a:r>
              <a:rPr lang="ru-RU" sz="1200"/>
              <a:t> </a:t>
            </a:r>
            <a:r>
              <a:rPr lang="ru-RU" sz="1200" err="1"/>
              <a:t>np</a:t>
            </a:r>
            <a:endParaRPr lang="ru-RU" sz="1200"/>
          </a:p>
          <a:p>
            <a:pPr marL="0" indent="0" latinLnBrk="1">
              <a:buNone/>
            </a:pPr>
            <a:r>
              <a:rPr lang="ru-RU" sz="1200" err="1"/>
              <a:t>import</a:t>
            </a:r>
            <a:r>
              <a:rPr lang="ru-RU" sz="1200"/>
              <a:t> </a:t>
            </a:r>
            <a:r>
              <a:rPr lang="ru-RU" sz="1200" err="1"/>
              <a:t>matplotlib.pyplot</a:t>
            </a:r>
            <a:r>
              <a:rPr lang="ru-RU" sz="1200"/>
              <a:t> </a:t>
            </a:r>
            <a:r>
              <a:rPr lang="ru-RU" sz="1200" err="1"/>
              <a:t>as</a:t>
            </a:r>
            <a:r>
              <a:rPr lang="ru-RU" sz="1200"/>
              <a:t> </a:t>
            </a:r>
            <a:r>
              <a:rPr lang="ru-RU" sz="1200" err="1"/>
              <a:t>plt</a:t>
            </a:r>
            <a:endParaRPr lang="ru-RU" sz="1200"/>
          </a:p>
          <a:p>
            <a:pPr marL="0" indent="0" latinLnBrk="1">
              <a:buNone/>
            </a:pPr>
            <a:r>
              <a:rPr lang="ru-RU" sz="1200" err="1"/>
              <a:t>import</a:t>
            </a:r>
            <a:r>
              <a:rPr lang="ru-RU" sz="1200"/>
              <a:t> </a:t>
            </a:r>
            <a:r>
              <a:rPr lang="ru-RU" sz="1200" err="1"/>
              <a:t>scipy.stats</a:t>
            </a:r>
            <a:r>
              <a:rPr lang="ru-RU" sz="1200"/>
              <a:t> </a:t>
            </a:r>
            <a:r>
              <a:rPr lang="ru-RU" sz="1200" err="1"/>
              <a:t>as</a:t>
            </a:r>
            <a:r>
              <a:rPr lang="ru-RU" sz="1200"/>
              <a:t> </a:t>
            </a:r>
            <a:r>
              <a:rPr lang="ru-RU" sz="1200" err="1"/>
              <a:t>stats</a:t>
            </a:r>
            <a:endParaRPr lang="ru-RU" sz="1200"/>
          </a:p>
          <a:p>
            <a:pPr marL="0" indent="0" latinLnBrk="1">
              <a:buNone/>
            </a:pPr>
            <a:r>
              <a:rPr lang="ru-RU" sz="1200" err="1"/>
              <a:t>import</a:t>
            </a:r>
            <a:r>
              <a:rPr lang="ru-RU" sz="1200"/>
              <a:t> </a:t>
            </a:r>
            <a:r>
              <a:rPr lang="ru-RU" sz="1200" err="1"/>
              <a:t>pandas</a:t>
            </a:r>
            <a:r>
              <a:rPr lang="ru-RU" sz="1200"/>
              <a:t> </a:t>
            </a:r>
            <a:r>
              <a:rPr lang="ru-RU" sz="1200" err="1"/>
              <a:t>as</a:t>
            </a:r>
            <a:r>
              <a:rPr lang="ru-RU" sz="1200"/>
              <a:t> </a:t>
            </a:r>
            <a:r>
              <a:rPr lang="ru-RU" sz="1200" err="1"/>
              <a:t>pd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 </a:t>
            </a:r>
          </a:p>
          <a:p>
            <a:pPr marL="0" indent="0" latinLnBrk="1">
              <a:buNone/>
            </a:pPr>
            <a:r>
              <a:rPr lang="ru-RU" sz="1200" i="1"/>
              <a:t># </a:t>
            </a:r>
            <a:r>
              <a:rPr lang="ru-RU" sz="1200" i="1" err="1"/>
              <a:t>Example</a:t>
            </a:r>
            <a:r>
              <a:rPr lang="ru-RU" sz="1200" i="1"/>
              <a:t>: </a:t>
            </a:r>
            <a:r>
              <a:rPr lang="ru-RU" sz="1200" i="1" err="1"/>
              <a:t>Fitting</a:t>
            </a:r>
            <a:r>
              <a:rPr lang="ru-RU" sz="1200" i="1"/>
              <a:t> </a:t>
            </a:r>
            <a:r>
              <a:rPr lang="ru-RU" sz="1200" i="1" err="1"/>
              <a:t>distribution</a:t>
            </a:r>
            <a:r>
              <a:rPr lang="ru-RU" sz="1200" i="1"/>
              <a:t> </a:t>
            </a:r>
            <a:r>
              <a:rPr lang="ru-RU" sz="1200" i="1" err="1"/>
              <a:t>to</a:t>
            </a:r>
            <a:r>
              <a:rPr lang="ru-RU" sz="1200" i="1"/>
              <a:t> </a:t>
            </a:r>
            <a:r>
              <a:rPr lang="ru-RU" sz="1200" i="1" err="1"/>
              <a:t>customer</a:t>
            </a:r>
            <a:r>
              <a:rPr lang="ru-RU" sz="1200" i="1"/>
              <a:t> </a:t>
            </a:r>
            <a:r>
              <a:rPr lang="ru-RU" sz="1200" i="1" err="1"/>
              <a:t>purchase</a:t>
            </a:r>
            <a:r>
              <a:rPr lang="ru-RU" sz="1200" i="1"/>
              <a:t> </a:t>
            </a:r>
            <a:r>
              <a:rPr lang="ru-RU" sz="1200" i="1" err="1"/>
              <a:t>amounts</a:t>
            </a:r>
            <a:endParaRPr lang="ru-RU" sz="1200"/>
          </a:p>
          <a:p>
            <a:pPr marL="0" indent="0" latinLnBrk="1">
              <a:buNone/>
            </a:pPr>
            <a:r>
              <a:rPr lang="ru-RU" sz="1200" err="1"/>
              <a:t>np.random.seed</a:t>
            </a:r>
            <a:r>
              <a:rPr lang="ru-RU" sz="1200"/>
              <a:t>(42)</a:t>
            </a:r>
          </a:p>
          <a:p>
            <a:pPr marL="0" indent="0" latinLnBrk="1">
              <a:buNone/>
            </a:pPr>
            <a:r>
              <a:rPr lang="ru-RU" sz="1200" err="1"/>
              <a:t>purchase_amounts</a:t>
            </a:r>
            <a:r>
              <a:rPr lang="ru-RU" sz="1200"/>
              <a:t> = </a:t>
            </a:r>
            <a:r>
              <a:rPr lang="ru-RU" sz="1200" err="1"/>
              <a:t>np.random.exponential</a:t>
            </a:r>
            <a:r>
              <a:rPr lang="ru-RU" sz="1200"/>
              <a:t>(</a:t>
            </a:r>
            <a:r>
              <a:rPr lang="ru-RU" sz="1200" err="1"/>
              <a:t>scale</a:t>
            </a:r>
            <a:r>
              <a:rPr lang="ru-RU" sz="1200"/>
              <a:t>=50, </a:t>
            </a:r>
            <a:r>
              <a:rPr lang="ru-RU" sz="1200" err="1"/>
              <a:t>size</a:t>
            </a:r>
            <a:r>
              <a:rPr lang="ru-RU" sz="1200"/>
              <a:t>=1000)</a:t>
            </a:r>
          </a:p>
          <a:p>
            <a:pPr marL="0" indent="0" latinLnBrk="1">
              <a:buNone/>
            </a:pPr>
            <a:r>
              <a:rPr lang="ru-RU" sz="1200"/>
              <a:t> </a:t>
            </a:r>
          </a:p>
          <a:p>
            <a:pPr marL="0" indent="0" latinLnBrk="1">
              <a:buNone/>
            </a:pPr>
            <a:r>
              <a:rPr lang="ru-RU" sz="1200" i="1"/>
              <a:t># </a:t>
            </a:r>
            <a:r>
              <a:rPr lang="ru-RU" sz="1200" i="1" err="1"/>
              <a:t>Try</a:t>
            </a:r>
            <a:r>
              <a:rPr lang="ru-RU" sz="1200" i="1"/>
              <a:t> </a:t>
            </a:r>
            <a:r>
              <a:rPr lang="ru-RU" sz="1200" i="1" err="1"/>
              <a:t>to</a:t>
            </a:r>
            <a:r>
              <a:rPr lang="ru-RU" sz="1200" i="1"/>
              <a:t> </a:t>
            </a:r>
            <a:r>
              <a:rPr lang="ru-RU" sz="1200" i="1" err="1"/>
              <a:t>fit</a:t>
            </a:r>
            <a:r>
              <a:rPr lang="ru-RU" sz="1200" i="1"/>
              <a:t> </a:t>
            </a:r>
            <a:r>
              <a:rPr lang="ru-RU" sz="1200" i="1" err="1"/>
              <a:t>different</a:t>
            </a:r>
            <a:r>
              <a:rPr lang="ru-RU" sz="1200" i="1"/>
              <a:t> </a:t>
            </a:r>
            <a:r>
              <a:rPr lang="ru-RU" sz="1200" i="1" err="1"/>
              <a:t>distributions</a:t>
            </a:r>
            <a:endParaRPr lang="ru-RU" sz="1200"/>
          </a:p>
          <a:p>
            <a:pPr marL="0" indent="0" latinLnBrk="1">
              <a:buNone/>
            </a:pPr>
            <a:r>
              <a:rPr lang="ru-RU" sz="1200" err="1"/>
              <a:t>distributions</a:t>
            </a:r>
            <a:r>
              <a:rPr lang="ru-RU" sz="1200"/>
              <a:t> = [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stats.norm</a:t>
            </a:r>
            <a:r>
              <a:rPr lang="ru-RU" sz="1200"/>
              <a:t>, </a:t>
            </a:r>
            <a:r>
              <a:rPr lang="ru-RU" sz="1200" err="1"/>
              <a:t>stats.expon</a:t>
            </a:r>
            <a:r>
              <a:rPr lang="ru-RU" sz="1200"/>
              <a:t>, </a:t>
            </a:r>
            <a:r>
              <a:rPr lang="ru-RU" sz="1200" err="1"/>
              <a:t>stats.gamma</a:t>
            </a:r>
            <a:r>
              <a:rPr lang="ru-RU" sz="1200"/>
              <a:t>, </a:t>
            </a:r>
            <a:r>
              <a:rPr lang="ru-RU" sz="1200" err="1"/>
              <a:t>stats.lognorm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]</a:t>
            </a:r>
          </a:p>
          <a:p>
            <a:pPr marL="0" indent="0" latinLnBrk="1">
              <a:buNone/>
            </a:pPr>
            <a:r>
              <a:rPr lang="ru-RU" sz="1200"/>
              <a:t> </a:t>
            </a:r>
          </a:p>
          <a:p>
            <a:pPr marL="0" indent="0" latinLnBrk="1">
              <a:buNone/>
            </a:pPr>
            <a:r>
              <a:rPr lang="ru-RU" sz="1200" err="1"/>
              <a:t>plt.figure</a:t>
            </a:r>
            <a:r>
              <a:rPr lang="ru-RU" sz="1200"/>
              <a:t>(</a:t>
            </a:r>
            <a:r>
              <a:rPr lang="ru-RU" sz="1200" err="1"/>
              <a:t>figsize</a:t>
            </a:r>
            <a:r>
              <a:rPr lang="ru-RU" sz="1200"/>
              <a:t>=(12, 8))</a:t>
            </a:r>
          </a:p>
          <a:p>
            <a:pPr marL="0" indent="0" latinLnBrk="1">
              <a:buNone/>
            </a:pPr>
            <a:r>
              <a:rPr lang="ru-RU" sz="1200"/>
              <a:t> </a:t>
            </a:r>
          </a:p>
          <a:p>
            <a:pPr marL="0" indent="0" latinLnBrk="1">
              <a:buNone/>
            </a:pPr>
            <a:r>
              <a:rPr lang="ru-RU" sz="1200" err="1"/>
              <a:t>for</a:t>
            </a:r>
            <a:r>
              <a:rPr lang="ru-RU" sz="1200"/>
              <a:t> i, </a:t>
            </a:r>
            <a:r>
              <a:rPr lang="ru-RU" sz="1200" err="1"/>
              <a:t>dist</a:t>
            </a:r>
            <a:r>
              <a:rPr lang="ru-RU" sz="1200"/>
              <a:t> </a:t>
            </a:r>
            <a:r>
              <a:rPr lang="ru-RU" sz="1200" err="1"/>
              <a:t>in</a:t>
            </a:r>
            <a:r>
              <a:rPr lang="ru-RU" sz="1200"/>
              <a:t> </a:t>
            </a:r>
            <a:r>
              <a:rPr lang="ru-RU" sz="1200" err="1"/>
              <a:t>enumerate</a:t>
            </a:r>
            <a:r>
              <a:rPr lang="ru-RU" sz="1200"/>
              <a:t>(</a:t>
            </a:r>
            <a:r>
              <a:rPr lang="ru-RU" sz="1200" err="1"/>
              <a:t>distributions</a:t>
            </a:r>
            <a:r>
              <a:rPr lang="ru-RU" sz="1200"/>
              <a:t>, 1):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i="1"/>
              <a:t># </a:t>
            </a:r>
            <a:r>
              <a:rPr lang="ru-RU" sz="1200" i="1" err="1"/>
              <a:t>Fit</a:t>
            </a:r>
            <a:r>
              <a:rPr lang="ru-RU" sz="1200" i="1"/>
              <a:t> </a:t>
            </a:r>
            <a:r>
              <a:rPr lang="ru-RU" sz="1200" i="1" err="1"/>
              <a:t>distribution</a:t>
            </a:r>
            <a:r>
              <a:rPr lang="ru-RU" sz="1200" i="1"/>
              <a:t> </a:t>
            </a:r>
            <a:r>
              <a:rPr lang="ru-RU" sz="1200" i="1" err="1"/>
              <a:t>to</a:t>
            </a:r>
            <a:r>
              <a:rPr lang="ru-RU" sz="1200" i="1"/>
              <a:t> </a:t>
            </a:r>
            <a:r>
              <a:rPr lang="ru-RU" sz="1200" i="1" err="1"/>
              <a:t>data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params</a:t>
            </a:r>
            <a:r>
              <a:rPr lang="ru-RU" sz="1200"/>
              <a:t> = </a:t>
            </a:r>
            <a:r>
              <a:rPr lang="ru-RU" sz="1200" err="1"/>
              <a:t>dist.fit</a:t>
            </a:r>
            <a:r>
              <a:rPr lang="ru-RU" sz="1200"/>
              <a:t>(</a:t>
            </a:r>
            <a:r>
              <a:rPr lang="ru-RU" sz="1200" err="1"/>
              <a:t>purchase_amounts</a:t>
            </a:r>
            <a:r>
              <a:rPr lang="ru-RU" sz="1200"/>
              <a:t>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i="1"/>
              <a:t># </a:t>
            </a:r>
            <a:r>
              <a:rPr lang="ru-RU" sz="1200" i="1" err="1"/>
              <a:t>Create</a:t>
            </a:r>
            <a:r>
              <a:rPr lang="ru-RU" sz="1200" i="1"/>
              <a:t> </a:t>
            </a:r>
            <a:r>
              <a:rPr lang="ru-RU" sz="1200" i="1" err="1"/>
              <a:t>theoretical</a:t>
            </a:r>
            <a:r>
              <a:rPr lang="ru-RU" sz="1200" i="1"/>
              <a:t> </a:t>
            </a:r>
            <a:r>
              <a:rPr lang="ru-RU" sz="1200" i="1" err="1"/>
              <a:t>distribution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theoretical_dist</a:t>
            </a:r>
            <a:r>
              <a:rPr lang="ru-RU" sz="1200"/>
              <a:t> = </a:t>
            </a:r>
            <a:r>
              <a:rPr lang="ru-RU" sz="1200" err="1"/>
              <a:t>dist</a:t>
            </a:r>
            <a:r>
              <a:rPr lang="ru-RU" sz="1200"/>
              <a:t>(*</a:t>
            </a:r>
            <a:r>
              <a:rPr lang="ru-RU" sz="1200" err="1"/>
              <a:t>params</a:t>
            </a:r>
            <a:r>
              <a:rPr lang="ru-RU" sz="1200"/>
              <a:t>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i="1"/>
              <a:t># </a:t>
            </a:r>
            <a:r>
              <a:rPr lang="ru-RU" sz="1200" i="1" err="1"/>
              <a:t>Generate</a:t>
            </a:r>
            <a:r>
              <a:rPr lang="ru-RU" sz="1200" i="1"/>
              <a:t> PDF</a:t>
            </a:r>
            <a:endParaRPr lang="ru-RU" sz="1200"/>
          </a:p>
          <a:p>
            <a:pPr marL="0" indent="0" latinLnBrk="1">
              <a:buNone/>
            </a:pPr>
            <a:r>
              <a:rPr lang="ru-RU" sz="1200"/>
              <a:t>    x = </a:t>
            </a:r>
            <a:r>
              <a:rPr lang="ru-RU" sz="1200" err="1"/>
              <a:t>np.linspace</a:t>
            </a:r>
            <a:r>
              <a:rPr lang="ru-RU" sz="1200"/>
              <a:t>(</a:t>
            </a:r>
            <a:r>
              <a:rPr lang="ru-RU" sz="1200" err="1"/>
              <a:t>min</a:t>
            </a:r>
            <a:r>
              <a:rPr lang="ru-RU" sz="1200"/>
              <a:t>(</a:t>
            </a:r>
            <a:r>
              <a:rPr lang="ru-RU" sz="1200" err="1"/>
              <a:t>purchase_amounts</a:t>
            </a:r>
            <a:r>
              <a:rPr lang="ru-RU" sz="1200"/>
              <a:t>), </a:t>
            </a:r>
            <a:r>
              <a:rPr lang="ru-RU" sz="1200" err="1"/>
              <a:t>max</a:t>
            </a:r>
            <a:r>
              <a:rPr lang="ru-RU" sz="1200"/>
              <a:t>(</a:t>
            </a:r>
            <a:r>
              <a:rPr lang="ru-RU" sz="1200" err="1"/>
              <a:t>purchase_amounts</a:t>
            </a:r>
            <a:r>
              <a:rPr lang="ru-RU" sz="1200"/>
              <a:t>), 100)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pdf</a:t>
            </a:r>
            <a:r>
              <a:rPr lang="ru-RU" sz="1200"/>
              <a:t> = theoretical_dist.pdf(x)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plt.subplot</a:t>
            </a:r>
            <a:r>
              <a:rPr lang="ru-RU" sz="1200"/>
              <a:t>(2, 2, i)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plt.hist</a:t>
            </a:r>
            <a:r>
              <a:rPr lang="ru-RU" sz="1200"/>
              <a:t>(</a:t>
            </a:r>
            <a:r>
              <a:rPr lang="ru-RU" sz="1200" err="1"/>
              <a:t>purchase_amounts</a:t>
            </a:r>
            <a:r>
              <a:rPr lang="ru-RU" sz="1200"/>
              <a:t>, </a:t>
            </a:r>
            <a:r>
              <a:rPr lang="ru-RU" sz="1200" err="1"/>
              <a:t>bins</a:t>
            </a:r>
            <a:r>
              <a:rPr lang="ru-RU" sz="1200"/>
              <a:t>=30, </a:t>
            </a:r>
            <a:r>
              <a:rPr lang="ru-RU" sz="1200" err="1"/>
              <a:t>density</a:t>
            </a:r>
            <a:r>
              <a:rPr lang="ru-RU" sz="1200"/>
              <a:t>=True, </a:t>
            </a:r>
            <a:r>
              <a:rPr lang="ru-RU" sz="1200" err="1"/>
              <a:t>alpha</a:t>
            </a:r>
            <a:r>
              <a:rPr lang="ru-RU" sz="1200"/>
              <a:t>=0.6, </a:t>
            </a:r>
          </a:p>
          <a:p>
            <a:pPr marL="0" indent="0" latinLnBrk="1">
              <a:buNone/>
            </a:pPr>
            <a:r>
              <a:rPr lang="ru-RU" sz="1200"/>
              <a:t>             </a:t>
            </a:r>
            <a:r>
              <a:rPr lang="ru-RU" sz="1200" err="1"/>
              <a:t>edgecolor</a:t>
            </a:r>
            <a:r>
              <a:rPr lang="ru-RU" sz="1200"/>
              <a:t>='</a:t>
            </a:r>
            <a:r>
              <a:rPr lang="ru-RU" sz="1200" err="1"/>
              <a:t>black</a:t>
            </a:r>
            <a:r>
              <a:rPr lang="ru-RU" sz="1200"/>
              <a:t>', </a:t>
            </a:r>
            <a:r>
              <a:rPr lang="ru-RU" sz="1200" err="1"/>
              <a:t>label</a:t>
            </a:r>
            <a:r>
              <a:rPr lang="ru-RU" sz="1200"/>
              <a:t>='Data')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plt.plot</a:t>
            </a:r>
            <a:r>
              <a:rPr lang="ru-RU" sz="1200"/>
              <a:t>(x, </a:t>
            </a:r>
            <a:r>
              <a:rPr lang="ru-RU" sz="1200" err="1"/>
              <a:t>pdf</a:t>
            </a:r>
            <a:r>
              <a:rPr lang="ru-RU" sz="1200"/>
              <a:t>, 'r-', </a:t>
            </a:r>
            <a:r>
              <a:rPr lang="ru-RU" sz="1200" err="1"/>
              <a:t>linewidth</a:t>
            </a:r>
            <a:r>
              <a:rPr lang="ru-RU" sz="1200"/>
              <a:t>=2, </a:t>
            </a:r>
            <a:r>
              <a:rPr lang="ru-RU" sz="1200" err="1"/>
              <a:t>label</a:t>
            </a:r>
            <a:r>
              <a:rPr lang="ru-RU" sz="1200"/>
              <a:t>=f'{dist.name} </a:t>
            </a:r>
            <a:r>
              <a:rPr lang="ru-RU" sz="1200" err="1"/>
              <a:t>fit</a:t>
            </a:r>
            <a:r>
              <a:rPr lang="ru-RU" sz="1200"/>
              <a:t>')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plt.xlabel</a:t>
            </a:r>
            <a:r>
              <a:rPr lang="ru-RU" sz="1200"/>
              <a:t>('</a:t>
            </a:r>
            <a:r>
              <a:rPr lang="ru-RU" sz="1200" err="1"/>
              <a:t>Purchase</a:t>
            </a:r>
            <a:r>
              <a:rPr lang="ru-RU" sz="1200"/>
              <a:t> </a:t>
            </a:r>
            <a:r>
              <a:rPr lang="ru-RU" sz="1200" err="1"/>
              <a:t>Amount</a:t>
            </a:r>
            <a:r>
              <a:rPr lang="ru-RU" sz="1200"/>
              <a:t> ($)')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plt.ylabel</a:t>
            </a:r>
            <a:r>
              <a:rPr lang="ru-RU" sz="1200"/>
              <a:t>('</a:t>
            </a:r>
            <a:r>
              <a:rPr lang="ru-RU" sz="1200" err="1"/>
              <a:t>Density</a:t>
            </a:r>
            <a:r>
              <a:rPr lang="ru-RU" sz="1200"/>
              <a:t>')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plt.title</a:t>
            </a:r>
            <a:r>
              <a:rPr lang="ru-RU" sz="1200"/>
              <a:t>(f'{</a:t>
            </a:r>
            <a:r>
              <a:rPr lang="ru-RU" sz="1200" err="1"/>
              <a:t>dist.name.capitalize</a:t>
            </a:r>
            <a:r>
              <a:rPr lang="ru-RU" sz="1200"/>
              <a:t>()} Distribution </a:t>
            </a:r>
            <a:r>
              <a:rPr lang="ru-RU" sz="1200" err="1"/>
              <a:t>Fit</a:t>
            </a:r>
            <a:r>
              <a:rPr lang="ru-RU" sz="1200"/>
              <a:t>')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plt.legend</a:t>
            </a:r>
            <a:r>
              <a:rPr lang="ru-RU" sz="1200"/>
              <a:t>()</a:t>
            </a:r>
          </a:p>
          <a:p>
            <a:pPr marL="0" indent="0" latinLnBrk="1">
              <a:buNone/>
            </a:pPr>
            <a:r>
              <a:rPr lang="ru-RU" sz="1200"/>
              <a:t> </a:t>
            </a:r>
          </a:p>
          <a:p>
            <a:pPr marL="0" indent="0" latinLnBrk="1">
              <a:buNone/>
            </a:pPr>
            <a:r>
              <a:rPr lang="ru-RU" sz="1200" err="1"/>
              <a:t>plt.suptitle</a:t>
            </a:r>
            <a:r>
              <a:rPr lang="ru-RU" sz="1200"/>
              <a:t>('</a:t>
            </a:r>
            <a:r>
              <a:rPr lang="ru-RU" sz="1200" err="1"/>
              <a:t>Fitting</a:t>
            </a:r>
            <a:r>
              <a:rPr lang="ru-RU" sz="1200"/>
              <a:t> </a:t>
            </a:r>
            <a:r>
              <a:rPr lang="ru-RU" sz="1200" err="1"/>
              <a:t>Different</a:t>
            </a:r>
            <a:r>
              <a:rPr lang="ru-RU" sz="1200"/>
              <a:t> </a:t>
            </a:r>
            <a:r>
              <a:rPr lang="ru-RU" sz="1200" err="1"/>
              <a:t>Distributions</a:t>
            </a:r>
            <a:r>
              <a:rPr lang="ru-RU" sz="1200"/>
              <a:t> </a:t>
            </a:r>
            <a:r>
              <a:rPr lang="ru-RU" sz="1200" err="1"/>
              <a:t>to</a:t>
            </a:r>
            <a:r>
              <a:rPr lang="ru-RU" sz="1200"/>
              <a:t> </a:t>
            </a:r>
            <a:r>
              <a:rPr lang="ru-RU" sz="1200" err="1"/>
              <a:t>Purchase</a:t>
            </a:r>
            <a:r>
              <a:rPr lang="ru-RU" sz="1200"/>
              <a:t> Data', </a:t>
            </a:r>
            <a:r>
              <a:rPr lang="ru-RU" sz="1200" err="1"/>
              <a:t>fontsize</a:t>
            </a:r>
            <a:r>
              <a:rPr lang="ru-RU" sz="1200"/>
              <a:t>=16)</a:t>
            </a:r>
          </a:p>
          <a:p>
            <a:pPr marL="0" indent="0" latinLnBrk="1">
              <a:buNone/>
            </a:pPr>
            <a:r>
              <a:rPr lang="ru-RU" sz="1200" err="1"/>
              <a:t>plt.tight_layout</a:t>
            </a:r>
            <a:r>
              <a:rPr lang="ru-RU" sz="1200"/>
              <a:t>()</a:t>
            </a:r>
          </a:p>
          <a:p>
            <a:pPr marL="0" indent="0" latinLnBrk="1">
              <a:buNone/>
            </a:pPr>
            <a:r>
              <a:rPr lang="ru-RU" sz="1200" err="1"/>
              <a:t>plt.show</a:t>
            </a:r>
            <a:r>
              <a:rPr lang="ru-RU" sz="1200"/>
              <a:t>()</a:t>
            </a:r>
          </a:p>
          <a:p>
            <a:pPr marL="0" indent="0" latinLnBrk="1">
              <a:buNone/>
            </a:pPr>
            <a:r>
              <a:rPr lang="ru-RU" sz="1200"/>
              <a:t> </a:t>
            </a:r>
          </a:p>
          <a:p>
            <a:pPr marL="0" indent="0" latinLnBrk="1">
              <a:buNone/>
            </a:pPr>
            <a:r>
              <a:rPr lang="ru-RU" sz="1200" i="1"/>
              <a:t># </a:t>
            </a:r>
            <a:r>
              <a:rPr lang="ru-RU" sz="1200" i="1" err="1"/>
              <a:t>Goodness</a:t>
            </a:r>
            <a:r>
              <a:rPr lang="ru-RU" sz="1200" i="1"/>
              <a:t> </a:t>
            </a:r>
            <a:r>
              <a:rPr lang="ru-RU" sz="1200" i="1" err="1"/>
              <a:t>of</a:t>
            </a:r>
            <a:r>
              <a:rPr lang="ru-RU" sz="1200" i="1"/>
              <a:t> </a:t>
            </a:r>
            <a:r>
              <a:rPr lang="ru-RU" sz="1200" i="1" err="1"/>
              <a:t>fit</a:t>
            </a:r>
            <a:r>
              <a:rPr lang="ru-RU" sz="1200" i="1"/>
              <a:t> </a:t>
            </a:r>
            <a:r>
              <a:rPr lang="ru-RU" sz="1200" i="1" err="1"/>
              <a:t>test</a:t>
            </a:r>
            <a:r>
              <a:rPr lang="ru-RU" sz="1200" i="1"/>
              <a:t> (</a:t>
            </a:r>
            <a:r>
              <a:rPr lang="ru-RU" sz="1200" i="1" err="1"/>
              <a:t>Kolmogorov-Smirnov</a:t>
            </a:r>
            <a:r>
              <a:rPr lang="ru-RU" sz="1200" i="1"/>
              <a:t>)</a:t>
            </a:r>
            <a:endParaRPr lang="ru-RU" sz="1200"/>
          </a:p>
          <a:p>
            <a:pPr marL="0" indent="0" latinLnBrk="1">
              <a:buNone/>
            </a:pPr>
            <a:r>
              <a:rPr lang="ru-RU" sz="1200" err="1"/>
              <a:t>for</a:t>
            </a:r>
            <a:r>
              <a:rPr lang="ru-RU" sz="1200"/>
              <a:t> </a:t>
            </a:r>
            <a:r>
              <a:rPr lang="ru-RU" sz="1200" err="1"/>
              <a:t>dist</a:t>
            </a:r>
            <a:r>
              <a:rPr lang="ru-RU" sz="1200"/>
              <a:t> </a:t>
            </a:r>
            <a:r>
              <a:rPr lang="ru-RU" sz="1200" err="1"/>
              <a:t>in</a:t>
            </a:r>
            <a:r>
              <a:rPr lang="ru-RU" sz="1200"/>
              <a:t> </a:t>
            </a:r>
            <a:r>
              <a:rPr lang="ru-RU" sz="1200" err="1"/>
              <a:t>distributions</a:t>
            </a:r>
            <a:r>
              <a:rPr lang="ru-RU" sz="1200"/>
              <a:t>: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params</a:t>
            </a:r>
            <a:r>
              <a:rPr lang="ru-RU" sz="1200"/>
              <a:t> = </a:t>
            </a:r>
            <a:r>
              <a:rPr lang="ru-RU" sz="1200" err="1"/>
              <a:t>dist.fit</a:t>
            </a:r>
            <a:r>
              <a:rPr lang="ru-RU" sz="1200"/>
              <a:t>(</a:t>
            </a:r>
            <a:r>
              <a:rPr lang="ru-RU" sz="1200" err="1"/>
              <a:t>purchase_amounts</a:t>
            </a:r>
            <a:r>
              <a:rPr lang="ru-RU" sz="1200"/>
              <a:t>)</a:t>
            </a:r>
          </a:p>
          <a:p>
            <a:pPr marL="0" indent="0" latinLnBrk="1">
              <a:buNone/>
            </a:pPr>
            <a:r>
              <a:rPr lang="ru-RU" sz="1200"/>
              <a:t>    </a:t>
            </a:r>
            <a:r>
              <a:rPr lang="ru-RU" sz="1200" err="1"/>
              <a:t>d_stat</a:t>
            </a:r>
            <a:r>
              <a:rPr lang="ru-RU" sz="1200"/>
              <a:t>, </a:t>
            </a:r>
            <a:r>
              <a:rPr lang="ru-RU" sz="1200" err="1"/>
              <a:t>p_value</a:t>
            </a:r>
            <a:r>
              <a:rPr lang="ru-RU" sz="1200"/>
              <a:t> = </a:t>
            </a:r>
            <a:r>
              <a:rPr lang="ru-RU" sz="1200" err="1"/>
              <a:t>stats.kstest</a:t>
            </a:r>
            <a:r>
              <a:rPr lang="ru-RU" sz="1200"/>
              <a:t>(</a:t>
            </a:r>
            <a:r>
              <a:rPr lang="ru-RU" sz="1200" err="1"/>
              <a:t>purchase_amounts</a:t>
            </a:r>
            <a:r>
              <a:rPr lang="ru-RU" sz="1200"/>
              <a:t>, dist.name, </a:t>
            </a:r>
            <a:r>
              <a:rPr lang="ru-RU" sz="1200" err="1"/>
              <a:t>params</a:t>
            </a:r>
            <a:r>
              <a:rPr lang="ru-RU" sz="1200"/>
              <a:t>)</a:t>
            </a:r>
          </a:p>
          <a:p>
            <a:pPr marL="0" indent="0">
              <a:buNone/>
            </a:pPr>
            <a:r>
              <a:rPr lang="ru-RU" sz="1200"/>
              <a:t>    </a:t>
            </a:r>
            <a:r>
              <a:rPr lang="ru-RU" sz="1200" err="1"/>
              <a:t>print</a:t>
            </a:r>
            <a:r>
              <a:rPr lang="ru-RU" sz="1200"/>
              <a:t>(f"{dist.name:15} D-</a:t>
            </a:r>
            <a:r>
              <a:rPr lang="ru-RU" sz="1200" err="1"/>
              <a:t>stat</a:t>
            </a:r>
            <a:r>
              <a:rPr lang="ru-RU" sz="1200"/>
              <a:t>: {d_stat:.4f}, p-</a:t>
            </a:r>
            <a:r>
              <a:rPr lang="ru-RU" sz="1200" err="1"/>
              <a:t>value</a:t>
            </a:r>
            <a:r>
              <a:rPr lang="ru-RU" sz="1200"/>
              <a:t>: {p_value:.4f}")</a:t>
            </a:r>
          </a:p>
        </p:txBody>
      </p:sp>
    </p:spTree>
    <p:extLst>
      <p:ext uri="{BB962C8B-B14F-4D97-AF65-F5344CB8AC3E}">
        <p14:creationId xmlns:p14="http://schemas.microsoft.com/office/powerpoint/2010/main" val="36632356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55D57-F890-FC81-971A-63BE72F4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APPLICATIONS IN DATA ANALYSIS</a:t>
            </a:r>
            <a:r>
              <a:rPr lang="en-US" b="1"/>
              <a:t>: </a:t>
            </a:r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in</a:t>
            </a:r>
            <a:r>
              <a:rPr lang="ru-RU" b="1"/>
              <a:t> Machine Learning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71D9FB-10FC-599D-0402-EC7418EC8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latinLnBrk="1">
              <a:buNone/>
            </a:pPr>
            <a:r>
              <a:rPr lang="ru-RU"/>
              <a:t>EVERY ML ALGORITHM USES PROBABILITY:</a:t>
            </a:r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r>
              <a:rPr lang="ru-RU"/>
              <a:t>1. NAIVE BAYES: Direct </a:t>
            </a:r>
            <a:r>
              <a:rPr lang="ru-RU" err="1"/>
              <a:t>application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Bayes</a:t>
            </a:r>
            <a:r>
              <a:rPr lang="ru-RU"/>
              <a:t>' </a:t>
            </a:r>
            <a:r>
              <a:rPr lang="ru-RU" err="1"/>
              <a:t>Theorem</a:t>
            </a:r>
            <a:endParaRPr lang="ru-RU"/>
          </a:p>
          <a:p>
            <a:pPr marL="0" indent="0">
              <a:buNone/>
            </a:pPr>
            <a:r>
              <a:rPr lang="ru-RU"/>
              <a:t>2. LOGISTIC REGRESSION: </a:t>
            </a:r>
            <a:r>
              <a:rPr lang="ru-RU" err="1"/>
              <a:t>Models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class</a:t>
            </a:r>
            <a:r>
              <a:rPr lang="ru-RU"/>
              <a:t> </a:t>
            </a:r>
            <a:r>
              <a:rPr lang="ru-RU" err="1"/>
              <a:t>membership</a:t>
            </a:r>
            <a:endParaRPr lang="ru-RU"/>
          </a:p>
          <a:p>
            <a:pPr marL="0" indent="0">
              <a:buNone/>
            </a:pPr>
            <a:r>
              <a:rPr lang="ru-RU"/>
              <a:t>3. DECISION TREES: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splits</a:t>
            </a:r>
            <a:r>
              <a:rPr lang="ru-RU"/>
              <a:t> </a:t>
            </a:r>
            <a:endParaRPr lang="en-US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8372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9D8D6-9135-F9CF-1013-FE4631DD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A/B </a:t>
            </a:r>
            <a:r>
              <a:rPr lang="ru-RU" b="1" err="1"/>
              <a:t>Testing</a:t>
            </a:r>
            <a:r>
              <a:rPr lang="ru-RU" b="1"/>
              <a:t> - </a:t>
            </a:r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in</a:t>
            </a:r>
            <a:r>
              <a:rPr lang="ru-RU" b="1"/>
              <a:t> Action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CDD22D-997A-B5DB-1C04-34F140709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ru-RU"/>
              <a:t>BUSINESS QUESTION: </a:t>
            </a:r>
            <a:r>
              <a:rPr lang="ru-RU" err="1"/>
              <a:t>Which</a:t>
            </a:r>
            <a:r>
              <a:rPr lang="ru-RU"/>
              <a:t> </a:t>
            </a:r>
            <a:r>
              <a:rPr lang="ru-RU" err="1"/>
              <a:t>webpage</a:t>
            </a:r>
            <a:r>
              <a:rPr lang="ru-RU"/>
              <a:t> </a:t>
            </a:r>
            <a:r>
              <a:rPr lang="ru-RU" err="1"/>
              <a:t>design</a:t>
            </a:r>
            <a:r>
              <a:rPr lang="ru-RU"/>
              <a:t> </a:t>
            </a:r>
            <a:r>
              <a:rPr lang="ru-RU" err="1"/>
              <a:t>converts</a:t>
            </a:r>
            <a:r>
              <a:rPr lang="ru-RU"/>
              <a:t> </a:t>
            </a:r>
            <a:r>
              <a:rPr lang="ru-RU" err="1"/>
              <a:t>better</a:t>
            </a:r>
            <a:r>
              <a:rPr lang="ru-RU"/>
              <a:t>?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/>
              <a:t>PROBABILITY FRAMEWORK:</a:t>
            </a:r>
          </a:p>
          <a:p>
            <a:pPr latinLnBrk="1"/>
            <a:r>
              <a:rPr lang="ru-RU"/>
              <a:t>1. </a:t>
            </a:r>
            <a:r>
              <a:rPr lang="ru-RU" err="1"/>
              <a:t>Define</a:t>
            </a:r>
            <a:r>
              <a:rPr lang="ru-RU"/>
              <a:t> </a:t>
            </a:r>
            <a:r>
              <a:rPr lang="ru-RU" err="1"/>
              <a:t>success</a:t>
            </a:r>
            <a:r>
              <a:rPr lang="ru-RU"/>
              <a:t> </a:t>
            </a:r>
            <a:r>
              <a:rPr lang="ru-RU" err="1"/>
              <a:t>metric</a:t>
            </a:r>
            <a:r>
              <a:rPr lang="ru-RU"/>
              <a:t> (</a:t>
            </a:r>
            <a:r>
              <a:rPr lang="ru-RU" err="1"/>
              <a:t>conversion</a:t>
            </a:r>
            <a:r>
              <a:rPr lang="ru-RU"/>
              <a:t> </a:t>
            </a:r>
            <a:r>
              <a:rPr lang="ru-RU" err="1"/>
              <a:t>rate</a:t>
            </a:r>
            <a:r>
              <a:rPr lang="ru-RU"/>
              <a:t>)</a:t>
            </a:r>
          </a:p>
          <a:p>
            <a:pPr latinLnBrk="1"/>
            <a:r>
              <a:rPr lang="ru-RU"/>
              <a:t>2. </a:t>
            </a:r>
            <a:r>
              <a:rPr lang="ru-RU" err="1"/>
              <a:t>Collect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both</a:t>
            </a:r>
            <a:r>
              <a:rPr lang="ru-RU"/>
              <a:t> </a:t>
            </a:r>
            <a:r>
              <a:rPr lang="ru-RU" err="1"/>
              <a:t>versions</a:t>
            </a:r>
            <a:endParaRPr lang="ru-RU"/>
          </a:p>
          <a:p>
            <a:pPr latinLnBrk="1"/>
            <a:r>
              <a:rPr lang="ru-RU"/>
              <a:t>3. Model </a:t>
            </a:r>
            <a:r>
              <a:rPr lang="ru-RU" err="1"/>
              <a:t>conversions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Binomial</a:t>
            </a:r>
            <a:r>
              <a:rPr lang="ru-RU"/>
              <a:t>(n, p)</a:t>
            </a:r>
          </a:p>
          <a:p>
            <a:pPr latinLnBrk="1"/>
            <a:r>
              <a:rPr lang="ru-RU"/>
              <a:t>4. </a:t>
            </a:r>
            <a:r>
              <a:rPr lang="ru-RU" err="1"/>
              <a:t>Calculate</a:t>
            </a:r>
            <a:r>
              <a:rPr lang="ru-RU"/>
              <a:t> </a:t>
            </a:r>
            <a:r>
              <a:rPr lang="ru-RU" err="1"/>
              <a:t>confidence</a:t>
            </a:r>
            <a:r>
              <a:rPr lang="ru-RU"/>
              <a:t> </a:t>
            </a:r>
            <a:r>
              <a:rPr lang="ru-RU" err="1"/>
              <a:t>intervals</a:t>
            </a:r>
            <a:endParaRPr lang="ru-RU"/>
          </a:p>
          <a:p>
            <a:pPr latinLnBrk="1"/>
            <a:r>
              <a:rPr lang="ru-RU"/>
              <a:t>5. </a:t>
            </a:r>
            <a:r>
              <a:rPr lang="ru-RU" err="1"/>
              <a:t>Determine</a:t>
            </a:r>
            <a:r>
              <a:rPr lang="ru-RU"/>
              <a:t> </a:t>
            </a:r>
            <a:r>
              <a:rPr lang="ru-RU" err="1"/>
              <a:t>statistical</a:t>
            </a:r>
            <a:r>
              <a:rPr lang="ru-RU"/>
              <a:t> </a:t>
            </a:r>
            <a:r>
              <a:rPr lang="ru-RU" err="1"/>
              <a:t>significance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4905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C50CFE-8B68-4CB2-F5EA-885CC366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4"/>
            <a:ext cx="10515600" cy="1047216"/>
          </a:xfrm>
        </p:spPr>
        <p:txBody>
          <a:bodyPr/>
          <a:lstStyle/>
          <a:p>
            <a:r>
              <a:rPr lang="ru-RU" b="1"/>
              <a:t>A/B </a:t>
            </a:r>
            <a:r>
              <a:rPr lang="ru-RU" b="1" err="1"/>
              <a:t>Testing</a:t>
            </a:r>
            <a:r>
              <a:rPr lang="ru-RU" b="1"/>
              <a:t> </a:t>
            </a:r>
            <a:r>
              <a:rPr lang="en-US" b="1"/>
              <a:t>: </a:t>
            </a:r>
            <a:r>
              <a:rPr lang="ru-RU" b="1"/>
              <a:t>Python </a:t>
            </a:r>
            <a:r>
              <a:rPr lang="ru-RU" b="1" err="1"/>
              <a:t>implementation</a:t>
            </a:r>
            <a:endParaRPr lang="ru-RU" b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13D252-34EA-961B-D955-2AFE5FFEC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126"/>
            <a:ext cx="10515600" cy="5088047"/>
          </a:xfrm>
        </p:spPr>
        <p:txBody>
          <a:bodyPr numCol="2">
            <a:noAutofit/>
          </a:bodyPr>
          <a:lstStyle/>
          <a:p>
            <a:pPr marL="0" indent="0" latinLnBrk="1">
              <a:buNone/>
            </a:pPr>
            <a:r>
              <a:rPr lang="ru-RU" sz="1000" i="1" err="1"/>
              <a:t>import</a:t>
            </a:r>
            <a:r>
              <a:rPr lang="ru-RU" sz="1000" i="1"/>
              <a:t> </a:t>
            </a:r>
            <a:r>
              <a:rPr lang="ru-RU" sz="1000" i="1" err="1"/>
              <a:t>numpy</a:t>
            </a:r>
            <a:r>
              <a:rPr lang="ru-RU" sz="1000" i="1"/>
              <a:t> </a:t>
            </a:r>
            <a:r>
              <a:rPr lang="ru-RU" sz="1000" i="1" err="1"/>
              <a:t>as</a:t>
            </a:r>
            <a:r>
              <a:rPr lang="ru-RU" sz="1000" i="1"/>
              <a:t> </a:t>
            </a:r>
            <a:r>
              <a:rPr lang="ru-RU" sz="1000" i="1" err="1"/>
              <a:t>np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 err="1"/>
              <a:t>from</a:t>
            </a:r>
            <a:r>
              <a:rPr lang="ru-RU" sz="1000" i="1"/>
              <a:t> </a:t>
            </a:r>
            <a:r>
              <a:rPr lang="ru-RU" sz="1000" i="1" err="1"/>
              <a:t>scipy</a:t>
            </a:r>
            <a:r>
              <a:rPr lang="ru-RU" sz="1000" i="1"/>
              <a:t> </a:t>
            </a:r>
            <a:r>
              <a:rPr lang="ru-RU" sz="1000" i="1" err="1"/>
              <a:t>import</a:t>
            </a:r>
            <a:r>
              <a:rPr lang="ru-RU" sz="1000" i="1"/>
              <a:t> </a:t>
            </a:r>
            <a:r>
              <a:rPr lang="ru-RU" sz="1000" i="1" err="1"/>
              <a:t>stats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 </a:t>
            </a:r>
          </a:p>
          <a:p>
            <a:pPr marL="0" indent="0" latinLnBrk="1">
              <a:buNone/>
            </a:pPr>
            <a:r>
              <a:rPr lang="ru-RU" sz="1000" i="1" err="1"/>
              <a:t>def</a:t>
            </a:r>
            <a:r>
              <a:rPr lang="ru-RU" sz="1000" i="1"/>
              <a:t> </a:t>
            </a:r>
            <a:r>
              <a:rPr lang="ru-RU" sz="1000" i="1" err="1"/>
              <a:t>ab_test_conversion</a:t>
            </a:r>
            <a:r>
              <a:rPr lang="ru-RU" sz="1000" i="1"/>
              <a:t>(</a:t>
            </a:r>
            <a:r>
              <a:rPr lang="ru-RU" sz="1000" i="1" err="1"/>
              <a:t>visitors_A</a:t>
            </a:r>
            <a:r>
              <a:rPr lang="ru-RU" sz="1000" i="1"/>
              <a:t>, </a:t>
            </a:r>
            <a:r>
              <a:rPr lang="ru-RU" sz="1000" i="1" err="1"/>
              <a:t>conversions_A</a:t>
            </a:r>
            <a:r>
              <a:rPr lang="ru-RU" sz="1000" i="1"/>
              <a:t>, </a:t>
            </a:r>
          </a:p>
          <a:p>
            <a:pPr marL="0" indent="0" latinLnBrk="1">
              <a:buNone/>
            </a:pPr>
            <a:r>
              <a:rPr lang="ru-RU" sz="1000" i="1"/>
              <a:t>                       </a:t>
            </a:r>
            <a:r>
              <a:rPr lang="ru-RU" sz="1000" i="1" err="1"/>
              <a:t>visitors_B</a:t>
            </a:r>
            <a:r>
              <a:rPr lang="ru-RU" sz="1000" i="1"/>
              <a:t>, </a:t>
            </a:r>
            <a:r>
              <a:rPr lang="ru-RU" sz="1000" i="1" err="1"/>
              <a:t>conversions_B</a:t>
            </a:r>
            <a:r>
              <a:rPr lang="ru-RU" sz="1000" i="1"/>
              <a:t>, </a:t>
            </a:r>
            <a:r>
              <a:rPr lang="ru-RU" sz="1000" i="1" err="1"/>
              <a:t>alpha</a:t>
            </a:r>
            <a:r>
              <a:rPr lang="ru-RU" sz="1000" i="1"/>
              <a:t>=0.05):</a:t>
            </a:r>
          </a:p>
          <a:p>
            <a:pPr marL="0" indent="0" latinLnBrk="1">
              <a:buNone/>
            </a:pPr>
            <a:r>
              <a:rPr lang="ru-RU" sz="1000" i="1"/>
              <a:t>    """</a:t>
            </a:r>
            <a:r>
              <a:rPr lang="ru-RU" sz="1000" i="1" err="1"/>
              <a:t>Calculate</a:t>
            </a:r>
            <a:r>
              <a:rPr lang="ru-RU" sz="1000" i="1"/>
              <a:t> A/B </a:t>
            </a:r>
            <a:r>
              <a:rPr lang="ru-RU" sz="1000" i="1" err="1"/>
              <a:t>test</a:t>
            </a:r>
            <a:r>
              <a:rPr lang="ru-RU" sz="1000" i="1"/>
              <a:t> </a:t>
            </a:r>
            <a:r>
              <a:rPr lang="ru-RU" sz="1000" i="1" err="1"/>
              <a:t>results</a:t>
            </a:r>
            <a:r>
              <a:rPr lang="ru-RU" sz="1000" i="1"/>
              <a:t>"""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p_A</a:t>
            </a:r>
            <a:r>
              <a:rPr lang="ru-RU" sz="1000" i="1"/>
              <a:t> = </a:t>
            </a:r>
            <a:r>
              <a:rPr lang="ru-RU" sz="1000" i="1" err="1"/>
              <a:t>conversions_A</a:t>
            </a:r>
            <a:r>
              <a:rPr lang="ru-RU" sz="1000" i="1"/>
              <a:t> / </a:t>
            </a:r>
            <a:r>
              <a:rPr lang="ru-RU" sz="1000" i="1" err="1"/>
              <a:t>visitors_A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p_B</a:t>
            </a:r>
            <a:r>
              <a:rPr lang="ru-RU" sz="1000" i="1"/>
              <a:t> = </a:t>
            </a:r>
            <a:r>
              <a:rPr lang="ru-RU" sz="1000" i="1" err="1"/>
              <a:t>conversions_B</a:t>
            </a:r>
            <a:r>
              <a:rPr lang="ru-RU" sz="1000" i="1"/>
              <a:t> / </a:t>
            </a:r>
            <a:r>
              <a:rPr lang="ru-RU" sz="1000" i="1" err="1"/>
              <a:t>visitors_B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# </a:t>
            </a:r>
            <a:r>
              <a:rPr lang="ru-RU" sz="1000" i="1" err="1"/>
              <a:t>Pooled</a:t>
            </a:r>
            <a:r>
              <a:rPr lang="ru-RU" sz="1000" i="1"/>
              <a:t> </a:t>
            </a:r>
            <a:r>
              <a:rPr lang="ru-RU" sz="1000" i="1" err="1"/>
              <a:t>probability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p_pool</a:t>
            </a:r>
            <a:r>
              <a:rPr lang="ru-RU" sz="1000" i="1"/>
              <a:t> = (</a:t>
            </a:r>
            <a:r>
              <a:rPr lang="ru-RU" sz="1000" i="1" err="1"/>
              <a:t>conversions_A</a:t>
            </a:r>
            <a:r>
              <a:rPr lang="ru-RU" sz="1000" i="1"/>
              <a:t> + </a:t>
            </a:r>
            <a:r>
              <a:rPr lang="ru-RU" sz="1000" i="1" err="1"/>
              <a:t>conversions_B</a:t>
            </a:r>
            <a:r>
              <a:rPr lang="ru-RU" sz="1000" i="1"/>
              <a:t>) / (</a:t>
            </a:r>
            <a:r>
              <a:rPr lang="ru-RU" sz="1000" i="1" err="1"/>
              <a:t>visitors_A</a:t>
            </a:r>
            <a:r>
              <a:rPr lang="ru-RU" sz="1000" i="1"/>
              <a:t> + </a:t>
            </a:r>
            <a:r>
              <a:rPr lang="ru-RU" sz="1000" i="1" err="1"/>
              <a:t>visitors_B</a:t>
            </a:r>
            <a:r>
              <a:rPr lang="ru-RU" sz="1000" i="1"/>
              <a:t>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# Standard </a:t>
            </a:r>
            <a:r>
              <a:rPr lang="ru-RU" sz="1000" i="1" err="1"/>
              <a:t>error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se</a:t>
            </a:r>
            <a:r>
              <a:rPr lang="ru-RU" sz="1000" i="1"/>
              <a:t> = </a:t>
            </a:r>
            <a:r>
              <a:rPr lang="ru-RU" sz="1000" i="1" err="1"/>
              <a:t>np.sqrt</a:t>
            </a:r>
            <a:r>
              <a:rPr lang="ru-RU" sz="1000" i="1"/>
              <a:t>(</a:t>
            </a:r>
            <a:r>
              <a:rPr lang="ru-RU" sz="1000" i="1" err="1"/>
              <a:t>p_pool</a:t>
            </a:r>
            <a:r>
              <a:rPr lang="ru-RU" sz="1000" i="1"/>
              <a:t> * (1 - </a:t>
            </a:r>
            <a:r>
              <a:rPr lang="ru-RU" sz="1000" i="1" err="1"/>
              <a:t>p_pool</a:t>
            </a:r>
            <a:r>
              <a:rPr lang="ru-RU" sz="1000" i="1"/>
              <a:t>) * (1/</a:t>
            </a:r>
            <a:r>
              <a:rPr lang="ru-RU" sz="1000" i="1" err="1"/>
              <a:t>visitors_A</a:t>
            </a:r>
            <a:r>
              <a:rPr lang="ru-RU" sz="1000" i="1"/>
              <a:t> + 1/</a:t>
            </a:r>
            <a:r>
              <a:rPr lang="ru-RU" sz="1000" i="1" err="1"/>
              <a:t>visitors_B</a:t>
            </a:r>
            <a:r>
              <a:rPr lang="ru-RU" sz="1000" i="1"/>
              <a:t>))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# Z-</a:t>
            </a:r>
            <a:r>
              <a:rPr lang="ru-RU" sz="1000" i="1" err="1"/>
              <a:t>score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z = (</a:t>
            </a:r>
            <a:r>
              <a:rPr lang="ru-RU" sz="1000" i="1" err="1"/>
              <a:t>p_B</a:t>
            </a:r>
            <a:r>
              <a:rPr lang="ru-RU" sz="1000" i="1"/>
              <a:t> - </a:t>
            </a:r>
            <a:r>
              <a:rPr lang="ru-RU" sz="1000" i="1" err="1"/>
              <a:t>p_A</a:t>
            </a:r>
            <a:r>
              <a:rPr lang="ru-RU" sz="1000" i="1"/>
              <a:t>) / </a:t>
            </a:r>
            <a:r>
              <a:rPr lang="ru-RU" sz="1000" i="1" err="1"/>
              <a:t>se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# P-</a:t>
            </a:r>
            <a:r>
              <a:rPr lang="ru-RU" sz="1000" i="1" err="1"/>
              <a:t>value</a:t>
            </a:r>
            <a:r>
              <a:rPr lang="ru-RU" sz="1000" i="1"/>
              <a:t> (</a:t>
            </a:r>
            <a:r>
              <a:rPr lang="ru-RU" sz="1000" i="1" err="1"/>
              <a:t>two-tailed</a:t>
            </a:r>
            <a:r>
              <a:rPr lang="ru-RU" sz="1000" i="1"/>
              <a:t>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p_value</a:t>
            </a:r>
            <a:r>
              <a:rPr lang="ru-RU" sz="1000" i="1"/>
              <a:t> = 2 * (1 - </a:t>
            </a:r>
            <a:r>
              <a:rPr lang="ru-RU" sz="1000" i="1" err="1"/>
              <a:t>stats.norm.cdf</a:t>
            </a:r>
            <a:r>
              <a:rPr lang="ru-RU" sz="1000" i="1"/>
              <a:t>(</a:t>
            </a:r>
            <a:r>
              <a:rPr lang="ru-RU" sz="1000" i="1" err="1"/>
              <a:t>abs</a:t>
            </a:r>
            <a:r>
              <a:rPr lang="ru-RU" sz="1000" i="1"/>
              <a:t>(z)))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# </a:t>
            </a:r>
            <a:r>
              <a:rPr lang="ru-RU" sz="1000" i="1" err="1"/>
              <a:t>Confidence</a:t>
            </a:r>
            <a:r>
              <a:rPr lang="ru-RU" sz="1000" i="1"/>
              <a:t> </a:t>
            </a:r>
            <a:r>
              <a:rPr lang="ru-RU" sz="1000" i="1" err="1"/>
              <a:t>interval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diff</a:t>
            </a:r>
            <a:r>
              <a:rPr lang="ru-RU" sz="1000" i="1"/>
              <a:t> = </a:t>
            </a:r>
            <a:r>
              <a:rPr lang="ru-RU" sz="1000" i="1" err="1"/>
              <a:t>p_B</a:t>
            </a:r>
            <a:r>
              <a:rPr lang="ru-RU" sz="1000" i="1"/>
              <a:t> - </a:t>
            </a:r>
            <a:r>
              <a:rPr lang="ru-RU" sz="1000" i="1" err="1"/>
              <a:t>p_A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margin</a:t>
            </a:r>
            <a:r>
              <a:rPr lang="ru-RU" sz="1000" i="1"/>
              <a:t> = </a:t>
            </a:r>
            <a:r>
              <a:rPr lang="ru-RU" sz="1000" i="1" err="1"/>
              <a:t>stats.norm.ppf</a:t>
            </a:r>
            <a:r>
              <a:rPr lang="ru-RU" sz="1000" i="1"/>
              <a:t>(1 - </a:t>
            </a:r>
            <a:r>
              <a:rPr lang="ru-RU" sz="1000" i="1" err="1"/>
              <a:t>alpha</a:t>
            </a:r>
            <a:r>
              <a:rPr lang="ru-RU" sz="1000" i="1"/>
              <a:t>/2) * </a:t>
            </a:r>
            <a:r>
              <a:rPr lang="ru-RU" sz="1000" i="1" err="1"/>
              <a:t>se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ci_lower</a:t>
            </a:r>
            <a:r>
              <a:rPr lang="ru-RU" sz="1000" i="1"/>
              <a:t> = </a:t>
            </a:r>
            <a:r>
              <a:rPr lang="ru-RU" sz="1000" i="1" err="1"/>
              <a:t>diff</a:t>
            </a:r>
            <a:r>
              <a:rPr lang="ru-RU" sz="1000" i="1"/>
              <a:t> - </a:t>
            </a:r>
            <a:r>
              <a:rPr lang="ru-RU" sz="1000" i="1" err="1"/>
              <a:t>margin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ci_upper</a:t>
            </a:r>
            <a:r>
              <a:rPr lang="ru-RU" sz="1000" i="1"/>
              <a:t> = </a:t>
            </a:r>
            <a:r>
              <a:rPr lang="ru-RU" sz="1000" i="1" err="1"/>
              <a:t>diff</a:t>
            </a:r>
            <a:r>
              <a:rPr lang="ru-RU" sz="1000" i="1"/>
              <a:t> + </a:t>
            </a:r>
            <a:r>
              <a:rPr lang="ru-RU" sz="1000" i="1" err="1"/>
              <a:t>margin</a:t>
            </a:r>
            <a:endParaRPr lang="ru-RU" sz="1000" i="1"/>
          </a:p>
          <a:p>
            <a:pPr marL="0" indent="0" latinLnBrk="1">
              <a:buNone/>
            </a:pPr>
            <a:r>
              <a:rPr lang="ru-RU" sz="1000" i="1"/>
              <a:t>    </a:t>
            </a:r>
          </a:p>
          <a:p>
            <a:pPr marL="0" indent="0" latinLnBrk="1">
              <a:buNone/>
            </a:pPr>
            <a:r>
              <a:rPr lang="ru-RU" sz="1000" i="1"/>
              <a:t>    </a:t>
            </a:r>
            <a:r>
              <a:rPr lang="ru-RU" sz="1000" i="1" err="1"/>
              <a:t>return</a:t>
            </a:r>
            <a:r>
              <a:rPr lang="ru-RU" sz="1000" i="1"/>
              <a:t> {</a:t>
            </a:r>
          </a:p>
          <a:p>
            <a:pPr marL="0" indent="0" latinLnBrk="1">
              <a:buNone/>
            </a:pPr>
            <a:r>
              <a:rPr lang="ru-RU" sz="1000" i="1"/>
              <a:t>        '</a:t>
            </a:r>
            <a:r>
              <a:rPr lang="ru-RU" sz="1000" i="1" err="1"/>
              <a:t>conversion_A</a:t>
            </a:r>
            <a:r>
              <a:rPr lang="ru-RU" sz="1000" i="1"/>
              <a:t>': </a:t>
            </a:r>
            <a:r>
              <a:rPr lang="ru-RU" sz="1000" i="1" err="1"/>
              <a:t>p_A</a:t>
            </a:r>
            <a:r>
              <a:rPr lang="ru-RU" sz="1000" i="1"/>
              <a:t>,</a:t>
            </a:r>
          </a:p>
          <a:p>
            <a:pPr marL="0" indent="0" latinLnBrk="1">
              <a:buNone/>
            </a:pPr>
            <a:r>
              <a:rPr lang="ru-RU" sz="1000" i="1"/>
              <a:t>        '</a:t>
            </a:r>
            <a:r>
              <a:rPr lang="ru-RU" sz="1000" i="1" err="1"/>
              <a:t>conversion_B</a:t>
            </a:r>
            <a:r>
              <a:rPr lang="ru-RU" sz="1000" i="1"/>
              <a:t>': </a:t>
            </a:r>
            <a:r>
              <a:rPr lang="ru-RU" sz="1000" i="1" err="1"/>
              <a:t>p_B</a:t>
            </a:r>
            <a:r>
              <a:rPr lang="ru-RU" sz="1000" i="1"/>
              <a:t>,</a:t>
            </a:r>
          </a:p>
          <a:p>
            <a:pPr marL="0" indent="0" latinLnBrk="1">
              <a:buNone/>
            </a:pPr>
            <a:r>
              <a:rPr lang="ru-RU" sz="1000" i="1"/>
              <a:t>        '</a:t>
            </a:r>
            <a:r>
              <a:rPr lang="ru-RU" sz="1000" i="1" err="1"/>
              <a:t>difference</a:t>
            </a:r>
            <a:r>
              <a:rPr lang="ru-RU" sz="1000" i="1"/>
              <a:t>': </a:t>
            </a:r>
            <a:r>
              <a:rPr lang="ru-RU" sz="1000" i="1" err="1"/>
              <a:t>diff</a:t>
            </a:r>
            <a:r>
              <a:rPr lang="ru-RU" sz="1000" i="1"/>
              <a:t>,</a:t>
            </a:r>
          </a:p>
          <a:p>
            <a:pPr marL="0" indent="0" latinLnBrk="1">
              <a:buNone/>
            </a:pPr>
            <a:r>
              <a:rPr lang="ru-RU" sz="1000" i="1"/>
              <a:t>        '</a:t>
            </a:r>
            <a:r>
              <a:rPr lang="ru-RU" sz="1000" i="1" err="1"/>
              <a:t>relative_improvement</a:t>
            </a:r>
            <a:r>
              <a:rPr lang="ru-RU" sz="1000" i="1"/>
              <a:t>': (</a:t>
            </a:r>
            <a:r>
              <a:rPr lang="ru-RU" sz="1000" i="1" err="1"/>
              <a:t>p_B</a:t>
            </a:r>
            <a:r>
              <a:rPr lang="ru-RU" sz="1000" i="1"/>
              <a:t> - </a:t>
            </a:r>
            <a:r>
              <a:rPr lang="ru-RU" sz="1000" i="1" err="1"/>
              <a:t>p_A</a:t>
            </a:r>
            <a:r>
              <a:rPr lang="ru-RU" sz="1000" i="1"/>
              <a:t>) / </a:t>
            </a:r>
            <a:r>
              <a:rPr lang="ru-RU" sz="1000" i="1" err="1"/>
              <a:t>p_A</a:t>
            </a:r>
            <a:r>
              <a:rPr lang="ru-RU" sz="1000" i="1"/>
              <a:t>,</a:t>
            </a:r>
          </a:p>
          <a:p>
            <a:pPr marL="0" indent="0" latinLnBrk="1">
              <a:buNone/>
            </a:pPr>
            <a:r>
              <a:rPr lang="ru-RU" sz="1000" i="1"/>
              <a:t>        '</a:t>
            </a:r>
            <a:r>
              <a:rPr lang="ru-RU" sz="1000" i="1" err="1"/>
              <a:t>p_value</a:t>
            </a:r>
            <a:r>
              <a:rPr lang="ru-RU" sz="1000" i="1"/>
              <a:t>': </a:t>
            </a:r>
            <a:r>
              <a:rPr lang="ru-RU" sz="1000" i="1" err="1"/>
              <a:t>p_value</a:t>
            </a:r>
            <a:r>
              <a:rPr lang="ru-RU" sz="1000" i="1"/>
              <a:t>,</a:t>
            </a:r>
          </a:p>
          <a:p>
            <a:pPr marL="0" indent="0" latinLnBrk="1">
              <a:buNone/>
            </a:pPr>
            <a:r>
              <a:rPr lang="ru-RU" sz="1000" i="1"/>
              <a:t>        '</a:t>
            </a:r>
            <a:r>
              <a:rPr lang="ru-RU" sz="1000" i="1" err="1"/>
              <a:t>significant</a:t>
            </a:r>
            <a:r>
              <a:rPr lang="ru-RU" sz="1000" i="1"/>
              <a:t>': </a:t>
            </a:r>
            <a:r>
              <a:rPr lang="ru-RU" sz="1000" i="1" err="1"/>
              <a:t>p_value</a:t>
            </a:r>
            <a:r>
              <a:rPr lang="ru-RU" sz="1000" i="1"/>
              <a:t> &lt; </a:t>
            </a:r>
            <a:r>
              <a:rPr lang="ru-RU" sz="1000" i="1" err="1"/>
              <a:t>alpha</a:t>
            </a:r>
            <a:r>
              <a:rPr lang="ru-RU" sz="1000" i="1"/>
              <a:t>,</a:t>
            </a:r>
          </a:p>
          <a:p>
            <a:pPr marL="0" indent="0" latinLnBrk="1">
              <a:buNone/>
            </a:pPr>
            <a:r>
              <a:rPr lang="ru-RU" sz="1000" i="1"/>
              <a:t>        '</a:t>
            </a:r>
            <a:r>
              <a:rPr lang="ru-RU" sz="1000" i="1" err="1"/>
              <a:t>confidence_interval</a:t>
            </a:r>
            <a:r>
              <a:rPr lang="ru-RU" sz="1000" i="1"/>
              <a:t>': (</a:t>
            </a:r>
            <a:r>
              <a:rPr lang="ru-RU" sz="1000" i="1" err="1"/>
              <a:t>ci_lower</a:t>
            </a:r>
            <a:r>
              <a:rPr lang="ru-RU" sz="1000" i="1"/>
              <a:t>, </a:t>
            </a:r>
            <a:r>
              <a:rPr lang="ru-RU" sz="1000" i="1" err="1"/>
              <a:t>ci_upper</a:t>
            </a:r>
            <a:r>
              <a:rPr lang="ru-RU" sz="1000" i="1"/>
              <a:t>)</a:t>
            </a:r>
          </a:p>
          <a:p>
            <a:pPr marL="0" indent="0" latinLnBrk="1">
              <a:buNone/>
            </a:pPr>
            <a:r>
              <a:rPr lang="ru-RU" sz="1000" i="1"/>
              <a:t>    }</a:t>
            </a:r>
          </a:p>
          <a:p>
            <a:pPr marL="0" indent="0">
              <a:buNone/>
            </a:pPr>
            <a:endParaRPr lang="ru-RU" sz="1000" i="1"/>
          </a:p>
        </p:txBody>
      </p:sp>
    </p:spTree>
    <p:extLst>
      <p:ext uri="{BB962C8B-B14F-4D97-AF65-F5344CB8AC3E}">
        <p14:creationId xmlns:p14="http://schemas.microsoft.com/office/powerpoint/2010/main" val="33185555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16F34-9AA5-F9E8-9256-ADD37BB2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Risk Analysis </a:t>
            </a:r>
            <a:r>
              <a:rPr lang="ru-RU" b="1" err="1"/>
              <a:t>with</a:t>
            </a:r>
            <a:r>
              <a:rPr lang="ru-RU" b="1"/>
              <a:t> </a:t>
            </a:r>
            <a:r>
              <a:rPr lang="ru-RU" b="1" err="1"/>
              <a:t>Probability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04BA80-02FB-67C7-1BD9-7EB2252A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ru-RU"/>
              <a:t>FINANCIAL RISK ASSESSMENT:</a:t>
            </a:r>
          </a:p>
          <a:p>
            <a:pPr latinLnBrk="1"/>
            <a:r>
              <a:rPr lang="ru-RU"/>
              <a:t>Value </a:t>
            </a:r>
            <a:r>
              <a:rPr lang="ru-RU" err="1"/>
              <a:t>at</a:t>
            </a:r>
            <a:r>
              <a:rPr lang="ru-RU"/>
              <a:t> Risk (</a:t>
            </a:r>
            <a:r>
              <a:rPr lang="ru-RU" err="1"/>
              <a:t>VaR</a:t>
            </a:r>
            <a:r>
              <a:rPr lang="ru-RU"/>
              <a:t>): </a:t>
            </a:r>
            <a:r>
              <a:rPr lang="ru-RU" err="1"/>
              <a:t>Maximum</a:t>
            </a:r>
            <a:r>
              <a:rPr lang="ru-RU"/>
              <a:t> </a:t>
            </a:r>
            <a:r>
              <a:rPr lang="ru-RU" err="1"/>
              <a:t>loss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given</a:t>
            </a:r>
            <a:r>
              <a:rPr lang="ru-RU"/>
              <a:t> </a:t>
            </a:r>
            <a:r>
              <a:rPr lang="ru-RU" err="1"/>
              <a:t>probability</a:t>
            </a:r>
            <a:endParaRPr lang="ru-RU"/>
          </a:p>
          <a:p>
            <a:pPr latinLnBrk="1"/>
            <a:r>
              <a:rPr lang="ru-RU" err="1"/>
              <a:t>Example</a:t>
            </a:r>
            <a:r>
              <a:rPr lang="ru-RU"/>
              <a:t>: "95% </a:t>
            </a:r>
            <a:r>
              <a:rPr lang="ru-RU" err="1"/>
              <a:t>VaR</a:t>
            </a:r>
            <a:r>
              <a:rPr lang="ru-RU"/>
              <a:t> = $1M" </a:t>
            </a:r>
            <a:r>
              <a:rPr lang="ru-RU" err="1"/>
              <a:t>means</a:t>
            </a:r>
            <a:r>
              <a:rPr lang="ru-RU"/>
              <a:t> 95% </a:t>
            </a:r>
            <a:r>
              <a:rPr lang="ru-RU" err="1"/>
              <a:t>chance</a:t>
            </a:r>
            <a:r>
              <a:rPr lang="ru-RU"/>
              <a:t> </a:t>
            </a:r>
            <a:r>
              <a:rPr lang="ru-RU" err="1"/>
              <a:t>loss</a:t>
            </a:r>
            <a:r>
              <a:rPr lang="ru-RU"/>
              <a:t> ≤ $1M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/>
              <a:t>OPERATIONAL RISK:</a:t>
            </a:r>
          </a:p>
          <a:p>
            <a:pPr latinLnBrk="1"/>
            <a:r>
              <a:rPr lang="ru-RU"/>
              <a:t>• P(System </a:t>
            </a:r>
            <a:r>
              <a:rPr lang="ru-RU" err="1"/>
              <a:t>failure</a:t>
            </a:r>
            <a:r>
              <a:rPr lang="ru-RU"/>
              <a:t>) = 0.001</a:t>
            </a:r>
          </a:p>
          <a:p>
            <a:pPr latinLnBrk="1"/>
            <a:r>
              <a:rPr lang="ru-RU"/>
              <a:t>• </a:t>
            </a:r>
            <a:r>
              <a:rPr lang="ru-RU" err="1"/>
              <a:t>Expected</a:t>
            </a:r>
            <a:r>
              <a:rPr lang="ru-RU"/>
              <a:t> </a:t>
            </a:r>
            <a:r>
              <a:rPr lang="ru-RU" err="1"/>
              <a:t>cost</a:t>
            </a:r>
            <a:r>
              <a:rPr lang="ru-RU"/>
              <a:t> = P(</a:t>
            </a:r>
            <a:r>
              <a:rPr lang="ru-RU" err="1"/>
              <a:t>failure</a:t>
            </a:r>
            <a:r>
              <a:rPr lang="ru-RU"/>
              <a:t>) × Cost(</a:t>
            </a:r>
            <a:r>
              <a:rPr lang="ru-RU" err="1"/>
              <a:t>failure</a:t>
            </a:r>
            <a:r>
              <a:rPr lang="ru-RU"/>
              <a:t>)</a:t>
            </a:r>
          </a:p>
          <a:p>
            <a:pPr latinLnBrk="1"/>
            <a:r>
              <a:rPr lang="ru-RU"/>
              <a:t>• Risk = </a:t>
            </a:r>
            <a:r>
              <a:rPr lang="ru-RU" err="1"/>
              <a:t>Probability</a:t>
            </a:r>
            <a:r>
              <a:rPr lang="ru-RU"/>
              <a:t> × Impact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3252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EC3AD-B484-974E-F6C3-70D97EAE2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in</a:t>
            </a:r>
            <a:r>
              <a:rPr lang="ru-RU" b="1"/>
              <a:t> Quality Control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66A7FE-9E96-8EED-3C85-1DDAC33A3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ru-RU"/>
              <a:t>STATISTICAL PROCESS CONTROL: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1. </a:t>
            </a:r>
            <a:r>
              <a:rPr lang="ru-RU" err="1"/>
              <a:t>Acceptable</a:t>
            </a:r>
            <a:r>
              <a:rPr lang="ru-RU"/>
              <a:t> </a:t>
            </a:r>
            <a:r>
              <a:rPr lang="ru-RU" err="1"/>
              <a:t>defect</a:t>
            </a:r>
            <a:r>
              <a:rPr lang="ru-RU"/>
              <a:t> </a:t>
            </a:r>
            <a:r>
              <a:rPr lang="ru-RU" err="1"/>
              <a:t>rate</a:t>
            </a:r>
            <a:r>
              <a:rPr lang="ru-RU"/>
              <a:t>: p = 0.01 (1%)</a:t>
            </a:r>
          </a:p>
          <a:p>
            <a:pPr marL="0" indent="0" latinLnBrk="1">
              <a:buNone/>
            </a:pPr>
            <a:r>
              <a:rPr lang="ru-RU"/>
              <a:t>2. </a:t>
            </a:r>
            <a:r>
              <a:rPr lang="ru-RU" err="1"/>
              <a:t>Sample</a:t>
            </a:r>
            <a:r>
              <a:rPr lang="ru-RU"/>
              <a:t> 100 </a:t>
            </a:r>
            <a:r>
              <a:rPr lang="ru-RU" err="1"/>
              <a:t>items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batch</a:t>
            </a:r>
            <a:endParaRPr lang="ru-RU"/>
          </a:p>
          <a:p>
            <a:pPr marL="0" indent="0" latinLnBrk="1">
              <a:buNone/>
            </a:pPr>
            <a:r>
              <a:rPr lang="ru-RU"/>
              <a:t>3. Model </a:t>
            </a:r>
            <a:r>
              <a:rPr lang="ru-RU" err="1"/>
              <a:t>defects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Binomial</a:t>
            </a:r>
            <a:r>
              <a:rPr lang="ru-RU"/>
              <a:t>(100, 0.01)</a:t>
            </a:r>
          </a:p>
          <a:p>
            <a:pPr marL="0" indent="0" latinLnBrk="1">
              <a:buNone/>
            </a:pPr>
            <a:r>
              <a:rPr lang="ru-RU"/>
              <a:t>4. </a:t>
            </a:r>
            <a:r>
              <a:rPr lang="ru-RU" err="1"/>
              <a:t>Calculate</a:t>
            </a:r>
            <a:r>
              <a:rPr lang="ru-RU"/>
              <a:t> </a:t>
            </a:r>
            <a:r>
              <a:rPr lang="ru-RU" err="1"/>
              <a:t>control</a:t>
            </a:r>
            <a:r>
              <a:rPr lang="ru-RU"/>
              <a:t> </a:t>
            </a:r>
            <a:r>
              <a:rPr lang="ru-RU" err="1"/>
              <a:t>limits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5180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ECE3D2-ED66-3C74-2B01-7890FBE3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Python </a:t>
            </a:r>
            <a:r>
              <a:rPr lang="ru-RU" err="1"/>
              <a:t>quality</a:t>
            </a:r>
            <a:r>
              <a:rPr lang="ru-RU"/>
              <a:t> </a:t>
            </a:r>
            <a:r>
              <a:rPr lang="ru-RU" err="1"/>
              <a:t>control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C3CABD-7AC2-32EB-81AC-6EBD4B482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err="1"/>
              <a:t>def</a:t>
            </a:r>
            <a:r>
              <a:rPr lang="ru-RU"/>
              <a:t> </a:t>
            </a:r>
            <a:r>
              <a:rPr lang="ru-RU" err="1"/>
              <a:t>quality_control_simulation</a:t>
            </a:r>
            <a:r>
              <a:rPr lang="ru-RU"/>
              <a:t>(</a:t>
            </a:r>
            <a:r>
              <a:rPr lang="ru-RU" err="1"/>
              <a:t>defect_rate</a:t>
            </a:r>
            <a:r>
              <a:rPr lang="ru-RU"/>
              <a:t>=0.01, </a:t>
            </a:r>
            <a:r>
              <a:rPr lang="ru-RU" err="1"/>
              <a:t>sample_size</a:t>
            </a:r>
            <a:r>
              <a:rPr lang="ru-RU"/>
              <a:t>=100, </a:t>
            </a:r>
            <a:r>
              <a:rPr lang="ru-RU" err="1"/>
              <a:t>n_batches</a:t>
            </a:r>
            <a:r>
              <a:rPr lang="ru-RU"/>
              <a:t>=1000):</a:t>
            </a:r>
          </a:p>
          <a:p>
            <a:pPr marL="0" indent="0" latinLnBrk="1">
              <a:buNone/>
            </a:pPr>
            <a:r>
              <a:rPr lang="ru-RU"/>
              <a:t>    """</a:t>
            </a:r>
            <a:r>
              <a:rPr lang="ru-RU" err="1"/>
              <a:t>Simulate</a:t>
            </a:r>
            <a:r>
              <a:rPr lang="ru-RU"/>
              <a:t> </a:t>
            </a:r>
            <a:r>
              <a:rPr lang="ru-RU" err="1"/>
              <a:t>quality</a:t>
            </a:r>
            <a:r>
              <a:rPr lang="ru-RU"/>
              <a:t> </a:t>
            </a:r>
            <a:r>
              <a:rPr lang="ru-RU" err="1"/>
              <a:t>control</a:t>
            </a:r>
            <a:r>
              <a:rPr lang="ru-RU"/>
              <a:t> </a:t>
            </a:r>
            <a:r>
              <a:rPr lang="ru-RU" err="1"/>
              <a:t>process</a:t>
            </a:r>
            <a:r>
              <a:rPr lang="ru-RU"/>
              <a:t>"""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np.random.seed</a:t>
            </a:r>
            <a:r>
              <a:rPr lang="ru-RU"/>
              <a:t>(42)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</a:t>
            </a:r>
            <a:r>
              <a:rPr lang="ru-RU" i="1" err="1"/>
              <a:t>Simulate</a:t>
            </a:r>
            <a:r>
              <a:rPr lang="ru-RU" i="1"/>
              <a:t> </a:t>
            </a:r>
            <a:r>
              <a:rPr lang="ru-RU" i="1" err="1"/>
              <a:t>batches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defects_per_batch</a:t>
            </a:r>
            <a:r>
              <a:rPr lang="ru-RU"/>
              <a:t> = </a:t>
            </a:r>
            <a:r>
              <a:rPr lang="ru-RU" err="1"/>
              <a:t>np.random.binomial</a:t>
            </a:r>
            <a:r>
              <a:rPr lang="ru-RU"/>
              <a:t>(</a:t>
            </a:r>
            <a:r>
              <a:rPr lang="ru-RU" err="1"/>
              <a:t>sample_size</a:t>
            </a:r>
            <a:r>
              <a:rPr lang="ru-RU"/>
              <a:t>, </a:t>
            </a:r>
            <a:r>
              <a:rPr lang="ru-RU" err="1"/>
              <a:t>defect_rate</a:t>
            </a:r>
            <a:r>
              <a:rPr lang="ru-RU"/>
              <a:t>, </a:t>
            </a:r>
            <a:r>
              <a:rPr lang="ru-RU" err="1"/>
              <a:t>n_batches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control</a:t>
            </a:r>
            <a:r>
              <a:rPr lang="ru-RU" i="1"/>
              <a:t> </a:t>
            </a:r>
            <a:r>
              <a:rPr lang="ru-RU" i="1" err="1"/>
              <a:t>limits</a:t>
            </a:r>
            <a:r>
              <a:rPr lang="ru-RU" i="1"/>
              <a:t> (99.7% </a:t>
            </a:r>
            <a:r>
              <a:rPr lang="ru-RU" i="1" err="1"/>
              <a:t>confidence</a:t>
            </a:r>
            <a:r>
              <a:rPr lang="ru-RU" i="1"/>
              <a:t>)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mean_defects</a:t>
            </a:r>
            <a:r>
              <a:rPr lang="ru-RU"/>
              <a:t> = </a:t>
            </a:r>
            <a:r>
              <a:rPr lang="ru-RU" err="1"/>
              <a:t>sample_size</a:t>
            </a:r>
            <a:r>
              <a:rPr lang="ru-RU"/>
              <a:t> * </a:t>
            </a:r>
            <a:r>
              <a:rPr lang="ru-RU" err="1"/>
              <a:t>defect_rate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std_defects</a:t>
            </a:r>
            <a:r>
              <a:rPr lang="ru-RU"/>
              <a:t> = </a:t>
            </a:r>
            <a:r>
              <a:rPr lang="ru-RU" err="1"/>
              <a:t>np.sqrt</a:t>
            </a:r>
            <a:r>
              <a:rPr lang="ru-RU"/>
              <a:t>(</a:t>
            </a:r>
            <a:r>
              <a:rPr lang="ru-RU" err="1"/>
              <a:t>sample_size</a:t>
            </a:r>
            <a:r>
              <a:rPr lang="ru-RU"/>
              <a:t> * </a:t>
            </a:r>
            <a:r>
              <a:rPr lang="ru-RU" err="1"/>
              <a:t>defect_rate</a:t>
            </a:r>
            <a:r>
              <a:rPr lang="ru-RU"/>
              <a:t> * (1 - </a:t>
            </a:r>
            <a:r>
              <a:rPr lang="ru-RU" err="1"/>
              <a:t>defect_rate</a:t>
            </a:r>
            <a:r>
              <a:rPr lang="ru-RU"/>
              <a:t>))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upper_limit</a:t>
            </a:r>
            <a:r>
              <a:rPr lang="ru-RU"/>
              <a:t> = </a:t>
            </a:r>
            <a:r>
              <a:rPr lang="ru-RU" err="1"/>
              <a:t>mean_defects</a:t>
            </a:r>
            <a:r>
              <a:rPr lang="ru-RU"/>
              <a:t> + 3 * </a:t>
            </a:r>
            <a:r>
              <a:rPr lang="ru-RU" err="1"/>
              <a:t>std_defects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lower_limit</a:t>
            </a:r>
            <a:r>
              <a:rPr lang="ru-RU"/>
              <a:t> = </a:t>
            </a:r>
            <a:r>
              <a:rPr lang="ru-RU" err="1"/>
              <a:t>max</a:t>
            </a:r>
            <a:r>
              <a:rPr lang="ru-RU"/>
              <a:t>(0, </a:t>
            </a:r>
            <a:r>
              <a:rPr lang="ru-RU" err="1"/>
              <a:t>mean_defects</a:t>
            </a:r>
            <a:r>
              <a:rPr lang="ru-RU"/>
              <a:t> - 3 * </a:t>
            </a:r>
            <a:r>
              <a:rPr lang="ru-RU" err="1"/>
              <a:t>std_defects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</a:t>
            </a:r>
            <a:r>
              <a:rPr lang="ru-RU" i="1" err="1"/>
              <a:t>Find</a:t>
            </a:r>
            <a:r>
              <a:rPr lang="ru-RU" i="1"/>
              <a:t> </a:t>
            </a:r>
            <a:r>
              <a:rPr lang="ru-RU" i="1" err="1"/>
              <a:t>out-of-control</a:t>
            </a:r>
            <a:r>
              <a:rPr lang="ru-RU" i="1"/>
              <a:t> </a:t>
            </a:r>
            <a:r>
              <a:rPr lang="ru-RU" i="1" err="1"/>
              <a:t>batches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out_of_control</a:t>
            </a:r>
            <a:r>
              <a:rPr lang="ru-RU"/>
              <a:t> = </a:t>
            </a:r>
            <a:r>
              <a:rPr lang="ru-RU" err="1"/>
              <a:t>np.sum</a:t>
            </a:r>
            <a:r>
              <a:rPr lang="ru-RU"/>
              <a:t>((</a:t>
            </a:r>
            <a:r>
              <a:rPr lang="ru-RU" err="1"/>
              <a:t>defects_per_batch</a:t>
            </a:r>
            <a:r>
              <a:rPr lang="ru-RU"/>
              <a:t> &gt; </a:t>
            </a:r>
            <a:r>
              <a:rPr lang="ru-RU" err="1"/>
              <a:t>upper_limit</a:t>
            </a:r>
            <a:r>
              <a:rPr lang="ru-RU"/>
              <a:t>) | </a:t>
            </a:r>
          </a:p>
          <a:p>
            <a:pPr marL="0" indent="0" latinLnBrk="1">
              <a:buNone/>
            </a:pPr>
            <a:r>
              <a:rPr lang="ru-RU"/>
              <a:t>                            (</a:t>
            </a:r>
            <a:r>
              <a:rPr lang="ru-RU" err="1"/>
              <a:t>defects_per_batch</a:t>
            </a:r>
            <a:r>
              <a:rPr lang="ru-RU"/>
              <a:t> &lt; </a:t>
            </a:r>
            <a:r>
              <a:rPr lang="ru-RU" err="1"/>
              <a:t>lower_limit</a:t>
            </a:r>
            <a:r>
              <a:rPr lang="ru-RU"/>
              <a:t>))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f"Expected</a:t>
            </a:r>
            <a:r>
              <a:rPr lang="ru-RU"/>
              <a:t> </a:t>
            </a:r>
            <a:r>
              <a:rPr lang="ru-RU" err="1"/>
              <a:t>defects</a:t>
            </a:r>
            <a:r>
              <a:rPr lang="ru-RU"/>
              <a:t> </a:t>
            </a:r>
            <a:r>
              <a:rPr lang="ru-RU" err="1"/>
              <a:t>per</a:t>
            </a:r>
            <a:r>
              <a:rPr lang="ru-RU"/>
              <a:t> </a:t>
            </a:r>
            <a:r>
              <a:rPr lang="ru-RU" err="1"/>
              <a:t>batch</a:t>
            </a:r>
            <a:r>
              <a:rPr lang="ru-RU"/>
              <a:t>: {mean_defects:.1f}")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f"Control</a:t>
            </a:r>
            <a:r>
              <a:rPr lang="ru-RU"/>
              <a:t> </a:t>
            </a:r>
            <a:r>
              <a:rPr lang="ru-RU" err="1"/>
              <a:t>limits</a:t>
            </a:r>
            <a:r>
              <a:rPr lang="ru-RU"/>
              <a:t>: [{lower_limit:.1f}, {upper_limit:.1f}]")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f"Out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control</a:t>
            </a:r>
            <a:r>
              <a:rPr lang="ru-RU"/>
              <a:t> </a:t>
            </a:r>
            <a:r>
              <a:rPr lang="ru-RU" err="1"/>
              <a:t>batches</a:t>
            </a:r>
            <a:r>
              <a:rPr lang="ru-RU"/>
              <a:t>: {</a:t>
            </a:r>
            <a:r>
              <a:rPr lang="ru-RU" err="1"/>
              <a:t>out_of_control</a:t>
            </a:r>
            <a:r>
              <a:rPr lang="ru-RU"/>
              <a:t>}/{</a:t>
            </a:r>
            <a:r>
              <a:rPr lang="ru-RU" err="1"/>
              <a:t>n_batches</a:t>
            </a:r>
            <a:r>
              <a:rPr lang="ru-RU"/>
              <a:t>} = {</a:t>
            </a:r>
            <a:r>
              <a:rPr lang="ru-RU" err="1"/>
              <a:t>out_of_control</a:t>
            </a:r>
            <a:r>
              <a:rPr lang="ru-RU"/>
              <a:t>/n_batches:.1%}")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</a:t>
            </a:r>
            <a:r>
              <a:rPr lang="ru-RU" i="1" err="1"/>
              <a:t>Visualize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=(10, 6))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plt.plot</a:t>
            </a:r>
            <a:r>
              <a:rPr lang="ru-RU"/>
              <a:t>(</a:t>
            </a:r>
            <a:r>
              <a:rPr lang="ru-RU" err="1"/>
              <a:t>defects_per_batch</a:t>
            </a:r>
            <a:r>
              <a:rPr lang="ru-RU"/>
              <a:t>, 'b.', </a:t>
            </a:r>
            <a:r>
              <a:rPr lang="ru-RU" err="1"/>
              <a:t>alpha</a:t>
            </a:r>
            <a:r>
              <a:rPr lang="ru-RU"/>
              <a:t>=0.6, </a:t>
            </a:r>
            <a:r>
              <a:rPr lang="ru-RU" err="1"/>
              <a:t>label</a:t>
            </a:r>
            <a:r>
              <a:rPr lang="ru-RU"/>
              <a:t>='</a:t>
            </a:r>
            <a:r>
              <a:rPr lang="ru-RU" err="1"/>
              <a:t>Defects</a:t>
            </a:r>
            <a:r>
              <a:rPr lang="ru-RU"/>
              <a:t> </a:t>
            </a:r>
            <a:r>
              <a:rPr lang="ru-RU" err="1"/>
              <a:t>per</a:t>
            </a:r>
            <a:r>
              <a:rPr lang="ru-RU"/>
              <a:t> </a:t>
            </a:r>
            <a:r>
              <a:rPr lang="ru-RU" err="1"/>
              <a:t>batch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plt.axhline</a:t>
            </a:r>
            <a:r>
              <a:rPr lang="ru-RU"/>
              <a:t>(</a:t>
            </a:r>
            <a:r>
              <a:rPr lang="ru-RU" err="1"/>
              <a:t>mean_defects</a:t>
            </a:r>
            <a:r>
              <a:rPr lang="ru-RU"/>
              <a:t>, </a:t>
            </a:r>
            <a:r>
              <a:rPr lang="ru-RU" err="1"/>
              <a:t>color</a:t>
            </a:r>
            <a:r>
              <a:rPr lang="ru-RU"/>
              <a:t>='</a:t>
            </a:r>
            <a:r>
              <a:rPr lang="ru-RU" err="1"/>
              <a:t>green</a:t>
            </a:r>
            <a:r>
              <a:rPr lang="ru-RU"/>
              <a:t>', </a:t>
            </a:r>
            <a:r>
              <a:rPr lang="ru-RU" err="1"/>
              <a:t>linestyle</a:t>
            </a:r>
            <a:r>
              <a:rPr lang="ru-RU"/>
              <a:t>='-', </a:t>
            </a:r>
            <a:r>
              <a:rPr lang="ru-RU" err="1"/>
              <a:t>label</a:t>
            </a:r>
            <a:r>
              <a:rPr lang="ru-RU"/>
              <a:t>='</a:t>
            </a:r>
            <a:r>
              <a:rPr lang="ru-RU" err="1"/>
              <a:t>Mean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plt.axhline</a:t>
            </a:r>
            <a:r>
              <a:rPr lang="ru-RU"/>
              <a:t>(</a:t>
            </a:r>
            <a:r>
              <a:rPr lang="ru-RU" err="1"/>
              <a:t>upper_limit</a:t>
            </a:r>
            <a:r>
              <a:rPr lang="ru-RU"/>
              <a:t>, </a:t>
            </a:r>
            <a:r>
              <a:rPr lang="ru-RU" err="1"/>
              <a:t>color</a:t>
            </a:r>
            <a:r>
              <a:rPr lang="ru-RU"/>
              <a:t>='</a:t>
            </a:r>
            <a:r>
              <a:rPr lang="ru-RU" err="1"/>
              <a:t>red</a:t>
            </a:r>
            <a:r>
              <a:rPr lang="ru-RU"/>
              <a:t>', </a:t>
            </a:r>
            <a:r>
              <a:rPr lang="ru-RU" err="1"/>
              <a:t>linestyle</a:t>
            </a:r>
            <a:r>
              <a:rPr lang="ru-RU"/>
              <a:t>='--', </a:t>
            </a:r>
            <a:r>
              <a:rPr lang="ru-RU" err="1"/>
              <a:t>label</a:t>
            </a:r>
            <a:r>
              <a:rPr lang="ru-RU"/>
              <a:t>='</a:t>
            </a:r>
            <a:r>
              <a:rPr lang="ru-RU" err="1"/>
              <a:t>Upper</a:t>
            </a:r>
            <a:r>
              <a:rPr lang="ru-RU"/>
              <a:t> Control </a:t>
            </a:r>
            <a:r>
              <a:rPr lang="ru-RU" err="1"/>
              <a:t>Limit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plt.axhline</a:t>
            </a:r>
            <a:r>
              <a:rPr lang="ru-RU"/>
              <a:t>(</a:t>
            </a:r>
            <a:r>
              <a:rPr lang="ru-RU" err="1"/>
              <a:t>lower_limit</a:t>
            </a:r>
            <a:r>
              <a:rPr lang="ru-RU"/>
              <a:t>, </a:t>
            </a:r>
            <a:r>
              <a:rPr lang="ru-RU" err="1"/>
              <a:t>color</a:t>
            </a:r>
            <a:r>
              <a:rPr lang="ru-RU"/>
              <a:t>='</a:t>
            </a:r>
            <a:r>
              <a:rPr lang="ru-RU" err="1"/>
              <a:t>red</a:t>
            </a:r>
            <a:r>
              <a:rPr lang="ru-RU"/>
              <a:t>', </a:t>
            </a:r>
            <a:r>
              <a:rPr lang="ru-RU" err="1"/>
              <a:t>linestyle</a:t>
            </a:r>
            <a:r>
              <a:rPr lang="ru-RU"/>
              <a:t>='--', </a:t>
            </a:r>
            <a:r>
              <a:rPr lang="ru-RU" err="1"/>
              <a:t>label</a:t>
            </a:r>
            <a:r>
              <a:rPr lang="ru-RU"/>
              <a:t>='</a:t>
            </a:r>
            <a:r>
              <a:rPr lang="ru-RU" err="1"/>
              <a:t>Lower</a:t>
            </a:r>
            <a:r>
              <a:rPr lang="ru-RU"/>
              <a:t> Control </a:t>
            </a:r>
            <a:r>
              <a:rPr lang="ru-RU" err="1"/>
              <a:t>Limit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plt.fill_between</a:t>
            </a:r>
            <a:r>
              <a:rPr lang="ru-RU"/>
              <a:t>(</a:t>
            </a:r>
            <a:r>
              <a:rPr lang="ru-RU" err="1"/>
              <a:t>range</a:t>
            </a:r>
            <a:r>
              <a:rPr lang="ru-RU"/>
              <a:t>(</a:t>
            </a:r>
            <a:r>
              <a:rPr lang="ru-RU" err="1"/>
              <a:t>n_batches</a:t>
            </a:r>
            <a:r>
              <a:rPr lang="ru-RU"/>
              <a:t>), </a:t>
            </a:r>
            <a:r>
              <a:rPr lang="ru-RU" err="1"/>
              <a:t>lower_limit</a:t>
            </a:r>
            <a:r>
              <a:rPr lang="ru-RU"/>
              <a:t>, </a:t>
            </a:r>
            <a:r>
              <a:rPr lang="ru-RU" err="1"/>
              <a:t>upper_limit</a:t>
            </a:r>
            <a:r>
              <a:rPr lang="ru-RU"/>
              <a:t>, </a:t>
            </a:r>
            <a:r>
              <a:rPr lang="ru-RU" err="1"/>
              <a:t>alpha</a:t>
            </a:r>
            <a:r>
              <a:rPr lang="ru-RU"/>
              <a:t>=0.1, </a:t>
            </a:r>
            <a:r>
              <a:rPr lang="ru-RU" err="1"/>
              <a:t>color</a:t>
            </a:r>
            <a:r>
              <a:rPr lang="ru-RU"/>
              <a:t>='</a:t>
            </a:r>
            <a:r>
              <a:rPr lang="ru-RU" err="1"/>
              <a:t>gray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Batch</a:t>
            </a:r>
            <a:r>
              <a:rPr lang="ru-RU"/>
              <a:t> Number')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plt.ylabel</a:t>
            </a:r>
            <a:r>
              <a:rPr lang="ru-RU"/>
              <a:t>('Number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Defects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Statistical</a:t>
            </a:r>
            <a:r>
              <a:rPr lang="ru-RU"/>
              <a:t> Process Control </a:t>
            </a:r>
            <a:r>
              <a:rPr lang="ru-RU" err="1"/>
              <a:t>Chart</a:t>
            </a:r>
            <a:r>
              <a:rPr lang="ru-RU"/>
              <a:t>')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plt.legend</a:t>
            </a:r>
            <a:r>
              <a:rPr lang="ru-RU"/>
              <a:t>()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plt.grid</a:t>
            </a:r>
            <a:r>
              <a:rPr lang="ru-RU"/>
              <a:t>(True, </a:t>
            </a:r>
            <a:r>
              <a:rPr lang="ru-RU" err="1"/>
              <a:t>alpha</a:t>
            </a:r>
            <a:r>
              <a:rPr lang="ru-RU"/>
              <a:t>=0.3)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plt.show</a:t>
            </a:r>
            <a:r>
              <a:rPr lang="ru-RU"/>
              <a:t>()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return</a:t>
            </a:r>
            <a:r>
              <a:rPr lang="ru-RU"/>
              <a:t> </a:t>
            </a:r>
            <a:r>
              <a:rPr lang="ru-RU" err="1"/>
              <a:t>defects_per_batch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2451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1879C6-C973-42EF-A97C-DFD566E8A625}">
  <ds:schemaRefs>
    <ds:schemaRef ds:uri="97039dda-64f8-41f1-b3d6-f92ff14c10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519E399-057F-47AF-BA38-8CF8C37CE0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5A14F1-4ABE-48D7-A495-CD024B6CF38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Тема Office</vt:lpstr>
      <vt:lpstr>PROBABILITY FOR DATA ANALYSIS</vt:lpstr>
      <vt:lpstr>INTRODUCTION TO PROBABILITY: Why we need probability</vt:lpstr>
      <vt:lpstr>The Language of Uncertainty</vt:lpstr>
      <vt:lpstr>Two Perspectives on Probability</vt:lpstr>
      <vt:lpstr>Basic Probability Vocabulary</vt:lpstr>
      <vt:lpstr>Visualizing Sample Spaces</vt:lpstr>
      <vt:lpstr>Probability Notation &amp; Rules</vt:lpstr>
      <vt:lpstr>Calculating Simple Probabilities</vt:lpstr>
      <vt:lpstr>Empirical Probability (From Data)</vt:lpstr>
      <vt:lpstr>Python - Calculating Empirical Probability</vt:lpstr>
      <vt:lpstr>Probability in Real Data - Missing Values</vt:lpstr>
      <vt:lpstr>Quick Check - Understanding Probability</vt:lpstr>
      <vt:lpstr>Quick Check - Understanding Probability</vt:lpstr>
      <vt:lpstr>COMBINING PROBABILITIES: Compound Events - AND vs OR</vt:lpstr>
      <vt:lpstr>The Addition Rule (OR Probability)</vt:lpstr>
      <vt:lpstr>The Multiplication Rule (AND Probability)</vt:lpstr>
      <vt:lpstr>Conditional Probability - The Key Concept</vt:lpstr>
      <vt:lpstr>Python - Conditional Probability Calculation</vt:lpstr>
      <vt:lpstr>Bayes' Theorem - Updating Beliefs</vt:lpstr>
      <vt:lpstr>Bayes' Theorem Example - Medical Testing</vt:lpstr>
      <vt:lpstr>Python - Implementing Bayes' Theorem</vt:lpstr>
      <vt:lpstr>Independence vs Dependence</vt:lpstr>
      <vt:lpstr>Testing for Independence in Data</vt:lpstr>
      <vt:lpstr>The Law of Total Probability</vt:lpstr>
      <vt:lpstr>Practice Problems - Combining Probabilities</vt:lpstr>
      <vt:lpstr>RANDOM VARIABLES &amp; DISTRIBUTIONS: Random Variables</vt:lpstr>
      <vt:lpstr>Probability Distributions</vt:lpstr>
      <vt:lpstr>Expected Value - The Long-Run Average</vt:lpstr>
      <vt:lpstr>Variance &amp; Standard Deviation of Random Variables</vt:lpstr>
      <vt:lpstr>Python - Working with Random Variables</vt:lpstr>
      <vt:lpstr>Common Discrete Distributions Overview</vt:lpstr>
      <vt:lpstr>Bernoulli Distribution - The Building Block</vt:lpstr>
      <vt:lpstr>Binomial Distribution - Counting Successes</vt:lpstr>
      <vt:lpstr>Python - Binomial Distribution Examples</vt:lpstr>
      <vt:lpstr>Poisson Distribution - Counting Rare Events</vt:lpstr>
      <vt:lpstr>Poisson vs Binomial - When to Use Which</vt:lpstr>
      <vt:lpstr>Geometric &amp; Negative Binomial - Waiting Time</vt:lpstr>
      <vt:lpstr>CONTINUOUS DISTRIBUTIONS: Continuous Random Variables</vt:lpstr>
      <vt:lpstr>Uniform Distribution - Equal Probability</vt:lpstr>
      <vt:lpstr>Normal Distribution - The Bell Curve</vt:lpstr>
      <vt:lpstr>Python - Normal Distribution Examples</vt:lpstr>
      <vt:lpstr>Exponential Distribution - Time Between Events</vt:lpstr>
      <vt:lpstr>Real-World Example: Server Response Times</vt:lpstr>
      <vt:lpstr>Central Limit Theorem - The Foundation</vt:lpstr>
      <vt:lpstr>Visualizing the Central Limit Theorem</vt:lpstr>
      <vt:lpstr>Other Important Continuous Distributions</vt:lpstr>
      <vt:lpstr>Distribution Selection Guide</vt:lpstr>
      <vt:lpstr>Fitting Distributions to Real Data</vt:lpstr>
      <vt:lpstr>APPLICATIONS IN DATA ANALYSIS: Probability in Machine Learning</vt:lpstr>
      <vt:lpstr>A/B Testing - Probability in Action</vt:lpstr>
      <vt:lpstr>A/B Testing : Python implementation</vt:lpstr>
      <vt:lpstr>Risk Analysis with Probability</vt:lpstr>
      <vt:lpstr>Probability in Quality Control</vt:lpstr>
      <vt:lpstr>Python quality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Нағметова Анар Айдарбекқызы</dc:creator>
  <cp:revision>2</cp:revision>
  <dcterms:created xsi:type="dcterms:W3CDTF">2026-02-10T09:52:43Z</dcterms:created>
  <dcterms:modified xsi:type="dcterms:W3CDTF">2026-03-13T04:13:44Z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