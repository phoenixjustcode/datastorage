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25FF2A1-7F1C-446D-86A8-BA396A5CA51D}">
          <p14:sldIdLst>
            <p14:sldId id="256"/>
            <p14:sldId id="257"/>
          </p14:sldIdLst>
        </p14:section>
        <p14:section name="Introduction to Data Storage" id="{6CD666FF-C2B6-4D18-B76B-745D4FE23F98}">
          <p14:sldIdLst>
            <p14:sldId id="258"/>
            <p14:sldId id="261"/>
          </p14:sldIdLst>
        </p14:section>
        <p14:section name="Types of Databases – Relational vs. Non-Relational" id="{EE1FBDD4-C21B-417D-97B1-2A41CF289E0E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elational Databases &amp; SQL Basics" id="{0BC9F384-DFE0-490F-8296-8B6936D7BC8B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Advanced Queries" id="{C096BD24-03F5-421D-BBB1-DC46CEDEA67E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81F5F-CD30-4603-B538-48D2C9532A99}" v="2" dt="2026-03-26T11:03:32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zhan Dautbekov" userId="f30a3a5d-f37c-467c-a663-caac41242176" providerId="ADAL" clId="{33F099A9-C857-4E65-8F5A-0F5958A46200}"/>
    <pc:docChg chg="custSel modSld">
      <pc:chgData name="Magzhan Dautbekov" userId="f30a3a5d-f37c-467c-a663-caac41242176" providerId="ADAL" clId="{33F099A9-C857-4E65-8F5A-0F5958A46200}" dt="2026-03-26T11:03:32.805" v="1" actId="27636"/>
      <pc:docMkLst>
        <pc:docMk/>
      </pc:docMkLst>
      <pc:sldChg chg="modSp mod">
        <pc:chgData name="Magzhan Dautbekov" userId="f30a3a5d-f37c-467c-a663-caac41242176" providerId="ADAL" clId="{33F099A9-C857-4E65-8F5A-0F5958A46200}" dt="2026-03-26T11:03:32.731" v="0" actId="27636"/>
        <pc:sldMkLst>
          <pc:docMk/>
          <pc:sldMk cId="3235798123" sldId="269"/>
        </pc:sldMkLst>
        <pc:spChg chg="mod">
          <ac:chgData name="Magzhan Dautbekov" userId="f30a3a5d-f37c-467c-a663-caac41242176" providerId="ADAL" clId="{33F099A9-C857-4E65-8F5A-0F5958A46200}" dt="2026-03-26T11:03:32.731" v="0" actId="27636"/>
          <ac:spMkLst>
            <pc:docMk/>
            <pc:sldMk cId="3235798123" sldId="269"/>
            <ac:spMk id="3" creationId="{50E8D1B1-9A88-CC92-02FF-B07EA4804A06}"/>
          </ac:spMkLst>
        </pc:spChg>
      </pc:sldChg>
      <pc:sldChg chg="modSp mod">
        <pc:chgData name="Magzhan Dautbekov" userId="f30a3a5d-f37c-467c-a663-caac41242176" providerId="ADAL" clId="{33F099A9-C857-4E65-8F5A-0F5958A46200}" dt="2026-03-26T11:03:32.805" v="1" actId="27636"/>
        <pc:sldMkLst>
          <pc:docMk/>
          <pc:sldMk cId="2618745209" sldId="289"/>
        </pc:sldMkLst>
        <pc:spChg chg="mod">
          <ac:chgData name="Magzhan Dautbekov" userId="f30a3a5d-f37c-467c-a663-caac41242176" providerId="ADAL" clId="{33F099A9-C857-4E65-8F5A-0F5958A46200}" dt="2026-03-26T11:03:32.805" v="1" actId="27636"/>
          <ac:spMkLst>
            <pc:docMk/>
            <pc:sldMk cId="2618745209" sldId="289"/>
            <ac:spMk id="3" creationId="{D20F23FA-2975-EBB7-592E-F5EE34F8BF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A538A-0114-465D-8D7E-FEEBAB97DB8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4CA46-527D-49CD-ADC6-24A7F893D8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13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Banking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(ACID)</a:t>
            </a:r>
          </a:p>
          <a:p>
            <a:pPr lvl="0"/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leaderboard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game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Key-Value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(Neo4j)</a:t>
            </a:r>
          </a:p>
          <a:p>
            <a:pPr lvl="0"/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varying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millions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</a:t>
            </a:r>
            <a:r>
              <a:rPr lang="ru-RU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-Family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Cassandra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4CA46-527D-49CD-ADC6-24A7F893D81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10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DF718-AFA4-3670-5EAE-CB9A34E76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82CAF3-04BB-0A75-9B37-38FF84006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88D467-E42D-D244-6A56-6AC2D5E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3D4508-CBAB-2D9C-FF8C-D3B60430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82914E-3B98-E478-A6E0-2BE07378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77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40C5B-23BB-584B-DCA3-2496A0D4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9383EC-5664-A940-F267-AFCEDDC10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8988B3-05DD-A09D-1334-E33D4F735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B0C3E-D545-B337-B223-D915AC73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796DBE-FB5B-C438-7596-CDCECD88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13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A1F9A-833D-8B3E-373C-B0CD1E36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1F0489-76B5-2E2A-B9D7-17F152BF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0192A3-1391-D215-3688-2BCE3B21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AEBB69-D1FE-22E5-B17E-9C508A27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3CE534-7D2B-6EAD-7B69-254D4A42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093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7D71A-7D0A-7DDA-289B-27054F7B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406BDD-F205-B2AE-A63A-B78758E8C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FF2B79-E71A-BC4A-3BB3-8FE961ECE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139A07-938C-58A2-99B6-046A34C2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AAE657-8816-04F9-D40F-E56E2F5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C664B0-3C37-A0CD-D16B-CB4E899B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7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D7C4E-67C0-7294-60B7-B12B9246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FA7443-B364-45A6-6974-1DC925EA9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CC7A93-EA2F-6C4D-F9FA-E43673D86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7005BA-7FBF-47FB-248D-7EBF73EFE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3F72B7-A63A-3602-A248-147BEF5A3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A2238F-982B-A1F5-8B29-53CDB336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6DE44B6-5C9B-C20D-97C6-947F11559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6A31C0C-37EF-EB75-C5EC-07B00205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81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4605C-5FA2-E23F-B349-815B636D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26CF74-ECD2-3D50-A8E5-AAF435AE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4629A1-77F0-4368-E6A8-E16E22F5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A175EC-CAEC-D257-2223-44543141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96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C2870A3-CCBF-C41C-E63B-F3D34327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2B28F0-0B00-D0DD-CA8C-46E7FBE4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777C33-1512-D382-4BCF-10BE966F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47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752D2-3E2B-F866-9D67-F891A2D2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9F21E-61C9-49C4-E675-8E93D5EC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0A8776-D138-4A5E-9AA3-653AF2A47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AE3015-6AC8-A192-8711-BEDB6A12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71A188-0599-AC72-FF2A-478CAE4F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1C31A2-9718-749F-FF08-44871C7D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80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7E7D8-204B-0879-8A4D-65BC976A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AF7A61-9BA2-AFD9-10EC-A456FF035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15CA97-DDAE-E5FD-AD04-86CD58223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E1E95B-3F64-F81E-EDAE-DAFC2EDD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11504-342E-6C9E-728C-65A06C0A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8E4C8E-E431-FDCE-B680-A80D2849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37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B2D16-7853-5076-33CF-BC004CD5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369A4C-B9F4-F1D0-DE0A-271839AA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88238E-7703-47EA-4A7A-5E79F7A0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55AC1F-D00D-3FE2-5363-4119492C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A91CA5-9250-256A-4ADC-E7002164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9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AD6FA8-F4ED-EB72-B628-9810712AB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282BA2-1D01-2AE8-4E7E-C8BDAE4F8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162489-F4C2-37EF-EB6F-BB9123B8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8F8C33-1921-2D04-95F7-68618881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E5407-90AD-D562-ECFC-1830C136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65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A60C0-2732-4E35-082B-AA93FAB0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354089-B6DE-6DC7-DABA-056789A4B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211B2-8BC1-3D50-E0CD-5AC15B761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A6AF5-CB6C-407A-883A-E30840DB94E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28D69C-B973-0FA2-86CB-F1FB91666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124EAC-40AF-F458-726E-FE3115BDE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8F439-8A00-4D49-BA47-D5F1F591E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83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_89294CBC.doc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ilto:newemail@example.com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CA068-ED35-8327-04F4-772A1FB8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/>
              <a:t>Data Storage </a:t>
            </a:r>
            <a:r>
              <a:rPr lang="ru-RU" b="1" err="1"/>
              <a:t>and</a:t>
            </a:r>
            <a:r>
              <a:rPr lang="ru-RU" b="1"/>
              <a:t> SQL </a:t>
            </a:r>
            <a:r>
              <a:rPr lang="ru-RU" b="1" err="1"/>
              <a:t>Fundamentals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F0F3F4-B93C-3225-9AD8-B9A158F002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9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51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5864D-F678-75ED-0E16-B489F85E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7B74-C3A9-8B01-E06A-8523CF91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/>
              <a:t>Data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</a:t>
            </a:r>
            <a:r>
              <a:rPr lang="ru-RU" b="1" err="1"/>
              <a:t>new</a:t>
            </a:r>
            <a:r>
              <a:rPr lang="ru-RU" b="1"/>
              <a:t> </a:t>
            </a:r>
            <a:r>
              <a:rPr lang="ru-RU" b="1" err="1"/>
              <a:t>oil</a:t>
            </a:r>
            <a:r>
              <a:rPr lang="ru-RU"/>
              <a:t> </a:t>
            </a:r>
            <a:r>
              <a:rPr lang="en-US"/>
              <a:t>-</a:t>
            </a:r>
            <a:r>
              <a:rPr lang="ru-RU"/>
              <a:t> </a:t>
            </a:r>
            <a:r>
              <a:rPr lang="ru-RU" err="1"/>
              <a:t>it's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valuable</a:t>
            </a:r>
            <a:r>
              <a:rPr lang="ru-RU"/>
              <a:t> </a:t>
            </a:r>
            <a:r>
              <a:rPr lang="ru-RU" err="1"/>
              <a:t>assets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any</a:t>
            </a:r>
            <a:r>
              <a:rPr lang="ru-RU"/>
              <a:t> </a:t>
            </a:r>
            <a:r>
              <a:rPr lang="ru-RU" err="1"/>
              <a:t>organization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Understanding</a:t>
            </a:r>
            <a:r>
              <a:rPr lang="ru-RU"/>
              <a:t>:</a:t>
            </a:r>
          </a:p>
          <a:p>
            <a:r>
              <a:rPr lang="ru-RU" b="1" err="1"/>
              <a:t>How</a:t>
            </a:r>
            <a:r>
              <a:rPr lang="ru-RU" b="1"/>
              <a:t> </a:t>
            </a:r>
            <a:r>
              <a:rPr lang="ru-RU" b="1" err="1"/>
              <a:t>data</a:t>
            </a:r>
            <a:r>
              <a:rPr lang="ru-RU" b="1"/>
              <a:t>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stored</a:t>
            </a:r>
            <a:r>
              <a:rPr lang="ru-RU"/>
              <a:t> → </a:t>
            </a:r>
            <a:r>
              <a:rPr lang="ru-RU" err="1"/>
              <a:t>foundation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applications</a:t>
            </a:r>
            <a:endParaRPr lang="ru-RU"/>
          </a:p>
          <a:p>
            <a:r>
              <a:rPr lang="ru-RU" b="1" err="1"/>
              <a:t>Different</a:t>
            </a:r>
            <a:r>
              <a:rPr lang="ru-RU" b="1"/>
              <a:t> </a:t>
            </a:r>
            <a:r>
              <a:rPr lang="ru-RU" b="1" err="1"/>
              <a:t>database</a:t>
            </a:r>
            <a:r>
              <a:rPr lang="ru-RU" b="1"/>
              <a:t> </a:t>
            </a:r>
            <a:r>
              <a:rPr lang="ru-RU" b="1" err="1"/>
              <a:t>types</a:t>
            </a:r>
            <a:r>
              <a:rPr lang="ru-RU"/>
              <a:t> → </a:t>
            </a:r>
            <a:r>
              <a:rPr lang="ru-RU" err="1"/>
              <a:t>choosing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right</a:t>
            </a:r>
            <a:r>
              <a:rPr lang="ru-RU"/>
              <a:t> </a:t>
            </a:r>
            <a:r>
              <a:rPr lang="ru-RU" err="1"/>
              <a:t>tool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job</a:t>
            </a:r>
            <a:endParaRPr lang="ru-RU"/>
          </a:p>
          <a:p>
            <a:r>
              <a:rPr lang="ru-RU" b="1"/>
              <a:t>SQL</a:t>
            </a:r>
            <a:r>
              <a:rPr lang="ru-RU"/>
              <a:t> → </a:t>
            </a:r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in-demand</a:t>
            </a:r>
            <a:r>
              <a:rPr lang="ru-RU"/>
              <a:t> </a:t>
            </a:r>
            <a:r>
              <a:rPr lang="ru-RU" err="1"/>
              <a:t>skill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data-related</a:t>
            </a:r>
            <a:r>
              <a:rPr lang="ru-RU"/>
              <a:t> </a:t>
            </a:r>
            <a:r>
              <a:rPr lang="ru-RU" err="1"/>
              <a:t>careers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25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8FDD1-A185-AB04-747A-7D6008BC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748"/>
          </a:xfrm>
        </p:spPr>
        <p:txBody>
          <a:bodyPr/>
          <a:lstStyle/>
          <a:p>
            <a:r>
              <a:rPr lang="ru-RU"/>
              <a:t>What </a:t>
            </a:r>
            <a:r>
              <a:rPr lang="ru-RU" err="1"/>
              <a:t>is</a:t>
            </a:r>
            <a:r>
              <a:rPr lang="ru-RU"/>
              <a:t> Data Storage?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C9C6C8-BDBD-8C92-392B-5D21425B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b="1"/>
              <a:t>Data </a:t>
            </a:r>
            <a:r>
              <a:rPr lang="ru-RU" b="1" err="1"/>
              <a:t>storage</a:t>
            </a:r>
            <a:r>
              <a:rPr lang="ru-RU"/>
              <a:t> </a:t>
            </a:r>
            <a:r>
              <a:rPr lang="ru-RU" err="1"/>
              <a:t>refers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recording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information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a </a:t>
            </a:r>
            <a:r>
              <a:rPr lang="ru-RU" err="1"/>
              <a:t>storage</a:t>
            </a:r>
            <a:r>
              <a:rPr lang="ru-RU"/>
              <a:t> </a:t>
            </a:r>
            <a:r>
              <a:rPr lang="ru-RU" err="1"/>
              <a:t>medium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main</a:t>
            </a:r>
            <a:r>
              <a:rPr lang="ru-RU"/>
              <a:t> </a:t>
            </a:r>
            <a:r>
              <a:rPr lang="ru-RU" err="1"/>
              <a:t>categories</a:t>
            </a:r>
            <a:r>
              <a:rPr lang="ru-RU"/>
              <a:t>:</a:t>
            </a:r>
          </a:p>
          <a:p>
            <a:pPr lvl="1"/>
            <a:r>
              <a:rPr lang="ru-RU" b="1" err="1"/>
              <a:t>Primary</a:t>
            </a:r>
            <a:r>
              <a:rPr lang="ru-RU" b="1"/>
              <a:t> </a:t>
            </a:r>
            <a:r>
              <a:rPr lang="ru-RU" b="1" err="1"/>
              <a:t>storage</a:t>
            </a:r>
            <a:r>
              <a:rPr lang="ru-RU"/>
              <a:t> (RAM): </a:t>
            </a:r>
            <a:r>
              <a:rPr lang="ru-RU" err="1"/>
              <a:t>volatile</a:t>
            </a:r>
            <a:r>
              <a:rPr lang="ru-RU"/>
              <a:t>, </a:t>
            </a:r>
            <a:r>
              <a:rPr lang="ru-RU" err="1"/>
              <a:t>fast</a:t>
            </a:r>
            <a:r>
              <a:rPr lang="ru-RU"/>
              <a:t>, </a:t>
            </a:r>
            <a:r>
              <a:rPr lang="ru-RU" err="1"/>
              <a:t>temporary</a:t>
            </a:r>
            <a:endParaRPr lang="ru-RU"/>
          </a:p>
          <a:p>
            <a:pPr lvl="1"/>
            <a:r>
              <a:rPr lang="ru-RU" b="1" err="1"/>
              <a:t>Secondary</a:t>
            </a:r>
            <a:r>
              <a:rPr lang="ru-RU" b="1"/>
              <a:t> </a:t>
            </a:r>
            <a:r>
              <a:rPr lang="ru-RU" b="1" err="1"/>
              <a:t>storage</a:t>
            </a:r>
            <a:r>
              <a:rPr lang="ru-RU"/>
              <a:t> (HDD, SSD): </a:t>
            </a:r>
            <a:r>
              <a:rPr lang="ru-RU" err="1"/>
              <a:t>non-volatile</a:t>
            </a:r>
            <a:r>
              <a:rPr lang="ru-RU"/>
              <a:t>, </a:t>
            </a:r>
            <a:r>
              <a:rPr lang="ru-RU" err="1"/>
              <a:t>slower</a:t>
            </a:r>
            <a:r>
              <a:rPr lang="ru-RU"/>
              <a:t>, </a:t>
            </a:r>
            <a:r>
              <a:rPr lang="ru-RU" err="1"/>
              <a:t>persistent</a:t>
            </a:r>
            <a:endParaRPr lang="ru-RU"/>
          </a:p>
          <a:p>
            <a:pPr marL="0" lvl="0" indent="0">
              <a:buNone/>
            </a:pPr>
            <a:r>
              <a:rPr lang="ru-RU"/>
              <a:t>Storage </a:t>
            </a:r>
            <a:r>
              <a:rPr lang="ru-RU" err="1"/>
              <a:t>hierarchy</a:t>
            </a:r>
            <a:r>
              <a:rPr lang="ru-RU"/>
              <a:t>: </a:t>
            </a:r>
            <a:r>
              <a:rPr lang="ru-RU" err="1"/>
              <a:t>registers</a:t>
            </a:r>
            <a:r>
              <a:rPr lang="ru-RU"/>
              <a:t>, </a:t>
            </a:r>
            <a:r>
              <a:rPr lang="ru-RU" err="1"/>
              <a:t>cache</a:t>
            </a:r>
            <a:r>
              <a:rPr lang="ru-RU"/>
              <a:t>, RAM, </a:t>
            </a:r>
            <a:r>
              <a:rPr lang="ru-RU" err="1"/>
              <a:t>disk</a:t>
            </a:r>
            <a:r>
              <a:rPr lang="ru-RU"/>
              <a:t>, </a:t>
            </a:r>
            <a:r>
              <a:rPr lang="ru-RU" err="1"/>
              <a:t>tape</a:t>
            </a:r>
            <a:r>
              <a:rPr lang="ru-RU"/>
              <a:t> (</a:t>
            </a:r>
            <a:r>
              <a:rPr lang="ru-RU" err="1"/>
              <a:t>speed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. </a:t>
            </a:r>
            <a:r>
              <a:rPr lang="ru-RU" err="1"/>
              <a:t>cost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27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375A2-0E53-F551-7CE3-9E870F7E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4788"/>
          </a:xfrm>
        </p:spPr>
        <p:txBody>
          <a:bodyPr/>
          <a:lstStyle/>
          <a:p>
            <a:r>
              <a:rPr lang="ru-RU" err="1"/>
              <a:t>Introduction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Databases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334196-B466-98BB-FCAF-06AD7D813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517"/>
            <a:ext cx="10515600" cy="4565446"/>
          </a:xfrm>
        </p:spPr>
        <p:txBody>
          <a:bodyPr/>
          <a:lstStyle/>
          <a:p>
            <a:pPr marL="0" lvl="0" indent="0">
              <a:buNone/>
            </a:pPr>
            <a:r>
              <a:rPr lang="ru-RU"/>
              <a:t>A </a:t>
            </a:r>
            <a:r>
              <a:rPr lang="ru-RU" b="1" err="1"/>
              <a:t>database</a:t>
            </a:r>
            <a:r>
              <a:rPr lang="ru-RU"/>
              <a:t> 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organized</a:t>
            </a:r>
            <a:r>
              <a:rPr lang="ru-RU"/>
              <a:t> </a:t>
            </a:r>
            <a:r>
              <a:rPr lang="ru-RU" err="1"/>
              <a:t>collection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, </a:t>
            </a:r>
            <a:r>
              <a:rPr lang="ru-RU" err="1"/>
              <a:t>typically</a:t>
            </a:r>
            <a:r>
              <a:rPr lang="ru-RU"/>
              <a:t> </a:t>
            </a:r>
            <a:r>
              <a:rPr lang="ru-RU" err="1"/>
              <a:t>stored</a:t>
            </a:r>
            <a:r>
              <a:rPr lang="ru-RU"/>
              <a:t> </a:t>
            </a:r>
            <a:r>
              <a:rPr lang="ru-RU" err="1"/>
              <a:t>electronically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Database Management System (DBMS)</a:t>
            </a:r>
            <a:r>
              <a:rPr lang="ru-RU"/>
              <a:t> : </a:t>
            </a:r>
            <a:r>
              <a:rPr lang="ru-RU" err="1"/>
              <a:t>software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manages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databases</a:t>
            </a:r>
            <a:r>
              <a:rPr lang="ru-RU" b="1"/>
              <a:t> </a:t>
            </a:r>
            <a:r>
              <a:rPr lang="ru-RU" b="1" err="1"/>
              <a:t>are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b="1" err="1"/>
              <a:t>Reduced</a:t>
            </a:r>
            <a:r>
              <a:rPr lang="ru-RU" b="1"/>
              <a:t> </a:t>
            </a:r>
            <a:r>
              <a:rPr lang="ru-RU" b="1" err="1"/>
              <a:t>data</a:t>
            </a:r>
            <a:r>
              <a:rPr lang="ru-RU" b="1"/>
              <a:t> </a:t>
            </a:r>
            <a:r>
              <a:rPr lang="ru-RU" b="1" err="1"/>
              <a:t>redundancy</a:t>
            </a:r>
            <a:r>
              <a:rPr lang="ru-RU"/>
              <a:t> → </a:t>
            </a:r>
            <a:r>
              <a:rPr lang="ru-RU" err="1"/>
              <a:t>save</a:t>
            </a:r>
            <a:r>
              <a:rPr lang="ru-RU"/>
              <a:t> </a:t>
            </a:r>
            <a:r>
              <a:rPr lang="ru-RU" err="1"/>
              <a:t>storage</a:t>
            </a:r>
            <a:r>
              <a:rPr lang="ru-RU"/>
              <a:t>, </a:t>
            </a:r>
            <a:r>
              <a:rPr lang="ru-RU" err="1"/>
              <a:t>easier</a:t>
            </a:r>
            <a:r>
              <a:rPr lang="ru-RU"/>
              <a:t> </a:t>
            </a:r>
            <a:r>
              <a:rPr lang="ru-RU" err="1"/>
              <a:t>maintenance</a:t>
            </a:r>
            <a:endParaRPr lang="ru-RU"/>
          </a:p>
          <a:p>
            <a:pPr lvl="1"/>
            <a:r>
              <a:rPr lang="ru-RU" b="1"/>
              <a:t>Data </a:t>
            </a:r>
            <a:r>
              <a:rPr lang="ru-RU" b="1" err="1"/>
              <a:t>consistency</a:t>
            </a:r>
            <a:r>
              <a:rPr lang="ru-RU" b="1"/>
              <a:t> </a:t>
            </a:r>
            <a:r>
              <a:rPr lang="ru-RU" b="1" err="1"/>
              <a:t>and</a:t>
            </a:r>
            <a:r>
              <a:rPr lang="ru-RU" b="1"/>
              <a:t> </a:t>
            </a:r>
            <a:r>
              <a:rPr lang="ru-RU" b="1" err="1"/>
              <a:t>integrity</a:t>
            </a:r>
            <a:r>
              <a:rPr lang="ru-RU"/>
              <a:t> → </a:t>
            </a:r>
            <a:r>
              <a:rPr lang="ru-RU" err="1"/>
              <a:t>reliable</a:t>
            </a:r>
            <a:r>
              <a:rPr lang="ru-RU"/>
              <a:t> </a:t>
            </a:r>
            <a:r>
              <a:rPr lang="ru-RU" err="1"/>
              <a:t>information</a:t>
            </a:r>
            <a:endParaRPr lang="ru-RU"/>
          </a:p>
          <a:p>
            <a:pPr lvl="1"/>
            <a:r>
              <a:rPr lang="ru-RU" b="1"/>
              <a:t>Data </a:t>
            </a:r>
            <a:r>
              <a:rPr lang="ru-RU" b="1" err="1"/>
              <a:t>sharing</a:t>
            </a:r>
            <a:r>
              <a:rPr lang="ru-RU" b="1"/>
              <a:t> </a:t>
            </a:r>
            <a:r>
              <a:rPr lang="ru-RU" b="1" err="1"/>
              <a:t>and</a:t>
            </a:r>
            <a:r>
              <a:rPr lang="ru-RU" b="1"/>
              <a:t> </a:t>
            </a:r>
            <a:r>
              <a:rPr lang="ru-RU" b="1" err="1"/>
              <a:t>security</a:t>
            </a:r>
            <a:r>
              <a:rPr lang="ru-RU"/>
              <a:t> →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who</a:t>
            </a:r>
            <a:r>
              <a:rPr lang="ru-RU"/>
              <a:t> </a:t>
            </a:r>
            <a:r>
              <a:rPr lang="ru-RU" err="1"/>
              <a:t>sees</a:t>
            </a:r>
            <a:r>
              <a:rPr lang="ru-RU"/>
              <a:t> </a:t>
            </a:r>
            <a:r>
              <a:rPr lang="ru-RU" err="1"/>
              <a:t>what</a:t>
            </a:r>
            <a:endParaRPr lang="ru-RU"/>
          </a:p>
          <a:p>
            <a:pPr lvl="1"/>
            <a:r>
              <a:rPr lang="ru-RU" b="1" err="1"/>
              <a:t>Efficient</a:t>
            </a:r>
            <a:r>
              <a:rPr lang="ru-RU" b="1"/>
              <a:t> </a:t>
            </a:r>
            <a:r>
              <a:rPr lang="ru-RU" b="1" err="1"/>
              <a:t>query</a:t>
            </a:r>
            <a:r>
              <a:rPr lang="ru-RU" b="1"/>
              <a:t> </a:t>
            </a:r>
            <a:r>
              <a:rPr lang="ru-RU" b="1" err="1"/>
              <a:t>processing</a:t>
            </a:r>
            <a:r>
              <a:rPr lang="ru-RU"/>
              <a:t> → </a:t>
            </a:r>
            <a:r>
              <a:rPr lang="ru-RU" err="1"/>
              <a:t>get</a:t>
            </a:r>
            <a:r>
              <a:rPr lang="ru-RU"/>
              <a:t> </a:t>
            </a:r>
            <a:r>
              <a:rPr lang="ru-RU" err="1"/>
              <a:t>answers</a:t>
            </a:r>
            <a:r>
              <a:rPr lang="ru-RU"/>
              <a:t> </a:t>
            </a:r>
            <a:r>
              <a:rPr lang="ru-RU" err="1"/>
              <a:t>quickly</a:t>
            </a:r>
            <a:endParaRPr lang="ru-RU"/>
          </a:p>
          <a:p>
            <a:pPr lvl="1"/>
            <a:r>
              <a:rPr lang="ru-RU" b="1" err="1"/>
              <a:t>Concurrent</a:t>
            </a:r>
            <a:r>
              <a:rPr lang="ru-RU" b="1"/>
              <a:t> </a:t>
            </a:r>
            <a:r>
              <a:rPr lang="ru-RU" b="1" err="1"/>
              <a:t>access</a:t>
            </a:r>
            <a:r>
              <a:rPr lang="ru-RU" b="1"/>
              <a:t> </a:t>
            </a:r>
            <a:r>
              <a:rPr lang="ru-RU" b="1" err="1"/>
              <a:t>and</a:t>
            </a:r>
            <a:r>
              <a:rPr lang="ru-RU" b="1"/>
              <a:t> </a:t>
            </a:r>
            <a:r>
              <a:rPr lang="ru-RU" b="1" err="1"/>
              <a:t>recovery</a:t>
            </a:r>
            <a:r>
              <a:rPr lang="ru-RU"/>
              <a:t> →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users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once</a:t>
            </a:r>
            <a:r>
              <a:rPr lang="ru-RU"/>
              <a:t>,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loss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32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D2DF5-5B83-DC2E-32F6-1464C250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Why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Database </a:t>
            </a:r>
            <a:r>
              <a:rPr lang="ru-RU" err="1"/>
              <a:t>Types</a:t>
            </a:r>
            <a:r>
              <a:rPr lang="ru-RU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77F63A-8C6A-C2AE-4FE5-41EB7167D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it</a:t>
            </a:r>
            <a:r>
              <a:rPr lang="ru-RU" b="1"/>
              <a:t> </a:t>
            </a:r>
            <a:r>
              <a:rPr lang="ru-RU" b="1" err="1"/>
              <a:t>matters</a:t>
            </a:r>
            <a:r>
              <a:rPr lang="ru-RU" b="1"/>
              <a:t>:</a:t>
            </a:r>
            <a:endParaRPr lang="ru-RU"/>
          </a:p>
          <a:p>
            <a:pPr marL="0" lvl="0" indent="0">
              <a:buNone/>
            </a:pP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applications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needs</a:t>
            </a:r>
            <a:r>
              <a:rPr lang="ru-RU"/>
              <a:t>:</a:t>
            </a:r>
          </a:p>
          <a:p>
            <a:pPr marL="457200" lvl="1" indent="0">
              <a:buNone/>
            </a:pPr>
            <a:r>
              <a:rPr lang="ru-RU"/>
              <a:t>Banking </a:t>
            </a:r>
            <a:r>
              <a:rPr lang="ru-RU" err="1"/>
              <a:t>needs</a:t>
            </a:r>
            <a:r>
              <a:rPr lang="ru-RU"/>
              <a:t> </a:t>
            </a:r>
            <a:r>
              <a:rPr lang="ru-RU" err="1"/>
              <a:t>perfect</a:t>
            </a:r>
            <a:r>
              <a:rPr lang="ru-RU"/>
              <a:t> </a:t>
            </a:r>
            <a:r>
              <a:rPr lang="ru-RU" err="1"/>
              <a:t>accuracy</a:t>
            </a:r>
            <a:r>
              <a:rPr lang="ru-RU"/>
              <a:t> (ACID)</a:t>
            </a:r>
          </a:p>
          <a:p>
            <a:pPr marL="457200" lvl="1" indent="0">
              <a:buNone/>
            </a:pPr>
            <a:r>
              <a:rPr lang="ru-RU"/>
              <a:t>Facebook </a:t>
            </a:r>
            <a:r>
              <a:rPr lang="ru-RU" err="1"/>
              <a:t>needs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handle</a:t>
            </a:r>
            <a:r>
              <a:rPr lang="ru-RU"/>
              <a:t> </a:t>
            </a:r>
            <a:r>
              <a:rPr lang="ru-RU" err="1"/>
              <a:t>billions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users</a:t>
            </a:r>
            <a:r>
              <a:rPr lang="ru-RU"/>
              <a:t> (</a:t>
            </a:r>
            <a:r>
              <a:rPr lang="ru-RU" err="1"/>
              <a:t>scalability</a:t>
            </a:r>
            <a:r>
              <a:rPr lang="ru-RU"/>
              <a:t>)</a:t>
            </a:r>
          </a:p>
          <a:p>
            <a:pPr marL="457200" lvl="1" indent="0">
              <a:buNone/>
            </a:pPr>
            <a:r>
              <a:rPr lang="ru-RU"/>
              <a:t>Amazon </a:t>
            </a:r>
            <a:r>
              <a:rPr lang="ru-RU" err="1"/>
              <a:t>needs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recommend</a:t>
            </a:r>
            <a:r>
              <a:rPr lang="ru-RU"/>
              <a:t> </a:t>
            </a:r>
            <a:r>
              <a:rPr lang="ru-RU" err="1"/>
              <a:t>products</a:t>
            </a:r>
            <a:r>
              <a:rPr lang="ru-RU"/>
              <a:t> (</a:t>
            </a:r>
            <a:r>
              <a:rPr lang="ru-RU" err="1"/>
              <a:t>relationships</a:t>
            </a:r>
            <a:r>
              <a:rPr lang="ru-RU"/>
              <a:t>)</a:t>
            </a:r>
          </a:p>
          <a:p>
            <a:pPr marL="0" lvl="0" indent="0">
              <a:buNone/>
            </a:pPr>
            <a:r>
              <a:rPr lang="ru-RU" b="1" err="1"/>
              <a:t>Choosing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</a:t>
            </a:r>
            <a:r>
              <a:rPr lang="ru-RU" b="1" err="1"/>
              <a:t>wrong</a:t>
            </a:r>
            <a:r>
              <a:rPr lang="ru-RU" b="1"/>
              <a:t> </a:t>
            </a:r>
            <a:r>
              <a:rPr lang="ru-RU" b="1" err="1"/>
              <a:t>database</a:t>
            </a:r>
            <a:r>
              <a:rPr lang="ru-RU" b="1"/>
              <a:t> </a:t>
            </a:r>
            <a:r>
              <a:rPr lang="ru-RU" b="1" err="1"/>
              <a:t>can</a:t>
            </a:r>
            <a:r>
              <a:rPr lang="ru-RU" b="1"/>
              <a:t> </a:t>
            </a:r>
            <a:r>
              <a:rPr lang="ru-RU" b="1" err="1"/>
              <a:t>break</a:t>
            </a:r>
            <a:r>
              <a:rPr lang="ru-RU" b="1"/>
              <a:t> </a:t>
            </a:r>
            <a:r>
              <a:rPr lang="ru-RU" b="1" err="1"/>
              <a:t>your</a:t>
            </a:r>
            <a:r>
              <a:rPr lang="ru-RU" b="1"/>
              <a:t> </a:t>
            </a:r>
            <a:r>
              <a:rPr lang="ru-RU" b="1" err="1"/>
              <a:t>application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42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C6230-C018-EEF4-3DE0-792591A6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360"/>
          </a:xfrm>
        </p:spPr>
        <p:txBody>
          <a:bodyPr/>
          <a:lstStyle/>
          <a:p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Main</a:t>
            </a:r>
            <a:r>
              <a:rPr lang="ru-RU"/>
              <a:t> </a:t>
            </a:r>
            <a:r>
              <a:rPr lang="ru-RU" err="1"/>
              <a:t>Categories</a:t>
            </a:r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DB1DF33-27F0-F1E1-6331-361FB55D4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574585"/>
              </p:ext>
            </p:extLst>
          </p:nvPr>
        </p:nvGraphicFramePr>
        <p:xfrm>
          <a:off x="1045770" y="1695408"/>
          <a:ext cx="9862811" cy="380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52333" imgH="2369833" progId="Word.Document.12">
                  <p:embed/>
                </p:oleObj>
              </mc:Choice>
              <mc:Fallback>
                <p:oleObj name="Document" r:id="rId2" imgW="6152333" imgH="2369833" progId="Word.Document.12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8DB1DF33-27F0-F1E1-6331-361FB55D47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5770" y="1695408"/>
                        <a:ext cx="9862811" cy="3800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10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70CAF-99E0-7EC1-8C5A-9413E63A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627"/>
          </a:xfrm>
        </p:spPr>
        <p:txBody>
          <a:bodyPr/>
          <a:lstStyle/>
          <a:p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 (RDBMS)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10CD50-0489-785D-A4C2-7514E9728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089"/>
            <a:ext cx="10515600" cy="463787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/>
              <a:t>Data </a:t>
            </a:r>
            <a:r>
              <a:rPr lang="ru-RU" err="1"/>
              <a:t>organized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 </a:t>
            </a:r>
            <a:r>
              <a:rPr lang="ru-RU" b="1" err="1"/>
              <a:t>tables</a:t>
            </a:r>
            <a:r>
              <a:rPr lang="ru-RU"/>
              <a:t> </a:t>
            </a:r>
            <a:r>
              <a:rPr lang="ru-RU" err="1"/>
              <a:t>with</a:t>
            </a:r>
            <a:r>
              <a:rPr lang="ru-RU"/>
              <a:t> </a:t>
            </a:r>
            <a:r>
              <a:rPr lang="ru-RU" b="1" err="1"/>
              <a:t>relationships</a:t>
            </a:r>
            <a:r>
              <a:rPr lang="ru-RU"/>
              <a:t> 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them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/>
              <a:t>Based </a:t>
            </a:r>
            <a:r>
              <a:rPr lang="ru-RU" err="1"/>
              <a:t>on</a:t>
            </a:r>
            <a:r>
              <a:rPr lang="ru-RU"/>
              <a:t> </a:t>
            </a:r>
            <a:r>
              <a:rPr lang="ru-RU" b="1" err="1"/>
              <a:t>mathematical</a:t>
            </a:r>
            <a:r>
              <a:rPr lang="ru-RU" b="1"/>
              <a:t> </a:t>
            </a:r>
            <a:r>
              <a:rPr lang="ru-RU" b="1" err="1"/>
              <a:t>relation</a:t>
            </a:r>
            <a:r>
              <a:rPr lang="ru-RU" b="1"/>
              <a:t> </a:t>
            </a:r>
            <a:r>
              <a:rPr lang="ru-RU" b="1" err="1"/>
              <a:t>theory</a:t>
            </a:r>
            <a:r>
              <a:rPr lang="ru-RU"/>
              <a:t> (E.F. </a:t>
            </a:r>
            <a:r>
              <a:rPr lang="ru-RU" err="1"/>
              <a:t>Codd</a:t>
            </a:r>
            <a:r>
              <a:rPr lang="ru-RU"/>
              <a:t>).</a:t>
            </a:r>
          </a:p>
          <a:p>
            <a:pPr marL="0" lvl="0" indent="0">
              <a:buNone/>
            </a:pPr>
            <a:r>
              <a:rPr lang="ru-RU" b="1" err="1"/>
              <a:t>Schema-on-write</a:t>
            </a:r>
            <a:r>
              <a:rPr lang="ru-RU"/>
              <a:t>: </a:t>
            </a:r>
            <a:r>
              <a:rPr lang="ru-RU" err="1"/>
              <a:t>structure</a:t>
            </a:r>
            <a:r>
              <a:rPr lang="ru-RU"/>
              <a:t> </a:t>
            </a:r>
            <a:r>
              <a:rPr lang="ru-RU" err="1"/>
              <a:t>defined</a:t>
            </a:r>
            <a:r>
              <a:rPr lang="ru-RU"/>
              <a:t> </a:t>
            </a:r>
            <a:r>
              <a:rPr lang="ru-RU" err="1"/>
              <a:t>before</a:t>
            </a:r>
            <a:r>
              <a:rPr lang="ru-RU"/>
              <a:t> </a:t>
            </a:r>
            <a:r>
              <a:rPr lang="ru-RU" err="1"/>
              <a:t>inserting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ACID</a:t>
            </a:r>
            <a:r>
              <a:rPr lang="ru-RU"/>
              <a:t> </a:t>
            </a:r>
            <a:r>
              <a:rPr lang="ru-RU" err="1"/>
              <a:t>properties</a:t>
            </a:r>
            <a:r>
              <a:rPr lang="ru-RU"/>
              <a:t>:</a:t>
            </a:r>
          </a:p>
          <a:p>
            <a:pPr lvl="1"/>
            <a:r>
              <a:rPr lang="ru-RU" b="1" err="1"/>
              <a:t>Atomicity</a:t>
            </a:r>
            <a:r>
              <a:rPr lang="ru-RU"/>
              <a:t>: </a:t>
            </a:r>
            <a:r>
              <a:rPr lang="ru-RU" err="1"/>
              <a:t>transactions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all-or-nothing</a:t>
            </a:r>
            <a:endParaRPr lang="ru-RU"/>
          </a:p>
          <a:p>
            <a:pPr lvl="1"/>
            <a:r>
              <a:rPr lang="ru-RU" b="1" err="1"/>
              <a:t>Consistency</a:t>
            </a:r>
            <a:r>
              <a:rPr lang="ru-RU"/>
              <a:t>: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follows</a:t>
            </a:r>
            <a:r>
              <a:rPr lang="ru-RU"/>
              <a:t> </a:t>
            </a:r>
            <a:r>
              <a:rPr lang="ru-RU" err="1"/>
              <a:t>rules</a:t>
            </a:r>
            <a:endParaRPr lang="ru-RU"/>
          </a:p>
          <a:p>
            <a:pPr lvl="1"/>
            <a:r>
              <a:rPr lang="ru-RU" b="1" err="1"/>
              <a:t>Isolation</a:t>
            </a:r>
            <a:r>
              <a:rPr lang="ru-RU"/>
              <a:t>: </a:t>
            </a:r>
            <a:r>
              <a:rPr lang="ru-RU" err="1"/>
              <a:t>concurrent</a:t>
            </a:r>
            <a:r>
              <a:rPr lang="ru-RU"/>
              <a:t> </a:t>
            </a:r>
            <a:r>
              <a:rPr lang="ru-RU" err="1"/>
              <a:t>transactions</a:t>
            </a:r>
            <a:r>
              <a:rPr lang="ru-RU"/>
              <a:t> </a:t>
            </a:r>
            <a:r>
              <a:rPr lang="ru-RU" err="1"/>
              <a:t>don't</a:t>
            </a:r>
            <a:r>
              <a:rPr lang="ru-RU"/>
              <a:t> </a:t>
            </a:r>
            <a:r>
              <a:rPr lang="ru-RU" err="1"/>
              <a:t>interfere</a:t>
            </a:r>
            <a:endParaRPr lang="ru-RU"/>
          </a:p>
          <a:p>
            <a:pPr lvl="1"/>
            <a:r>
              <a:rPr lang="ru-RU" b="1" err="1"/>
              <a:t>Durability</a:t>
            </a:r>
            <a:r>
              <a:rPr lang="ru-RU"/>
              <a:t>: </a:t>
            </a:r>
            <a:r>
              <a:rPr lang="ru-RU" err="1"/>
              <a:t>committed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survives</a:t>
            </a:r>
            <a:r>
              <a:rPr lang="ru-RU"/>
              <a:t> </a:t>
            </a:r>
            <a:r>
              <a:rPr lang="ru-RU" err="1"/>
              <a:t>failures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67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CD9CA-28D4-A685-5394-D621C9A4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627"/>
          </a:xfrm>
        </p:spPr>
        <p:txBody>
          <a:bodyPr/>
          <a:lstStyle/>
          <a:p>
            <a:r>
              <a:rPr lang="ru-RU"/>
              <a:t>Non-</a:t>
            </a:r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 (</a:t>
            </a:r>
            <a:r>
              <a:rPr lang="ru-RU" err="1"/>
              <a:t>NoSQL</a:t>
            </a:r>
            <a:r>
              <a:rPr lang="ru-RU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010569-235D-287B-3DB9-EF8F3DEC5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250"/>
            <a:ext cx="10515600" cy="4610713"/>
          </a:xfrm>
        </p:spPr>
        <p:txBody>
          <a:bodyPr/>
          <a:lstStyle/>
          <a:p>
            <a:pPr marL="0" lvl="0" indent="0">
              <a:buNone/>
            </a:pPr>
            <a:r>
              <a:rPr lang="ru-RU"/>
              <a:t>"</a:t>
            </a:r>
            <a:r>
              <a:rPr lang="ru-RU" err="1"/>
              <a:t>Not</a:t>
            </a:r>
            <a:r>
              <a:rPr lang="ru-RU"/>
              <a:t> Only SQL" – </a:t>
            </a:r>
            <a:r>
              <a:rPr lang="ru-RU" err="1"/>
              <a:t>designed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specific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models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Schema-on-read</a:t>
            </a:r>
            <a:r>
              <a:rPr lang="ru-RU"/>
              <a:t>: </a:t>
            </a:r>
            <a:r>
              <a:rPr lang="ru-RU" err="1"/>
              <a:t>structure</a:t>
            </a:r>
            <a:r>
              <a:rPr lang="ru-RU"/>
              <a:t> </a:t>
            </a:r>
            <a:r>
              <a:rPr lang="ru-RU" err="1"/>
              <a:t>applied</a:t>
            </a:r>
            <a:r>
              <a:rPr lang="ru-RU"/>
              <a:t>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reading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BASE</a:t>
            </a:r>
            <a:r>
              <a:rPr lang="ru-RU"/>
              <a:t> </a:t>
            </a:r>
            <a:r>
              <a:rPr lang="ru-RU" err="1"/>
              <a:t>properties</a:t>
            </a:r>
            <a:r>
              <a:rPr lang="ru-RU"/>
              <a:t>:</a:t>
            </a:r>
          </a:p>
          <a:p>
            <a:pPr lvl="1"/>
            <a:r>
              <a:rPr lang="ru-RU" b="1" err="1"/>
              <a:t>Basically</a:t>
            </a:r>
            <a:r>
              <a:rPr lang="ru-RU" b="1"/>
              <a:t> </a:t>
            </a:r>
            <a:r>
              <a:rPr lang="ru-RU" b="1" err="1"/>
              <a:t>Available</a:t>
            </a:r>
            <a:r>
              <a:rPr lang="ru-RU"/>
              <a:t>: </a:t>
            </a:r>
            <a:r>
              <a:rPr lang="ru-RU" err="1"/>
              <a:t>system</a:t>
            </a:r>
            <a:r>
              <a:rPr lang="ru-RU"/>
              <a:t> </a:t>
            </a:r>
            <a:r>
              <a:rPr lang="ru-RU" err="1"/>
              <a:t>guarantees</a:t>
            </a:r>
            <a:r>
              <a:rPr lang="ru-RU"/>
              <a:t> </a:t>
            </a:r>
            <a:r>
              <a:rPr lang="ru-RU" err="1"/>
              <a:t>availability</a:t>
            </a:r>
            <a:endParaRPr lang="ru-RU"/>
          </a:p>
          <a:p>
            <a:pPr lvl="1"/>
            <a:r>
              <a:rPr lang="ru-RU" b="1"/>
              <a:t>Soft </a:t>
            </a:r>
            <a:r>
              <a:rPr lang="ru-RU" b="1" err="1"/>
              <a:t>state</a:t>
            </a:r>
            <a:r>
              <a:rPr lang="ru-RU"/>
              <a:t>: </a:t>
            </a:r>
            <a:r>
              <a:rPr lang="ru-RU" err="1"/>
              <a:t>state</a:t>
            </a:r>
            <a:r>
              <a:rPr lang="ru-RU"/>
              <a:t> </a:t>
            </a:r>
            <a:r>
              <a:rPr lang="ru-RU" err="1"/>
              <a:t>may</a:t>
            </a:r>
            <a:r>
              <a:rPr lang="ru-RU"/>
              <a:t> </a:t>
            </a:r>
            <a:r>
              <a:rPr lang="ru-RU" err="1"/>
              <a:t>change</a:t>
            </a:r>
            <a:r>
              <a:rPr lang="ru-RU"/>
              <a:t> </a:t>
            </a:r>
            <a:r>
              <a:rPr lang="ru-RU" err="1"/>
              <a:t>over</a:t>
            </a:r>
            <a:r>
              <a:rPr lang="ru-RU"/>
              <a:t> </a:t>
            </a:r>
            <a:r>
              <a:rPr lang="ru-RU" err="1"/>
              <a:t>time</a:t>
            </a:r>
            <a:endParaRPr lang="ru-RU"/>
          </a:p>
          <a:p>
            <a:pPr lvl="1"/>
            <a:r>
              <a:rPr lang="ru-RU" b="1" err="1"/>
              <a:t>Eventual</a:t>
            </a:r>
            <a:r>
              <a:rPr lang="ru-RU" b="1"/>
              <a:t> </a:t>
            </a:r>
            <a:r>
              <a:rPr lang="ru-RU" b="1" err="1"/>
              <a:t>consistency</a:t>
            </a:r>
            <a:r>
              <a:rPr lang="ru-RU"/>
              <a:t>: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becomes</a:t>
            </a:r>
            <a:r>
              <a:rPr lang="ru-RU"/>
              <a:t> </a:t>
            </a:r>
            <a:r>
              <a:rPr lang="ru-RU" err="1"/>
              <a:t>consistent</a:t>
            </a:r>
            <a:r>
              <a:rPr lang="ru-RU"/>
              <a:t> </a:t>
            </a:r>
            <a:r>
              <a:rPr lang="ru-RU" err="1"/>
              <a:t>eventually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14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E8D2B6-69FA-1F82-CC53-B967A4EB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895"/>
          </a:xfrm>
        </p:spPr>
        <p:txBody>
          <a:bodyPr/>
          <a:lstStyle/>
          <a:p>
            <a:r>
              <a:rPr lang="ru-RU"/>
              <a:t>Type 1 – Document Stores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6C066-56EF-000F-5399-514604BC5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929"/>
            <a:ext cx="10515600" cy="4665034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ru-RU"/>
              <a:t>Store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 </a:t>
            </a:r>
            <a:r>
              <a:rPr lang="ru-RU" b="1" err="1"/>
              <a:t>documents</a:t>
            </a:r>
            <a:r>
              <a:rPr lang="ru-RU"/>
              <a:t> (JSON, BSON, XML).</a:t>
            </a:r>
          </a:p>
          <a:p>
            <a:pPr marL="0" lvl="0" indent="0">
              <a:buNone/>
            </a:pP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document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key-value</a:t>
            </a:r>
            <a:r>
              <a:rPr lang="ru-RU"/>
              <a:t> </a:t>
            </a:r>
            <a:r>
              <a:rPr lang="ru-RU" err="1"/>
              <a:t>pairs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Example</a:t>
            </a:r>
            <a:r>
              <a:rPr lang="ru-RU"/>
              <a:t>: </a:t>
            </a:r>
            <a:r>
              <a:rPr lang="ru-RU" err="1"/>
              <a:t>MongoDB</a:t>
            </a:r>
            <a:r>
              <a:rPr lang="ru-RU"/>
              <a:t>, </a:t>
            </a:r>
            <a:r>
              <a:rPr lang="ru-RU" err="1"/>
              <a:t>CouchDB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Use</a:t>
            </a:r>
            <a:r>
              <a:rPr lang="ru-RU" b="1"/>
              <a:t> </a:t>
            </a:r>
            <a:r>
              <a:rPr lang="ru-RU" b="1" err="1"/>
              <a:t>case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content</a:t>
            </a:r>
            <a:r>
              <a:rPr lang="ru-RU"/>
              <a:t> </a:t>
            </a:r>
            <a:r>
              <a:rPr lang="ru-RU" err="1"/>
              <a:t>management</a:t>
            </a:r>
            <a:r>
              <a:rPr lang="ru-RU"/>
              <a:t>, </a:t>
            </a:r>
            <a:r>
              <a:rPr lang="ru-RU" err="1"/>
              <a:t>catalogs</a:t>
            </a:r>
            <a:r>
              <a:rPr lang="ru-RU"/>
              <a:t>, </a:t>
            </a:r>
            <a:r>
              <a:rPr lang="ru-RU" err="1"/>
              <a:t>user</a:t>
            </a:r>
            <a:r>
              <a:rPr lang="ru-RU"/>
              <a:t> </a:t>
            </a:r>
            <a:r>
              <a:rPr lang="ru-RU" err="1"/>
              <a:t>profiles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Matches</a:t>
            </a:r>
            <a:r>
              <a:rPr lang="ru-RU"/>
              <a:t>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developers</a:t>
            </a:r>
            <a:r>
              <a:rPr lang="ru-RU"/>
              <a:t> </a:t>
            </a:r>
            <a:r>
              <a:rPr lang="ru-RU" err="1"/>
              <a:t>think</a:t>
            </a:r>
            <a:r>
              <a:rPr lang="ru-RU"/>
              <a:t> (</a:t>
            </a:r>
            <a:r>
              <a:rPr lang="ru-RU" err="1"/>
              <a:t>objects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code</a:t>
            </a:r>
            <a:r>
              <a:rPr lang="ru-RU"/>
              <a:t> = </a:t>
            </a:r>
            <a:r>
              <a:rPr lang="ru-RU" err="1"/>
              <a:t>documents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DB).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{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"</a:t>
            </a:r>
            <a:r>
              <a:rPr lang="ru-RU" err="1">
                <a:solidFill>
                  <a:schemeClr val="accent3"/>
                </a:solidFill>
              </a:rPr>
              <a:t>name</a:t>
            </a:r>
            <a:r>
              <a:rPr lang="ru-RU">
                <a:solidFill>
                  <a:schemeClr val="accent3"/>
                </a:solidFill>
              </a:rPr>
              <a:t>": "John </a:t>
            </a:r>
            <a:r>
              <a:rPr lang="ru-RU" err="1">
                <a:solidFill>
                  <a:schemeClr val="accent3"/>
                </a:solidFill>
              </a:rPr>
              <a:t>Doe</a:t>
            </a:r>
            <a:r>
              <a:rPr lang="ru-RU">
                <a:solidFill>
                  <a:schemeClr val="accent3"/>
                </a:solidFill>
              </a:rPr>
              <a:t>",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"</a:t>
            </a:r>
            <a:r>
              <a:rPr lang="ru-RU" err="1">
                <a:solidFill>
                  <a:schemeClr val="accent3"/>
                </a:solidFill>
              </a:rPr>
              <a:t>email</a:t>
            </a:r>
            <a:r>
              <a:rPr lang="ru-RU">
                <a:solidFill>
                  <a:schemeClr val="accent3"/>
                </a:solidFill>
              </a:rPr>
              <a:t>": "</a:t>
            </a:r>
            <a:r>
              <a:rPr lang="ru-RU" u="sng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john@example.com</a:t>
            </a:r>
            <a:r>
              <a:rPr lang="ru-RU">
                <a:solidFill>
                  <a:schemeClr val="accent3"/>
                </a:solidFill>
              </a:rPr>
              <a:t>",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"</a:t>
            </a:r>
            <a:r>
              <a:rPr lang="ru-RU" err="1">
                <a:solidFill>
                  <a:schemeClr val="accent3"/>
                </a:solidFill>
              </a:rPr>
              <a:t>address</a:t>
            </a:r>
            <a:r>
              <a:rPr lang="ru-RU">
                <a:solidFill>
                  <a:schemeClr val="accent3"/>
                </a:solidFill>
              </a:rPr>
              <a:t>": {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"</a:t>
            </a:r>
            <a:r>
              <a:rPr lang="ru-RU" err="1">
                <a:solidFill>
                  <a:schemeClr val="accent3"/>
                </a:solidFill>
              </a:rPr>
              <a:t>city</a:t>
            </a:r>
            <a:r>
              <a:rPr lang="ru-RU">
                <a:solidFill>
                  <a:schemeClr val="accent3"/>
                </a:solidFill>
              </a:rPr>
              <a:t>": "New York",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"</a:t>
            </a:r>
            <a:r>
              <a:rPr lang="ru-RU" err="1">
                <a:solidFill>
                  <a:schemeClr val="accent3"/>
                </a:solidFill>
              </a:rPr>
              <a:t>zip</a:t>
            </a:r>
            <a:r>
              <a:rPr lang="ru-RU">
                <a:solidFill>
                  <a:schemeClr val="accent3"/>
                </a:solidFill>
              </a:rPr>
              <a:t>": "10001"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},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"</a:t>
            </a:r>
            <a:r>
              <a:rPr lang="ru-RU" err="1">
                <a:solidFill>
                  <a:schemeClr val="accent3"/>
                </a:solidFill>
              </a:rPr>
              <a:t>hobbies</a:t>
            </a:r>
            <a:r>
              <a:rPr lang="ru-RU">
                <a:solidFill>
                  <a:schemeClr val="accent3"/>
                </a:solidFill>
              </a:rPr>
              <a:t>": ["</a:t>
            </a:r>
            <a:r>
              <a:rPr lang="ru-RU" err="1">
                <a:solidFill>
                  <a:schemeClr val="accent3"/>
                </a:solidFill>
              </a:rPr>
              <a:t>reading</a:t>
            </a:r>
            <a:r>
              <a:rPr lang="ru-RU">
                <a:solidFill>
                  <a:schemeClr val="accent3"/>
                </a:solidFill>
              </a:rPr>
              <a:t>", "</a:t>
            </a:r>
            <a:r>
              <a:rPr lang="ru-RU" err="1">
                <a:solidFill>
                  <a:schemeClr val="accent3"/>
                </a:solidFill>
              </a:rPr>
              <a:t>swimming</a:t>
            </a:r>
            <a:r>
              <a:rPr lang="ru-RU">
                <a:solidFill>
                  <a:schemeClr val="accent3"/>
                </a:solidFill>
              </a:rPr>
              <a:t>"]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}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73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C354B-F739-D8C6-8A8F-5398F20E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4788"/>
          </a:xfrm>
        </p:spPr>
        <p:txBody>
          <a:bodyPr/>
          <a:lstStyle/>
          <a:p>
            <a:r>
              <a:rPr lang="ru-RU"/>
              <a:t>Type 2 – Key-Value Stores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086017-5DA9-B883-DB8F-68F9BAB67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914"/>
            <a:ext cx="10515600" cy="4837049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Simplest</a:t>
            </a:r>
            <a:r>
              <a:rPr lang="ru-RU"/>
              <a:t> </a:t>
            </a:r>
            <a:r>
              <a:rPr lang="ru-RU" err="1"/>
              <a:t>NoSQL</a:t>
            </a:r>
            <a:r>
              <a:rPr lang="ru-RU"/>
              <a:t>: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stored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 </a:t>
            </a:r>
            <a:r>
              <a:rPr lang="ru-RU" b="1" err="1"/>
              <a:t>key-value</a:t>
            </a:r>
            <a:r>
              <a:rPr lang="ru-RU" b="1"/>
              <a:t> </a:t>
            </a:r>
            <a:r>
              <a:rPr lang="ru-RU" b="1" err="1"/>
              <a:t>pairs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Extremely</a:t>
            </a:r>
            <a:r>
              <a:rPr lang="ru-RU"/>
              <a:t> </a:t>
            </a:r>
            <a:r>
              <a:rPr lang="ru-RU" err="1"/>
              <a:t>fast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simple</a:t>
            </a:r>
            <a:r>
              <a:rPr lang="ru-RU"/>
              <a:t> </a:t>
            </a:r>
            <a:r>
              <a:rPr lang="ru-RU" err="1"/>
              <a:t>lookups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Example</a:t>
            </a:r>
            <a:r>
              <a:rPr lang="ru-RU"/>
              <a:t>: </a:t>
            </a:r>
            <a:r>
              <a:rPr lang="ru-RU" err="1"/>
              <a:t>Redis</a:t>
            </a:r>
            <a:r>
              <a:rPr lang="ru-RU"/>
              <a:t>, Amazon </a:t>
            </a:r>
            <a:r>
              <a:rPr lang="ru-RU" err="1"/>
              <a:t>DynamoDB</a:t>
            </a:r>
            <a:r>
              <a:rPr lang="ru-RU"/>
              <a:t>, </a:t>
            </a:r>
            <a:r>
              <a:rPr lang="ru-RU" err="1"/>
              <a:t>Riak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Use</a:t>
            </a:r>
            <a:r>
              <a:rPr lang="ru-RU" b="1"/>
              <a:t> </a:t>
            </a:r>
            <a:r>
              <a:rPr lang="ru-RU" b="1" err="1"/>
              <a:t>case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caching</a:t>
            </a:r>
            <a:r>
              <a:rPr lang="ru-RU"/>
              <a:t>, </a:t>
            </a:r>
            <a:r>
              <a:rPr lang="ru-RU" err="1"/>
              <a:t>session</a:t>
            </a:r>
            <a:r>
              <a:rPr lang="ru-RU"/>
              <a:t> </a:t>
            </a:r>
            <a:r>
              <a:rPr lang="ru-RU" err="1"/>
              <a:t>management</a:t>
            </a:r>
            <a:r>
              <a:rPr lang="ru-RU"/>
              <a:t>, </a:t>
            </a:r>
            <a:r>
              <a:rPr lang="ru-RU" err="1"/>
              <a:t>shopping</a:t>
            </a:r>
            <a:r>
              <a:rPr lang="ru-RU"/>
              <a:t> </a:t>
            </a:r>
            <a:r>
              <a:rPr lang="ru-RU" err="1"/>
              <a:t>carts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Blazing</a:t>
            </a:r>
            <a:r>
              <a:rPr lang="ru-RU"/>
              <a:t> </a:t>
            </a:r>
            <a:r>
              <a:rPr lang="ru-RU" err="1"/>
              <a:t>fast</a:t>
            </a:r>
            <a:r>
              <a:rPr lang="ru-RU"/>
              <a:t> –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handle</a:t>
            </a:r>
            <a:r>
              <a:rPr lang="ru-RU"/>
              <a:t> </a:t>
            </a:r>
            <a:r>
              <a:rPr lang="ru-RU" err="1"/>
              <a:t>millions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requests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second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DD8BD26-66E3-5325-F64C-3D2B5DC9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224987"/>
              </p:ext>
            </p:extLst>
          </p:nvPr>
        </p:nvGraphicFramePr>
        <p:xfrm>
          <a:off x="1047938" y="4328463"/>
          <a:ext cx="7162800" cy="1120140"/>
        </p:xfrm>
        <a:graphic>
          <a:graphicData uri="http://schemas.openxmlformats.org/drawingml/2006/table">
            <a:tbl>
              <a:tblPr firstRow="1" firstCol="1" bandRow="1"/>
              <a:tblGrid>
                <a:gridCol w="3581400">
                  <a:extLst>
                    <a:ext uri="{9D8B030D-6E8A-4147-A177-3AD203B41FA5}">
                      <a16:colId xmlns:a16="http://schemas.microsoft.com/office/drawing/2014/main" val="13928193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937624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Key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875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user:123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{name: "John", cart: ["item1", "item2"]}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06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product:456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{</a:t>
                      </a:r>
                      <a:r>
                        <a:rPr lang="ru-RU" sz="120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 "</a:t>
                      </a:r>
                      <a:r>
                        <a:rPr lang="ru-RU" sz="120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Laptop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", </a:t>
                      </a:r>
                      <a:r>
                        <a:rPr lang="ru-RU" sz="120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price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 999}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45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500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EB229-A98B-DB12-18A6-0B06720E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505"/>
          </a:xfrm>
        </p:spPr>
        <p:txBody>
          <a:bodyPr/>
          <a:lstStyle/>
          <a:p>
            <a:r>
              <a:rPr lang="ru-RU"/>
              <a:t>Type 3 – </a:t>
            </a:r>
            <a:r>
              <a:rPr lang="ru-RU" err="1"/>
              <a:t>Column</a:t>
            </a:r>
            <a:r>
              <a:rPr lang="ru-RU"/>
              <a:t>-Family Stores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0CD4DD-81EB-918C-F213-0B28E20A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020"/>
            <a:ext cx="10515600" cy="4818943"/>
          </a:xfrm>
        </p:spPr>
        <p:txBody>
          <a:bodyPr/>
          <a:lstStyle/>
          <a:p>
            <a:pPr marL="0" lvl="0" indent="0">
              <a:buNone/>
            </a:pPr>
            <a:r>
              <a:rPr lang="ru-RU"/>
              <a:t>Data </a:t>
            </a:r>
            <a:r>
              <a:rPr lang="ru-RU" err="1"/>
              <a:t>stored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 </a:t>
            </a:r>
            <a:r>
              <a:rPr lang="ru-RU" b="1" err="1"/>
              <a:t>columns</a:t>
            </a:r>
            <a:r>
              <a:rPr lang="ru-RU"/>
              <a:t> </a:t>
            </a:r>
            <a:r>
              <a:rPr lang="ru-RU" err="1"/>
              <a:t>rather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Optimized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queries</a:t>
            </a:r>
            <a:r>
              <a:rPr lang="ru-RU"/>
              <a:t> </a:t>
            </a:r>
            <a:r>
              <a:rPr lang="ru-RU" err="1"/>
              <a:t>over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datasets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Example</a:t>
            </a:r>
            <a:r>
              <a:rPr lang="ru-RU"/>
              <a:t>: Apache </a:t>
            </a:r>
            <a:r>
              <a:rPr lang="ru-RU" err="1"/>
              <a:t>Cassandra</a:t>
            </a:r>
            <a:r>
              <a:rPr lang="ru-RU"/>
              <a:t>, </a:t>
            </a:r>
            <a:r>
              <a:rPr lang="ru-RU" err="1"/>
              <a:t>HBase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Use</a:t>
            </a:r>
            <a:r>
              <a:rPr lang="ru-RU" b="1"/>
              <a:t> </a:t>
            </a:r>
            <a:r>
              <a:rPr lang="ru-RU" b="1" err="1"/>
              <a:t>case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time-series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, </a:t>
            </a:r>
            <a:r>
              <a:rPr lang="ru-RU" err="1"/>
              <a:t>IoT</a:t>
            </a:r>
            <a:r>
              <a:rPr lang="ru-RU"/>
              <a:t>, </a:t>
            </a:r>
            <a:r>
              <a:rPr lang="ru-RU" err="1"/>
              <a:t>recommendation</a:t>
            </a:r>
            <a:r>
              <a:rPr lang="ru-RU"/>
              <a:t> </a:t>
            </a:r>
            <a:r>
              <a:rPr lang="ru-RU" err="1"/>
              <a:t>engines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scale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petabytes</a:t>
            </a:r>
            <a:r>
              <a:rPr lang="ru-RU"/>
              <a:t> </a:t>
            </a:r>
            <a:r>
              <a:rPr lang="ru-RU" err="1"/>
              <a:t>across</a:t>
            </a:r>
            <a:r>
              <a:rPr lang="ru-RU"/>
              <a:t> </a:t>
            </a:r>
            <a:r>
              <a:rPr lang="ru-RU" err="1"/>
              <a:t>thousands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servers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5A85844-9F2E-29DA-FE3F-8F26EF767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269184"/>
              </p:ext>
            </p:extLst>
          </p:nvPr>
        </p:nvGraphicFramePr>
        <p:xfrm>
          <a:off x="1120366" y="4162068"/>
          <a:ext cx="9445029" cy="844498"/>
        </p:xfrm>
        <a:graphic>
          <a:graphicData uri="http://schemas.openxmlformats.org/drawingml/2006/table">
            <a:tbl>
              <a:tblPr firstRow="1" firstCol="1" bandRow="1"/>
              <a:tblGrid>
                <a:gridCol w="3148343">
                  <a:extLst>
                    <a:ext uri="{9D8B030D-6E8A-4147-A177-3AD203B41FA5}">
                      <a16:colId xmlns:a16="http://schemas.microsoft.com/office/drawing/2014/main" val="2053831791"/>
                    </a:ext>
                  </a:extLst>
                </a:gridCol>
                <a:gridCol w="3148343">
                  <a:extLst>
                    <a:ext uri="{9D8B030D-6E8A-4147-A177-3AD203B41FA5}">
                      <a16:colId xmlns:a16="http://schemas.microsoft.com/office/drawing/2014/main" val="1528333429"/>
                    </a:ext>
                  </a:extLst>
                </a:gridCol>
                <a:gridCol w="3148343">
                  <a:extLst>
                    <a:ext uri="{9D8B030D-6E8A-4147-A177-3AD203B41FA5}">
                      <a16:colId xmlns:a16="http://schemas.microsoft.com/office/drawing/2014/main" val="2985278702"/>
                    </a:ext>
                  </a:extLst>
                </a:gridCol>
              </a:tblGrid>
              <a:tr h="422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Row Key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Family: Personal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Family: Orders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73939"/>
                  </a:ext>
                </a:extLst>
              </a:tr>
              <a:tr h="422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user123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name: "John", age: 30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order1: "</a:t>
                      </a:r>
                      <a:r>
                        <a:rPr lang="ru-RU" sz="120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laptop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", order2: "</a:t>
                      </a:r>
                      <a:r>
                        <a:rPr lang="ru-RU" sz="120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mouse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"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45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86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03299-1B62-F474-CFDC-7D52BD22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/>
          <a:lstStyle/>
          <a:p>
            <a:r>
              <a:rPr lang="ru-RU"/>
              <a:t>Type 4 – </a:t>
            </a:r>
            <a:r>
              <a:rPr lang="ru-RU" err="1"/>
              <a:t>Graph</a:t>
            </a:r>
            <a:r>
              <a:rPr lang="ru-RU"/>
              <a:t> </a:t>
            </a:r>
            <a:r>
              <a:rPr lang="ru-RU" err="1"/>
              <a:t>Databases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E8D1B1-9A88-CC92-02FF-B07EA4804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448"/>
            <a:ext cx="10515600" cy="4746515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/>
              <a:t>Data </a:t>
            </a:r>
            <a:r>
              <a:rPr lang="ru-RU" err="1"/>
              <a:t>stored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 </a:t>
            </a:r>
            <a:r>
              <a:rPr lang="ru-RU" b="1" err="1"/>
              <a:t>nodes</a:t>
            </a:r>
            <a:r>
              <a:rPr lang="ru-RU"/>
              <a:t> (</a:t>
            </a:r>
            <a:r>
              <a:rPr lang="ru-RU" err="1"/>
              <a:t>entities</a:t>
            </a:r>
            <a:r>
              <a:rPr lang="ru-RU"/>
              <a:t>) </a:t>
            </a:r>
            <a:r>
              <a:rPr lang="ru-RU" err="1"/>
              <a:t>and</a:t>
            </a:r>
            <a:r>
              <a:rPr lang="ru-RU"/>
              <a:t> </a:t>
            </a:r>
            <a:r>
              <a:rPr lang="ru-RU" b="1" err="1"/>
              <a:t>edges</a:t>
            </a:r>
            <a:r>
              <a:rPr lang="ru-RU"/>
              <a:t> (</a:t>
            </a:r>
            <a:r>
              <a:rPr lang="ru-RU" err="1"/>
              <a:t>relationships</a:t>
            </a:r>
            <a:r>
              <a:rPr lang="ru-RU"/>
              <a:t>).</a:t>
            </a:r>
          </a:p>
          <a:p>
            <a:pPr marL="0" lvl="0" indent="0">
              <a:buNone/>
            </a:pPr>
            <a:r>
              <a:rPr lang="ru-RU" err="1"/>
              <a:t>Optimized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traversing</a:t>
            </a:r>
            <a:r>
              <a:rPr lang="ru-RU"/>
              <a:t> </a:t>
            </a:r>
            <a:r>
              <a:rPr lang="ru-RU" err="1"/>
              <a:t>relationships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Example</a:t>
            </a:r>
            <a:r>
              <a:rPr lang="ru-RU"/>
              <a:t>: Neo4j, Amazon </a:t>
            </a:r>
            <a:r>
              <a:rPr lang="ru-RU" err="1"/>
              <a:t>Neptune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Use</a:t>
            </a:r>
            <a:r>
              <a:rPr lang="ru-RU" b="1"/>
              <a:t> </a:t>
            </a:r>
            <a:r>
              <a:rPr lang="ru-RU" b="1" err="1"/>
              <a:t>case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social</a:t>
            </a:r>
            <a:r>
              <a:rPr lang="ru-RU"/>
              <a:t> </a:t>
            </a:r>
            <a:r>
              <a:rPr lang="ru-RU" err="1"/>
              <a:t>networks</a:t>
            </a:r>
            <a:r>
              <a:rPr lang="ru-RU"/>
              <a:t>, </a:t>
            </a:r>
            <a:r>
              <a:rPr lang="ru-RU" err="1"/>
              <a:t>fraud</a:t>
            </a:r>
            <a:r>
              <a:rPr lang="ru-RU"/>
              <a:t> </a:t>
            </a:r>
            <a:r>
              <a:rPr lang="ru-RU" err="1"/>
              <a:t>detection</a:t>
            </a:r>
            <a:r>
              <a:rPr lang="ru-RU"/>
              <a:t>, </a:t>
            </a:r>
            <a:r>
              <a:rPr lang="ru-RU" err="1"/>
              <a:t>recommendation</a:t>
            </a:r>
            <a:r>
              <a:rPr lang="ru-RU"/>
              <a:t> </a:t>
            </a:r>
            <a:r>
              <a:rPr lang="ru-RU" err="1"/>
              <a:t>systems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Relationship</a:t>
            </a:r>
            <a:r>
              <a:rPr lang="ru-RU"/>
              <a:t> </a:t>
            </a:r>
            <a:r>
              <a:rPr lang="ru-RU" err="1"/>
              <a:t>queries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would</a:t>
            </a:r>
            <a:r>
              <a:rPr lang="ru-RU"/>
              <a:t> </a:t>
            </a:r>
            <a:r>
              <a:rPr lang="ru-RU" err="1"/>
              <a:t>take</a:t>
            </a:r>
            <a:r>
              <a:rPr lang="ru-RU"/>
              <a:t> </a:t>
            </a:r>
            <a:r>
              <a:rPr lang="ru-RU" err="1"/>
              <a:t>hours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SQL </a:t>
            </a:r>
            <a:r>
              <a:rPr lang="ru-RU" err="1"/>
              <a:t>take</a:t>
            </a:r>
            <a:r>
              <a:rPr lang="ru-RU"/>
              <a:t> </a:t>
            </a:r>
            <a:r>
              <a:rPr lang="ru-RU" err="1"/>
              <a:t>seconds</a:t>
            </a:r>
            <a:r>
              <a:rPr lang="ru-RU"/>
              <a:t>.</a:t>
            </a:r>
          </a:p>
          <a:p>
            <a:pPr marL="0" indent="0" latinLnBrk="1">
              <a:buNone/>
            </a:pPr>
            <a:r>
              <a:rPr lang="ru-RU"/>
              <a:t>(John)-[:FRIENDS_WITH]-&gt;(Mary)</a:t>
            </a:r>
          </a:p>
          <a:p>
            <a:pPr marL="0" indent="0" latinLnBrk="1">
              <a:buNone/>
            </a:pPr>
            <a:r>
              <a:rPr lang="ru-RU"/>
              <a:t>(John)-[:BOUGHT]-&gt;(Product A)</a:t>
            </a:r>
          </a:p>
          <a:p>
            <a:pPr marL="0" indent="0" latinLnBrk="1">
              <a:buNone/>
            </a:pPr>
            <a:r>
              <a:rPr lang="ru-RU"/>
              <a:t>(Mary)-[:BOUGHT]-&gt;(Product A)  // </a:t>
            </a:r>
            <a:r>
              <a:rPr lang="ru-RU" err="1"/>
              <a:t>recommendation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79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7D335-507D-2988-695E-A7FFAF14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/>
          <a:lstStyle/>
          <a:p>
            <a:r>
              <a:rPr lang="ru-RU" err="1"/>
              <a:t>Comparison</a:t>
            </a:r>
            <a:r>
              <a:rPr lang="ru-RU"/>
              <a:t> </a:t>
            </a:r>
            <a:r>
              <a:rPr lang="ru-RU" err="1"/>
              <a:t>Table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FD16101-E8D4-47C3-D004-C71D8F10C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759563"/>
              </p:ext>
            </p:extLst>
          </p:nvPr>
        </p:nvGraphicFramePr>
        <p:xfrm>
          <a:off x="1129420" y="1468306"/>
          <a:ext cx="9218692" cy="38551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4827">
                  <a:extLst>
                    <a:ext uri="{9D8B030D-6E8A-4147-A177-3AD203B41FA5}">
                      <a16:colId xmlns:a16="http://schemas.microsoft.com/office/drawing/2014/main" val="3295837416"/>
                    </a:ext>
                  </a:extLst>
                </a:gridCol>
                <a:gridCol w="3064827">
                  <a:extLst>
                    <a:ext uri="{9D8B030D-6E8A-4147-A177-3AD203B41FA5}">
                      <a16:colId xmlns:a16="http://schemas.microsoft.com/office/drawing/2014/main" val="1169802389"/>
                    </a:ext>
                  </a:extLst>
                </a:gridCol>
                <a:gridCol w="3089038">
                  <a:extLst>
                    <a:ext uri="{9D8B030D-6E8A-4147-A177-3AD203B41FA5}">
                      <a16:colId xmlns:a16="http://schemas.microsoft.com/office/drawing/2014/main" val="747305838"/>
                    </a:ext>
                  </a:extLst>
                </a:gridCol>
              </a:tblGrid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Feature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err="1">
                          <a:effectLst/>
                        </a:rPr>
                        <a:t>Relational</a:t>
                      </a:r>
                      <a:r>
                        <a:rPr lang="ru-RU" sz="1400">
                          <a:effectLst/>
                        </a:rPr>
                        <a:t> (SQL)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NoSQL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64143909"/>
                  </a:ext>
                </a:extLst>
              </a:tr>
              <a:tr h="7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Data model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Tables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Document, key-value, graph, column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1977876"/>
                  </a:ext>
                </a:extLst>
              </a:tr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Schema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Fixed, rigid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err="1">
                          <a:effectLst/>
                        </a:rPr>
                        <a:t>Flexible</a:t>
                      </a:r>
                      <a:r>
                        <a:rPr lang="ru-RU" sz="1400">
                          <a:effectLst/>
                        </a:rPr>
                        <a:t>, </a:t>
                      </a:r>
                      <a:r>
                        <a:rPr lang="ru-RU" sz="1400" err="1">
                          <a:effectLst/>
                        </a:rPr>
                        <a:t>dynamic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80969693"/>
                  </a:ext>
                </a:extLst>
              </a:tr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Scalability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Vertical (more powerful server)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Horizontal (more servers)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211214655"/>
                  </a:ext>
                </a:extLst>
              </a:tr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Transactions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ACID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BASE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266215045"/>
                  </a:ext>
                </a:extLst>
              </a:tr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Query language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SQL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err="1">
                          <a:effectLst/>
                        </a:rPr>
                        <a:t>Varies</a:t>
                      </a:r>
                      <a:r>
                        <a:rPr lang="ru-RU" sz="1400">
                          <a:effectLst/>
                        </a:rPr>
                        <a:t> </a:t>
                      </a:r>
                      <a:r>
                        <a:rPr lang="ru-RU" sz="1400" err="1">
                          <a:effectLst/>
                        </a:rPr>
                        <a:t>by</a:t>
                      </a:r>
                      <a:r>
                        <a:rPr lang="ru-RU" sz="1400">
                          <a:effectLst/>
                        </a:rPr>
                        <a:t> </a:t>
                      </a:r>
                      <a:r>
                        <a:rPr lang="ru-RU" sz="1400" err="1">
                          <a:effectLst/>
                        </a:rPr>
                        <a:t>type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45995277"/>
                  </a:ext>
                </a:extLst>
              </a:tr>
              <a:tr h="51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Best for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Complex queries, consistency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>
                          <a:effectLst/>
                        </a:rPr>
                        <a:t>Big </a:t>
                      </a:r>
                      <a:r>
                        <a:rPr lang="ru-RU" sz="1400" err="1">
                          <a:effectLst/>
                        </a:rPr>
                        <a:t>data</a:t>
                      </a:r>
                      <a:r>
                        <a:rPr lang="ru-RU" sz="1400">
                          <a:effectLst/>
                        </a:rPr>
                        <a:t>, </a:t>
                      </a:r>
                      <a:r>
                        <a:rPr lang="ru-RU" sz="1400" err="1">
                          <a:effectLst/>
                        </a:rPr>
                        <a:t>speed</a:t>
                      </a:r>
                      <a:r>
                        <a:rPr lang="ru-RU" sz="1400">
                          <a:effectLst/>
                        </a:rPr>
                        <a:t>, </a:t>
                      </a:r>
                      <a:r>
                        <a:rPr lang="ru-RU" sz="1400" err="1">
                          <a:effectLst/>
                        </a:rPr>
                        <a:t>flexibility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5171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255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6EE3317-4CEA-CE76-E9BA-983BE4E8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719"/>
          </a:xfrm>
        </p:spPr>
        <p:txBody>
          <a:bodyPr/>
          <a:lstStyle/>
          <a:p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Which</a:t>
            </a:r>
            <a:r>
              <a:rPr lang="ru-RU"/>
              <a:t>?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32C13613-339C-3183-B81B-05A643585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761487"/>
              </p:ext>
            </p:extLst>
          </p:nvPr>
        </p:nvGraphicFramePr>
        <p:xfrm>
          <a:off x="1310486" y="1854679"/>
          <a:ext cx="8711700" cy="3323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55850">
                  <a:extLst>
                    <a:ext uri="{9D8B030D-6E8A-4147-A177-3AD203B41FA5}">
                      <a16:colId xmlns:a16="http://schemas.microsoft.com/office/drawing/2014/main" val="3893582678"/>
                    </a:ext>
                  </a:extLst>
                </a:gridCol>
                <a:gridCol w="4355850">
                  <a:extLst>
                    <a:ext uri="{9D8B030D-6E8A-4147-A177-3AD203B41FA5}">
                      <a16:colId xmlns:a16="http://schemas.microsoft.com/office/drawing/2014/main" val="4232052292"/>
                    </a:ext>
                  </a:extLst>
                </a:gridCol>
              </a:tblGrid>
              <a:tr h="6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err="1">
                          <a:effectLst/>
                        </a:rPr>
                        <a:t>Use</a:t>
                      </a:r>
                      <a:r>
                        <a:rPr lang="ru-RU" sz="1200">
                          <a:effectLst/>
                        </a:rPr>
                        <a:t> </a:t>
                      </a:r>
                      <a:r>
                        <a:rPr lang="ru-RU" sz="1200" err="1">
                          <a:effectLst/>
                        </a:rPr>
                        <a:t>Relational</a:t>
                      </a:r>
                      <a:r>
                        <a:rPr lang="ru-RU" sz="1200">
                          <a:effectLst/>
                        </a:rPr>
                        <a:t> (SQL) </a:t>
                      </a:r>
                      <a:r>
                        <a:rPr lang="ru-RU" sz="1200" err="1">
                          <a:effectLst/>
                        </a:rPr>
                        <a:t>when</a:t>
                      </a:r>
                      <a:r>
                        <a:rPr lang="ru-RU" sz="1200">
                          <a:effectLst/>
                        </a:rPr>
                        <a:t>...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err="1">
                          <a:effectLst/>
                        </a:rPr>
                        <a:t>Use</a:t>
                      </a:r>
                      <a:r>
                        <a:rPr lang="ru-RU" sz="1200">
                          <a:effectLst/>
                        </a:rPr>
                        <a:t> </a:t>
                      </a:r>
                      <a:r>
                        <a:rPr lang="ru-RU" sz="1200" err="1">
                          <a:effectLst/>
                        </a:rPr>
                        <a:t>NoSQL</a:t>
                      </a:r>
                      <a:r>
                        <a:rPr lang="ru-RU" sz="1200">
                          <a:effectLst/>
                        </a:rPr>
                        <a:t> </a:t>
                      </a:r>
                      <a:r>
                        <a:rPr lang="ru-RU" sz="1200" err="1">
                          <a:effectLst/>
                        </a:rPr>
                        <a:t>when</a:t>
                      </a:r>
                      <a:r>
                        <a:rPr lang="ru-RU" sz="1200">
                          <a:effectLst/>
                        </a:rPr>
                        <a:t>...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29941909"/>
                  </a:ext>
                </a:extLst>
              </a:tr>
              <a:tr h="6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structured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consistent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</a:rPr>
                        <a:t>Data is unstructured or semi-structured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66103"/>
                  </a:ext>
                </a:extLst>
              </a:tr>
              <a:tr h="6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You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need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complex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joins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queries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</a:rPr>
                        <a:t>You </a:t>
                      </a:r>
                      <a:r>
                        <a:rPr lang="ru-RU" sz="1200" b="1" err="1">
                          <a:effectLst/>
                        </a:rPr>
                        <a:t>need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high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write</a:t>
                      </a:r>
                      <a:r>
                        <a:rPr lang="ru-RU" sz="1200" b="1">
                          <a:effectLst/>
                        </a:rPr>
                        <a:t>/</a:t>
                      </a:r>
                      <a:r>
                        <a:rPr lang="ru-RU" sz="1200" b="1" err="1">
                          <a:effectLst/>
                        </a:rPr>
                        <a:t>read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speed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11684"/>
                  </a:ext>
                </a:extLst>
              </a:tr>
              <a:tr h="6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ACID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compliance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critical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</a:rPr>
                        <a:t>You </a:t>
                      </a:r>
                      <a:r>
                        <a:rPr lang="ru-RU" sz="1200" b="1" err="1">
                          <a:effectLst/>
                        </a:rPr>
                        <a:t>need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horizontal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scaling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256806"/>
                  </a:ext>
                </a:extLst>
              </a:tr>
              <a:tr h="6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Examples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: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banking</a:t>
                      </a: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, HR </a:t>
                      </a:r>
                      <a:r>
                        <a:rPr lang="ru-RU" sz="1200" err="1">
                          <a:solidFill>
                            <a:schemeClr val="tx1"/>
                          </a:solidFill>
                          <a:effectLst/>
                        </a:rPr>
                        <a:t>systems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err="1">
                          <a:effectLst/>
                        </a:rPr>
                        <a:t>Examples</a:t>
                      </a:r>
                      <a:r>
                        <a:rPr lang="ru-RU" sz="1200" b="1">
                          <a:effectLst/>
                        </a:rPr>
                        <a:t>: </a:t>
                      </a:r>
                      <a:r>
                        <a:rPr lang="ru-RU" sz="1200" b="1" err="1">
                          <a:effectLst/>
                        </a:rPr>
                        <a:t>real-time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analytics</a:t>
                      </a:r>
                      <a:r>
                        <a:rPr lang="ru-RU" sz="1200" b="1">
                          <a:effectLst/>
                        </a:rPr>
                        <a:t>, </a:t>
                      </a:r>
                      <a:r>
                        <a:rPr lang="ru-RU" sz="1200" b="1" err="1">
                          <a:effectLst/>
                        </a:rPr>
                        <a:t>social</a:t>
                      </a:r>
                      <a:r>
                        <a:rPr lang="ru-RU" sz="1200" b="1">
                          <a:effectLst/>
                        </a:rPr>
                        <a:t> </a:t>
                      </a:r>
                      <a:r>
                        <a:rPr lang="ru-RU" sz="1200" b="1" err="1">
                          <a:effectLst/>
                        </a:rPr>
                        <a:t>media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71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795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D9421-2A25-54BE-507B-B950E275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146"/>
          </a:xfrm>
        </p:spPr>
        <p:txBody>
          <a:bodyPr/>
          <a:lstStyle/>
          <a:p>
            <a:r>
              <a:rPr lang="ru-RU"/>
              <a:t>Quick Check – </a:t>
            </a:r>
            <a:r>
              <a:rPr lang="ru-RU" err="1"/>
              <a:t>Which</a:t>
            </a:r>
            <a:r>
              <a:rPr lang="ru-RU"/>
              <a:t> Database?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18DE00-9FE8-D9C0-953E-D913CC05C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394"/>
            <a:ext cx="10515600" cy="4755569"/>
          </a:xfrm>
        </p:spPr>
        <p:txBody>
          <a:bodyPr/>
          <a:lstStyle/>
          <a:p>
            <a:pPr lvl="0"/>
            <a:r>
              <a:rPr lang="ru-RU" b="1"/>
              <a:t>Banking </a:t>
            </a:r>
            <a:r>
              <a:rPr lang="ru-RU" b="1" err="1"/>
              <a:t>system</a:t>
            </a:r>
            <a:r>
              <a:rPr lang="ru-RU"/>
              <a:t> 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account</a:t>
            </a:r>
            <a:r>
              <a:rPr lang="ru-RU"/>
              <a:t> </a:t>
            </a:r>
            <a:r>
              <a:rPr lang="ru-RU" err="1"/>
              <a:t>balances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transactions</a:t>
            </a:r>
            <a:r>
              <a:rPr lang="ru-RU"/>
              <a:t> </a:t>
            </a:r>
            <a:r>
              <a:rPr lang="en-US"/>
              <a:t>-?</a:t>
            </a:r>
          </a:p>
          <a:p>
            <a:pPr lvl="0"/>
            <a:r>
              <a:rPr lang="ru-RU" b="1"/>
              <a:t>Real-</a:t>
            </a:r>
            <a:r>
              <a:rPr lang="ru-RU" b="1" err="1"/>
              <a:t>time</a:t>
            </a:r>
            <a:r>
              <a:rPr lang="ru-RU" b="1"/>
              <a:t> </a:t>
            </a:r>
            <a:r>
              <a:rPr lang="ru-RU" b="1" err="1"/>
              <a:t>leaderboard</a:t>
            </a:r>
            <a:r>
              <a:rPr lang="ru-RU"/>
              <a:t> </a:t>
            </a:r>
            <a:r>
              <a:rPr lang="ru-RU" err="1"/>
              <a:t>for</a:t>
            </a:r>
            <a:r>
              <a:rPr lang="ru-RU"/>
              <a:t> a </a:t>
            </a:r>
            <a:r>
              <a:rPr lang="ru-RU" err="1"/>
              <a:t>game</a:t>
            </a:r>
            <a:r>
              <a:rPr lang="ru-RU"/>
              <a:t> </a:t>
            </a:r>
            <a:r>
              <a:rPr lang="en-US"/>
              <a:t> -?</a:t>
            </a:r>
          </a:p>
          <a:p>
            <a:pPr lvl="0"/>
            <a:r>
              <a:rPr lang="ru-RU" b="1"/>
              <a:t>Social </a:t>
            </a:r>
            <a:r>
              <a:rPr lang="ru-RU" b="1" err="1"/>
              <a:t>network</a:t>
            </a:r>
            <a:r>
              <a:rPr lang="ru-RU"/>
              <a:t> 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friend</a:t>
            </a:r>
            <a:r>
              <a:rPr lang="ru-RU"/>
              <a:t> </a:t>
            </a:r>
            <a:r>
              <a:rPr lang="ru-RU" err="1"/>
              <a:t>connections</a:t>
            </a:r>
            <a:r>
              <a:rPr lang="ru-RU"/>
              <a:t> </a:t>
            </a:r>
            <a:r>
              <a:rPr lang="en-US"/>
              <a:t>-?</a:t>
            </a:r>
          </a:p>
          <a:p>
            <a:pPr lvl="0"/>
            <a:r>
              <a:rPr lang="ru-RU" b="1"/>
              <a:t>Product </a:t>
            </a:r>
            <a:r>
              <a:rPr lang="ru-RU" b="1" err="1"/>
              <a:t>catalog</a:t>
            </a:r>
            <a:r>
              <a:rPr lang="ru-RU"/>
              <a:t> 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varying</a:t>
            </a:r>
            <a:r>
              <a:rPr lang="ru-RU"/>
              <a:t> </a:t>
            </a:r>
            <a:r>
              <a:rPr lang="ru-RU" err="1"/>
              <a:t>attributes</a:t>
            </a:r>
            <a:r>
              <a:rPr lang="ru-RU"/>
              <a:t> </a:t>
            </a:r>
            <a:r>
              <a:rPr lang="en-US"/>
              <a:t>-?</a:t>
            </a:r>
          </a:p>
          <a:p>
            <a:pPr lvl="0"/>
            <a:r>
              <a:rPr lang="ru-RU" b="1" err="1"/>
              <a:t>IoT</a:t>
            </a:r>
            <a:r>
              <a:rPr lang="ru-RU" b="1"/>
              <a:t> </a:t>
            </a:r>
            <a:r>
              <a:rPr lang="ru-RU" b="1" err="1"/>
              <a:t>sensor</a:t>
            </a:r>
            <a:r>
              <a:rPr lang="ru-RU" b="1"/>
              <a:t> </a:t>
            </a:r>
            <a:r>
              <a:rPr lang="ru-RU" b="1" err="1"/>
              <a:t>data</a:t>
            </a:r>
            <a:r>
              <a:rPr lang="ru-RU"/>
              <a:t> 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millions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writes</a:t>
            </a:r>
            <a:r>
              <a:rPr lang="ru-RU"/>
              <a:t>/</a:t>
            </a:r>
            <a:r>
              <a:rPr lang="ru-RU" err="1"/>
              <a:t>second</a:t>
            </a:r>
            <a:r>
              <a:rPr lang="en-US"/>
              <a:t> -?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1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1ED0E-902F-B814-0B27-ACEA99B3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ru-RU" err="1"/>
              <a:t>Why</a:t>
            </a:r>
            <a:r>
              <a:rPr lang="ru-RU"/>
              <a:t> </a:t>
            </a:r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 </a:t>
            </a:r>
            <a:r>
              <a:rPr lang="ru-RU" err="1"/>
              <a:t>Dominate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0A253A-D628-0487-2366-FB9D546E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57738"/>
          </a:xfrm>
        </p:spPr>
        <p:txBody>
          <a:bodyPr/>
          <a:lstStyle/>
          <a:p>
            <a:pPr marL="0" lvl="0" indent="0">
              <a:buNone/>
            </a:pPr>
            <a:r>
              <a:rPr lang="ru-RU" b="1"/>
              <a:t>80%+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all</a:t>
            </a:r>
            <a:r>
              <a:rPr lang="ru-RU" b="1"/>
              <a:t> </a:t>
            </a:r>
            <a:r>
              <a:rPr lang="ru-RU" b="1" err="1"/>
              <a:t>business</a:t>
            </a:r>
            <a:r>
              <a:rPr lang="ru-RU" b="1"/>
              <a:t> </a:t>
            </a:r>
            <a:r>
              <a:rPr lang="ru-RU" b="1" err="1"/>
              <a:t>applications</a:t>
            </a:r>
            <a:r>
              <a:rPr lang="ru-RU"/>
              <a:t> 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SQL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#1 </a:t>
            </a:r>
            <a:r>
              <a:rPr lang="ru-RU" b="1" err="1"/>
              <a:t>skill</a:t>
            </a:r>
            <a:r>
              <a:rPr lang="ru-RU"/>
              <a:t> 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job</a:t>
            </a:r>
            <a:r>
              <a:rPr lang="ru-RU"/>
              <a:t> </a:t>
            </a:r>
            <a:r>
              <a:rPr lang="ru-RU" err="1"/>
              <a:t>postings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Once</a:t>
            </a:r>
            <a:r>
              <a:rPr lang="ru-RU"/>
              <a:t>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learn</a:t>
            </a:r>
            <a:r>
              <a:rPr lang="ru-RU"/>
              <a:t> SQL,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work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:</a:t>
            </a:r>
          </a:p>
          <a:p>
            <a:pPr lvl="1"/>
            <a:r>
              <a:rPr lang="ru-RU"/>
              <a:t>MySQL, </a:t>
            </a:r>
            <a:r>
              <a:rPr lang="ru-RU" err="1"/>
              <a:t>PostgreSQL</a:t>
            </a:r>
            <a:r>
              <a:rPr lang="ru-RU"/>
              <a:t> (</a:t>
            </a:r>
            <a:r>
              <a:rPr lang="ru-RU" err="1"/>
              <a:t>open</a:t>
            </a:r>
            <a:r>
              <a:rPr lang="ru-RU"/>
              <a:t> </a:t>
            </a:r>
            <a:r>
              <a:rPr lang="ru-RU" err="1"/>
              <a:t>source</a:t>
            </a:r>
            <a:r>
              <a:rPr lang="ru-RU"/>
              <a:t>)</a:t>
            </a:r>
          </a:p>
          <a:p>
            <a:pPr lvl="1"/>
            <a:r>
              <a:rPr lang="ru-RU"/>
              <a:t>Oracle, SQL Server (</a:t>
            </a:r>
            <a:r>
              <a:rPr lang="ru-RU" err="1"/>
              <a:t>enterprise</a:t>
            </a:r>
            <a:r>
              <a:rPr lang="ru-RU"/>
              <a:t>)</a:t>
            </a:r>
          </a:p>
          <a:p>
            <a:pPr lvl="1"/>
            <a:r>
              <a:rPr lang="ru-RU" err="1"/>
              <a:t>SQLite</a:t>
            </a:r>
            <a:r>
              <a:rPr lang="ru-RU"/>
              <a:t> (</a:t>
            </a:r>
            <a:r>
              <a:rPr lang="ru-RU" err="1"/>
              <a:t>mobile</a:t>
            </a:r>
            <a:r>
              <a:rPr lang="ru-RU"/>
              <a:t> </a:t>
            </a:r>
            <a:r>
              <a:rPr lang="ru-RU" err="1"/>
              <a:t>apps</a:t>
            </a:r>
            <a:r>
              <a:rPr lang="ru-RU"/>
              <a:t>)</a:t>
            </a:r>
          </a:p>
          <a:p>
            <a:pPr lvl="1"/>
            <a:r>
              <a:rPr lang="ru-RU" err="1"/>
              <a:t>Even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NoSQL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SQL-</a:t>
            </a:r>
            <a:r>
              <a:rPr lang="ru-RU" err="1"/>
              <a:t>like</a:t>
            </a:r>
            <a:r>
              <a:rPr lang="ru-RU"/>
              <a:t> </a:t>
            </a:r>
            <a:r>
              <a:rPr lang="ru-RU" err="1"/>
              <a:t>interfaces</a:t>
            </a:r>
            <a:r>
              <a:rPr lang="ru-RU"/>
              <a:t> </a:t>
            </a:r>
            <a:r>
              <a:rPr lang="ru-RU" err="1"/>
              <a:t>now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11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211DA-4D31-8EB6-85E6-EBE0E2B4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err="1"/>
              <a:t>Relational</a:t>
            </a:r>
            <a:r>
              <a:rPr lang="ru-RU"/>
              <a:t> Database Model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55BDD2-DBEC-9DE0-AB6D-52BA94AB9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Proposed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E.F. </a:t>
            </a:r>
            <a:r>
              <a:rPr lang="ru-RU" err="1"/>
              <a:t>Codd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1970.</a:t>
            </a:r>
          </a:p>
          <a:p>
            <a:pPr marL="0" lvl="0" indent="0">
              <a:buNone/>
            </a:pPr>
            <a:r>
              <a:rPr lang="ru-RU"/>
              <a:t>Data </a:t>
            </a:r>
            <a:r>
              <a:rPr lang="ru-RU" err="1"/>
              <a:t>organized</a:t>
            </a:r>
            <a:r>
              <a:rPr lang="ru-RU"/>
              <a:t> </a:t>
            </a:r>
            <a:r>
              <a:rPr lang="ru-RU" err="1"/>
              <a:t>into</a:t>
            </a:r>
            <a:r>
              <a:rPr lang="ru-RU"/>
              <a:t> </a:t>
            </a:r>
            <a:r>
              <a:rPr lang="ru-RU" b="1" err="1"/>
              <a:t>relations</a:t>
            </a:r>
            <a:r>
              <a:rPr lang="ru-RU"/>
              <a:t> (</a:t>
            </a:r>
            <a:r>
              <a:rPr lang="ru-RU" err="1"/>
              <a:t>tables</a:t>
            </a:r>
            <a:r>
              <a:rPr lang="ru-RU"/>
              <a:t>).</a:t>
            </a:r>
          </a:p>
          <a:p>
            <a:pPr marL="0" lvl="0" indent="0">
              <a:buNone/>
            </a:pP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:</a:t>
            </a:r>
          </a:p>
          <a:p>
            <a:pPr marL="457200" lvl="1" indent="0">
              <a:buNone/>
            </a:pPr>
            <a:r>
              <a:rPr lang="ru-RU" b="1" err="1"/>
              <a:t>Rows</a:t>
            </a:r>
            <a:r>
              <a:rPr lang="ru-RU"/>
              <a:t> (</a:t>
            </a:r>
            <a:r>
              <a:rPr lang="ru-RU" err="1"/>
              <a:t>records</a:t>
            </a:r>
            <a:r>
              <a:rPr lang="ru-RU"/>
              <a:t>, </a:t>
            </a:r>
            <a:r>
              <a:rPr lang="ru-RU" err="1"/>
              <a:t>tuples</a:t>
            </a:r>
            <a:r>
              <a:rPr lang="ru-RU"/>
              <a:t>)</a:t>
            </a:r>
          </a:p>
          <a:p>
            <a:pPr marL="457200" lvl="1" indent="0">
              <a:buNone/>
            </a:pPr>
            <a:r>
              <a:rPr lang="ru-RU" b="1" err="1"/>
              <a:t>Columns</a:t>
            </a:r>
            <a:r>
              <a:rPr lang="ru-RU"/>
              <a:t> (</a:t>
            </a:r>
            <a:r>
              <a:rPr lang="ru-RU" err="1"/>
              <a:t>attributes</a:t>
            </a:r>
            <a:r>
              <a:rPr lang="ru-RU"/>
              <a:t>, </a:t>
            </a:r>
            <a:r>
              <a:rPr lang="ru-RU" err="1"/>
              <a:t>fields</a:t>
            </a:r>
            <a:r>
              <a:rPr lang="ru-RU"/>
              <a:t>)</a:t>
            </a:r>
          </a:p>
          <a:p>
            <a:pPr marL="0" lvl="0" indent="0">
              <a:buNone/>
            </a:pPr>
            <a:r>
              <a:rPr lang="ru-RU" b="1" err="1"/>
              <a:t>Schema</a:t>
            </a:r>
            <a:r>
              <a:rPr lang="ru-RU"/>
              <a:t>: </a:t>
            </a:r>
            <a:r>
              <a:rPr lang="ru-RU" err="1"/>
              <a:t>structure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table</a:t>
            </a:r>
            <a:r>
              <a:rPr lang="ru-RU"/>
              <a:t> (</a:t>
            </a:r>
            <a:r>
              <a:rPr lang="ru-RU" err="1"/>
              <a:t>column</a:t>
            </a:r>
            <a:r>
              <a:rPr lang="ru-RU"/>
              <a:t> </a:t>
            </a:r>
            <a:r>
              <a:rPr lang="ru-RU" err="1"/>
              <a:t>names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types</a:t>
            </a:r>
            <a:r>
              <a:rPr lang="ru-RU"/>
              <a:t>)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Mathematical</a:t>
            </a:r>
            <a:r>
              <a:rPr lang="ru-RU"/>
              <a:t> </a:t>
            </a:r>
            <a:r>
              <a:rPr lang="ru-RU" err="1"/>
              <a:t>foundation</a:t>
            </a:r>
            <a:r>
              <a:rPr lang="ru-RU"/>
              <a:t> </a:t>
            </a:r>
            <a:r>
              <a:rPr lang="ru-RU" err="1"/>
              <a:t>guarantees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ambiguity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426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A0431-3116-878C-18EC-FBF72ECC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ru-RU"/>
              <a:t>Key </a:t>
            </a:r>
            <a:r>
              <a:rPr lang="ru-RU" err="1"/>
              <a:t>Concepts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79F958-6BCC-BC19-94D0-52DA72AE2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786313"/>
          </a:xfrm>
        </p:spPr>
        <p:txBody>
          <a:bodyPr/>
          <a:lstStyle/>
          <a:p>
            <a:pPr lvl="0"/>
            <a:r>
              <a:rPr lang="ru-RU" b="1" err="1"/>
              <a:t>Primary</a:t>
            </a:r>
            <a:r>
              <a:rPr lang="ru-RU" b="1"/>
              <a:t> Key</a:t>
            </a:r>
            <a:r>
              <a:rPr lang="ru-RU"/>
              <a:t>: a </a:t>
            </a:r>
            <a:r>
              <a:rPr lang="ru-RU" err="1"/>
              <a:t>column</a:t>
            </a:r>
            <a:r>
              <a:rPr lang="ru-RU"/>
              <a:t> (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set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columns</a:t>
            </a:r>
            <a:r>
              <a:rPr lang="ru-RU"/>
              <a:t>)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uniquely</a:t>
            </a:r>
            <a:r>
              <a:rPr lang="ru-RU"/>
              <a:t> </a:t>
            </a:r>
            <a:r>
              <a:rPr lang="ru-RU" err="1"/>
              <a:t>identifies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row</a:t>
            </a:r>
            <a:r>
              <a:rPr lang="ru-RU"/>
              <a:t>.</a:t>
            </a:r>
          </a:p>
          <a:p>
            <a:pPr lvl="1"/>
            <a:r>
              <a:rPr lang="ru-RU" err="1"/>
              <a:t>Must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unique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null</a:t>
            </a:r>
            <a:r>
              <a:rPr lang="ru-RU"/>
              <a:t>.</a:t>
            </a:r>
          </a:p>
          <a:p>
            <a:pPr lvl="1"/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StudentID</a:t>
            </a:r>
            <a:r>
              <a:rPr lang="ru-RU"/>
              <a:t>, </a:t>
            </a:r>
            <a:r>
              <a:rPr lang="ru-RU" err="1"/>
              <a:t>OrderID</a:t>
            </a:r>
            <a:r>
              <a:rPr lang="ru-RU"/>
              <a:t>, </a:t>
            </a:r>
            <a:r>
              <a:rPr lang="ru-RU" err="1"/>
              <a:t>ProductCode</a:t>
            </a:r>
            <a:endParaRPr lang="ru-RU"/>
          </a:p>
          <a:p>
            <a:pPr lvl="0"/>
            <a:r>
              <a:rPr lang="ru-RU" b="1"/>
              <a:t>Foreign Key</a:t>
            </a:r>
            <a:r>
              <a:rPr lang="ru-RU"/>
              <a:t>: a </a:t>
            </a:r>
            <a:r>
              <a:rPr lang="ru-RU" err="1"/>
              <a:t>column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references</a:t>
            </a:r>
            <a:r>
              <a:rPr lang="ru-RU"/>
              <a:t> a </a:t>
            </a:r>
            <a:r>
              <a:rPr lang="ru-RU" err="1"/>
              <a:t>primary</a:t>
            </a:r>
            <a:r>
              <a:rPr lang="ru-RU"/>
              <a:t> </a:t>
            </a:r>
            <a:r>
              <a:rPr lang="ru-RU" err="1"/>
              <a:t>key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another</a:t>
            </a:r>
            <a:r>
              <a:rPr lang="ru-RU"/>
              <a:t> </a:t>
            </a:r>
            <a:r>
              <a:rPr lang="ru-RU" err="1"/>
              <a:t>table</a:t>
            </a:r>
            <a:r>
              <a:rPr lang="ru-RU"/>
              <a:t>.</a:t>
            </a:r>
          </a:p>
          <a:p>
            <a:pPr lvl="1"/>
            <a:r>
              <a:rPr lang="ru-RU" err="1"/>
              <a:t>Establishes</a:t>
            </a:r>
            <a:r>
              <a:rPr lang="ru-RU"/>
              <a:t> </a:t>
            </a:r>
            <a:r>
              <a:rPr lang="ru-RU" err="1"/>
              <a:t>relationships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.</a:t>
            </a:r>
          </a:p>
          <a:p>
            <a:pPr lvl="1"/>
            <a:r>
              <a:rPr lang="ru-RU" err="1"/>
              <a:t>Ensures</a:t>
            </a:r>
            <a:r>
              <a:rPr lang="ru-RU"/>
              <a:t> </a:t>
            </a:r>
            <a:r>
              <a:rPr lang="ru-RU" b="1" err="1"/>
              <a:t>referential</a:t>
            </a:r>
            <a:r>
              <a:rPr lang="ru-RU" b="1"/>
              <a:t> </a:t>
            </a:r>
            <a:r>
              <a:rPr lang="ru-RU" b="1" err="1"/>
              <a:t>integrity</a:t>
            </a:r>
            <a:r>
              <a:rPr lang="ru-RU"/>
              <a:t> –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orphan</a:t>
            </a:r>
            <a:r>
              <a:rPr lang="ru-RU"/>
              <a:t> </a:t>
            </a:r>
            <a:r>
              <a:rPr lang="ru-RU" err="1"/>
              <a:t>records</a:t>
            </a:r>
            <a:r>
              <a:rPr lang="ru-RU"/>
              <a:t>.</a:t>
            </a:r>
          </a:p>
          <a:p>
            <a:pPr lvl="0"/>
            <a:r>
              <a:rPr lang="ru-RU" err="1"/>
              <a:t>Example</a:t>
            </a:r>
            <a:r>
              <a:rPr lang="ru-RU"/>
              <a:t>: </a:t>
            </a:r>
            <a:r>
              <a:rPr lang="ru-RU" sz="2000" err="1"/>
              <a:t>Customers</a:t>
            </a:r>
            <a:r>
              <a:rPr lang="ru-RU"/>
              <a:t> 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 </a:t>
            </a:r>
            <a:r>
              <a:rPr lang="ru-RU" sz="2000" err="1"/>
              <a:t>CustomerID</a:t>
            </a:r>
            <a:r>
              <a:rPr lang="ru-RU"/>
              <a:t> </a:t>
            </a:r>
            <a:r>
              <a:rPr lang="ru-RU" err="1"/>
              <a:t>as</a:t>
            </a:r>
            <a:r>
              <a:rPr lang="ru-RU"/>
              <a:t> PK; </a:t>
            </a:r>
            <a:r>
              <a:rPr lang="ru-RU" sz="2000" err="1"/>
              <a:t>Orders</a:t>
            </a:r>
            <a:r>
              <a:rPr lang="ru-RU"/>
              <a:t> 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 </a:t>
            </a:r>
            <a:r>
              <a:rPr lang="ru-RU" sz="2000" err="1"/>
              <a:t>CustomerID</a:t>
            </a:r>
            <a:r>
              <a:rPr lang="ru-RU"/>
              <a:t> </a:t>
            </a:r>
            <a:r>
              <a:rPr lang="ru-RU" err="1"/>
              <a:t>as</a:t>
            </a:r>
            <a:r>
              <a:rPr lang="ru-RU"/>
              <a:t> FK.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644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2B288-0EAF-D669-7658-03F32AAE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200"/>
          </a:xfrm>
        </p:spPr>
        <p:txBody>
          <a:bodyPr/>
          <a:lstStyle/>
          <a:p>
            <a:r>
              <a:rPr lang="ru-RU" err="1"/>
              <a:t>Introduction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SQL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E6582D-80D1-2DA7-DA43-6F8697518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4814888"/>
          </a:xfrm>
        </p:spPr>
        <p:txBody>
          <a:bodyPr/>
          <a:lstStyle/>
          <a:p>
            <a:pPr marL="0" lvl="0" indent="0">
              <a:buNone/>
            </a:pPr>
            <a:r>
              <a:rPr lang="ru-RU" b="1"/>
              <a:t>SQL</a:t>
            </a:r>
            <a:r>
              <a:rPr lang="ru-RU"/>
              <a:t> (</a:t>
            </a:r>
            <a:r>
              <a:rPr lang="ru-RU" err="1"/>
              <a:t>Structured</a:t>
            </a:r>
            <a:r>
              <a:rPr lang="ru-RU"/>
              <a:t> </a:t>
            </a:r>
            <a:r>
              <a:rPr lang="ru-RU" err="1"/>
              <a:t>Query</a:t>
            </a:r>
            <a:r>
              <a:rPr lang="ru-RU"/>
              <a:t> Language)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language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Sublanguages</a:t>
            </a:r>
            <a:r>
              <a:rPr lang="ru-RU"/>
              <a:t>:</a:t>
            </a:r>
          </a:p>
          <a:p>
            <a:pPr lvl="1"/>
            <a:r>
              <a:rPr lang="ru-RU" b="1"/>
              <a:t>DDL</a:t>
            </a:r>
            <a:r>
              <a:rPr lang="ru-RU"/>
              <a:t> (Data Definition Language): CREATE, ALTER, DROP – </a:t>
            </a:r>
            <a:r>
              <a:rPr lang="ru-RU" err="1"/>
              <a:t>define</a:t>
            </a:r>
            <a:r>
              <a:rPr lang="ru-RU"/>
              <a:t> </a:t>
            </a:r>
            <a:r>
              <a:rPr lang="ru-RU" err="1"/>
              <a:t>structure</a:t>
            </a:r>
            <a:endParaRPr lang="ru-RU"/>
          </a:p>
          <a:p>
            <a:pPr lvl="1"/>
            <a:r>
              <a:rPr lang="ru-RU" b="1"/>
              <a:t>DML</a:t>
            </a:r>
            <a:r>
              <a:rPr lang="ru-RU"/>
              <a:t> (Data </a:t>
            </a:r>
            <a:r>
              <a:rPr lang="ru-RU" err="1"/>
              <a:t>Manipulation</a:t>
            </a:r>
            <a:r>
              <a:rPr lang="ru-RU"/>
              <a:t> Language): INSERT, UPDATE, DELETE – </a:t>
            </a:r>
            <a:r>
              <a:rPr lang="ru-RU" err="1"/>
              <a:t>modify</a:t>
            </a:r>
            <a:r>
              <a:rPr lang="ru-RU"/>
              <a:t> </a:t>
            </a:r>
            <a:r>
              <a:rPr lang="ru-RU" err="1"/>
              <a:t>data</a:t>
            </a:r>
            <a:endParaRPr lang="ru-RU"/>
          </a:p>
          <a:p>
            <a:pPr lvl="1"/>
            <a:r>
              <a:rPr lang="ru-RU" b="1"/>
              <a:t>DQL</a:t>
            </a:r>
            <a:r>
              <a:rPr lang="ru-RU"/>
              <a:t> (Data </a:t>
            </a:r>
            <a:r>
              <a:rPr lang="ru-RU" err="1"/>
              <a:t>Query</a:t>
            </a:r>
            <a:r>
              <a:rPr lang="ru-RU"/>
              <a:t> Language): SELECT – </a:t>
            </a:r>
            <a:r>
              <a:rPr lang="ru-RU" err="1"/>
              <a:t>ask</a:t>
            </a:r>
            <a:r>
              <a:rPr lang="ru-RU"/>
              <a:t> </a:t>
            </a:r>
            <a:r>
              <a:rPr lang="ru-RU" err="1"/>
              <a:t>questions</a:t>
            </a:r>
            <a:endParaRPr lang="ru-RU"/>
          </a:p>
          <a:p>
            <a:pPr lvl="1"/>
            <a:r>
              <a:rPr lang="ru-RU" b="1"/>
              <a:t>DCL</a:t>
            </a:r>
            <a:r>
              <a:rPr lang="ru-RU"/>
              <a:t> (Data Control Language): GRANT, REVOKE –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access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320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FD440-51DC-8022-CA90-2950A972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4550"/>
          </a:xfrm>
        </p:spPr>
        <p:txBody>
          <a:bodyPr/>
          <a:lstStyle/>
          <a:p>
            <a:r>
              <a:rPr lang="ru-RU" err="1"/>
              <a:t>Why</a:t>
            </a:r>
            <a:r>
              <a:rPr lang="ru-RU"/>
              <a:t> </a:t>
            </a:r>
            <a:r>
              <a:rPr lang="ru-RU" err="1"/>
              <a:t>Learn</a:t>
            </a:r>
            <a:r>
              <a:rPr lang="ru-RU"/>
              <a:t> SQL?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DAEF2-EC2D-8FB7-4B0B-E27A3BA4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/>
          <a:lstStyle/>
          <a:p>
            <a:pPr marL="0" lvl="0" indent="0">
              <a:buNone/>
            </a:pPr>
            <a:r>
              <a:rPr lang="ru-RU" b="1"/>
              <a:t>Universal </a:t>
            </a:r>
            <a:r>
              <a:rPr lang="ru-RU" b="1" err="1"/>
              <a:t>language</a:t>
            </a:r>
            <a:r>
              <a:rPr lang="ru-RU"/>
              <a:t> – </a:t>
            </a:r>
            <a:r>
              <a:rPr lang="ru-RU" err="1"/>
              <a:t>works</a:t>
            </a:r>
            <a:r>
              <a:rPr lang="ru-RU"/>
              <a:t> </a:t>
            </a:r>
            <a:r>
              <a:rPr lang="ru-RU" err="1"/>
              <a:t>across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relational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Declarative</a:t>
            </a:r>
            <a:r>
              <a:rPr lang="ru-RU"/>
              <a:t> –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say</a:t>
            </a:r>
            <a:r>
              <a:rPr lang="ru-RU"/>
              <a:t> WHAT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want</a:t>
            </a:r>
            <a:r>
              <a:rPr lang="ru-RU"/>
              <a:t>, </a:t>
            </a:r>
            <a:r>
              <a:rPr lang="ru-RU" err="1"/>
              <a:t>not</a:t>
            </a:r>
            <a:r>
              <a:rPr lang="ru-RU"/>
              <a:t> HOW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get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Powerful</a:t>
            </a:r>
            <a:r>
              <a:rPr lang="ru-RU"/>
              <a:t> –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answer</a:t>
            </a:r>
            <a:r>
              <a:rPr lang="ru-RU"/>
              <a:t> </a:t>
            </a:r>
            <a:r>
              <a:rPr lang="ru-RU" err="1"/>
              <a:t>complex</a:t>
            </a:r>
            <a:r>
              <a:rPr lang="ru-RU"/>
              <a:t> </a:t>
            </a:r>
            <a:r>
              <a:rPr lang="ru-RU" err="1"/>
              <a:t>business</a:t>
            </a:r>
            <a:r>
              <a:rPr lang="ru-RU"/>
              <a:t> </a:t>
            </a:r>
            <a:r>
              <a:rPr lang="ru-RU" err="1"/>
              <a:t>questions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Career</a:t>
            </a:r>
            <a:r>
              <a:rPr lang="ru-RU" b="1"/>
              <a:t> </a:t>
            </a:r>
            <a:r>
              <a:rPr lang="ru-RU" b="1" err="1"/>
              <a:t>value</a:t>
            </a:r>
            <a:r>
              <a:rPr lang="ru-RU"/>
              <a:t> –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analysts</a:t>
            </a:r>
            <a:r>
              <a:rPr lang="ru-RU"/>
              <a:t>, </a:t>
            </a:r>
            <a:r>
              <a:rPr lang="ru-RU" err="1"/>
              <a:t>scientists</a:t>
            </a:r>
            <a:r>
              <a:rPr lang="ru-RU"/>
              <a:t>, </a:t>
            </a:r>
            <a:r>
              <a:rPr lang="ru-RU" err="1"/>
              <a:t>engineers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use</a:t>
            </a:r>
            <a:r>
              <a:rPr lang="ru-RU"/>
              <a:t> SQL </a:t>
            </a:r>
            <a:r>
              <a:rPr lang="ru-RU" err="1"/>
              <a:t>daily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60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BA6C1-B17E-7EF8-E7E8-F2F5D4F6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</p:spPr>
        <p:txBody>
          <a:bodyPr/>
          <a:lstStyle/>
          <a:p>
            <a:r>
              <a:rPr lang="ru-RU" err="1"/>
              <a:t>Creating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 (DDL)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E4C6C-BE6A-6EAC-C13D-5564E687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CREATE TABLE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 (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 INT PRIMARY KEY,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 VARCHAR(50),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r>
              <a:rPr lang="ru-RU">
                <a:solidFill>
                  <a:schemeClr val="accent3"/>
                </a:solidFill>
              </a:rPr>
              <a:t> VARCHAR(50),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</a:t>
            </a:r>
            <a:r>
              <a:rPr lang="ru-RU" err="1">
                <a:solidFill>
                  <a:schemeClr val="accent3"/>
                </a:solidFill>
              </a:rPr>
              <a:t>Email</a:t>
            </a:r>
            <a:r>
              <a:rPr lang="ru-RU">
                <a:solidFill>
                  <a:schemeClr val="accent3"/>
                </a:solidFill>
              </a:rPr>
              <a:t> VARCHAR(100) UNIQUE,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</a:t>
            </a:r>
            <a:r>
              <a:rPr lang="ru-RU" err="1">
                <a:solidFill>
                  <a:schemeClr val="accent3"/>
                </a:solidFill>
              </a:rPr>
              <a:t>JoinDate</a:t>
            </a:r>
            <a:r>
              <a:rPr lang="ru-RU">
                <a:solidFill>
                  <a:schemeClr val="accent3"/>
                </a:solidFill>
              </a:rPr>
              <a:t> DATE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);</a:t>
            </a:r>
          </a:p>
          <a:p>
            <a:pPr marL="0" lvl="0" indent="0">
              <a:buNone/>
            </a:pPr>
            <a:r>
              <a:rPr lang="ru-RU"/>
              <a:t>Data </a:t>
            </a:r>
            <a:r>
              <a:rPr lang="ru-RU" err="1"/>
              <a:t>types</a:t>
            </a:r>
            <a:r>
              <a:rPr lang="ru-RU"/>
              <a:t>: INT, VARCHAR, DATE, DECIMAL, </a:t>
            </a:r>
            <a:r>
              <a:rPr lang="ru-RU" err="1"/>
              <a:t>etc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Defines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blueprint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your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– </a:t>
            </a:r>
            <a:r>
              <a:rPr lang="ru-RU" err="1"/>
              <a:t>get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wrong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everything</a:t>
            </a:r>
            <a:r>
              <a:rPr lang="ru-RU"/>
              <a:t> </a:t>
            </a:r>
            <a:r>
              <a:rPr lang="ru-RU" err="1"/>
              <a:t>breaks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089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813BC-31E5-5AC9-13D1-AF939CC1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err="1"/>
              <a:t>Inserting</a:t>
            </a:r>
            <a:r>
              <a:rPr lang="ru-RU"/>
              <a:t> Data (DML)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EF2CBC-9021-E62C-85AA-6D7E774F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6"/>
            <a:ext cx="10515600" cy="4795838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INSERT INTO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 (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Email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JoinDate</a:t>
            </a:r>
            <a:r>
              <a:rPr lang="ru-RU">
                <a:solidFill>
                  <a:schemeClr val="accent3"/>
                </a:solidFill>
              </a:rPr>
              <a:t>)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VALUES (1, 'John', '</a:t>
            </a:r>
            <a:r>
              <a:rPr lang="ru-RU" err="1">
                <a:solidFill>
                  <a:schemeClr val="accent3"/>
                </a:solidFill>
              </a:rPr>
              <a:t>Doe</a:t>
            </a:r>
            <a:r>
              <a:rPr lang="ru-RU">
                <a:solidFill>
                  <a:schemeClr val="accent3"/>
                </a:solidFill>
              </a:rPr>
              <a:t>', '</a:t>
            </a:r>
            <a:r>
              <a:rPr lang="ru-RU" u="sng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john@example.com</a:t>
            </a:r>
            <a:r>
              <a:rPr lang="ru-RU">
                <a:solidFill>
                  <a:schemeClr val="accent3"/>
                </a:solidFill>
              </a:rPr>
              <a:t>', '2023-01-15’);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insert</a:t>
            </a:r>
            <a:r>
              <a:rPr lang="ru-RU"/>
              <a:t> </a:t>
            </a: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once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Without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, </a:t>
            </a:r>
            <a:r>
              <a:rPr lang="ru-RU" err="1"/>
              <a:t>database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useless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364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0B858-597A-FD84-6339-C90FD703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ru-RU"/>
              <a:t>Basic SELECT </a:t>
            </a:r>
            <a:r>
              <a:rPr lang="ru-RU" err="1"/>
              <a:t>Queries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F40D02-D4B8-A5B1-0181-DD0E35220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6"/>
            <a:ext cx="10515600" cy="4738688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Retrieve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.</a:t>
            </a:r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r>
              <a:rPr lang="ru-RU">
                <a:solidFill>
                  <a:schemeClr val="accent3"/>
                </a:solidFill>
              </a:rPr>
              <a:t>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lvl="0" indent="0">
              <a:buNone/>
            </a:pPr>
            <a:r>
              <a:rPr lang="ru-RU" err="1"/>
              <a:t>Use</a:t>
            </a:r>
            <a:r>
              <a:rPr lang="ru-RU"/>
              <a:t> * 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select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columns</a:t>
            </a:r>
            <a:r>
              <a:rPr lang="ru-RU"/>
              <a:t>:</a:t>
            </a:r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*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Reading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90%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databases</a:t>
            </a:r>
            <a:r>
              <a:rPr lang="ru-RU"/>
              <a:t> </a:t>
            </a:r>
            <a:r>
              <a:rPr lang="ru-RU" err="1"/>
              <a:t>do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079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ECF08-0A69-033D-1110-4DB3A559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ru-RU" err="1"/>
              <a:t>Filtering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WHERE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78C43-2CC8-5C7D-DA0D-293334F28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852988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*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WHERE </a:t>
            </a:r>
            <a:r>
              <a:rPr lang="ru-RU" err="1">
                <a:solidFill>
                  <a:schemeClr val="accent3"/>
                </a:solidFill>
              </a:rPr>
              <a:t>JoinDate</a:t>
            </a:r>
            <a:r>
              <a:rPr lang="ru-RU">
                <a:solidFill>
                  <a:schemeClr val="accent3"/>
                </a:solidFill>
              </a:rPr>
              <a:t> &gt; '2023-01-01’;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err="1"/>
              <a:t>Operators</a:t>
            </a:r>
            <a:r>
              <a:rPr lang="ru-RU"/>
              <a:t>: =, &lt;&gt;, &lt;, &gt;, &lt;=, &gt;=, LIKE, IN, BETWEEN, AND, OR, NOT.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exactly</a:t>
            </a:r>
            <a:r>
              <a:rPr lang="ru-RU"/>
              <a:t> 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need</a:t>
            </a:r>
            <a:r>
              <a:rPr lang="ru-RU"/>
              <a:t> </a:t>
            </a:r>
            <a:r>
              <a:rPr lang="ru-RU" err="1"/>
              <a:t>among</a:t>
            </a:r>
            <a:r>
              <a:rPr lang="ru-RU"/>
              <a:t> </a:t>
            </a:r>
            <a:r>
              <a:rPr lang="ru-RU" err="1"/>
              <a:t>millions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records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87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7718B-54DF-905B-5F45-92B06920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/>
          <a:lstStyle/>
          <a:p>
            <a:r>
              <a:rPr lang="ru-RU" err="1"/>
              <a:t>Sorting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ORDER BY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A6529F-681C-B352-4E8A-E4748C1E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r>
              <a:rPr lang="ru-RU">
                <a:solidFill>
                  <a:schemeClr val="accent3"/>
                </a:solidFill>
              </a:rPr>
              <a:t>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ORDER BY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r>
              <a:rPr lang="ru-RU">
                <a:solidFill>
                  <a:schemeClr val="accent3"/>
                </a:solidFill>
              </a:rPr>
              <a:t> ASC,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 DESC;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/>
              <a:t>ASC (</a:t>
            </a:r>
            <a:r>
              <a:rPr lang="ru-RU" err="1"/>
              <a:t>default</a:t>
            </a:r>
            <a:r>
              <a:rPr lang="ru-RU"/>
              <a:t>) </a:t>
            </a:r>
            <a:r>
              <a:rPr lang="ru-RU" err="1"/>
              <a:t>or</a:t>
            </a:r>
            <a:r>
              <a:rPr lang="ru-RU"/>
              <a:t> DESC.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Present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meaningfully</a:t>
            </a:r>
            <a:r>
              <a:rPr lang="ru-RU"/>
              <a:t> – </a:t>
            </a:r>
            <a:r>
              <a:rPr lang="ru-RU" err="1"/>
              <a:t>alphabetically</a:t>
            </a:r>
            <a:r>
              <a:rPr lang="ru-RU"/>
              <a:t>,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date</a:t>
            </a:r>
            <a:r>
              <a:rPr lang="ru-RU"/>
              <a:t>,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value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90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27390-4221-1ED8-10D3-C8A1F13C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/>
          <a:lstStyle/>
          <a:p>
            <a:r>
              <a:rPr lang="ru-RU" err="1"/>
              <a:t>Removing</a:t>
            </a:r>
            <a:r>
              <a:rPr lang="ru-RU"/>
              <a:t> </a:t>
            </a:r>
            <a:r>
              <a:rPr lang="ru-RU" err="1"/>
              <a:t>Duplicates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DISTINCT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68914-2D40-20CC-1B69-C8EE9F39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638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DISTINCT City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Know</a:t>
            </a:r>
            <a:r>
              <a:rPr lang="ru-RU"/>
              <a:t> </a:t>
            </a:r>
            <a:r>
              <a:rPr lang="ru-RU" err="1"/>
              <a:t>unique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–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cities</a:t>
            </a:r>
            <a:r>
              <a:rPr lang="ru-RU"/>
              <a:t> </a:t>
            </a:r>
            <a:r>
              <a:rPr lang="ru-RU" err="1"/>
              <a:t>do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serve</a:t>
            </a:r>
            <a:r>
              <a:rPr lang="ru-RU"/>
              <a:t>?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846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89B6F-1590-2BC4-F158-36B4ADF8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ru-RU" err="1"/>
              <a:t>Updating</a:t>
            </a:r>
            <a:r>
              <a:rPr lang="ru-RU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7758A-415D-62DC-9443-046E521E0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UPDATE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SET </a:t>
            </a:r>
            <a:r>
              <a:rPr lang="ru-RU" err="1">
                <a:solidFill>
                  <a:schemeClr val="accent3"/>
                </a:solidFill>
              </a:rPr>
              <a:t>Email</a:t>
            </a:r>
            <a:r>
              <a:rPr lang="ru-RU">
                <a:solidFill>
                  <a:schemeClr val="accent3"/>
                </a:solidFill>
              </a:rPr>
              <a:t> = '</a:t>
            </a:r>
            <a:r>
              <a:rPr lang="ru-RU" u="sng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newemail@example.com</a:t>
            </a:r>
            <a:r>
              <a:rPr lang="ru-RU">
                <a:solidFill>
                  <a:schemeClr val="accent3"/>
                </a:solidFill>
              </a:rPr>
              <a:t>'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WHERE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 = 1;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ru-RU"/>
          </a:p>
          <a:p>
            <a:pPr marL="0" lvl="0" indent="0">
              <a:buNone/>
            </a:pPr>
            <a:r>
              <a:rPr lang="ru-RU"/>
              <a:t>Always </a:t>
            </a:r>
            <a:r>
              <a:rPr lang="ru-RU" err="1"/>
              <a:t>use</a:t>
            </a:r>
            <a:r>
              <a:rPr lang="ru-RU"/>
              <a:t> WHERE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avoid</a:t>
            </a:r>
            <a:r>
              <a:rPr lang="ru-RU"/>
              <a:t> </a:t>
            </a:r>
            <a:r>
              <a:rPr lang="ru-RU" err="1"/>
              <a:t>updating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Keep</a:t>
            </a:r>
            <a:r>
              <a:rPr lang="ru-RU"/>
              <a:t> </a:t>
            </a:r>
            <a:r>
              <a:rPr lang="ru-RU" err="1"/>
              <a:t>information</a:t>
            </a:r>
            <a:r>
              <a:rPr lang="ru-RU"/>
              <a:t> </a:t>
            </a:r>
            <a:r>
              <a:rPr lang="ru-RU" err="1"/>
              <a:t>current</a:t>
            </a:r>
            <a:r>
              <a:rPr lang="ru-RU"/>
              <a:t> –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change</a:t>
            </a:r>
            <a:r>
              <a:rPr lang="ru-RU"/>
              <a:t> </a:t>
            </a:r>
            <a:r>
              <a:rPr lang="ru-RU" err="1"/>
              <a:t>email</a:t>
            </a:r>
            <a:r>
              <a:rPr lang="ru-RU"/>
              <a:t>, </a:t>
            </a:r>
            <a:r>
              <a:rPr lang="ru-RU" err="1"/>
              <a:t>address</a:t>
            </a:r>
            <a:r>
              <a:rPr lang="ru-RU"/>
              <a:t>, </a:t>
            </a:r>
            <a:r>
              <a:rPr lang="ru-RU" err="1"/>
              <a:t>etc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010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3661E-9014-EC39-FF24-4229FE26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ru-RU" err="1"/>
              <a:t>Deleting</a:t>
            </a:r>
            <a:r>
              <a:rPr lang="ru-RU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36844-69FE-142E-8CD6-AE26D773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DELETE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WHERE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 = 1;</a:t>
            </a:r>
            <a:endParaRPr lang="en-US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ru-RU"/>
          </a:p>
          <a:p>
            <a:pPr marL="0" lvl="0" indent="0">
              <a:buNone/>
            </a:pPr>
            <a:r>
              <a:rPr lang="ru-RU"/>
              <a:t>To </a:t>
            </a:r>
            <a:r>
              <a:rPr lang="ru-RU" err="1"/>
              <a:t>delete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: DELETE FROM </a:t>
            </a:r>
            <a:r>
              <a:rPr lang="ru-RU" err="1"/>
              <a:t>Customers</a:t>
            </a:r>
            <a:r>
              <a:rPr lang="ru-RU"/>
              <a:t>; (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remains</a:t>
            </a:r>
            <a:r>
              <a:rPr lang="ru-RU"/>
              <a:t>).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Remove</a:t>
            </a:r>
            <a:r>
              <a:rPr lang="ru-RU"/>
              <a:t> </a:t>
            </a:r>
            <a:r>
              <a:rPr lang="ru-RU" err="1"/>
              <a:t>outdated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incorrect</a:t>
            </a:r>
            <a:r>
              <a:rPr lang="ru-RU"/>
              <a:t> </a:t>
            </a:r>
            <a:r>
              <a:rPr lang="ru-RU" err="1"/>
              <a:t>information</a:t>
            </a:r>
            <a:r>
              <a:rPr lang="ru-RU"/>
              <a:t> (GDPR </a:t>
            </a:r>
            <a:r>
              <a:rPr lang="ru-RU" err="1"/>
              <a:t>compliance</a:t>
            </a:r>
            <a:r>
              <a:rPr lang="ru-RU"/>
              <a:t>!).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847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27AB9-3DBA-9C81-E996-EDC51450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Practice</a:t>
            </a:r>
            <a:r>
              <a:rPr lang="ru-RU"/>
              <a:t> </a:t>
            </a:r>
            <a:r>
              <a:rPr lang="ru-RU" err="1"/>
              <a:t>Exercise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70BEB6-3E75-1374-55D4-2B0BCDC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err="1"/>
              <a:t>Create</a:t>
            </a:r>
            <a:r>
              <a:rPr lang="ru-RU"/>
              <a:t> a </a:t>
            </a:r>
            <a:r>
              <a:rPr lang="ru-RU" err="1"/>
              <a:t>table</a:t>
            </a:r>
            <a:r>
              <a:rPr lang="ru-RU"/>
              <a:t> Products 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columns</a:t>
            </a:r>
            <a:r>
              <a:rPr lang="ru-RU"/>
              <a:t>: </a:t>
            </a:r>
            <a:r>
              <a:rPr lang="ru-RU" err="1"/>
              <a:t>ProductID</a:t>
            </a:r>
            <a:r>
              <a:rPr lang="ru-RU"/>
              <a:t> (PK), </a:t>
            </a:r>
            <a:r>
              <a:rPr lang="ru-RU" err="1"/>
              <a:t>ProductName</a:t>
            </a:r>
            <a:r>
              <a:rPr lang="ru-RU"/>
              <a:t>, Price, </a:t>
            </a:r>
            <a:r>
              <a:rPr lang="ru-RU" err="1"/>
              <a:t>Quantity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Insert</a:t>
            </a:r>
            <a:r>
              <a:rPr lang="ru-RU"/>
              <a:t> 3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products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Write</a:t>
            </a:r>
            <a:r>
              <a:rPr lang="ru-RU"/>
              <a:t> 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select</a:t>
            </a:r>
            <a:r>
              <a:rPr lang="ru-RU"/>
              <a:t> </a:t>
            </a:r>
            <a:r>
              <a:rPr lang="ru-RU" err="1"/>
              <a:t>products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price</a:t>
            </a:r>
            <a:r>
              <a:rPr lang="ru-RU"/>
              <a:t> &gt; 100.</a:t>
            </a:r>
          </a:p>
          <a:p>
            <a:pPr marL="0" lvl="0" indent="0">
              <a:buNone/>
            </a:pPr>
            <a:r>
              <a:rPr lang="ru-RU" err="1"/>
              <a:t>Write</a:t>
            </a:r>
            <a:r>
              <a:rPr lang="ru-RU"/>
              <a:t> 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update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quantity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a </a:t>
            </a:r>
            <a:r>
              <a:rPr lang="ru-RU" err="1"/>
              <a:t>product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700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011F8-DAA2-A78A-8A40-AB255597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50"/>
          </a:xfrm>
        </p:spPr>
        <p:txBody>
          <a:bodyPr/>
          <a:lstStyle/>
          <a:p>
            <a:r>
              <a:rPr lang="ru-RU" err="1"/>
              <a:t>Why</a:t>
            </a:r>
            <a:r>
              <a:rPr lang="ru-RU"/>
              <a:t> Advanced </a:t>
            </a:r>
            <a:r>
              <a:rPr lang="ru-RU" err="1"/>
              <a:t>Queries</a:t>
            </a:r>
            <a:r>
              <a:rPr lang="ru-RU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5B16E-2320-8498-427C-EBEFD16E5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538663"/>
          </a:xfrm>
        </p:spPr>
        <p:txBody>
          <a:bodyPr/>
          <a:lstStyle/>
          <a:p>
            <a:pPr marL="0" lvl="0" indent="0">
              <a:buNone/>
            </a:pPr>
            <a:r>
              <a:rPr lang="ru-RU"/>
              <a:t>Basic </a:t>
            </a:r>
            <a:r>
              <a:rPr lang="ru-RU" err="1"/>
              <a:t>queries</a:t>
            </a:r>
            <a:r>
              <a:rPr lang="ru-RU"/>
              <a:t> </a:t>
            </a:r>
            <a:r>
              <a:rPr lang="ru-RU" err="1"/>
              <a:t>get</a:t>
            </a:r>
            <a:r>
              <a:rPr lang="ru-RU"/>
              <a:t> </a:t>
            </a:r>
            <a:r>
              <a:rPr lang="ru-RU" err="1"/>
              <a:t>single</a:t>
            </a:r>
            <a:r>
              <a:rPr lang="ru-RU"/>
              <a:t> </a:t>
            </a:r>
            <a:r>
              <a:rPr lang="ru-RU" err="1"/>
              <a:t>pieces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information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/>
              <a:t>Real </a:t>
            </a:r>
            <a:r>
              <a:rPr lang="ru-RU" err="1"/>
              <a:t>business</a:t>
            </a:r>
            <a:r>
              <a:rPr lang="ru-RU"/>
              <a:t> </a:t>
            </a:r>
            <a:r>
              <a:rPr lang="ru-RU" err="1"/>
              <a:t>questions</a:t>
            </a:r>
            <a:r>
              <a:rPr lang="ru-RU"/>
              <a:t> </a:t>
            </a:r>
            <a:r>
              <a:rPr lang="ru-RU" err="1"/>
              <a:t>need</a:t>
            </a:r>
            <a:r>
              <a:rPr lang="ru-RU"/>
              <a:t> </a:t>
            </a:r>
            <a:r>
              <a:rPr lang="ru-RU" b="1" err="1"/>
              <a:t>multiple</a:t>
            </a:r>
            <a:r>
              <a:rPr lang="ru-RU" b="1"/>
              <a:t> </a:t>
            </a:r>
            <a:r>
              <a:rPr lang="ru-RU" b="1" err="1"/>
              <a:t>tables</a:t>
            </a:r>
            <a:r>
              <a:rPr lang="ru-RU"/>
              <a:t> </a:t>
            </a:r>
            <a:r>
              <a:rPr lang="ru-RU" err="1"/>
              <a:t>and</a:t>
            </a:r>
            <a:r>
              <a:rPr lang="ru-RU"/>
              <a:t> </a:t>
            </a:r>
            <a:r>
              <a:rPr lang="ru-RU" b="1" err="1"/>
              <a:t>calculations</a:t>
            </a:r>
            <a:r>
              <a:rPr lang="ru-RU"/>
              <a:t>:</a:t>
            </a:r>
          </a:p>
          <a:p>
            <a:pPr lvl="1"/>
            <a:r>
              <a:rPr lang="ru-RU"/>
              <a:t>"</a:t>
            </a:r>
            <a:r>
              <a:rPr lang="ru-RU" err="1"/>
              <a:t>Which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spent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last</a:t>
            </a:r>
            <a:r>
              <a:rPr lang="ru-RU"/>
              <a:t> </a:t>
            </a:r>
            <a:r>
              <a:rPr lang="ru-RU" err="1"/>
              <a:t>month</a:t>
            </a:r>
            <a:r>
              <a:rPr lang="ru-RU"/>
              <a:t>?"</a:t>
            </a:r>
          </a:p>
          <a:p>
            <a:pPr lvl="1"/>
            <a:r>
              <a:rPr lang="ru-RU"/>
              <a:t>"What </a:t>
            </a:r>
            <a:r>
              <a:rPr lang="ru-RU" err="1"/>
              <a:t>products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often</a:t>
            </a:r>
            <a:r>
              <a:rPr lang="ru-RU"/>
              <a:t> </a:t>
            </a:r>
            <a:r>
              <a:rPr lang="ru-RU" err="1"/>
              <a:t>bought</a:t>
            </a:r>
            <a:r>
              <a:rPr lang="ru-RU"/>
              <a:t> </a:t>
            </a:r>
            <a:r>
              <a:rPr lang="ru-RU" err="1"/>
              <a:t>together</a:t>
            </a:r>
            <a:r>
              <a:rPr lang="ru-RU"/>
              <a:t>?"</a:t>
            </a:r>
          </a:p>
          <a:p>
            <a:pPr lvl="1"/>
            <a:r>
              <a:rPr lang="ru-RU"/>
              <a:t>"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does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quarter</a:t>
            </a:r>
            <a:r>
              <a:rPr lang="ru-RU"/>
              <a:t> </a:t>
            </a:r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last</a:t>
            </a:r>
            <a:r>
              <a:rPr lang="ru-RU"/>
              <a:t> </a:t>
            </a:r>
            <a:r>
              <a:rPr lang="ru-RU" err="1"/>
              <a:t>year</a:t>
            </a:r>
            <a:r>
              <a:rPr lang="ru-RU"/>
              <a:t>?"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862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016AB-ECDB-0928-FDEC-0C9F75A4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/>
          <a:lstStyle/>
          <a:p>
            <a:r>
              <a:rPr lang="ru-RU" err="1"/>
              <a:t>Joins</a:t>
            </a:r>
            <a:r>
              <a:rPr lang="ru-RU"/>
              <a:t> – </a:t>
            </a:r>
            <a:r>
              <a:rPr lang="ru-RU" err="1"/>
              <a:t>Combining</a:t>
            </a:r>
            <a:r>
              <a:rPr lang="ru-RU"/>
              <a:t> </a:t>
            </a:r>
            <a:r>
              <a:rPr lang="ru-RU" err="1"/>
              <a:t>Tables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C0A0B-19AD-9239-0B81-292D5F712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Used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combine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 </a:t>
            </a:r>
            <a:r>
              <a:rPr lang="ru-RU" err="1"/>
              <a:t>based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a </a:t>
            </a:r>
            <a:r>
              <a:rPr lang="ru-RU" err="1"/>
              <a:t>related</a:t>
            </a:r>
            <a:r>
              <a:rPr lang="ru-RU"/>
              <a:t> </a:t>
            </a:r>
            <a:r>
              <a:rPr lang="ru-RU" err="1"/>
              <a:t>column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Types</a:t>
            </a:r>
            <a:r>
              <a:rPr lang="ru-RU"/>
              <a:t>:</a:t>
            </a:r>
          </a:p>
          <a:p>
            <a:pPr marL="457200" lvl="1" indent="0">
              <a:buNone/>
            </a:pPr>
            <a:r>
              <a:rPr lang="ru-RU" b="1"/>
              <a:t>INNER JOIN</a:t>
            </a:r>
            <a:r>
              <a:rPr lang="ru-RU"/>
              <a:t>: </a:t>
            </a:r>
            <a:r>
              <a:rPr lang="ru-RU" err="1"/>
              <a:t>returns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matching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.</a:t>
            </a:r>
          </a:p>
          <a:p>
            <a:pPr marL="457200" lvl="1" indent="0">
              <a:buNone/>
            </a:pPr>
            <a:r>
              <a:rPr lang="ru-RU" b="1"/>
              <a:t>LEFT JOIN</a:t>
            </a:r>
            <a:r>
              <a:rPr lang="ru-RU"/>
              <a:t> (</a:t>
            </a:r>
            <a:r>
              <a:rPr lang="ru-RU" err="1"/>
              <a:t>or</a:t>
            </a:r>
            <a:r>
              <a:rPr lang="ru-RU"/>
              <a:t> LEFT OUTER JOIN): </a:t>
            </a:r>
            <a:r>
              <a:rPr lang="ru-RU" err="1"/>
              <a:t>returns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left</a:t>
            </a:r>
            <a:r>
              <a:rPr lang="ru-RU"/>
              <a:t> </a:t>
            </a:r>
            <a:r>
              <a:rPr lang="ru-RU" err="1"/>
              <a:t>table</a:t>
            </a:r>
            <a:r>
              <a:rPr lang="ru-RU"/>
              <a:t>, </a:t>
            </a:r>
            <a:r>
              <a:rPr lang="ru-RU" err="1"/>
              <a:t>matched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right</a:t>
            </a:r>
            <a:r>
              <a:rPr lang="ru-RU"/>
              <a:t>; NULL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match</a:t>
            </a:r>
            <a:r>
              <a:rPr lang="ru-RU"/>
              <a:t>.</a:t>
            </a:r>
          </a:p>
          <a:p>
            <a:pPr marL="457200" lvl="1" indent="0">
              <a:buNone/>
            </a:pPr>
            <a:r>
              <a:rPr lang="ru-RU" b="1"/>
              <a:t>RIGHT JOIN</a:t>
            </a:r>
            <a:r>
              <a:rPr lang="ru-RU"/>
              <a:t>: </a:t>
            </a:r>
            <a:r>
              <a:rPr lang="ru-RU" err="1"/>
              <a:t>opposite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LEFT.</a:t>
            </a:r>
          </a:p>
          <a:p>
            <a:pPr marL="457200" lvl="1" indent="0">
              <a:buNone/>
            </a:pPr>
            <a:r>
              <a:rPr lang="ru-RU" b="1"/>
              <a:t>FULL OUTER JOIN</a:t>
            </a:r>
            <a:r>
              <a:rPr lang="ru-RU"/>
              <a:t>: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both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Real-</a:t>
            </a:r>
            <a:r>
              <a:rPr lang="ru-RU" err="1"/>
              <a:t>world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spread</a:t>
            </a:r>
            <a:r>
              <a:rPr lang="ru-RU"/>
              <a:t> </a:t>
            </a:r>
            <a:r>
              <a:rPr lang="ru-RU" err="1"/>
              <a:t>across</a:t>
            </a:r>
            <a:r>
              <a:rPr lang="ru-RU"/>
              <a:t> </a:t>
            </a: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 – </a:t>
            </a:r>
            <a:r>
              <a:rPr lang="ru-RU" err="1"/>
              <a:t>joins</a:t>
            </a:r>
            <a:r>
              <a:rPr lang="ru-RU"/>
              <a:t> </a:t>
            </a:r>
            <a:r>
              <a:rPr lang="ru-RU" err="1"/>
              <a:t>bring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together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72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390C4-D84B-51EB-FDD2-D18BC432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ru-RU"/>
              <a:t>INNER JOIN </a:t>
            </a:r>
            <a:r>
              <a:rPr lang="ru-RU" err="1"/>
              <a:t>Example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0F23FA-2975-EBB7-592E-F5EE34F8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533525"/>
            <a:ext cx="10639425" cy="46434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err="1"/>
              <a:t>Tables</a:t>
            </a:r>
            <a:r>
              <a:rPr lang="ru-RU"/>
              <a:t>:</a:t>
            </a:r>
          </a:p>
          <a:p>
            <a:pPr marL="0" lvl="0" indent="0">
              <a:buNone/>
            </a:pPr>
            <a:r>
              <a:rPr lang="ru-RU" err="1"/>
              <a:t>Orders</a:t>
            </a:r>
            <a:r>
              <a:rPr lang="ru-RU"/>
              <a:t>: </a:t>
            </a:r>
            <a:r>
              <a:rPr lang="ru-RU" err="1"/>
              <a:t>OrderID</a:t>
            </a:r>
            <a:r>
              <a:rPr lang="ru-RU"/>
              <a:t>, </a:t>
            </a:r>
            <a:r>
              <a:rPr lang="ru-RU" err="1"/>
              <a:t>CustomerID</a:t>
            </a:r>
            <a:r>
              <a:rPr lang="ru-RU"/>
              <a:t>, </a:t>
            </a:r>
            <a:r>
              <a:rPr lang="ru-RU" err="1"/>
              <a:t>OrderDate</a:t>
            </a:r>
            <a:endParaRPr lang="ru-RU"/>
          </a:p>
          <a:p>
            <a:pPr marL="0" lvl="0" indent="0">
              <a:buNone/>
            </a:pPr>
            <a:r>
              <a:rPr lang="ru-RU" err="1"/>
              <a:t>Customers</a:t>
            </a:r>
            <a:r>
              <a:rPr lang="ru-RU"/>
              <a:t>: </a:t>
            </a:r>
            <a:r>
              <a:rPr lang="ru-RU" err="1"/>
              <a:t>CustomerID</a:t>
            </a:r>
            <a:r>
              <a:rPr lang="ru-RU"/>
              <a:t>, </a:t>
            </a:r>
            <a:r>
              <a:rPr lang="ru-RU" err="1"/>
              <a:t>FirstName</a:t>
            </a:r>
            <a:r>
              <a:rPr lang="ru-RU"/>
              <a:t>, </a:t>
            </a:r>
            <a:r>
              <a:rPr lang="ru-RU" err="1"/>
              <a:t>LastName</a:t>
            </a:r>
            <a:endParaRPr lang="en-US"/>
          </a:p>
          <a:p>
            <a:pPr marL="0" lvl="0" indent="0">
              <a:buNone/>
            </a:pPr>
            <a:endParaRPr lang="ru-RU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Orders.OrderID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Customers.FirstName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Customers.LastName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INNER JOIN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 ON </a:t>
            </a:r>
            <a:r>
              <a:rPr lang="ru-RU" err="1">
                <a:solidFill>
                  <a:schemeClr val="accent3"/>
                </a:solidFill>
              </a:rPr>
              <a:t>Orders.CustomerID</a:t>
            </a:r>
            <a:r>
              <a:rPr lang="ru-RU">
                <a:solidFill>
                  <a:schemeClr val="accent3"/>
                </a:solidFill>
              </a:rPr>
              <a:t> = </a:t>
            </a:r>
            <a:r>
              <a:rPr lang="ru-RU" err="1">
                <a:solidFill>
                  <a:schemeClr val="accent3"/>
                </a:solidFill>
              </a:rPr>
              <a:t>Customers.CustomerID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lvl="0" indent="0">
              <a:buNone/>
            </a:pPr>
            <a:r>
              <a:rPr lang="ru-RU" b="1" err="1"/>
              <a:t>Result</a:t>
            </a:r>
            <a:r>
              <a:rPr lang="ru-RU" b="1"/>
              <a:t>:</a:t>
            </a:r>
            <a:r>
              <a:rPr lang="ru-RU"/>
              <a:t> Only </a:t>
            </a:r>
            <a:r>
              <a:rPr lang="ru-RU" err="1"/>
              <a:t>orders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valid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745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6CC02-1E7E-62CF-C78D-135FD8CB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4550"/>
          </a:xfrm>
        </p:spPr>
        <p:txBody>
          <a:bodyPr/>
          <a:lstStyle/>
          <a:p>
            <a:r>
              <a:rPr lang="ru-RU"/>
              <a:t>LEFT JOIN </a:t>
            </a:r>
            <a:r>
              <a:rPr lang="ru-RU" err="1"/>
              <a:t>Example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120944-E036-3162-8951-F4125341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4710113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Customers.FirstName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Orders.OrderID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LEFT JOIN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r>
              <a:rPr lang="ru-RU">
                <a:solidFill>
                  <a:schemeClr val="accent3"/>
                </a:solidFill>
              </a:rPr>
              <a:t> ON </a:t>
            </a:r>
            <a:r>
              <a:rPr lang="ru-RU" err="1">
                <a:solidFill>
                  <a:schemeClr val="accent3"/>
                </a:solidFill>
              </a:rPr>
              <a:t>Customers.CustomerID</a:t>
            </a:r>
            <a:r>
              <a:rPr lang="ru-RU">
                <a:solidFill>
                  <a:schemeClr val="accent3"/>
                </a:solidFill>
              </a:rPr>
              <a:t> = </a:t>
            </a:r>
            <a:r>
              <a:rPr lang="ru-RU" err="1">
                <a:solidFill>
                  <a:schemeClr val="accent3"/>
                </a:solidFill>
              </a:rPr>
              <a:t>Orders.CustomerID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indent="0" latinLnBrk="1">
              <a:buNone/>
            </a:pPr>
            <a:endParaRPr lang="ru-RU"/>
          </a:p>
          <a:p>
            <a:pPr marL="0" lvl="0" indent="0">
              <a:buNone/>
            </a:pPr>
            <a:r>
              <a:rPr lang="ru-RU" err="1"/>
              <a:t>Shows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, </a:t>
            </a:r>
            <a:r>
              <a:rPr lang="ru-RU" err="1"/>
              <a:t>even</a:t>
            </a:r>
            <a:r>
              <a:rPr lang="ru-RU"/>
              <a:t> </a:t>
            </a:r>
            <a:r>
              <a:rPr lang="ru-RU" err="1"/>
              <a:t>those</a:t>
            </a:r>
            <a:r>
              <a:rPr lang="ru-RU"/>
              <a:t> </a:t>
            </a:r>
            <a:r>
              <a:rPr lang="ru-RU" err="1"/>
              <a:t>without</a:t>
            </a:r>
            <a:r>
              <a:rPr lang="ru-RU"/>
              <a:t> </a:t>
            </a:r>
            <a:r>
              <a:rPr lang="ru-RU" err="1"/>
              <a:t>orders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who</a:t>
            </a:r>
            <a:r>
              <a:rPr lang="ru-RU"/>
              <a:t> </a:t>
            </a:r>
            <a:r>
              <a:rPr lang="ru-RU" err="1"/>
              <a:t>never</a:t>
            </a:r>
            <a:r>
              <a:rPr lang="ru-RU"/>
              <a:t> </a:t>
            </a:r>
            <a:r>
              <a:rPr lang="ru-RU" err="1"/>
              <a:t>ordered</a:t>
            </a:r>
            <a:r>
              <a:rPr lang="ru-RU"/>
              <a:t> – </a:t>
            </a:r>
            <a:r>
              <a:rPr lang="ru-RU" err="1"/>
              <a:t>potential</a:t>
            </a:r>
            <a:r>
              <a:rPr lang="ru-RU"/>
              <a:t> </a:t>
            </a:r>
            <a:r>
              <a:rPr lang="ru-RU" err="1"/>
              <a:t>sales</a:t>
            </a:r>
            <a:r>
              <a:rPr lang="ru-RU"/>
              <a:t> </a:t>
            </a:r>
            <a:r>
              <a:rPr lang="ru-RU" err="1"/>
              <a:t>opportunity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40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BE0C0-2D75-5E60-D488-46F9278A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/>
          <a:lstStyle/>
          <a:p>
            <a:r>
              <a:rPr lang="ru-RU" err="1"/>
              <a:t>Aggregate</a:t>
            </a:r>
            <a:r>
              <a:rPr lang="ru-RU"/>
              <a:t> </a:t>
            </a:r>
            <a:r>
              <a:rPr lang="ru-RU" err="1"/>
              <a:t>Functions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C0F97-F293-71FF-898E-93369BBA6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Perform</a:t>
            </a:r>
            <a:r>
              <a:rPr lang="ru-RU"/>
              <a:t> </a:t>
            </a:r>
            <a:r>
              <a:rPr lang="ru-RU" err="1"/>
              <a:t>calculations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a </a:t>
            </a:r>
            <a:r>
              <a:rPr lang="ru-RU" err="1"/>
              <a:t>set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return</a:t>
            </a:r>
            <a:r>
              <a:rPr lang="ru-RU"/>
              <a:t> a </a:t>
            </a:r>
            <a:r>
              <a:rPr lang="ru-RU" err="1"/>
              <a:t>single</a:t>
            </a:r>
            <a:r>
              <a:rPr lang="ru-RU"/>
              <a:t> </a:t>
            </a:r>
            <a:r>
              <a:rPr lang="ru-RU" err="1"/>
              <a:t>value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/>
              <a:t>Common: COUNT, SUM, AVG, MIN, MAX.</a:t>
            </a:r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COUNT(*) AS </a:t>
            </a:r>
            <a:r>
              <a:rPr lang="ru-RU" err="1">
                <a:solidFill>
                  <a:schemeClr val="accent3"/>
                </a:solidFill>
              </a:rPr>
              <a:t>TotalCustomers</a:t>
            </a:r>
            <a:r>
              <a:rPr lang="ru-RU">
                <a:solidFill>
                  <a:schemeClr val="accent3"/>
                </a:solidFill>
              </a:rPr>
              <a:t>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AVG(Price) AS </a:t>
            </a:r>
            <a:r>
              <a:rPr lang="ru-RU" err="1">
                <a:solidFill>
                  <a:schemeClr val="accent3"/>
                </a:solidFill>
              </a:rPr>
              <a:t>AveragePrice</a:t>
            </a:r>
            <a:r>
              <a:rPr lang="ru-RU">
                <a:solidFill>
                  <a:schemeClr val="accent3"/>
                </a:solidFill>
              </a:rPr>
              <a:t> FROM Products;</a:t>
            </a: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Summarize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– </a:t>
            </a:r>
            <a:r>
              <a:rPr lang="ru-RU" err="1"/>
              <a:t>key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business</a:t>
            </a:r>
            <a:r>
              <a:rPr lang="ru-RU"/>
              <a:t> </a:t>
            </a:r>
            <a:r>
              <a:rPr lang="ru-RU" err="1"/>
              <a:t>intelligence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reporting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733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7D452-7DD8-0CA4-BFEB-A700ADFE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/>
          <a:lstStyle/>
          <a:p>
            <a:r>
              <a:rPr lang="ru-RU"/>
              <a:t>GROUP BY – </a:t>
            </a:r>
            <a:r>
              <a:rPr lang="ru-RU" err="1"/>
              <a:t>Grouping</a:t>
            </a:r>
            <a:r>
              <a:rPr lang="ru-RU"/>
              <a:t> </a:t>
            </a:r>
            <a:r>
              <a:rPr lang="ru-RU" err="1"/>
              <a:t>Rows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7DB1C9-9D75-39B1-6BE5-174DD91AE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Groups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same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specified</a:t>
            </a:r>
            <a:r>
              <a:rPr lang="ru-RU"/>
              <a:t> </a:t>
            </a:r>
            <a:r>
              <a:rPr lang="ru-RU" err="1"/>
              <a:t>columns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Often</a:t>
            </a:r>
            <a:r>
              <a:rPr lang="ru-RU"/>
              <a:t> </a:t>
            </a:r>
            <a:r>
              <a:rPr lang="ru-RU" err="1"/>
              <a:t>used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aggregate</a:t>
            </a:r>
            <a:r>
              <a:rPr lang="ru-RU"/>
              <a:t> </a:t>
            </a:r>
            <a:r>
              <a:rPr lang="ru-RU" err="1"/>
              <a:t>functions</a:t>
            </a:r>
            <a:r>
              <a:rPr lang="ru-RU"/>
              <a:t>.</a:t>
            </a:r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, COUNT(*) AS </a:t>
            </a:r>
            <a:r>
              <a:rPr lang="ru-RU" err="1">
                <a:solidFill>
                  <a:schemeClr val="accent3"/>
                </a:solidFill>
              </a:rPr>
              <a:t>OrderCount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GROUP BY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Answer</a:t>
            </a:r>
            <a:r>
              <a:rPr lang="ru-RU"/>
              <a:t> </a:t>
            </a:r>
            <a:r>
              <a:rPr lang="ru-RU" err="1"/>
              <a:t>questions</a:t>
            </a:r>
            <a:r>
              <a:rPr lang="ru-RU"/>
              <a:t> </a:t>
            </a:r>
            <a:r>
              <a:rPr lang="ru-RU" err="1"/>
              <a:t>like</a:t>
            </a:r>
            <a:r>
              <a:rPr lang="ru-RU"/>
              <a:t> "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orders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customer</a:t>
            </a:r>
            <a:r>
              <a:rPr lang="ru-RU"/>
              <a:t>?" </a:t>
            </a:r>
            <a:r>
              <a:rPr lang="ru-RU" err="1"/>
              <a:t>or</a:t>
            </a:r>
            <a:r>
              <a:rPr lang="ru-RU"/>
              <a:t> "Sales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region</a:t>
            </a:r>
            <a:r>
              <a:rPr lang="ru-RU"/>
              <a:t>."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714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AB1AB-4EAA-E5D6-52E0-E3500794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2650"/>
          </a:xfrm>
        </p:spPr>
        <p:txBody>
          <a:bodyPr/>
          <a:lstStyle/>
          <a:p>
            <a:r>
              <a:rPr lang="ru-RU"/>
              <a:t>HAVING – </a:t>
            </a:r>
            <a:r>
              <a:rPr lang="ru-RU" err="1"/>
              <a:t>Filtering</a:t>
            </a:r>
            <a:r>
              <a:rPr lang="ru-RU"/>
              <a:t> </a:t>
            </a:r>
            <a:r>
              <a:rPr lang="ru-RU" err="1"/>
              <a:t>Groups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9E600D-A902-40A4-D344-1ACB6CB9A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5"/>
            <a:ext cx="10515600" cy="474345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err="1"/>
              <a:t>Similar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WHERE,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groups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/>
              <a:t>WHERE </a:t>
            </a:r>
            <a:r>
              <a:rPr lang="ru-RU" err="1"/>
              <a:t>filters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before</a:t>
            </a:r>
            <a:r>
              <a:rPr lang="ru-RU"/>
              <a:t> </a:t>
            </a:r>
            <a:r>
              <a:rPr lang="ru-RU" err="1"/>
              <a:t>grouping</a:t>
            </a:r>
            <a:r>
              <a:rPr lang="ru-RU"/>
              <a:t>, HAVING </a:t>
            </a:r>
            <a:r>
              <a:rPr lang="ru-RU" err="1"/>
              <a:t>filters</a:t>
            </a:r>
            <a:r>
              <a:rPr lang="ru-RU"/>
              <a:t> </a:t>
            </a:r>
            <a:r>
              <a:rPr lang="ru-RU" err="1"/>
              <a:t>after</a:t>
            </a:r>
            <a:r>
              <a:rPr lang="ru-RU"/>
              <a:t>.</a:t>
            </a:r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, COUNT(*) AS </a:t>
            </a:r>
            <a:r>
              <a:rPr lang="ru-RU" err="1">
                <a:solidFill>
                  <a:schemeClr val="accent3"/>
                </a:solidFill>
              </a:rPr>
              <a:t>OrderCount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GROUP BY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HAVING COUNT(*) &gt; 5;</a:t>
            </a: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Find</a:t>
            </a:r>
            <a:r>
              <a:rPr lang="ru-RU"/>
              <a:t> VIP </a:t>
            </a:r>
            <a:r>
              <a:rPr lang="ru-RU" err="1"/>
              <a:t>customers</a:t>
            </a:r>
            <a:r>
              <a:rPr lang="ru-RU"/>
              <a:t> (</a:t>
            </a:r>
            <a:r>
              <a:rPr lang="ru-RU" err="1"/>
              <a:t>those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&gt;5 </a:t>
            </a:r>
            <a:r>
              <a:rPr lang="ru-RU" err="1"/>
              <a:t>orders</a:t>
            </a:r>
            <a:r>
              <a:rPr lang="ru-RU"/>
              <a:t>) </a:t>
            </a:r>
            <a:r>
              <a:rPr lang="ru-RU" err="1"/>
              <a:t>after</a:t>
            </a:r>
            <a:r>
              <a:rPr lang="ru-RU"/>
              <a:t> </a:t>
            </a:r>
            <a:r>
              <a:rPr lang="ru-RU" err="1"/>
              <a:t>grouping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137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A2A3F-A8DA-BE75-F32A-4765A5F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49"/>
          </a:xfrm>
        </p:spPr>
        <p:txBody>
          <a:bodyPr>
            <a:normAutofit/>
          </a:bodyPr>
          <a:lstStyle/>
          <a:p>
            <a:r>
              <a:rPr lang="ru-RU" err="1"/>
              <a:t>Subqueries</a:t>
            </a:r>
            <a:r>
              <a:rPr lang="ru-RU"/>
              <a:t> (</a:t>
            </a:r>
            <a:r>
              <a:rPr lang="ru-RU" err="1"/>
              <a:t>Nested</a:t>
            </a:r>
            <a:r>
              <a:rPr lang="ru-RU"/>
              <a:t> </a:t>
            </a:r>
            <a:r>
              <a:rPr lang="ru-RU" err="1"/>
              <a:t>Queries</a:t>
            </a:r>
            <a:r>
              <a:rPr lang="ru-RU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5C1DB0-165F-8292-F7FB-04DA95F07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786313"/>
          </a:xfrm>
        </p:spPr>
        <p:txBody>
          <a:bodyPr/>
          <a:lstStyle/>
          <a:p>
            <a:pPr marL="0" lvl="0" indent="0">
              <a:buNone/>
            </a:pPr>
            <a:r>
              <a:rPr lang="ru-RU"/>
              <a:t>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inside</a:t>
            </a:r>
            <a:r>
              <a:rPr lang="ru-RU"/>
              <a:t> </a:t>
            </a:r>
            <a:r>
              <a:rPr lang="ru-RU" err="1"/>
              <a:t>another</a:t>
            </a:r>
            <a:r>
              <a:rPr lang="ru-RU"/>
              <a:t> </a:t>
            </a:r>
            <a:r>
              <a:rPr lang="ru-RU" err="1"/>
              <a:t>query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used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SELECT, FROM, WHERE, </a:t>
            </a:r>
            <a:r>
              <a:rPr lang="ru-RU" err="1"/>
              <a:t>etc</a:t>
            </a:r>
            <a:r>
              <a:rPr lang="ru-RU"/>
              <a:t>.</a:t>
            </a:r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FirstName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LastName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WHERE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 IN (SELECT </a:t>
            </a:r>
            <a:r>
              <a:rPr lang="ru-RU" err="1">
                <a:solidFill>
                  <a:schemeClr val="accent3"/>
                </a:solidFill>
              </a:rPr>
              <a:t>CustomerID</a:t>
            </a:r>
            <a:r>
              <a:rPr lang="ru-RU">
                <a:solidFill>
                  <a:schemeClr val="accent3"/>
                </a:solidFill>
              </a:rPr>
              <a:t> FROM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r>
              <a:rPr lang="ru-RU">
                <a:solidFill>
                  <a:schemeClr val="accent3"/>
                </a:solidFill>
              </a:rPr>
              <a:t> WHERE Total &gt; 1000);</a:t>
            </a: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Break</a:t>
            </a:r>
            <a:r>
              <a:rPr lang="ru-RU"/>
              <a:t> </a:t>
            </a:r>
            <a:r>
              <a:rPr lang="ru-RU" err="1"/>
              <a:t>complex</a:t>
            </a:r>
            <a:r>
              <a:rPr lang="ru-RU"/>
              <a:t> </a:t>
            </a:r>
            <a:r>
              <a:rPr lang="ru-RU" err="1"/>
              <a:t>problems</a:t>
            </a:r>
            <a:r>
              <a:rPr lang="ru-RU"/>
              <a:t> </a:t>
            </a:r>
            <a:r>
              <a:rPr lang="ru-RU" err="1"/>
              <a:t>into</a:t>
            </a:r>
            <a:r>
              <a:rPr lang="ru-RU"/>
              <a:t> </a:t>
            </a:r>
            <a:r>
              <a:rPr lang="ru-RU" err="1"/>
              <a:t>simpler</a:t>
            </a:r>
            <a:r>
              <a:rPr lang="ru-RU"/>
              <a:t> </a:t>
            </a:r>
            <a:r>
              <a:rPr lang="ru-RU" err="1"/>
              <a:t>steps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5608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F5E12-DEA6-1E7C-6D3F-3C63DC25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ru-RU" err="1"/>
              <a:t>Subquery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SELECT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DA0357-CD61-63B8-39A6-B30212A20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ProductName</a:t>
            </a:r>
            <a:r>
              <a:rPr lang="ru-RU">
                <a:solidFill>
                  <a:schemeClr val="accent3"/>
                </a:solidFill>
              </a:rPr>
              <a:t>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   Price,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       (SELECT AVG(Price) FROM Products) AS </a:t>
            </a:r>
            <a:r>
              <a:rPr lang="ru-RU" err="1">
                <a:solidFill>
                  <a:schemeClr val="accent3"/>
                </a:solidFill>
              </a:rPr>
              <a:t>OverallAvg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Products;</a:t>
            </a:r>
          </a:p>
          <a:p>
            <a:pPr marL="0" lvl="0" indent="0">
              <a:buNone/>
            </a:pPr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product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query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804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5E789-6789-8402-3EDD-107C7A72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r>
              <a:rPr lang="ru-RU" err="1"/>
              <a:t>Set</a:t>
            </a:r>
            <a:r>
              <a:rPr lang="ru-RU"/>
              <a:t> Operations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14DF15-006E-8CBD-ABCD-43D82568F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5"/>
            <a:ext cx="10515600" cy="479583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err="1"/>
              <a:t>Combine</a:t>
            </a:r>
            <a:r>
              <a:rPr lang="ru-RU"/>
              <a:t> </a:t>
            </a:r>
            <a:r>
              <a:rPr lang="ru-RU" err="1"/>
              <a:t>results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queries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UNION</a:t>
            </a:r>
            <a:r>
              <a:rPr lang="ru-RU"/>
              <a:t>: </a:t>
            </a:r>
            <a:r>
              <a:rPr lang="ru-RU" err="1"/>
              <a:t>combines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removes</a:t>
            </a:r>
            <a:r>
              <a:rPr lang="ru-RU"/>
              <a:t> </a:t>
            </a:r>
            <a:r>
              <a:rPr lang="ru-RU" err="1"/>
              <a:t>duplicates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UNION ALL</a:t>
            </a:r>
            <a:r>
              <a:rPr lang="ru-RU"/>
              <a:t>: </a:t>
            </a:r>
            <a:r>
              <a:rPr lang="ru-RU" err="1"/>
              <a:t>includes</a:t>
            </a:r>
            <a:r>
              <a:rPr lang="ru-RU"/>
              <a:t> </a:t>
            </a:r>
            <a:r>
              <a:rPr lang="ru-RU" err="1"/>
              <a:t>duplicates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INTERSECT</a:t>
            </a:r>
            <a:r>
              <a:rPr lang="ru-RU"/>
              <a:t>: </a:t>
            </a:r>
            <a:r>
              <a:rPr lang="ru-RU" err="1"/>
              <a:t>returns</a:t>
            </a:r>
            <a:r>
              <a:rPr lang="ru-RU"/>
              <a:t> </a:t>
            </a:r>
            <a:r>
              <a:rPr lang="ru-RU" err="1"/>
              <a:t>common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b="1"/>
              <a:t>EXCEPT</a:t>
            </a:r>
            <a:r>
              <a:rPr lang="ru-RU"/>
              <a:t> (</a:t>
            </a:r>
            <a:r>
              <a:rPr lang="ru-RU" err="1"/>
              <a:t>or</a:t>
            </a:r>
            <a:r>
              <a:rPr lang="ru-RU"/>
              <a:t> MINUS): </a:t>
            </a:r>
            <a:r>
              <a:rPr lang="ru-RU" err="1"/>
              <a:t>returns</a:t>
            </a:r>
            <a:r>
              <a:rPr lang="ru-RU"/>
              <a:t> </a:t>
            </a:r>
            <a:r>
              <a:rPr lang="ru-RU" err="1"/>
              <a:t>rows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first</a:t>
            </a:r>
            <a:r>
              <a:rPr lang="ru-RU"/>
              <a:t>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second</a:t>
            </a:r>
            <a:r>
              <a:rPr lang="ru-RU"/>
              <a:t>.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City 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UNION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City FROM </a:t>
            </a:r>
            <a:r>
              <a:rPr lang="ru-RU" err="1">
                <a:solidFill>
                  <a:schemeClr val="accent3"/>
                </a:solidFill>
              </a:rPr>
              <a:t>Suppliers</a:t>
            </a:r>
            <a:r>
              <a:rPr lang="ru-RU">
                <a:solidFill>
                  <a:schemeClr val="accent3"/>
                </a:solidFill>
              </a:rPr>
              <a:t>;</a:t>
            </a:r>
          </a:p>
          <a:p>
            <a:pPr marL="0" lvl="0" indent="0">
              <a:buNone/>
            </a:pPr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cities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do</a:t>
            </a:r>
            <a:r>
              <a:rPr lang="ru-RU"/>
              <a:t> </a:t>
            </a:r>
            <a:r>
              <a:rPr lang="ru-RU" err="1"/>
              <a:t>business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,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either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suppliers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004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DD0EC-834C-E4CE-544A-C8ED1F89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r>
              <a:rPr lang="ru-RU"/>
              <a:t>Advanced </a:t>
            </a:r>
            <a:r>
              <a:rPr lang="ru-RU" err="1"/>
              <a:t>Example</a:t>
            </a:r>
            <a:r>
              <a:rPr lang="ru-RU"/>
              <a:t>: Multi-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Query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6F65A-ED04-B667-357E-BCA18F0F5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786313"/>
          </a:xfrm>
        </p:spPr>
        <p:txBody>
          <a:bodyPr/>
          <a:lstStyle/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SELECT </a:t>
            </a:r>
            <a:r>
              <a:rPr lang="ru-RU" err="1">
                <a:solidFill>
                  <a:schemeClr val="accent3"/>
                </a:solidFill>
              </a:rPr>
              <a:t>C.CustomerID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C.FirstName</a:t>
            </a:r>
            <a:r>
              <a:rPr lang="ru-RU">
                <a:solidFill>
                  <a:schemeClr val="accent3"/>
                </a:solidFill>
              </a:rPr>
              <a:t>, SUM(</a:t>
            </a:r>
            <a:r>
              <a:rPr lang="ru-RU" err="1">
                <a:solidFill>
                  <a:schemeClr val="accent3"/>
                </a:solidFill>
              </a:rPr>
              <a:t>O.Total</a:t>
            </a:r>
            <a:r>
              <a:rPr lang="ru-RU">
                <a:solidFill>
                  <a:schemeClr val="accent3"/>
                </a:solidFill>
              </a:rPr>
              <a:t>) AS </a:t>
            </a:r>
            <a:r>
              <a:rPr lang="ru-RU" err="1">
                <a:solidFill>
                  <a:schemeClr val="accent3"/>
                </a:solidFill>
              </a:rPr>
              <a:t>TotalSpent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FROM </a:t>
            </a:r>
            <a:r>
              <a:rPr lang="ru-RU" err="1">
                <a:solidFill>
                  <a:schemeClr val="accent3"/>
                </a:solidFill>
              </a:rPr>
              <a:t>Customers</a:t>
            </a:r>
            <a:r>
              <a:rPr lang="ru-RU">
                <a:solidFill>
                  <a:schemeClr val="accent3"/>
                </a:solidFill>
              </a:rPr>
              <a:t> C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LEFT JOIN </a:t>
            </a:r>
            <a:r>
              <a:rPr lang="ru-RU" err="1">
                <a:solidFill>
                  <a:schemeClr val="accent3"/>
                </a:solidFill>
              </a:rPr>
              <a:t>Orders</a:t>
            </a:r>
            <a:r>
              <a:rPr lang="ru-RU">
                <a:solidFill>
                  <a:schemeClr val="accent3"/>
                </a:solidFill>
              </a:rPr>
              <a:t> O ON </a:t>
            </a:r>
            <a:r>
              <a:rPr lang="ru-RU" err="1">
                <a:solidFill>
                  <a:schemeClr val="accent3"/>
                </a:solidFill>
              </a:rPr>
              <a:t>C.CustomerID</a:t>
            </a:r>
            <a:r>
              <a:rPr lang="ru-RU">
                <a:solidFill>
                  <a:schemeClr val="accent3"/>
                </a:solidFill>
              </a:rPr>
              <a:t> = </a:t>
            </a:r>
            <a:r>
              <a:rPr lang="ru-RU" err="1">
                <a:solidFill>
                  <a:schemeClr val="accent3"/>
                </a:solidFill>
              </a:rPr>
              <a:t>O.CustomerID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GROUP BY </a:t>
            </a:r>
            <a:r>
              <a:rPr lang="ru-RU" err="1">
                <a:solidFill>
                  <a:schemeClr val="accent3"/>
                </a:solidFill>
              </a:rPr>
              <a:t>C.CustomerID</a:t>
            </a:r>
            <a:r>
              <a:rPr lang="ru-RU">
                <a:solidFill>
                  <a:schemeClr val="accent3"/>
                </a:solidFill>
              </a:rPr>
              <a:t>, </a:t>
            </a:r>
            <a:r>
              <a:rPr lang="ru-RU" err="1">
                <a:solidFill>
                  <a:schemeClr val="accent3"/>
                </a:solidFill>
              </a:rPr>
              <a:t>C.FirstName</a:t>
            </a:r>
            <a:endParaRPr lang="ru-RU">
              <a:solidFill>
                <a:schemeClr val="accent3"/>
              </a:solidFill>
            </a:endParaRP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HAVING SUM(</a:t>
            </a:r>
            <a:r>
              <a:rPr lang="ru-RU" err="1">
                <a:solidFill>
                  <a:schemeClr val="accent3"/>
                </a:solidFill>
              </a:rPr>
              <a:t>O.Total</a:t>
            </a:r>
            <a:r>
              <a:rPr lang="ru-RU">
                <a:solidFill>
                  <a:schemeClr val="accent3"/>
                </a:solidFill>
              </a:rPr>
              <a:t>) &gt; 500</a:t>
            </a:r>
          </a:p>
          <a:p>
            <a:pPr marL="0" indent="0" latinLnBrk="1">
              <a:buNone/>
            </a:pPr>
            <a:r>
              <a:rPr lang="ru-RU">
                <a:solidFill>
                  <a:schemeClr val="accent3"/>
                </a:solidFill>
              </a:rPr>
              <a:t>ORDER BY </a:t>
            </a:r>
            <a:r>
              <a:rPr lang="ru-RU" err="1">
                <a:solidFill>
                  <a:schemeClr val="accent3"/>
                </a:solidFill>
              </a:rPr>
              <a:t>TotalSpent</a:t>
            </a:r>
            <a:r>
              <a:rPr lang="ru-RU">
                <a:solidFill>
                  <a:schemeClr val="accent3"/>
                </a:solidFill>
              </a:rPr>
              <a:t> DESC;</a:t>
            </a:r>
          </a:p>
          <a:p>
            <a:pPr marL="0" indent="0" latinLnBrk="1">
              <a:buNone/>
            </a:pPr>
            <a:endParaRPr lang="ru-RU">
              <a:solidFill>
                <a:schemeClr val="accent3"/>
              </a:solidFill>
            </a:endParaRPr>
          </a:p>
          <a:p>
            <a:pPr marL="0" lvl="0" indent="0">
              <a:buNone/>
            </a:pPr>
            <a:r>
              <a:rPr lang="ru-RU" b="1" err="1"/>
              <a:t>This</a:t>
            </a:r>
            <a:r>
              <a:rPr lang="ru-RU" b="1"/>
              <a:t> </a:t>
            </a:r>
            <a:r>
              <a:rPr lang="ru-RU" b="1" err="1"/>
              <a:t>query</a:t>
            </a:r>
            <a:r>
              <a:rPr lang="ru-RU" b="1"/>
              <a:t> </a:t>
            </a:r>
            <a:r>
              <a:rPr lang="ru-RU" b="1" err="1"/>
              <a:t>answers</a:t>
            </a:r>
            <a:r>
              <a:rPr lang="ru-RU" b="1"/>
              <a:t>:</a:t>
            </a:r>
            <a:r>
              <a:rPr lang="ru-RU"/>
              <a:t> "</a:t>
            </a:r>
            <a:r>
              <a:rPr lang="ru-RU" err="1"/>
              <a:t>Which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spent</a:t>
            </a:r>
            <a:r>
              <a:rPr lang="ru-RU"/>
              <a:t> </a:t>
            </a:r>
            <a:r>
              <a:rPr lang="ru-RU" err="1"/>
              <a:t>over</a:t>
            </a:r>
            <a:r>
              <a:rPr lang="ru-RU"/>
              <a:t> $500,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much</a:t>
            </a:r>
            <a:r>
              <a:rPr lang="ru-RU"/>
              <a:t> </a:t>
            </a:r>
            <a:r>
              <a:rPr lang="ru-RU" err="1"/>
              <a:t>did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spend</a:t>
            </a:r>
            <a:r>
              <a:rPr lang="ru-RU"/>
              <a:t>, </a:t>
            </a:r>
            <a:r>
              <a:rPr lang="ru-RU" err="1"/>
              <a:t>sorted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highest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lowest</a:t>
            </a:r>
            <a:r>
              <a:rPr lang="ru-RU"/>
              <a:t>?"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938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B52CA-2324-4BE4-3EF9-1745D55D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ru-RU" err="1"/>
              <a:t>Practice</a:t>
            </a:r>
            <a:r>
              <a:rPr lang="ru-RU"/>
              <a:t> </a:t>
            </a:r>
            <a:r>
              <a:rPr lang="ru-RU" err="1"/>
              <a:t>Exercise</a:t>
            </a:r>
            <a:r>
              <a:rPr lang="ru-RU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64B95-A696-84DB-9B46-AB968619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0" lvl="0" indent="0">
              <a:buNone/>
            </a:pP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tables</a:t>
            </a:r>
            <a:r>
              <a:rPr lang="ru-RU"/>
              <a:t>: </a:t>
            </a:r>
            <a:r>
              <a:rPr lang="ru-RU" err="1"/>
              <a:t>Students</a:t>
            </a:r>
            <a:r>
              <a:rPr lang="ru-RU"/>
              <a:t> (</a:t>
            </a:r>
            <a:r>
              <a:rPr lang="ru-RU" err="1"/>
              <a:t>StudentID</a:t>
            </a:r>
            <a:r>
              <a:rPr lang="ru-RU"/>
              <a:t>, Name), </a:t>
            </a:r>
            <a:r>
              <a:rPr lang="ru-RU" err="1"/>
              <a:t>Courses</a:t>
            </a:r>
            <a:r>
              <a:rPr lang="ru-RU"/>
              <a:t> (</a:t>
            </a:r>
            <a:r>
              <a:rPr lang="ru-RU" err="1"/>
              <a:t>CourseID</a:t>
            </a:r>
            <a:r>
              <a:rPr lang="ru-RU"/>
              <a:t>, </a:t>
            </a:r>
            <a:r>
              <a:rPr lang="ru-RU" err="1"/>
              <a:t>Title</a:t>
            </a:r>
            <a:r>
              <a:rPr lang="ru-RU"/>
              <a:t>), </a:t>
            </a:r>
            <a:r>
              <a:rPr lang="ru-RU" err="1"/>
              <a:t>Enrollments</a:t>
            </a:r>
            <a:r>
              <a:rPr lang="ru-RU"/>
              <a:t> (</a:t>
            </a:r>
            <a:r>
              <a:rPr lang="ru-RU" err="1"/>
              <a:t>StudentID</a:t>
            </a:r>
            <a:r>
              <a:rPr lang="ru-RU"/>
              <a:t>, </a:t>
            </a:r>
            <a:r>
              <a:rPr lang="ru-RU" err="1"/>
              <a:t>CourseID</a:t>
            </a:r>
            <a:r>
              <a:rPr lang="ru-RU"/>
              <a:t>, </a:t>
            </a:r>
            <a:r>
              <a:rPr lang="ru-RU" err="1"/>
              <a:t>Grade</a:t>
            </a:r>
            <a:r>
              <a:rPr lang="ru-RU"/>
              <a:t>)</a:t>
            </a:r>
          </a:p>
          <a:p>
            <a:pPr marL="0" lvl="0" indent="0">
              <a:buNone/>
            </a:pPr>
            <a:r>
              <a:rPr lang="ru-RU" err="1"/>
              <a:t>Write</a:t>
            </a:r>
            <a:r>
              <a:rPr lang="ru-RU"/>
              <a:t> 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list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student's</a:t>
            </a:r>
            <a:r>
              <a:rPr lang="ru-RU"/>
              <a:t> </a:t>
            </a:r>
            <a:r>
              <a:rPr lang="ru-RU" err="1"/>
              <a:t>name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number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courses</a:t>
            </a:r>
            <a:r>
              <a:rPr lang="ru-RU"/>
              <a:t> </a:t>
            </a:r>
            <a:r>
              <a:rPr lang="ru-RU" err="1"/>
              <a:t>they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enrolled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.</a:t>
            </a:r>
          </a:p>
          <a:p>
            <a:pPr marL="0" lvl="0" indent="0">
              <a:buNone/>
            </a:pPr>
            <a:r>
              <a:rPr lang="ru-RU" err="1"/>
              <a:t>Write</a:t>
            </a:r>
            <a:r>
              <a:rPr lang="ru-RU"/>
              <a:t> 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courses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grade</a:t>
            </a:r>
            <a:r>
              <a:rPr lang="ru-RU"/>
              <a:t> </a:t>
            </a:r>
            <a:r>
              <a:rPr lang="ru-RU" err="1"/>
              <a:t>above</a:t>
            </a:r>
            <a:r>
              <a:rPr lang="ru-RU"/>
              <a:t> 85.</a:t>
            </a:r>
          </a:p>
          <a:p>
            <a:pPr marL="0" lvl="0" indent="0">
              <a:buNone/>
            </a:pPr>
            <a:r>
              <a:rPr lang="ru-RU" err="1"/>
              <a:t>Write</a:t>
            </a:r>
            <a:r>
              <a:rPr lang="ru-RU"/>
              <a:t> a </a:t>
            </a:r>
            <a:r>
              <a:rPr lang="ru-RU" err="1"/>
              <a:t>query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list</a:t>
            </a:r>
            <a:r>
              <a:rPr lang="ru-RU"/>
              <a:t> </a:t>
            </a:r>
            <a:r>
              <a:rPr lang="ru-RU" err="1"/>
              <a:t>students</a:t>
            </a:r>
            <a:r>
              <a:rPr lang="ru-RU"/>
              <a:t> </a:t>
            </a:r>
            <a:r>
              <a:rPr lang="ru-RU" err="1"/>
              <a:t>who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enrolled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any</a:t>
            </a:r>
            <a:r>
              <a:rPr lang="ru-RU"/>
              <a:t> </a:t>
            </a:r>
            <a:r>
              <a:rPr lang="ru-RU" err="1"/>
              <a:t>course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1996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0D5C1E-04C2-40B3-940D-5A8E117DE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2CB193-2AAA-4266-A8D8-BF02F99B1932}"/>
</file>

<file path=customXml/itemProps3.xml><?xml version="1.0" encoding="utf-8"?>
<ds:datastoreItem xmlns:ds="http://schemas.openxmlformats.org/officeDocument/2006/customXml" ds:itemID="{2E5968F7-4156-4071-A0D7-CC8489D635A5}">
  <ds:schemaRefs>
    <ds:schemaRef ds:uri="97039dda-64f8-41f1-b3d6-f92ff14c10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Тема Office</vt:lpstr>
      <vt:lpstr>Data Storage and SQL Fundamentals</vt:lpstr>
      <vt:lpstr>PowerPoint Presentation</vt:lpstr>
      <vt:lpstr>What is Data Storage?</vt:lpstr>
      <vt:lpstr>Introduction to Databases</vt:lpstr>
      <vt:lpstr>Why Different Database Types?</vt:lpstr>
      <vt:lpstr>Two Main Categories</vt:lpstr>
      <vt:lpstr>Relational Databases (RDBMS)</vt:lpstr>
      <vt:lpstr>Non-Relational Databases (NoSQL)</vt:lpstr>
      <vt:lpstr>Type 1 – Document Stores</vt:lpstr>
      <vt:lpstr>Type 2 – Key-Value Stores</vt:lpstr>
      <vt:lpstr>Type 3 – Column-Family Stores</vt:lpstr>
      <vt:lpstr>Type 4 – Graph Databases</vt:lpstr>
      <vt:lpstr>Comparison Table</vt:lpstr>
      <vt:lpstr>When to Use Which?</vt:lpstr>
      <vt:lpstr>Quick Check – Which Database?</vt:lpstr>
      <vt:lpstr>Why Relational Databases Dominate</vt:lpstr>
      <vt:lpstr>Relational Database Model</vt:lpstr>
      <vt:lpstr>Key Concepts</vt:lpstr>
      <vt:lpstr>Introduction to SQL</vt:lpstr>
      <vt:lpstr>Why Learn SQL?</vt:lpstr>
      <vt:lpstr>Creating Tables (DDL)</vt:lpstr>
      <vt:lpstr>Inserting Data (DML)</vt:lpstr>
      <vt:lpstr>Basic SELECT Queries</vt:lpstr>
      <vt:lpstr>Filtering with WHERE</vt:lpstr>
      <vt:lpstr>Sorting with ORDER BY</vt:lpstr>
      <vt:lpstr>Removing Duplicates with DISTINCT</vt:lpstr>
      <vt:lpstr>Updating Data</vt:lpstr>
      <vt:lpstr>Deleting Data</vt:lpstr>
      <vt:lpstr>Practice Exercise</vt:lpstr>
      <vt:lpstr>Why Advanced Queries?</vt:lpstr>
      <vt:lpstr>Joins – Combining Tables</vt:lpstr>
      <vt:lpstr>INNER JOIN Example</vt:lpstr>
      <vt:lpstr>LEFT JOIN Example</vt:lpstr>
      <vt:lpstr>Aggregate Functions</vt:lpstr>
      <vt:lpstr>GROUP BY – Grouping Rows</vt:lpstr>
      <vt:lpstr>HAVING – Filtering Groups</vt:lpstr>
      <vt:lpstr>Subqueries (Nested Queries)</vt:lpstr>
      <vt:lpstr>Subquery in SELECT</vt:lpstr>
      <vt:lpstr>Set Operations</vt:lpstr>
      <vt:lpstr>Advanced Example: Multi-Table Query</vt:lpstr>
      <vt:lpstr>Practice Exercise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revision>1</cp:revision>
  <dcterms:created xsi:type="dcterms:W3CDTF">2026-03-17T11:53:07Z</dcterms:created>
  <dcterms:modified xsi:type="dcterms:W3CDTF">2026-03-26T11:04:11Z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