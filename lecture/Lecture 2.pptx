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303" r:id="rId24"/>
    <p:sldId id="275" r:id="rId25"/>
    <p:sldId id="304" r:id="rId26"/>
    <p:sldId id="276" r:id="rId27"/>
    <p:sldId id="305" r:id="rId28"/>
    <p:sldId id="277" r:id="rId29"/>
    <p:sldId id="306" r:id="rId30"/>
    <p:sldId id="278" r:id="rId31"/>
    <p:sldId id="281" r:id="rId32"/>
    <p:sldId id="307" r:id="rId33"/>
    <p:sldId id="279" r:id="rId34"/>
    <p:sldId id="308" r:id="rId35"/>
    <p:sldId id="280" r:id="rId36"/>
    <p:sldId id="309" r:id="rId37"/>
    <p:sldId id="282" r:id="rId38"/>
    <p:sldId id="310" r:id="rId39"/>
    <p:sldId id="283" r:id="rId40"/>
    <p:sldId id="311" r:id="rId41"/>
    <p:sldId id="284" r:id="rId42"/>
    <p:sldId id="285" r:id="rId43"/>
    <p:sldId id="312" r:id="rId44"/>
    <p:sldId id="286" r:id="rId45"/>
    <p:sldId id="287" r:id="rId46"/>
    <p:sldId id="313" r:id="rId47"/>
    <p:sldId id="288" r:id="rId48"/>
    <p:sldId id="314" r:id="rId49"/>
    <p:sldId id="289" r:id="rId50"/>
    <p:sldId id="315" r:id="rId51"/>
    <p:sldId id="290" r:id="rId52"/>
    <p:sldId id="316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9" r:id="rId61"/>
    <p:sldId id="300" r:id="rId62"/>
    <p:sldId id="301" r:id="rId63"/>
    <p:sldId id="302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DAADF-36F3-DE8D-E240-097DA155737F}" v="3" dt="2026-03-12T17:22:12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lan Tukenov" userId="S::a_tukenov@kbtu.kz::b99da7bd-0d47-4c46-be66-dd0e2100e6a7" providerId="AD" clId="Web-{B99DAADF-36F3-DE8D-E240-097DA155737F}"/>
    <pc:docChg chg="modSld">
      <pc:chgData name="Aslan Tukenov" userId="S::a_tukenov@kbtu.kz::b99da7bd-0d47-4c46-be66-dd0e2100e6a7" providerId="AD" clId="Web-{B99DAADF-36F3-DE8D-E240-097DA155737F}" dt="2026-03-12T17:22:12.298" v="2" actId="20577"/>
      <pc:docMkLst>
        <pc:docMk/>
      </pc:docMkLst>
      <pc:sldChg chg="modSp">
        <pc:chgData name="Aslan Tukenov" userId="S::a_tukenov@kbtu.kz::b99da7bd-0d47-4c46-be66-dd0e2100e6a7" providerId="AD" clId="Web-{B99DAADF-36F3-DE8D-E240-097DA155737F}" dt="2026-03-12T17:22:12.298" v="2" actId="20577"/>
        <pc:sldMkLst>
          <pc:docMk/>
          <pc:sldMk cId="261394019" sldId="257"/>
        </pc:sldMkLst>
        <pc:spChg chg="mod">
          <ac:chgData name="Aslan Tukenov" userId="S::a_tukenov@kbtu.kz::b99da7bd-0d47-4c46-be66-dd0e2100e6a7" providerId="AD" clId="Web-{B99DAADF-36F3-DE8D-E240-097DA155737F}" dt="2026-03-12T17:22:12.298" v="2" actId="20577"/>
          <ac:spMkLst>
            <pc:docMk/>
            <pc:sldMk cId="261394019" sldId="257"/>
            <ac:spMk id="3" creationId="{D5476E4C-86FF-B020-06C0-FEC109959F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7E3A3-C02A-7C83-891E-A59D7ECF4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6A1533-654A-850B-0700-FAECAC50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3AAA3-42B7-07A2-2A13-764B452B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9F808F-B004-7DC7-AC3F-5D52C1CF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D03D5-EA99-BC76-D9F3-66037AA6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8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48301-C318-54D4-F44A-D9DF2B07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A7F80-5839-1EFD-52EF-C44557E75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39C6CB-2C3B-2D3C-E5D1-0CA8A4E9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3BD64-508D-C1A9-440D-AD5D7736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BB8AE0-1EEF-15E2-1A5B-AB71158B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5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04FA4-86AE-F35E-9C64-4066AEFE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B76D16-B68E-285A-B7C5-61EB1F3CF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638DD-BCB0-87E7-BEB6-BF1E6BBA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09102C-ED15-A528-6124-58FC3D6C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4F557F-815D-D39A-06D2-0C7357FA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5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D155-9623-B298-804C-A731D899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F10AB-1D31-B5D3-1E11-B730EBF3C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CFE0E5-F992-6CC8-E16C-32558E398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39B17B-8932-F19D-BD8D-9FE6F6EE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53D23C-7F1D-809C-0F64-DD6A1076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1D02D9-4B88-4734-3917-433A58BD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40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4418E-53FE-7099-A892-AB73D886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8ABED2-463C-8620-DF46-823D95590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115630-5A5E-F465-1C1E-3DF872B8A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60FD1F-698C-84D7-0BAE-84C3A3216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248DBA9-BDAA-9FFA-8449-5D4011629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B5FFE6-6426-059B-FB34-C2FB3035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2D91A1-3BD2-21F8-E6EE-DA32A0E1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80E350-5704-4692-D93D-3E3E0E3E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59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24358-1141-AC9F-1B1A-307627E3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520CF-8565-D0EE-B62F-03B53C18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7C26D4-6963-BB41-1C0F-C5B41183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BFA819-814D-2BAF-412C-8DF329F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34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B5E2DC-70D3-3DA3-18F1-5CBE7CD3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A0C54F-C4AC-0192-317E-9820A15C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BFECB4-F53B-3C79-C7DC-586C5FD4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81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3D708-2800-2CB0-3824-1AF3DACF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751B6-3152-6F94-9DE4-157A37FBD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861B1F-FC43-20D7-6A80-C0B8E2E9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08083B-08C5-CFC5-4BAF-E111D3A5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031EA8-E0A7-F0DF-4325-C9F08833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EA067C-A207-1970-FD85-61CBA7E2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11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5526A-1BE3-9AAF-1E51-B702CF09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863FA9-19F6-6A9D-15C5-FCDEBE8B8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66186E-99C1-680C-9809-245C74CF2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A19B33-1932-248E-865E-3A3DB022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879D38-DCBE-9678-9263-1E4834C2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5F7F48-0724-C97B-C927-57E84788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62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402F6-BC67-D22C-764B-0364FF7A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98CCF4-099C-75F0-37C5-EF9DB8910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2342B-885D-CAE5-A0B4-0A18C75A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478146-D6DE-498A-50EE-7E027B2F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D0BB7A-571C-BC8F-680C-6AB29771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29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3C821C-EA5D-7BFF-1FC1-C2964A8B0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28E5C2-AF28-9160-8A9F-D3C509E50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4FA00-2193-BD1A-0ACC-D758D3E7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B9AA3F-6F42-E65C-1B1A-36D8CB26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DD081-218F-863B-0C06-F4E7B022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405EA-8ECC-5692-81B0-069E5DA8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3D6D80-7568-9BC3-67C3-346A24CB7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74A36-0591-A2F4-00EC-1031A034C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A5AD2-2231-42E9-AC6A-647BE5D7E03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FACDAD-D35D-61BA-D3F7-F9046815C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BEDE0C-BCC3-3864-6ADD-E68688EB8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C9D96-33DB-4BD7-AEFF-B00227E646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47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datasciencedojo/datasets/master/titanic.csv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A6E8A-FCD7-3EB6-4C71-65B32BBA9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 err="1"/>
              <a:t>Exploratory</a:t>
            </a:r>
            <a:r>
              <a:rPr lang="ru-RU" sz="4000" b="1"/>
              <a:t> Data Analysis (EDA)</a:t>
            </a:r>
            <a:br>
              <a:rPr lang="ru-RU" sz="4000"/>
            </a:br>
            <a:r>
              <a:rPr lang="ru-RU" sz="4000" i="1"/>
              <a:t>Data </a:t>
            </a:r>
            <a:r>
              <a:rPr lang="ru-RU" sz="4000" i="1" err="1"/>
              <a:t>Cleaning</a:t>
            </a:r>
            <a:r>
              <a:rPr lang="ru-RU" sz="4000" i="1"/>
              <a:t> &amp; </a:t>
            </a:r>
            <a:r>
              <a:rPr lang="ru-RU" sz="4000" i="1" err="1"/>
              <a:t>Visualization</a:t>
            </a:r>
            <a:br>
              <a:rPr lang="ru-RU" sz="4000"/>
            </a:br>
            <a:endParaRPr lang="ru-RU" sz="40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1C4CF6-D1AD-015C-C937-DE88C9EAA3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/>
              <a:t>Week 2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46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99CCE-A580-762A-8510-619C379E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What </a:t>
            </a:r>
            <a:r>
              <a:rPr lang="ru-RU" err="1"/>
              <a:t>is</a:t>
            </a:r>
            <a:r>
              <a:rPr lang="ru-RU"/>
              <a:t> EDA?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476E4C-86FF-B020-06C0-FEC109959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b="1"/>
              <a:t>Definition:</a:t>
            </a:r>
            <a:br>
              <a:rPr lang="ru-RU"/>
            </a:br>
            <a:r>
              <a:rPr lang="ru-RU" i="1"/>
              <a:t>"</a:t>
            </a:r>
            <a:r>
              <a:rPr lang="ru-RU" i="1" err="1"/>
              <a:t>Exploratory</a:t>
            </a:r>
            <a:r>
              <a:rPr lang="ru-RU" i="1"/>
              <a:t> Data Analysis </a:t>
            </a:r>
            <a:r>
              <a:rPr lang="ru-RU" i="1" err="1"/>
              <a:t>is</a:t>
            </a:r>
            <a:r>
              <a:rPr lang="ru-RU" i="1"/>
              <a:t> </a:t>
            </a:r>
            <a:r>
              <a:rPr lang="ru-RU" i="1" err="1"/>
              <a:t>the</a:t>
            </a:r>
            <a:r>
              <a:rPr lang="ru-RU" i="1"/>
              <a:t> </a:t>
            </a:r>
            <a:r>
              <a:rPr lang="ru-RU" i="1" err="1"/>
              <a:t>process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understanding</a:t>
            </a:r>
            <a:r>
              <a:rPr lang="ru-RU" i="1"/>
              <a:t> </a:t>
            </a:r>
            <a:r>
              <a:rPr lang="ru-RU" i="1" err="1"/>
              <a:t>your</a:t>
            </a:r>
            <a:r>
              <a:rPr lang="ru-RU" i="1"/>
              <a:t> </a:t>
            </a:r>
            <a:r>
              <a:rPr lang="ru-RU" i="1" err="1"/>
              <a:t>data</a:t>
            </a:r>
            <a:r>
              <a:rPr lang="ru-RU" i="1"/>
              <a:t> </a:t>
            </a:r>
            <a:r>
              <a:rPr lang="ru-RU" i="1" err="1"/>
              <a:t>before</a:t>
            </a:r>
            <a:r>
              <a:rPr lang="ru-RU" i="1"/>
              <a:t> </a:t>
            </a:r>
            <a:r>
              <a:rPr lang="ru-RU" i="1" err="1"/>
              <a:t>formal</a:t>
            </a:r>
            <a:r>
              <a:rPr lang="ru-RU" i="1"/>
              <a:t> </a:t>
            </a:r>
            <a:r>
              <a:rPr lang="ru-RU" i="1" err="1"/>
              <a:t>analysis</a:t>
            </a:r>
            <a:r>
              <a:rPr lang="ru-RU" i="1"/>
              <a:t>"</a:t>
            </a:r>
            <a:endParaRPr lang="ru-RU"/>
          </a:p>
          <a:p>
            <a:r>
              <a:rPr lang="ru-RU" b="1" err="1"/>
              <a:t>Three</a:t>
            </a:r>
            <a:r>
              <a:rPr lang="ru-RU" b="1"/>
              <a:t> </a:t>
            </a:r>
            <a:r>
              <a:rPr lang="ru-RU" b="1" err="1"/>
              <a:t>Main</a:t>
            </a:r>
            <a:r>
              <a:rPr lang="ru-RU" b="1"/>
              <a:t> </a:t>
            </a:r>
            <a:r>
              <a:rPr lang="ru-RU" b="1" err="1"/>
              <a:t>Goals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b="1"/>
              <a:t>Discover</a:t>
            </a:r>
            <a:r>
              <a:rPr lang="ru-RU"/>
              <a:t> </a:t>
            </a:r>
            <a:r>
              <a:rPr lang="ru-RU" err="1"/>
              <a:t>patterns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relationships</a:t>
            </a:r>
            <a:endParaRPr lang="ru-RU"/>
          </a:p>
          <a:p>
            <a:pPr lvl="0"/>
            <a:r>
              <a:rPr lang="ru-RU" b="1" err="1"/>
              <a:t>Identify</a:t>
            </a:r>
            <a:r>
              <a:rPr lang="ru-RU"/>
              <a:t> </a:t>
            </a:r>
            <a:r>
              <a:rPr lang="ru-RU" err="1"/>
              <a:t>anomalies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issues</a:t>
            </a:r>
            <a:endParaRPr lang="ru-RU"/>
          </a:p>
          <a:p>
            <a:r>
              <a:rPr lang="ru-RU" b="1" err="1"/>
              <a:t>Generate</a:t>
            </a:r>
            <a:r>
              <a:rPr lang="ru-RU"/>
              <a:t> </a:t>
            </a:r>
            <a:r>
              <a:rPr lang="ru-RU" err="1"/>
              <a:t>hypotheses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testing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E2501-EAD5-DFC2-3B1B-26CAD8BC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The EDA </a:t>
            </a:r>
            <a:r>
              <a:rPr lang="ru-RU" err="1"/>
              <a:t>Philosophy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0DB2B-F209-DA57-E525-BB080360E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/>
              <a:t>Be a </a:t>
            </a:r>
            <a:r>
              <a:rPr lang="ru-RU" b="1" err="1"/>
              <a:t>Detective</a:t>
            </a:r>
            <a:r>
              <a:rPr lang="ru-RU" b="1"/>
              <a:t>, </a:t>
            </a:r>
            <a:r>
              <a:rPr lang="ru-RU" b="1" err="1"/>
              <a:t>Not</a:t>
            </a:r>
            <a:r>
              <a:rPr lang="ru-RU" b="1"/>
              <a:t> a </a:t>
            </a:r>
            <a:r>
              <a:rPr lang="ru-RU" b="1" err="1"/>
              <a:t>Judge</a:t>
            </a:r>
            <a:r>
              <a:rPr lang="ru-RU" b="1"/>
              <a:t>:</a:t>
            </a:r>
            <a:endParaRPr lang="en-US" b="1"/>
          </a:p>
          <a:p>
            <a:endParaRPr lang="ru-RU"/>
          </a:p>
          <a:p>
            <a:r>
              <a:rPr lang="ru-RU" b="1" err="1"/>
              <a:t>Ask</a:t>
            </a:r>
            <a:r>
              <a:rPr lang="ru-RU" b="1"/>
              <a:t> </a:t>
            </a:r>
            <a:r>
              <a:rPr lang="ru-RU" b="1" err="1"/>
              <a:t>Questions</a:t>
            </a:r>
            <a:r>
              <a:rPr lang="ru-RU" b="1"/>
              <a:t>:</a:t>
            </a:r>
            <a:r>
              <a:rPr lang="ru-RU"/>
              <a:t> "</a:t>
            </a:r>
            <a:r>
              <a:rPr lang="ru-RU" err="1"/>
              <a:t>Why</a:t>
            </a:r>
            <a:r>
              <a:rPr lang="ru-RU"/>
              <a:t> </a:t>
            </a:r>
            <a:r>
              <a:rPr lang="ru-RU" err="1"/>
              <a:t>does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pattern</a:t>
            </a:r>
            <a:r>
              <a:rPr lang="ru-RU"/>
              <a:t> </a:t>
            </a:r>
            <a:r>
              <a:rPr lang="ru-RU" err="1"/>
              <a:t>exist</a:t>
            </a:r>
            <a:r>
              <a:rPr lang="ru-RU"/>
              <a:t>?“</a:t>
            </a:r>
            <a:endParaRPr lang="en-US"/>
          </a:p>
          <a:p>
            <a:r>
              <a:rPr lang="ru-RU" b="1"/>
              <a:t>Document </a:t>
            </a:r>
            <a:r>
              <a:rPr lang="ru-RU" b="1" err="1"/>
              <a:t>Everything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Every</a:t>
            </a:r>
            <a:r>
              <a:rPr lang="ru-RU"/>
              <a:t> </a:t>
            </a:r>
            <a:r>
              <a:rPr lang="ru-RU" err="1"/>
              <a:t>observation</a:t>
            </a:r>
            <a:r>
              <a:rPr lang="ru-RU"/>
              <a:t> </a:t>
            </a:r>
            <a:r>
              <a:rPr lang="ru-RU" err="1"/>
              <a:t>counts</a:t>
            </a:r>
            <a:endParaRPr lang="en-US"/>
          </a:p>
          <a:p>
            <a:r>
              <a:rPr lang="ru-RU" b="1" err="1"/>
              <a:t>Stay</a:t>
            </a:r>
            <a:r>
              <a:rPr lang="ru-RU" b="1"/>
              <a:t> </a:t>
            </a:r>
            <a:r>
              <a:rPr lang="ru-RU" b="1" err="1"/>
              <a:t>Curious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Assume</a:t>
            </a:r>
            <a:r>
              <a:rPr lang="ru-RU"/>
              <a:t> </a:t>
            </a:r>
            <a:r>
              <a:rPr lang="ru-RU" err="1"/>
              <a:t>nothing</a:t>
            </a:r>
            <a:r>
              <a:rPr lang="ru-RU"/>
              <a:t>, </a:t>
            </a:r>
            <a:r>
              <a:rPr lang="ru-RU" err="1"/>
              <a:t>question</a:t>
            </a:r>
            <a:r>
              <a:rPr lang="ru-RU"/>
              <a:t> </a:t>
            </a:r>
            <a:r>
              <a:rPr lang="ru-RU" err="1"/>
              <a:t>everything</a:t>
            </a:r>
            <a:endParaRPr lang="en-US"/>
          </a:p>
          <a:p>
            <a:r>
              <a:rPr lang="ru-RU" b="1" err="1"/>
              <a:t>Visualize</a:t>
            </a:r>
            <a:r>
              <a:rPr lang="ru-RU" b="1"/>
              <a:t> </a:t>
            </a:r>
            <a:r>
              <a:rPr lang="ru-RU" b="1" err="1"/>
              <a:t>Early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See</a:t>
            </a:r>
            <a:r>
              <a:rPr lang="ru-RU"/>
              <a:t> </a:t>
            </a:r>
            <a:r>
              <a:rPr lang="ru-RU" err="1"/>
              <a:t>what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numbers</a:t>
            </a:r>
            <a:r>
              <a:rPr lang="ru-RU"/>
              <a:t> </a:t>
            </a:r>
            <a:r>
              <a:rPr lang="ru-RU" err="1"/>
              <a:t>can't</a:t>
            </a:r>
            <a:r>
              <a:rPr lang="ru-RU"/>
              <a:t> </a:t>
            </a:r>
            <a:r>
              <a:rPr lang="ru-RU" err="1"/>
              <a:t>show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2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F10B7-C743-264A-F195-A80C8310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The </a:t>
            </a:r>
            <a:r>
              <a:rPr lang="ru-RU" err="1"/>
              <a:t>Complete</a:t>
            </a:r>
            <a:r>
              <a:rPr lang="ru-RU"/>
              <a:t> EDA </a:t>
            </a:r>
            <a:r>
              <a:rPr lang="ru-RU" err="1"/>
              <a:t>Workflow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487922-1659-A152-0F18-14ABDAB0C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atinLnBrk="1"/>
            <a:r>
              <a:rPr lang="ru-RU"/>
              <a:t>1. LOAD → Get </a:t>
            </a:r>
            <a:r>
              <a:rPr lang="ru-RU" err="1"/>
              <a:t>your</a:t>
            </a:r>
            <a:r>
              <a:rPr lang="ru-RU"/>
              <a:t> </a:t>
            </a:r>
            <a:r>
              <a:rPr lang="ru-RU" err="1"/>
              <a:t>data</a:t>
            </a:r>
            <a:endParaRPr lang="ru-RU"/>
          </a:p>
          <a:p>
            <a:pPr latinLnBrk="1"/>
            <a:r>
              <a:rPr lang="ru-RU"/>
              <a:t>2. INSPECT → First </a:t>
            </a:r>
            <a:r>
              <a:rPr lang="ru-RU" err="1"/>
              <a:t>impressions</a:t>
            </a:r>
            <a:endParaRPr lang="ru-RU"/>
          </a:p>
          <a:p>
            <a:pPr latinLnBrk="1"/>
            <a:r>
              <a:rPr lang="ru-RU"/>
              <a:t>3. CLEAN → </a:t>
            </a:r>
            <a:r>
              <a:rPr lang="ru-RU" err="1"/>
              <a:t>Fix</a:t>
            </a:r>
            <a:r>
              <a:rPr lang="ru-RU"/>
              <a:t> </a:t>
            </a:r>
            <a:r>
              <a:rPr lang="ru-RU" err="1"/>
              <a:t>problems</a:t>
            </a:r>
            <a:endParaRPr lang="ru-RU"/>
          </a:p>
          <a:p>
            <a:pPr latinLnBrk="1"/>
            <a:r>
              <a:rPr lang="ru-RU"/>
              <a:t>4. EXPLORE → 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patterns</a:t>
            </a:r>
            <a:endParaRPr lang="ru-RU"/>
          </a:p>
          <a:p>
            <a:pPr latinLnBrk="1"/>
            <a:r>
              <a:rPr lang="ru-RU"/>
              <a:t>5. VISUALIZE → </a:t>
            </a:r>
            <a:r>
              <a:rPr lang="ru-RU" err="1"/>
              <a:t>See</a:t>
            </a:r>
            <a:r>
              <a:rPr lang="ru-RU"/>
              <a:t> </a:t>
            </a:r>
            <a:r>
              <a:rPr lang="ru-RU" err="1"/>
              <a:t>insights</a:t>
            </a:r>
            <a:endParaRPr lang="ru-RU"/>
          </a:p>
          <a:p>
            <a:pPr latinLnBrk="1"/>
            <a:r>
              <a:rPr lang="ru-RU"/>
              <a:t>6. DOCUMENT → </a:t>
            </a:r>
            <a:r>
              <a:rPr lang="ru-RU" err="1"/>
              <a:t>Record</a:t>
            </a:r>
            <a:r>
              <a:rPr lang="ru-RU"/>
              <a:t> </a:t>
            </a:r>
            <a:r>
              <a:rPr lang="ru-RU" err="1"/>
              <a:t>everything</a:t>
            </a:r>
            <a:endParaRPr lang="ru-RU"/>
          </a:p>
          <a:p>
            <a:r>
              <a:rPr lang="ru-RU" b="1"/>
              <a:t>Time </a:t>
            </a:r>
            <a:r>
              <a:rPr lang="ru-RU" b="1" err="1"/>
              <a:t>Allocation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err="1"/>
              <a:t>Cleaning</a:t>
            </a:r>
            <a:r>
              <a:rPr lang="ru-RU"/>
              <a:t>: 40%</a:t>
            </a:r>
          </a:p>
          <a:p>
            <a:pPr lvl="0"/>
            <a:r>
              <a:rPr lang="ru-RU" err="1"/>
              <a:t>Visualization</a:t>
            </a:r>
            <a:r>
              <a:rPr lang="ru-RU"/>
              <a:t>: 30%</a:t>
            </a:r>
          </a:p>
          <a:p>
            <a:pPr lvl="0"/>
            <a:r>
              <a:rPr lang="ru-RU" err="1"/>
              <a:t>Exploration</a:t>
            </a:r>
            <a:r>
              <a:rPr lang="ru-RU"/>
              <a:t>: 20%</a:t>
            </a:r>
          </a:p>
          <a:p>
            <a:r>
              <a:rPr lang="ru-RU" err="1"/>
              <a:t>Documentation</a:t>
            </a:r>
            <a:r>
              <a:rPr lang="ru-RU"/>
              <a:t>: 10%</a:t>
            </a:r>
          </a:p>
        </p:txBody>
      </p:sp>
    </p:spTree>
    <p:extLst>
      <p:ext uri="{BB962C8B-B14F-4D97-AF65-F5344CB8AC3E}">
        <p14:creationId xmlns:p14="http://schemas.microsoft.com/office/powerpoint/2010/main" val="79529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569A9-CF4E-4DF1-509C-764D3A6A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Python's</a:t>
            </a:r>
            <a:r>
              <a:rPr lang="ru-RU"/>
              <a:t> EDA </a:t>
            </a:r>
            <a:r>
              <a:rPr lang="ru-RU" err="1"/>
              <a:t>Stack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905E5-F7E1-86FA-7E79-AD0E172F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ru-RU" sz="1600" b="1" err="1"/>
              <a:t>Essential</a:t>
            </a:r>
            <a:r>
              <a:rPr lang="ru-RU" sz="1600" b="1"/>
              <a:t> </a:t>
            </a:r>
            <a:r>
              <a:rPr lang="ru-RU" sz="1600" b="1" err="1"/>
              <a:t>Libraries</a:t>
            </a:r>
            <a:r>
              <a:rPr lang="ru-RU" sz="1600" b="1"/>
              <a:t>:</a:t>
            </a:r>
            <a:endParaRPr lang="ru-RU" sz="1600"/>
          </a:p>
          <a:p>
            <a:pPr latinLnBrk="1"/>
            <a:r>
              <a:rPr lang="ru-RU" sz="1600" i="1"/>
              <a:t># Data </a:t>
            </a:r>
            <a:r>
              <a:rPr lang="ru-RU" sz="1600" i="1" err="1"/>
              <a:t>Manipulation</a:t>
            </a:r>
            <a:endParaRPr lang="ru-RU" sz="1600"/>
          </a:p>
          <a:p>
            <a:pPr latinLnBrk="1"/>
            <a:r>
              <a:rPr lang="ru-RU" sz="1600" b="1" err="1"/>
              <a:t>import</a:t>
            </a:r>
            <a:r>
              <a:rPr lang="ru-RU" sz="1600" b="1"/>
              <a:t> </a:t>
            </a:r>
            <a:r>
              <a:rPr lang="ru-RU" sz="1600" b="1" err="1"/>
              <a:t>pandas</a:t>
            </a:r>
            <a:r>
              <a:rPr lang="ru-RU" sz="1600" b="1"/>
              <a:t> </a:t>
            </a:r>
            <a:r>
              <a:rPr lang="ru-RU" sz="1600" b="1" err="1"/>
              <a:t>as</a:t>
            </a:r>
            <a:r>
              <a:rPr lang="ru-RU" sz="1600" b="1"/>
              <a:t> </a:t>
            </a:r>
            <a:r>
              <a:rPr lang="ru-RU" sz="1600" b="1" err="1"/>
              <a:t>pd</a:t>
            </a:r>
            <a:endParaRPr lang="ru-RU" sz="1600" b="1"/>
          </a:p>
          <a:p>
            <a:pPr latinLnBrk="1"/>
            <a:r>
              <a:rPr lang="ru-RU" sz="1600"/>
              <a:t> </a:t>
            </a:r>
            <a:r>
              <a:rPr lang="ru-RU" sz="1600" i="1"/>
              <a:t># </a:t>
            </a:r>
            <a:r>
              <a:rPr lang="ru-RU" sz="1600" i="1" err="1"/>
              <a:t>Numerical</a:t>
            </a:r>
            <a:r>
              <a:rPr lang="ru-RU" sz="1600" i="1"/>
              <a:t> Operations</a:t>
            </a:r>
            <a:endParaRPr lang="ru-RU" sz="1600"/>
          </a:p>
          <a:p>
            <a:pPr latinLnBrk="1"/>
            <a:r>
              <a:rPr lang="ru-RU" sz="1600" b="1" err="1"/>
              <a:t>import</a:t>
            </a:r>
            <a:r>
              <a:rPr lang="ru-RU" sz="1600" b="1"/>
              <a:t> </a:t>
            </a:r>
            <a:r>
              <a:rPr lang="ru-RU" sz="1600" b="1" err="1"/>
              <a:t>numpy</a:t>
            </a:r>
            <a:r>
              <a:rPr lang="ru-RU" sz="1600" b="1"/>
              <a:t> </a:t>
            </a:r>
            <a:r>
              <a:rPr lang="ru-RU" sz="1600" b="1" err="1"/>
              <a:t>as</a:t>
            </a:r>
            <a:r>
              <a:rPr lang="ru-RU" sz="1600" b="1"/>
              <a:t> </a:t>
            </a:r>
            <a:r>
              <a:rPr lang="ru-RU" sz="1600" b="1" err="1"/>
              <a:t>np</a:t>
            </a:r>
            <a:endParaRPr lang="ru-RU" sz="1600" b="1"/>
          </a:p>
          <a:p>
            <a:pPr latinLnBrk="1"/>
            <a:r>
              <a:rPr lang="ru-RU" sz="1600"/>
              <a:t> </a:t>
            </a:r>
            <a:r>
              <a:rPr lang="ru-RU" sz="1600" i="1"/>
              <a:t># Basic </a:t>
            </a:r>
            <a:r>
              <a:rPr lang="ru-RU" sz="1600" i="1" err="1"/>
              <a:t>Plotting</a:t>
            </a:r>
            <a:endParaRPr lang="ru-RU" sz="1600"/>
          </a:p>
          <a:p>
            <a:pPr latinLnBrk="1"/>
            <a:r>
              <a:rPr lang="ru-RU" sz="1600" b="1" err="1"/>
              <a:t>import</a:t>
            </a:r>
            <a:r>
              <a:rPr lang="ru-RU" sz="1600" b="1"/>
              <a:t> </a:t>
            </a:r>
            <a:r>
              <a:rPr lang="ru-RU" sz="1600" b="1" err="1"/>
              <a:t>matplotlib.pyplot</a:t>
            </a:r>
            <a:r>
              <a:rPr lang="ru-RU" sz="1600" b="1"/>
              <a:t> </a:t>
            </a:r>
            <a:r>
              <a:rPr lang="ru-RU" sz="1600" b="1" err="1"/>
              <a:t>as</a:t>
            </a:r>
            <a:r>
              <a:rPr lang="ru-RU" sz="1600" b="1"/>
              <a:t> </a:t>
            </a:r>
            <a:r>
              <a:rPr lang="ru-RU" sz="1600" b="1" err="1"/>
              <a:t>plt</a:t>
            </a:r>
            <a:endParaRPr lang="ru-RU" sz="1600" b="1"/>
          </a:p>
          <a:p>
            <a:pPr latinLnBrk="1"/>
            <a:r>
              <a:rPr lang="ru-RU" sz="1600"/>
              <a:t> </a:t>
            </a:r>
            <a:r>
              <a:rPr lang="ru-RU" sz="1600" i="1"/>
              <a:t># </a:t>
            </a:r>
            <a:r>
              <a:rPr lang="ru-RU" sz="1600" i="1" err="1"/>
              <a:t>Statistical</a:t>
            </a:r>
            <a:r>
              <a:rPr lang="ru-RU" sz="1600" i="1"/>
              <a:t> </a:t>
            </a:r>
            <a:r>
              <a:rPr lang="ru-RU" sz="1600" i="1" err="1"/>
              <a:t>Visualization</a:t>
            </a:r>
            <a:endParaRPr lang="ru-RU" sz="1600"/>
          </a:p>
          <a:p>
            <a:pPr latinLnBrk="1"/>
            <a:r>
              <a:rPr lang="ru-RU" sz="1600" b="1" err="1"/>
              <a:t>import</a:t>
            </a:r>
            <a:r>
              <a:rPr lang="ru-RU" sz="1600" b="1"/>
              <a:t> </a:t>
            </a:r>
            <a:r>
              <a:rPr lang="ru-RU" sz="1600" b="1" err="1"/>
              <a:t>seaborn</a:t>
            </a:r>
            <a:r>
              <a:rPr lang="ru-RU" sz="1600" b="1"/>
              <a:t> </a:t>
            </a:r>
            <a:r>
              <a:rPr lang="ru-RU" sz="1600" b="1" err="1"/>
              <a:t>as</a:t>
            </a:r>
            <a:r>
              <a:rPr lang="ru-RU" sz="1600" b="1"/>
              <a:t> </a:t>
            </a:r>
            <a:r>
              <a:rPr lang="ru-RU" sz="1600" b="1" err="1"/>
              <a:t>sns</a:t>
            </a:r>
            <a:endParaRPr lang="ru-RU" sz="1600" b="1"/>
          </a:p>
          <a:p>
            <a:pPr latinLnBrk="1"/>
            <a:r>
              <a:rPr lang="ru-RU" sz="1600"/>
              <a:t> </a:t>
            </a:r>
            <a:r>
              <a:rPr lang="ru-RU" sz="1600" i="1"/>
              <a:t># </a:t>
            </a:r>
            <a:r>
              <a:rPr lang="ru-RU" sz="1600" i="1" err="1"/>
              <a:t>Missing</a:t>
            </a:r>
            <a:r>
              <a:rPr lang="ru-RU" sz="1600" i="1"/>
              <a:t> Data </a:t>
            </a:r>
            <a:r>
              <a:rPr lang="ru-RU" sz="1600" i="1" err="1"/>
              <a:t>Visualization</a:t>
            </a:r>
            <a:endParaRPr lang="ru-RU" sz="1600"/>
          </a:p>
          <a:p>
            <a:pPr latinLnBrk="1"/>
            <a:r>
              <a:rPr lang="ru-RU" sz="1600"/>
              <a:t>!</a:t>
            </a:r>
            <a:r>
              <a:rPr lang="ru-RU" sz="1600" err="1"/>
              <a:t>pip</a:t>
            </a:r>
            <a:r>
              <a:rPr lang="ru-RU" sz="1600"/>
              <a:t> </a:t>
            </a:r>
            <a:r>
              <a:rPr lang="ru-RU" sz="1600" err="1"/>
              <a:t>install</a:t>
            </a:r>
            <a:r>
              <a:rPr lang="ru-RU" sz="1600"/>
              <a:t> </a:t>
            </a:r>
            <a:r>
              <a:rPr lang="ru-RU" sz="1600" err="1"/>
              <a:t>missingno</a:t>
            </a:r>
            <a:r>
              <a:rPr lang="en-US" sz="1600"/>
              <a:t>  --- </a:t>
            </a:r>
            <a:r>
              <a:rPr lang="en-US" sz="1600" i="1"/>
              <a:t>we use pip install command to install new library</a:t>
            </a:r>
            <a:endParaRPr lang="ru-RU" sz="1600" i="1"/>
          </a:p>
          <a:p>
            <a:pPr latinLnBrk="1"/>
            <a:r>
              <a:rPr lang="ru-RU" sz="1600" b="1" err="1"/>
              <a:t>import</a:t>
            </a:r>
            <a:r>
              <a:rPr lang="ru-RU" sz="1600" b="1"/>
              <a:t> </a:t>
            </a:r>
            <a:r>
              <a:rPr lang="ru-RU" sz="1600" b="1" err="1"/>
              <a:t>missingno</a:t>
            </a:r>
            <a:r>
              <a:rPr lang="ru-RU" sz="1600" b="1"/>
              <a:t> </a:t>
            </a:r>
            <a:r>
              <a:rPr lang="ru-RU" sz="1600" b="1" err="1"/>
              <a:t>as</a:t>
            </a:r>
            <a:r>
              <a:rPr lang="ru-RU" sz="1600" b="1"/>
              <a:t> </a:t>
            </a:r>
            <a:r>
              <a:rPr lang="ru-RU" sz="1600" b="1" err="1"/>
              <a:t>msno</a:t>
            </a:r>
            <a:endParaRPr lang="ru-RU" sz="1600" b="1"/>
          </a:p>
          <a:p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313481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4A6AC-6D93-3733-8C65-2ED99D07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Meet</a:t>
            </a:r>
            <a:r>
              <a:rPr lang="ru-RU"/>
              <a:t> </a:t>
            </a:r>
            <a:r>
              <a:rPr lang="ru-RU" err="1"/>
              <a:t>Our</a:t>
            </a:r>
            <a:r>
              <a:rPr lang="ru-RU"/>
              <a:t> </a:t>
            </a:r>
            <a:r>
              <a:rPr lang="ru-RU" err="1"/>
              <a:t>Dataset</a:t>
            </a:r>
            <a:r>
              <a:rPr lang="ru-RU"/>
              <a:t>: </a:t>
            </a:r>
            <a:r>
              <a:rPr lang="ru-RU" err="1"/>
              <a:t>Titanic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3EFDC3-C757-90E1-31E2-C8317CC9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/>
              <a:t>Real </a:t>
            </a:r>
            <a:r>
              <a:rPr lang="ru-RU" b="1" err="1"/>
              <a:t>Historical</a:t>
            </a:r>
            <a:r>
              <a:rPr lang="ru-RU" b="1"/>
              <a:t> Data:</a:t>
            </a:r>
            <a:endParaRPr lang="ru-RU"/>
          </a:p>
          <a:p>
            <a:pPr lvl="0"/>
            <a:r>
              <a:rPr lang="ru-RU"/>
              <a:t>891 </a:t>
            </a:r>
            <a:r>
              <a:rPr lang="ru-RU" err="1"/>
              <a:t>passengers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RMS </a:t>
            </a:r>
            <a:r>
              <a:rPr lang="ru-RU" err="1"/>
              <a:t>Titanic</a:t>
            </a:r>
            <a:endParaRPr lang="ru-RU"/>
          </a:p>
          <a:p>
            <a:pPr lvl="0"/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records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1912</a:t>
            </a:r>
          </a:p>
          <a:p>
            <a:pPr lvl="0"/>
            <a:r>
              <a:rPr lang="ru-RU"/>
              <a:t>12 </a:t>
            </a:r>
            <a:r>
              <a:rPr lang="ru-RU" err="1"/>
              <a:t>features</a:t>
            </a:r>
            <a:r>
              <a:rPr lang="ru-RU"/>
              <a:t> </a:t>
            </a:r>
            <a:r>
              <a:rPr lang="ru-RU" err="1"/>
              <a:t>per</a:t>
            </a:r>
            <a:r>
              <a:rPr lang="ru-RU"/>
              <a:t> </a:t>
            </a:r>
            <a:r>
              <a:rPr lang="ru-RU" err="1"/>
              <a:t>passenger</a:t>
            </a:r>
            <a:endParaRPr lang="ru-RU"/>
          </a:p>
          <a:p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This</a:t>
            </a:r>
            <a:r>
              <a:rPr lang="ru-RU" b="1"/>
              <a:t> </a:t>
            </a:r>
            <a:r>
              <a:rPr lang="ru-RU" b="1" err="1"/>
              <a:t>Dataset</a:t>
            </a:r>
            <a:r>
              <a:rPr lang="ru-RU" b="1"/>
              <a:t>?</a:t>
            </a:r>
            <a:endParaRPr lang="ru-RU"/>
          </a:p>
          <a:p>
            <a:pPr lvl="0"/>
            <a:r>
              <a:rPr lang="ru-RU" err="1"/>
              <a:t>Clean</a:t>
            </a:r>
            <a:r>
              <a:rPr lang="ru-RU"/>
              <a:t>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realistic</a:t>
            </a:r>
            <a:endParaRPr lang="ru-RU"/>
          </a:p>
          <a:p>
            <a:pPr lvl="0"/>
            <a:r>
              <a:rPr lang="ru-RU"/>
              <a:t>Clear </a:t>
            </a:r>
            <a:r>
              <a:rPr lang="ru-RU" err="1"/>
              <a:t>business</a:t>
            </a:r>
            <a:r>
              <a:rPr lang="ru-RU"/>
              <a:t> </a:t>
            </a:r>
            <a:r>
              <a:rPr lang="ru-RU" err="1"/>
              <a:t>questions</a:t>
            </a:r>
            <a:endParaRPr lang="ru-RU"/>
          </a:p>
          <a:p>
            <a:pPr lvl="0"/>
            <a:r>
              <a:rPr lang="ru-RU" err="1"/>
              <a:t>Mix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types</a:t>
            </a:r>
            <a:endParaRPr lang="ru-RU"/>
          </a:p>
          <a:p>
            <a:r>
              <a:rPr lang="ru-RU" err="1"/>
              <a:t>Well-documented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98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70C57-21FA-9529-CA3C-FC4295B3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Loading</a:t>
            </a:r>
            <a:r>
              <a:rPr lang="ru-RU"/>
              <a:t> Data </a:t>
            </a:r>
            <a:r>
              <a:rPr lang="ru-RU" err="1"/>
              <a:t>in</a:t>
            </a:r>
            <a:r>
              <a:rPr lang="ru-RU"/>
              <a:t>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50F5B-3770-B993-A2DC-F02A43D9F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/>
              <a:t>From URL (</a:t>
            </a:r>
            <a:r>
              <a:rPr lang="ru-RU" b="1" err="1"/>
              <a:t>Easiest</a:t>
            </a:r>
            <a:r>
              <a:rPr lang="ru-RU" b="1"/>
              <a:t>):</a:t>
            </a:r>
            <a:endParaRPr lang="ru-RU"/>
          </a:p>
          <a:p>
            <a:pPr latinLnBrk="1"/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pandas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pd</a:t>
            </a:r>
            <a:endParaRPr lang="ru-RU"/>
          </a:p>
          <a:p>
            <a:pPr latinLnBrk="1"/>
            <a:r>
              <a:rPr lang="ru-RU" err="1"/>
              <a:t>url</a:t>
            </a:r>
            <a:r>
              <a:rPr lang="ru-RU"/>
              <a:t> = "</a:t>
            </a:r>
            <a:r>
              <a:rPr lang="ru-RU" u="sng">
                <a:hlinkClick r:id="rId2"/>
              </a:rPr>
              <a:t>https://raw.githubusercontent.com/datasciencedojo/datasets/master/titanic.csv</a:t>
            </a:r>
            <a:r>
              <a:rPr lang="ru-RU"/>
              <a:t>"</a:t>
            </a:r>
          </a:p>
          <a:p>
            <a:pPr latinLnBrk="1"/>
            <a:r>
              <a:rPr lang="ru-RU" err="1"/>
              <a:t>titanic</a:t>
            </a:r>
            <a:r>
              <a:rPr lang="ru-RU"/>
              <a:t> = </a:t>
            </a:r>
            <a:r>
              <a:rPr lang="ru-RU" err="1"/>
              <a:t>pd.read_csv</a:t>
            </a:r>
            <a:r>
              <a:rPr lang="ru-RU"/>
              <a:t>(</a:t>
            </a:r>
            <a:r>
              <a:rPr lang="ru-RU" err="1"/>
              <a:t>url</a:t>
            </a:r>
            <a:r>
              <a:rPr lang="ru-RU"/>
              <a:t>)</a:t>
            </a:r>
          </a:p>
          <a:p>
            <a:r>
              <a:rPr lang="ru-RU" b="1"/>
              <a:t>From Local File:</a:t>
            </a:r>
            <a:endParaRPr lang="ru-RU"/>
          </a:p>
          <a:p>
            <a:pPr latinLnBrk="1"/>
            <a:r>
              <a:rPr lang="ru-RU" err="1"/>
              <a:t>titanic</a:t>
            </a:r>
            <a:r>
              <a:rPr lang="ru-RU"/>
              <a:t> = </a:t>
            </a:r>
            <a:r>
              <a:rPr lang="ru-RU" err="1"/>
              <a:t>pd.read_csv</a:t>
            </a:r>
            <a:r>
              <a:rPr lang="ru-RU"/>
              <a:t>('titanic.csv')</a:t>
            </a:r>
          </a:p>
          <a:p>
            <a:r>
              <a:rPr lang="ru-RU" b="1" err="1"/>
              <a:t>Output</a:t>
            </a:r>
            <a:r>
              <a:rPr lang="ru-RU" b="1"/>
              <a:t> Check:</a:t>
            </a:r>
            <a:endParaRPr lang="ru-RU"/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f"Rows</a:t>
            </a:r>
            <a:r>
              <a:rPr lang="ru-RU"/>
              <a:t>: {</a:t>
            </a:r>
            <a:r>
              <a:rPr lang="ru-RU" err="1"/>
              <a:t>titanic.shape</a:t>
            </a:r>
            <a:r>
              <a:rPr lang="ru-RU"/>
              <a:t>[0]}, </a:t>
            </a:r>
            <a:r>
              <a:rPr lang="ru-RU" err="1"/>
              <a:t>Columns</a:t>
            </a:r>
            <a:r>
              <a:rPr lang="ru-RU"/>
              <a:t>: {</a:t>
            </a:r>
            <a:r>
              <a:rPr lang="ru-RU" err="1"/>
              <a:t>titanic.shape</a:t>
            </a:r>
            <a:r>
              <a:rPr lang="ru-RU"/>
              <a:t>[1]}")</a:t>
            </a:r>
          </a:p>
        </p:txBody>
      </p:sp>
    </p:spTree>
    <p:extLst>
      <p:ext uri="{BB962C8B-B14F-4D97-AF65-F5344CB8AC3E}">
        <p14:creationId xmlns:p14="http://schemas.microsoft.com/office/powerpoint/2010/main" val="347306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1A59F-3355-72FD-F8B4-99487DC4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First </a:t>
            </a:r>
            <a:r>
              <a:rPr lang="en-US"/>
              <a:t>look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en-US"/>
              <a:t>the </a:t>
            </a:r>
            <a:r>
              <a:rPr lang="ru-RU"/>
              <a:t>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67B774-F0E5-8E8B-03D0-0F03DACFB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/>
              <a:t>Quick </a:t>
            </a:r>
            <a:r>
              <a:rPr lang="ru-RU" b="1" err="1"/>
              <a:t>Inspection</a:t>
            </a:r>
            <a:r>
              <a:rPr lang="ru-RU" b="1"/>
              <a:t> </a:t>
            </a:r>
            <a:r>
              <a:rPr lang="ru-RU" b="1" err="1"/>
              <a:t>Commands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titanic.head</a:t>
            </a:r>
            <a:r>
              <a:rPr lang="ru-RU"/>
              <a:t>()      </a:t>
            </a:r>
            <a:r>
              <a:rPr lang="ru-RU" i="1"/>
              <a:t># First 5 </a:t>
            </a:r>
            <a:r>
              <a:rPr lang="ru-RU" i="1" err="1"/>
              <a:t>rows</a:t>
            </a:r>
            <a:endParaRPr lang="ru-RU"/>
          </a:p>
          <a:p>
            <a:pPr latinLnBrk="1"/>
            <a:r>
              <a:rPr lang="ru-RU" err="1"/>
              <a:t>titanic.tail</a:t>
            </a:r>
            <a:r>
              <a:rPr lang="ru-RU"/>
              <a:t>()      </a:t>
            </a:r>
            <a:r>
              <a:rPr lang="ru-RU" i="1"/>
              <a:t># </a:t>
            </a:r>
            <a:r>
              <a:rPr lang="ru-RU" i="1" err="1"/>
              <a:t>Last</a:t>
            </a:r>
            <a:r>
              <a:rPr lang="ru-RU" i="1"/>
              <a:t> 5 </a:t>
            </a:r>
            <a:r>
              <a:rPr lang="ru-RU" i="1" err="1"/>
              <a:t>rows</a:t>
            </a:r>
            <a:endParaRPr lang="ru-RU"/>
          </a:p>
          <a:p>
            <a:pPr latinLnBrk="1"/>
            <a:r>
              <a:rPr lang="ru-RU" err="1"/>
              <a:t>titanic.shape</a:t>
            </a:r>
            <a:r>
              <a:rPr lang="ru-RU"/>
              <a:t>       </a:t>
            </a:r>
            <a:r>
              <a:rPr lang="ru-RU" i="1"/>
              <a:t># (891, 12)</a:t>
            </a:r>
            <a:endParaRPr lang="ru-RU"/>
          </a:p>
          <a:p>
            <a:pPr latinLnBrk="1"/>
            <a:r>
              <a:rPr lang="ru-RU" err="1"/>
              <a:t>titanic.columns</a:t>
            </a:r>
            <a:r>
              <a:rPr lang="ru-RU"/>
              <a:t>     </a:t>
            </a:r>
            <a:r>
              <a:rPr lang="ru-RU" i="1"/>
              <a:t># </a:t>
            </a:r>
            <a:r>
              <a:rPr lang="ru-RU" i="1" err="1"/>
              <a:t>Column</a:t>
            </a:r>
            <a:r>
              <a:rPr lang="ru-RU" i="1"/>
              <a:t> </a:t>
            </a:r>
            <a:r>
              <a:rPr lang="ru-RU" i="1" err="1"/>
              <a:t>names</a:t>
            </a:r>
            <a:endParaRPr lang="ru-RU"/>
          </a:p>
          <a:p>
            <a:pPr latinLnBrk="1"/>
            <a:r>
              <a:rPr lang="ru-RU" err="1"/>
              <a:t>titanic.dtypes</a:t>
            </a:r>
            <a:r>
              <a:rPr lang="ru-RU"/>
              <a:t>      </a:t>
            </a:r>
            <a:r>
              <a:rPr lang="ru-RU" i="1"/>
              <a:t># Data </a:t>
            </a:r>
            <a:r>
              <a:rPr lang="ru-RU" i="1" err="1"/>
              <a:t>types</a:t>
            </a:r>
            <a:endParaRPr lang="ru-RU"/>
          </a:p>
          <a:p>
            <a:r>
              <a:rPr lang="ru-RU"/>
              <a:t>titanic.info()      </a:t>
            </a:r>
            <a:r>
              <a:rPr lang="ru-RU" i="1"/>
              <a:t># </a:t>
            </a:r>
            <a:r>
              <a:rPr lang="ru-RU" i="1" err="1"/>
              <a:t>Detailed</a:t>
            </a:r>
            <a:r>
              <a:rPr lang="ru-RU" i="1"/>
              <a:t> </a:t>
            </a:r>
            <a:r>
              <a:rPr lang="ru-RU" i="1" err="1"/>
              <a:t>overview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04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E1CB7-9C79-D9E5-CC9B-28A47D76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Understanding</a:t>
            </a:r>
            <a:r>
              <a:rPr lang="ru-RU"/>
              <a:t> Data </a:t>
            </a:r>
            <a:r>
              <a:rPr lang="ru-RU" err="1"/>
              <a:t>Types</a:t>
            </a:r>
            <a:endParaRPr lang="ru-RU"/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2B15BDCB-A3FD-DD7B-1B92-12ACC790E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891015"/>
              </p:ext>
            </p:extLst>
          </p:nvPr>
        </p:nvGraphicFramePr>
        <p:xfrm>
          <a:off x="838200" y="2354531"/>
          <a:ext cx="9358746" cy="3242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9582">
                  <a:extLst>
                    <a:ext uri="{9D8B030D-6E8A-4147-A177-3AD203B41FA5}">
                      <a16:colId xmlns:a16="http://schemas.microsoft.com/office/drawing/2014/main" val="1349096073"/>
                    </a:ext>
                  </a:extLst>
                </a:gridCol>
                <a:gridCol w="3119582">
                  <a:extLst>
                    <a:ext uri="{9D8B030D-6E8A-4147-A177-3AD203B41FA5}">
                      <a16:colId xmlns:a16="http://schemas.microsoft.com/office/drawing/2014/main" val="2525107752"/>
                    </a:ext>
                  </a:extLst>
                </a:gridCol>
                <a:gridCol w="3119582">
                  <a:extLst>
                    <a:ext uri="{9D8B030D-6E8A-4147-A177-3AD203B41FA5}">
                      <a16:colId xmlns:a16="http://schemas.microsoft.com/office/drawing/2014/main" val="2363542750"/>
                    </a:ext>
                  </a:extLst>
                </a:gridCol>
              </a:tblGrid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Type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err="1">
                          <a:effectLst/>
                        </a:rPr>
                        <a:t>Examples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What to Do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12590832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int64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Age, Pclass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Calculate statistics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05345229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float64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Fare, Age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Numerical analysis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20752813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err="1">
                          <a:effectLst/>
                        </a:rPr>
                        <a:t>object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Name, Sex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Text processing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43647124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bool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Survived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Count proportions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81501949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err="1">
                          <a:effectLst/>
                        </a:rPr>
                        <a:t>category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err="1">
                          <a:effectLst/>
                        </a:rPr>
                        <a:t>Embarked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Group </a:t>
                      </a:r>
                      <a:r>
                        <a:rPr lang="ru-RU" sz="1600" err="1">
                          <a:effectLst/>
                        </a:rPr>
                        <a:t>operations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147460346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77D722B6-BAA4-D9CF-1F52-F017047C3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36799"/>
            <a:ext cx="84720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Common </a:t>
            </a:r>
            <a:r>
              <a:rPr kumimoji="0" lang="ru-RU" altLang="ru-RU" sz="14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Types</a:t>
            </a:r>
            <a:r>
              <a:rPr kumimoji="0" lang="ru-RU" altLang="ru-RU" sz="14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&amp; </a:t>
            </a:r>
            <a:r>
              <a:rPr kumimoji="0" lang="ru-RU" altLang="ru-RU" sz="14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Their</a:t>
            </a:r>
            <a:r>
              <a:rPr kumimoji="0" lang="ru-RU" altLang="ru-RU" sz="14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4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Uses</a:t>
            </a:r>
            <a:r>
              <a:rPr kumimoji="0" lang="ru-RU" altLang="ru-RU" sz="14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:</a:t>
            </a:r>
            <a:endParaRPr kumimoji="0" lang="ru-RU" altLang="ru-RU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3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C3249-5424-9163-8CE9-267ACC76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Missing</a:t>
            </a:r>
            <a:r>
              <a:rPr lang="ru-RU"/>
              <a:t> Data - The </a:t>
            </a:r>
            <a:r>
              <a:rPr lang="ru-RU" err="1"/>
              <a:t>Reality</a:t>
            </a:r>
            <a:r>
              <a:rPr lang="ru-RU"/>
              <a:t> Check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97FCD-B1BF-266C-161C-5E880622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/>
              <a:t>Check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Missing</a:t>
            </a:r>
            <a:r>
              <a:rPr lang="ru-RU" b="1"/>
              <a:t> </a:t>
            </a:r>
            <a:r>
              <a:rPr lang="ru-RU" b="1" err="1"/>
              <a:t>Values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missing</a:t>
            </a:r>
            <a:r>
              <a:rPr lang="ru-RU"/>
              <a:t> = </a:t>
            </a:r>
            <a:r>
              <a:rPr lang="ru-RU" err="1"/>
              <a:t>titanic.isnull</a:t>
            </a:r>
            <a:r>
              <a:rPr lang="ru-RU"/>
              <a:t>().</a:t>
            </a:r>
            <a:r>
              <a:rPr lang="ru-RU" err="1"/>
              <a:t>sum</a:t>
            </a:r>
            <a:r>
              <a:rPr lang="ru-RU"/>
              <a:t>()</a:t>
            </a:r>
            <a:r>
              <a:rPr lang="en-US"/>
              <a:t> </a:t>
            </a:r>
            <a:endParaRPr lang="ru-RU"/>
          </a:p>
          <a:p>
            <a:pPr latinLnBrk="1"/>
            <a:r>
              <a:rPr lang="ru-RU" err="1"/>
              <a:t>missing_pct</a:t>
            </a:r>
            <a:r>
              <a:rPr lang="ru-RU"/>
              <a:t> = (</a:t>
            </a:r>
            <a:r>
              <a:rPr lang="ru-RU" err="1"/>
              <a:t>missing</a:t>
            </a:r>
            <a:r>
              <a:rPr lang="ru-RU"/>
              <a:t> / </a:t>
            </a:r>
            <a:r>
              <a:rPr lang="ru-RU" err="1"/>
              <a:t>len</a:t>
            </a:r>
            <a:r>
              <a:rPr lang="ru-RU"/>
              <a:t>(</a:t>
            </a:r>
            <a:r>
              <a:rPr lang="ru-RU" err="1"/>
              <a:t>titanic</a:t>
            </a:r>
            <a:r>
              <a:rPr lang="ru-RU"/>
              <a:t>)) * 100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missing_df</a:t>
            </a:r>
            <a:r>
              <a:rPr lang="ru-RU"/>
              <a:t> = </a:t>
            </a:r>
            <a:r>
              <a:rPr lang="ru-RU" err="1"/>
              <a:t>pd.DataFrame</a:t>
            </a:r>
            <a:r>
              <a:rPr lang="ru-RU"/>
              <a:t>({</a:t>
            </a:r>
          </a:p>
          <a:p>
            <a:pPr latinLnBrk="1"/>
            <a:r>
              <a:rPr lang="ru-RU"/>
              <a:t>    '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': </a:t>
            </a:r>
            <a:r>
              <a:rPr lang="ru-RU" err="1"/>
              <a:t>missing</a:t>
            </a:r>
            <a:r>
              <a:rPr lang="ru-RU"/>
              <a:t>,</a:t>
            </a:r>
          </a:p>
          <a:p>
            <a:pPr latinLnBrk="1"/>
            <a:r>
              <a:rPr lang="ru-RU"/>
              <a:t>    '</a:t>
            </a:r>
            <a:r>
              <a:rPr lang="ru-RU" err="1"/>
              <a:t>Percentage</a:t>
            </a:r>
            <a:r>
              <a:rPr lang="ru-RU"/>
              <a:t>': </a:t>
            </a:r>
            <a:r>
              <a:rPr lang="ru-RU" err="1"/>
              <a:t>missing_pct</a:t>
            </a:r>
            <a:endParaRPr lang="ru-RU"/>
          </a:p>
          <a:p>
            <a:pPr latinLnBrk="1"/>
            <a:r>
              <a:rPr lang="ru-RU"/>
              <a:t>})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missing_df</a:t>
            </a:r>
            <a:r>
              <a:rPr lang="ru-RU"/>
              <a:t>[</a:t>
            </a:r>
            <a:r>
              <a:rPr lang="ru-RU" err="1"/>
              <a:t>missing_df</a:t>
            </a:r>
            <a:r>
              <a:rPr lang="ru-RU"/>
              <a:t>['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'] &gt; 0])</a:t>
            </a:r>
          </a:p>
          <a:p>
            <a:pPr lvl="1"/>
            <a:r>
              <a:rPr lang="ru-RU" b="1" err="1"/>
              <a:t>Titanic's</a:t>
            </a:r>
            <a:r>
              <a:rPr lang="ru-RU" b="1"/>
              <a:t> </a:t>
            </a:r>
            <a:r>
              <a:rPr lang="ru-RU" b="1" err="1"/>
              <a:t>Missing</a:t>
            </a:r>
            <a:r>
              <a:rPr lang="ru-RU" b="1"/>
              <a:t> Data:</a:t>
            </a:r>
            <a:endParaRPr lang="ru-RU"/>
          </a:p>
          <a:p>
            <a:pPr lvl="1"/>
            <a:r>
              <a:rPr lang="ru-RU" err="1"/>
              <a:t>Age</a:t>
            </a:r>
            <a:r>
              <a:rPr lang="ru-RU"/>
              <a:t>: 177 (19.9%)</a:t>
            </a:r>
          </a:p>
          <a:p>
            <a:pPr lvl="1"/>
            <a:r>
              <a:rPr lang="ru-RU" err="1"/>
              <a:t>Cabin</a:t>
            </a:r>
            <a:r>
              <a:rPr lang="ru-RU"/>
              <a:t>: 687 (77.1%)</a:t>
            </a:r>
          </a:p>
          <a:p>
            <a:pPr lvl="1"/>
            <a:r>
              <a:rPr lang="ru-RU" err="1"/>
              <a:t>Embarked</a:t>
            </a:r>
            <a:r>
              <a:rPr lang="ru-RU"/>
              <a:t>: 2 (0.2%)</a:t>
            </a:r>
          </a:p>
        </p:txBody>
      </p:sp>
    </p:spTree>
    <p:extLst>
      <p:ext uri="{BB962C8B-B14F-4D97-AF65-F5344CB8AC3E}">
        <p14:creationId xmlns:p14="http://schemas.microsoft.com/office/powerpoint/2010/main" val="3895422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CFE2A-CF14-1811-94B3-C9B04B1F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Visualizing</a:t>
            </a:r>
            <a:r>
              <a:rPr lang="ru-RU"/>
              <a:t> </a:t>
            </a:r>
            <a:r>
              <a:rPr lang="ru-RU" err="1"/>
              <a:t>Missing</a:t>
            </a:r>
            <a:r>
              <a:rPr lang="ru-RU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A4BAA4-FE46-1CBD-58AC-61A158488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/>
              <a:t>Matrix View:</a:t>
            </a:r>
            <a:endParaRPr lang="ru-RU"/>
          </a:p>
          <a:p>
            <a:pPr latinLnBrk="1"/>
            <a:r>
              <a:rPr lang="ru-RU" err="1"/>
              <a:t>msno.matrix</a:t>
            </a:r>
            <a:r>
              <a:rPr lang="ru-RU"/>
              <a:t>(</a:t>
            </a:r>
            <a:r>
              <a:rPr lang="ru-RU" err="1"/>
              <a:t>titanic</a:t>
            </a:r>
            <a:r>
              <a:rPr lang="ru-RU"/>
              <a:t>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("</a:t>
            </a:r>
            <a:r>
              <a:rPr lang="ru-RU" err="1"/>
              <a:t>Missing</a:t>
            </a:r>
            <a:r>
              <a:rPr lang="ru-RU"/>
              <a:t> Data </a:t>
            </a:r>
            <a:r>
              <a:rPr lang="ru-RU" err="1"/>
              <a:t>Pattern</a:t>
            </a:r>
            <a:r>
              <a:rPr lang="ru-RU"/>
              <a:t>")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r>
              <a:rPr lang="ru-RU" b="1" err="1"/>
              <a:t>Bar</a:t>
            </a:r>
            <a:r>
              <a:rPr lang="ru-RU" b="1"/>
              <a:t> </a:t>
            </a:r>
            <a:r>
              <a:rPr lang="ru-RU" b="1" err="1"/>
              <a:t>Chart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msno.bar</a:t>
            </a:r>
            <a:r>
              <a:rPr lang="ru-RU"/>
              <a:t>(</a:t>
            </a:r>
            <a:r>
              <a:rPr lang="ru-RU" err="1"/>
              <a:t>titanic</a:t>
            </a:r>
            <a:r>
              <a:rPr lang="ru-RU"/>
              <a:t>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("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Column</a:t>
            </a:r>
            <a:r>
              <a:rPr lang="ru-RU"/>
              <a:t>")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6071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D5EE-5BB2-E8CE-B466-8A4DCB30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Data </a:t>
            </a:r>
            <a:r>
              <a:rPr lang="ru-RU" err="1"/>
              <a:t>Cleaning</a:t>
            </a:r>
            <a:r>
              <a:rPr lang="ru-RU"/>
              <a:t> Strategy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F47DB-D198-9184-A1F4-BB62595B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err="1"/>
              <a:t>Decision</a:t>
            </a:r>
            <a:r>
              <a:rPr lang="ru-RU" b="1"/>
              <a:t> </a:t>
            </a:r>
            <a:r>
              <a:rPr lang="ru-RU" b="1" err="1"/>
              <a:t>Tree</a:t>
            </a:r>
            <a:r>
              <a:rPr lang="ru-RU" b="1"/>
              <a:t> </a:t>
            </a:r>
            <a:r>
              <a:rPr lang="ru-RU" b="1" err="1"/>
              <a:t>for</a:t>
            </a:r>
            <a:r>
              <a:rPr lang="ru-RU" b="1"/>
              <a:t> </a:t>
            </a:r>
            <a:r>
              <a:rPr lang="ru-RU" b="1" err="1"/>
              <a:t>Missing</a:t>
            </a:r>
            <a:r>
              <a:rPr lang="ru-RU" b="1"/>
              <a:t> Data:</a:t>
            </a:r>
            <a:endParaRPr lang="ru-RU"/>
          </a:p>
          <a:p>
            <a:pPr latinLnBrk="1"/>
            <a:r>
              <a:rPr lang="ru-RU" err="1"/>
              <a:t>Is</a:t>
            </a:r>
            <a:r>
              <a:rPr lang="ru-RU"/>
              <a:t> &gt;70% </a:t>
            </a:r>
            <a:r>
              <a:rPr lang="ru-RU" err="1"/>
              <a:t>missing</a:t>
            </a:r>
            <a:r>
              <a:rPr lang="ru-RU"/>
              <a:t>? → DROP </a:t>
            </a:r>
            <a:r>
              <a:rPr lang="ru-RU" err="1"/>
              <a:t>column</a:t>
            </a:r>
            <a:endParaRPr lang="ru-RU"/>
          </a:p>
          <a:p>
            <a:pPr latinLnBrk="1"/>
            <a:r>
              <a:rPr lang="ru-RU" err="1"/>
              <a:t>Is</a:t>
            </a:r>
            <a:r>
              <a:rPr lang="ru-RU"/>
              <a:t> 30-70% </a:t>
            </a:r>
            <a:r>
              <a:rPr lang="ru-RU" err="1"/>
              <a:t>missing</a:t>
            </a:r>
            <a:r>
              <a:rPr lang="ru-RU"/>
              <a:t>? → IMPUTE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care</a:t>
            </a:r>
            <a:endParaRPr lang="ru-RU"/>
          </a:p>
          <a:p>
            <a:pPr latinLnBrk="1"/>
            <a:r>
              <a:rPr lang="ru-RU" err="1"/>
              <a:t>Is</a:t>
            </a:r>
            <a:r>
              <a:rPr lang="ru-RU"/>
              <a:t> &lt;30% </a:t>
            </a:r>
            <a:r>
              <a:rPr lang="ru-RU" err="1"/>
              <a:t>missing</a:t>
            </a:r>
            <a:r>
              <a:rPr lang="ru-RU"/>
              <a:t>? → IMPUTE </a:t>
            </a:r>
            <a:r>
              <a:rPr lang="ru-RU" err="1"/>
              <a:t>reasonably</a:t>
            </a:r>
            <a:endParaRPr lang="ru-RU"/>
          </a:p>
          <a:p>
            <a:pPr latinLnBrk="1"/>
            <a:r>
              <a:rPr lang="ru-RU" err="1"/>
              <a:t>Is</a:t>
            </a:r>
            <a:r>
              <a:rPr lang="ru-RU"/>
              <a:t> &lt;5% </a:t>
            </a:r>
            <a:r>
              <a:rPr lang="ru-RU" err="1"/>
              <a:t>missing</a:t>
            </a:r>
            <a:r>
              <a:rPr lang="ru-RU"/>
              <a:t>? → IMPUTE </a:t>
            </a:r>
            <a:r>
              <a:rPr lang="ru-RU" err="1"/>
              <a:t>or</a:t>
            </a:r>
            <a:r>
              <a:rPr lang="ru-RU"/>
              <a:t> DROP </a:t>
            </a:r>
            <a:r>
              <a:rPr lang="ru-RU" err="1"/>
              <a:t>few</a:t>
            </a:r>
            <a:r>
              <a:rPr lang="ru-RU"/>
              <a:t> </a:t>
            </a:r>
            <a:r>
              <a:rPr lang="ru-RU" err="1"/>
              <a:t>rows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483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99B60-FC13-EE7F-3B4B-A1E716D6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Step 1 - </a:t>
            </a:r>
            <a:r>
              <a:rPr lang="ru-RU" err="1"/>
              <a:t>Drop</a:t>
            </a:r>
            <a:r>
              <a:rPr lang="ru-RU"/>
              <a:t> </a:t>
            </a:r>
            <a:r>
              <a:rPr lang="ru-RU" err="1"/>
              <a:t>Problematic</a:t>
            </a:r>
            <a:r>
              <a:rPr lang="ru-RU"/>
              <a:t> </a:t>
            </a:r>
            <a:r>
              <a:rPr lang="ru-RU" err="1"/>
              <a:t>Columns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BC3F2E-2B59-76D9-3192-0A31B4C1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err="1"/>
              <a:t>Cabin</a:t>
            </a:r>
            <a:r>
              <a:rPr lang="ru-RU" b="1"/>
              <a:t> </a:t>
            </a:r>
            <a:r>
              <a:rPr lang="ru-RU" b="1" err="1"/>
              <a:t>has</a:t>
            </a:r>
            <a:r>
              <a:rPr lang="ru-RU" b="1"/>
              <a:t> 77% </a:t>
            </a:r>
            <a:r>
              <a:rPr lang="ru-RU" b="1" err="1"/>
              <a:t>missing</a:t>
            </a:r>
            <a:r>
              <a:rPr lang="ru-RU" b="1"/>
              <a:t> → </a:t>
            </a:r>
            <a:r>
              <a:rPr lang="ru-RU" b="1" err="1"/>
              <a:t>Drop</a:t>
            </a:r>
            <a:r>
              <a:rPr lang="ru-RU" b="1"/>
              <a:t> </a:t>
            </a:r>
            <a:r>
              <a:rPr lang="ru-RU" b="1" err="1"/>
              <a:t>it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 = </a:t>
            </a:r>
            <a:r>
              <a:rPr lang="ru-RU" err="1"/>
              <a:t>titanic.drop</a:t>
            </a:r>
            <a:r>
              <a:rPr lang="ru-RU"/>
              <a:t>(</a:t>
            </a:r>
            <a:r>
              <a:rPr lang="ru-RU" err="1"/>
              <a:t>columns</a:t>
            </a:r>
            <a:r>
              <a:rPr lang="ru-RU"/>
              <a:t>=['</a:t>
            </a:r>
            <a:r>
              <a:rPr lang="ru-RU" err="1"/>
              <a:t>Cabin</a:t>
            </a:r>
            <a:r>
              <a:rPr lang="ru-RU"/>
              <a:t>'])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f"After</a:t>
            </a:r>
            <a:r>
              <a:rPr lang="ru-RU"/>
              <a:t> </a:t>
            </a:r>
            <a:r>
              <a:rPr lang="ru-RU" err="1"/>
              <a:t>dropping</a:t>
            </a:r>
            <a:r>
              <a:rPr lang="ru-RU"/>
              <a:t> </a:t>
            </a:r>
            <a:r>
              <a:rPr lang="ru-RU" err="1"/>
              <a:t>Cabin</a:t>
            </a:r>
            <a:r>
              <a:rPr lang="ru-RU"/>
              <a:t>: {</a:t>
            </a:r>
            <a:r>
              <a:rPr lang="ru-RU" err="1"/>
              <a:t>titanic_clean.shape</a:t>
            </a:r>
            <a:r>
              <a:rPr lang="ru-RU"/>
              <a:t>}")</a:t>
            </a:r>
          </a:p>
          <a:p>
            <a:r>
              <a:rPr lang="ru-RU" b="1" err="1"/>
              <a:t>Why</a:t>
            </a:r>
            <a:r>
              <a:rPr lang="ru-RU" b="1"/>
              <a:t> </a:t>
            </a:r>
            <a:r>
              <a:rPr lang="ru-RU" b="1" err="1"/>
              <a:t>Drop</a:t>
            </a:r>
            <a:r>
              <a:rPr lang="ru-RU" b="1"/>
              <a:t>?</a:t>
            </a:r>
            <a:endParaRPr lang="ru-RU"/>
          </a:p>
          <a:p>
            <a:pPr lvl="0"/>
            <a:r>
              <a:rPr lang="ru-RU" err="1"/>
              <a:t>Too</a:t>
            </a:r>
            <a:r>
              <a:rPr lang="ru-RU"/>
              <a:t> </a:t>
            </a:r>
            <a:r>
              <a:rPr lang="ru-RU" err="1"/>
              <a:t>many</a:t>
            </a:r>
            <a:r>
              <a:rPr lang="ru-RU"/>
              <a:t> 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pPr lvl="0"/>
            <a:r>
              <a:rPr lang="ru-RU"/>
              <a:t>Hard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impute</a:t>
            </a:r>
            <a:r>
              <a:rPr lang="ru-RU"/>
              <a:t> </a:t>
            </a:r>
            <a:r>
              <a:rPr lang="ru-RU" err="1"/>
              <a:t>meaningfully</a:t>
            </a:r>
            <a:endParaRPr lang="ru-RU"/>
          </a:p>
          <a:p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critical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analysis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07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D340F-1C38-C077-BE59-A5CB34C2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Step 2 - </a:t>
            </a:r>
            <a:r>
              <a:rPr lang="ru-RU" err="1"/>
              <a:t>Impute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Smartly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CF3BA8-5428-A3BF-D210-B1386C1F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err="1"/>
              <a:t>Age</a:t>
            </a:r>
            <a:r>
              <a:rPr lang="ru-RU" b="1"/>
              <a:t> </a:t>
            </a:r>
            <a:r>
              <a:rPr lang="ru-RU" b="1" err="1"/>
              <a:t>has</a:t>
            </a:r>
            <a:r>
              <a:rPr lang="ru-RU" b="1"/>
              <a:t> 20% </a:t>
            </a:r>
            <a:r>
              <a:rPr lang="ru-RU" b="1" err="1"/>
              <a:t>missing</a:t>
            </a:r>
            <a:r>
              <a:rPr lang="ru-RU" b="1"/>
              <a:t> → </a:t>
            </a:r>
            <a:r>
              <a:rPr lang="ru-RU" b="1" err="1"/>
              <a:t>Impute</a:t>
            </a:r>
            <a:r>
              <a:rPr lang="ru-RU" b="1"/>
              <a:t> </a:t>
            </a:r>
            <a:r>
              <a:rPr lang="ru-RU" b="1" err="1"/>
              <a:t>by</a:t>
            </a:r>
            <a:r>
              <a:rPr lang="ru-RU" b="1"/>
              <a:t> </a:t>
            </a:r>
            <a:r>
              <a:rPr lang="ru-RU" b="1" err="1"/>
              <a:t>class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median</a:t>
            </a:r>
            <a:r>
              <a:rPr lang="ru-RU" i="1"/>
              <a:t> </a:t>
            </a:r>
            <a:r>
              <a:rPr lang="ru-RU" i="1" err="1"/>
              <a:t>age</a:t>
            </a:r>
            <a:r>
              <a:rPr lang="ru-RU" i="1"/>
              <a:t> </a:t>
            </a:r>
            <a:r>
              <a:rPr lang="ru-RU" i="1" err="1"/>
              <a:t>by</a:t>
            </a:r>
            <a:r>
              <a:rPr lang="ru-RU" i="1"/>
              <a:t> </a:t>
            </a:r>
            <a:r>
              <a:rPr lang="ru-RU" i="1" err="1"/>
              <a:t>passenger</a:t>
            </a:r>
            <a:r>
              <a:rPr lang="ru-RU" i="1"/>
              <a:t> </a:t>
            </a:r>
            <a:r>
              <a:rPr lang="ru-RU" i="1" err="1"/>
              <a:t>class</a:t>
            </a:r>
            <a:endParaRPr lang="ru-RU"/>
          </a:p>
          <a:p>
            <a:pPr latinLnBrk="1"/>
            <a:r>
              <a:rPr lang="ru-RU" err="1"/>
              <a:t>age_by_class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Pclass</a:t>
            </a:r>
            <a:r>
              <a:rPr lang="ru-RU"/>
              <a:t>')['</a:t>
            </a:r>
            <a:r>
              <a:rPr lang="ru-RU" err="1"/>
              <a:t>Age</a:t>
            </a:r>
            <a:r>
              <a:rPr lang="ru-RU"/>
              <a:t>'].</a:t>
            </a:r>
            <a:r>
              <a:rPr lang="ru-RU" err="1"/>
              <a:t>median</a:t>
            </a:r>
            <a:r>
              <a:rPr lang="ru-RU"/>
              <a:t>()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age_by_class</a:t>
            </a:r>
            <a:r>
              <a:rPr lang="ru-RU"/>
              <a:t>)</a:t>
            </a:r>
          </a:p>
          <a:p>
            <a:r>
              <a:rPr lang="ru-RU" b="1" err="1"/>
              <a:t>Apply</a:t>
            </a:r>
            <a:r>
              <a:rPr lang="ru-RU" b="1"/>
              <a:t> </a:t>
            </a:r>
            <a:r>
              <a:rPr lang="ru-RU" b="1" err="1"/>
              <a:t>imputation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Pclass</a:t>
            </a:r>
            <a:r>
              <a:rPr lang="ru-RU"/>
              <a:t>')['</a:t>
            </a:r>
            <a:r>
              <a:rPr lang="ru-RU" err="1"/>
              <a:t>Age</a:t>
            </a:r>
            <a:r>
              <a:rPr lang="ru-RU"/>
              <a:t>'].</a:t>
            </a:r>
            <a:r>
              <a:rPr lang="ru-RU" err="1"/>
              <a:t>apply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lambda</a:t>
            </a:r>
            <a:r>
              <a:rPr lang="ru-RU"/>
              <a:t> x: </a:t>
            </a:r>
            <a:r>
              <a:rPr lang="ru-RU" err="1"/>
              <a:t>x.fillna</a:t>
            </a:r>
            <a:r>
              <a:rPr lang="ru-RU"/>
              <a:t>(</a:t>
            </a:r>
            <a:r>
              <a:rPr lang="ru-RU" err="1"/>
              <a:t>x.median</a:t>
            </a:r>
            <a:r>
              <a:rPr lang="ru-RU"/>
              <a:t>())</a:t>
            </a:r>
          </a:p>
          <a:p>
            <a:pPr latinLnBrk="1"/>
            <a:r>
              <a:rPr lang="ru-RU"/>
              <a:t>)</a:t>
            </a:r>
          </a:p>
          <a:p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f"Missing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now</a:t>
            </a:r>
            <a:r>
              <a:rPr lang="ru-RU"/>
              <a:t>: {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'].</a:t>
            </a:r>
            <a:r>
              <a:rPr lang="ru-RU" err="1"/>
              <a:t>isnull</a:t>
            </a:r>
            <a:r>
              <a:rPr lang="ru-RU"/>
              <a:t>().</a:t>
            </a:r>
            <a:r>
              <a:rPr lang="ru-RU" err="1"/>
              <a:t>sum</a:t>
            </a:r>
            <a:r>
              <a:rPr lang="ru-RU"/>
              <a:t>()}")</a:t>
            </a:r>
          </a:p>
        </p:txBody>
      </p:sp>
    </p:spTree>
    <p:extLst>
      <p:ext uri="{BB962C8B-B14F-4D97-AF65-F5344CB8AC3E}">
        <p14:creationId xmlns:p14="http://schemas.microsoft.com/office/powerpoint/2010/main" val="342554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9D8FF-2A72-67B1-E046-BB6E7F01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Step 3 - </a:t>
            </a:r>
            <a:r>
              <a:rPr lang="ru-RU" err="1"/>
              <a:t>Fix</a:t>
            </a:r>
            <a:r>
              <a:rPr lang="ru-RU"/>
              <a:t> </a:t>
            </a:r>
            <a:r>
              <a:rPr lang="ru-RU" err="1"/>
              <a:t>Remaining</a:t>
            </a:r>
            <a:r>
              <a:rPr lang="ru-RU"/>
              <a:t> </a:t>
            </a:r>
            <a:r>
              <a:rPr lang="ru-RU" err="1"/>
              <a:t>Issues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00DC-AD27-156B-FA7A-D607E10AF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err="1"/>
              <a:t>Embarked</a:t>
            </a:r>
            <a:r>
              <a:rPr lang="ru-RU" b="1"/>
              <a:t> (</a:t>
            </a:r>
            <a:r>
              <a:rPr lang="ru-RU" b="1" err="1"/>
              <a:t>only</a:t>
            </a:r>
            <a:r>
              <a:rPr lang="ru-RU" b="1"/>
              <a:t> 2 </a:t>
            </a:r>
            <a:r>
              <a:rPr lang="ru-RU" b="1" err="1"/>
              <a:t>missing</a:t>
            </a:r>
            <a:r>
              <a:rPr lang="ru-RU" b="1"/>
              <a:t>):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Find</a:t>
            </a:r>
            <a:r>
              <a:rPr lang="ru-RU" i="1"/>
              <a:t> </a:t>
            </a:r>
            <a:r>
              <a:rPr lang="ru-RU" i="1" err="1"/>
              <a:t>most</a:t>
            </a:r>
            <a:r>
              <a:rPr lang="ru-RU" i="1"/>
              <a:t> </a:t>
            </a:r>
            <a:r>
              <a:rPr lang="ru-RU" i="1" err="1"/>
              <a:t>common</a:t>
            </a:r>
            <a:r>
              <a:rPr lang="ru-RU" i="1"/>
              <a:t> </a:t>
            </a:r>
            <a:r>
              <a:rPr lang="ru-RU" i="1" err="1"/>
              <a:t>value</a:t>
            </a:r>
            <a:endParaRPr lang="ru-RU"/>
          </a:p>
          <a:p>
            <a:pPr latinLnBrk="1"/>
            <a:r>
              <a:rPr lang="ru-RU" err="1"/>
              <a:t>most_common</a:t>
            </a:r>
            <a:r>
              <a:rPr lang="ru-RU"/>
              <a:t>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Embarked</a:t>
            </a:r>
            <a:r>
              <a:rPr lang="ru-RU"/>
              <a:t>'].</a:t>
            </a:r>
            <a:r>
              <a:rPr lang="ru-RU" err="1"/>
              <a:t>mode</a:t>
            </a:r>
            <a:r>
              <a:rPr lang="ru-RU"/>
              <a:t>()[0]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f"Most</a:t>
            </a:r>
            <a:r>
              <a:rPr lang="ru-RU"/>
              <a:t> </a:t>
            </a:r>
            <a:r>
              <a:rPr lang="ru-RU" err="1"/>
              <a:t>common</a:t>
            </a:r>
            <a:r>
              <a:rPr lang="ru-RU"/>
              <a:t> </a:t>
            </a:r>
            <a:r>
              <a:rPr lang="ru-RU" err="1"/>
              <a:t>embarkation</a:t>
            </a:r>
            <a:r>
              <a:rPr lang="ru-RU"/>
              <a:t>: {</a:t>
            </a:r>
            <a:r>
              <a:rPr lang="ru-RU" err="1"/>
              <a:t>most_common</a:t>
            </a:r>
            <a:r>
              <a:rPr lang="ru-RU"/>
              <a:t>}")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Fill</a:t>
            </a:r>
            <a:r>
              <a:rPr lang="ru-RU" i="1"/>
              <a:t> </a:t>
            </a:r>
            <a:r>
              <a:rPr lang="ru-RU" i="1" err="1"/>
              <a:t>missing</a:t>
            </a:r>
            <a:r>
              <a:rPr lang="ru-RU" i="1"/>
              <a:t> </a:t>
            </a:r>
            <a:r>
              <a:rPr lang="ru-RU" i="1" err="1"/>
              <a:t>values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Embarked</a:t>
            </a:r>
            <a:r>
              <a:rPr lang="ru-RU"/>
              <a:t>']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Embarked</a:t>
            </a:r>
            <a:r>
              <a:rPr lang="ru-RU"/>
              <a:t>'].</a:t>
            </a:r>
            <a:r>
              <a:rPr lang="ru-RU" err="1"/>
              <a:t>fillna</a:t>
            </a:r>
            <a:r>
              <a:rPr lang="ru-RU"/>
              <a:t>(</a:t>
            </a:r>
            <a:r>
              <a:rPr lang="ru-RU" err="1"/>
              <a:t>most_common</a:t>
            </a:r>
            <a:r>
              <a:rPr lang="ru-RU"/>
              <a:t>)</a:t>
            </a:r>
          </a:p>
          <a:p>
            <a:r>
              <a:rPr lang="ru-RU" b="1" err="1"/>
              <a:t>Verify</a:t>
            </a:r>
            <a:r>
              <a:rPr lang="ru-RU" b="1"/>
              <a:t> </a:t>
            </a:r>
            <a:r>
              <a:rPr lang="ru-RU" b="1" err="1"/>
              <a:t>cleaning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print</a:t>
            </a:r>
            <a:r>
              <a:rPr lang="ru-RU"/>
              <a:t>("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after</a:t>
            </a:r>
            <a:r>
              <a:rPr lang="ru-RU"/>
              <a:t> </a:t>
            </a:r>
            <a:r>
              <a:rPr lang="ru-RU" err="1"/>
              <a:t>cleaning</a:t>
            </a:r>
            <a:r>
              <a:rPr lang="ru-RU"/>
              <a:t>:")</a:t>
            </a:r>
          </a:p>
          <a:p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titanic_clean.isnull</a:t>
            </a:r>
            <a:r>
              <a:rPr lang="ru-RU"/>
              <a:t>().</a:t>
            </a:r>
            <a:r>
              <a:rPr lang="ru-RU" err="1"/>
              <a:t>sum</a:t>
            </a:r>
            <a:r>
              <a:rPr lang="ru-RU"/>
              <a:t>().</a:t>
            </a:r>
            <a:r>
              <a:rPr lang="ru-RU" err="1"/>
              <a:t>sum</a:t>
            </a:r>
            <a:r>
              <a:rPr lang="ru-RU"/>
              <a:t>())  </a:t>
            </a:r>
            <a:r>
              <a:rPr lang="ru-RU" i="1"/>
              <a:t># </a:t>
            </a:r>
            <a:r>
              <a:rPr lang="ru-RU" i="1" err="1"/>
              <a:t>Should</a:t>
            </a:r>
            <a:r>
              <a:rPr lang="ru-RU" i="1"/>
              <a:t> </a:t>
            </a:r>
            <a:r>
              <a:rPr lang="ru-RU" i="1" err="1"/>
              <a:t>be</a:t>
            </a:r>
            <a:r>
              <a:rPr lang="ru-RU" i="1"/>
              <a:t> 0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347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58B8E-E952-A028-DF4D-88F43EF5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Optimize</a:t>
            </a:r>
            <a:r>
              <a:rPr lang="ru-RU"/>
              <a:t> Data </a:t>
            </a:r>
            <a:r>
              <a:rPr lang="ru-RU" err="1"/>
              <a:t>Types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74017-8B6C-3917-284C-ADDF0C2F8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/>
              <a:t>Memory </a:t>
            </a:r>
            <a:r>
              <a:rPr lang="ru-RU" b="1" err="1"/>
              <a:t>Optimization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Before</a:t>
            </a:r>
            <a:r>
              <a:rPr lang="ru-RU" i="1"/>
              <a:t> </a:t>
            </a:r>
            <a:r>
              <a:rPr lang="ru-RU" i="1" err="1"/>
              <a:t>conversion</a:t>
            </a:r>
            <a:endParaRPr lang="ru-RU"/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f"Memory</a:t>
            </a:r>
            <a:r>
              <a:rPr lang="ru-RU"/>
              <a:t> </a:t>
            </a:r>
            <a:r>
              <a:rPr lang="ru-RU" err="1"/>
              <a:t>before</a:t>
            </a:r>
            <a:r>
              <a:rPr lang="ru-RU"/>
              <a:t>: {</a:t>
            </a:r>
            <a:r>
              <a:rPr lang="ru-RU" err="1"/>
              <a:t>titanic_clean.memory_usage</a:t>
            </a:r>
            <a:r>
              <a:rPr lang="ru-RU"/>
              <a:t>(</a:t>
            </a:r>
            <a:r>
              <a:rPr lang="ru-RU" err="1"/>
              <a:t>deep</a:t>
            </a:r>
            <a:r>
              <a:rPr lang="ru-RU"/>
              <a:t>=True).</a:t>
            </a:r>
            <a:r>
              <a:rPr lang="ru-RU" err="1"/>
              <a:t>sum</a:t>
            </a:r>
            <a:r>
              <a:rPr lang="ru-RU"/>
              <a:t>() / 1024**2:.2f} MB")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Convert</a:t>
            </a:r>
            <a:r>
              <a:rPr lang="ru-RU" i="1"/>
              <a:t> </a:t>
            </a:r>
            <a:r>
              <a:rPr lang="ru-RU" i="1" err="1"/>
              <a:t>to</a:t>
            </a:r>
            <a:r>
              <a:rPr lang="ru-RU" i="1"/>
              <a:t> </a:t>
            </a:r>
            <a:r>
              <a:rPr lang="ru-RU" i="1" err="1"/>
              <a:t>efficient</a:t>
            </a:r>
            <a:r>
              <a:rPr lang="ru-RU" i="1"/>
              <a:t> </a:t>
            </a:r>
            <a:r>
              <a:rPr lang="ru-RU" i="1" err="1"/>
              <a:t>types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['Sex'] = </a:t>
            </a:r>
            <a:r>
              <a:rPr lang="ru-RU" err="1"/>
              <a:t>titanic_clean</a:t>
            </a:r>
            <a:r>
              <a:rPr lang="ru-RU"/>
              <a:t>['Sex'].</a:t>
            </a:r>
            <a:r>
              <a:rPr lang="ru-RU" err="1"/>
              <a:t>astype</a:t>
            </a:r>
            <a:r>
              <a:rPr lang="ru-RU"/>
              <a:t>('</a:t>
            </a:r>
            <a:r>
              <a:rPr lang="ru-RU" err="1"/>
              <a:t>category</a:t>
            </a:r>
            <a:r>
              <a:rPr lang="ru-RU"/>
              <a:t>')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Embarked</a:t>
            </a:r>
            <a:r>
              <a:rPr lang="ru-RU"/>
              <a:t>']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Embarked</a:t>
            </a:r>
            <a:r>
              <a:rPr lang="ru-RU"/>
              <a:t>'].</a:t>
            </a:r>
            <a:r>
              <a:rPr lang="ru-RU" err="1"/>
              <a:t>astype</a:t>
            </a:r>
            <a:r>
              <a:rPr lang="ru-RU"/>
              <a:t>('</a:t>
            </a:r>
            <a:r>
              <a:rPr lang="ru-RU" err="1"/>
              <a:t>category</a:t>
            </a:r>
            <a:r>
              <a:rPr lang="ru-RU"/>
              <a:t>')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Survived</a:t>
            </a:r>
            <a:r>
              <a:rPr lang="ru-RU"/>
              <a:t>']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astype</a:t>
            </a:r>
            <a:r>
              <a:rPr lang="ru-RU"/>
              <a:t>('</a:t>
            </a:r>
            <a:r>
              <a:rPr lang="ru-RU" err="1"/>
              <a:t>bool</a:t>
            </a:r>
            <a:r>
              <a:rPr lang="ru-RU"/>
              <a:t>')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After</a:t>
            </a:r>
            <a:r>
              <a:rPr lang="ru-RU" i="1"/>
              <a:t> </a:t>
            </a:r>
            <a:r>
              <a:rPr lang="ru-RU" i="1" err="1"/>
              <a:t>conversion</a:t>
            </a:r>
            <a:endParaRPr lang="ru-RU"/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f"Memory</a:t>
            </a:r>
            <a:r>
              <a:rPr lang="ru-RU"/>
              <a:t> </a:t>
            </a:r>
            <a:r>
              <a:rPr lang="ru-RU" err="1"/>
              <a:t>after</a:t>
            </a:r>
            <a:r>
              <a:rPr lang="ru-RU"/>
              <a:t>: {</a:t>
            </a:r>
            <a:r>
              <a:rPr lang="ru-RU" err="1"/>
              <a:t>titanic_clean.memory_usage</a:t>
            </a:r>
            <a:r>
              <a:rPr lang="ru-RU"/>
              <a:t>(</a:t>
            </a:r>
            <a:r>
              <a:rPr lang="ru-RU" err="1"/>
              <a:t>deep</a:t>
            </a:r>
            <a:r>
              <a:rPr lang="ru-RU"/>
              <a:t>=True).</a:t>
            </a:r>
            <a:r>
              <a:rPr lang="ru-RU" err="1"/>
              <a:t>sum</a:t>
            </a:r>
            <a:r>
              <a:rPr lang="ru-RU"/>
              <a:t>() / 1024**2:.2f} MB")</a:t>
            </a:r>
          </a:p>
          <a:p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f"Saved</a:t>
            </a:r>
            <a:r>
              <a:rPr lang="ru-RU"/>
              <a:t>: {(1 - (</a:t>
            </a:r>
            <a:r>
              <a:rPr lang="ru-RU" err="1"/>
              <a:t>after</a:t>
            </a:r>
            <a:r>
              <a:rPr lang="ru-RU"/>
              <a:t>/</a:t>
            </a:r>
            <a:r>
              <a:rPr lang="ru-RU" err="1"/>
              <a:t>before</a:t>
            </a:r>
            <a:r>
              <a:rPr lang="ru-RU"/>
              <a:t>)) * 100:.1f}% </a:t>
            </a:r>
            <a:r>
              <a:rPr lang="ru-RU" err="1"/>
              <a:t>memory</a:t>
            </a:r>
            <a:r>
              <a:rPr lang="ru-RU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76916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7DC29-0ABA-19A7-564E-39731188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Summary</a:t>
            </a:r>
            <a:r>
              <a:rPr lang="ru-RU"/>
              <a:t> </a:t>
            </a:r>
            <a:r>
              <a:rPr lang="ru-RU" err="1"/>
              <a:t>Statistics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BAEF3-0FA5-1533-8E27-7EFAEC575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/>
              <a:t>The .</a:t>
            </a:r>
            <a:r>
              <a:rPr lang="ru-RU" b="1" err="1"/>
              <a:t>describe</a:t>
            </a:r>
            <a:r>
              <a:rPr lang="ru-RU" b="1"/>
              <a:t>() </a:t>
            </a:r>
            <a:r>
              <a:rPr lang="ru-RU" b="1" err="1"/>
              <a:t>Method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titanic_clean.describe</a:t>
            </a:r>
            <a:r>
              <a:rPr lang="ru-RU"/>
              <a:t>())</a:t>
            </a:r>
          </a:p>
          <a:p>
            <a:r>
              <a:rPr lang="ru-RU" b="1" err="1"/>
              <a:t>Output</a:t>
            </a:r>
            <a:r>
              <a:rPr lang="ru-RU" b="1"/>
              <a:t> </a:t>
            </a:r>
            <a:r>
              <a:rPr lang="ru-RU" b="1" err="1"/>
              <a:t>shows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err="1"/>
              <a:t>Count</a:t>
            </a:r>
            <a:r>
              <a:rPr lang="ru-RU"/>
              <a:t>: 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non-null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pPr lvl="0"/>
            <a:r>
              <a:rPr lang="ru-RU" err="1"/>
              <a:t>Mean</a:t>
            </a:r>
            <a:r>
              <a:rPr lang="ru-RU"/>
              <a:t>: </a:t>
            </a:r>
            <a:r>
              <a:rPr lang="ru-RU" err="1"/>
              <a:t>Average</a:t>
            </a:r>
            <a:endParaRPr lang="ru-RU"/>
          </a:p>
          <a:p>
            <a:pPr lvl="0"/>
            <a:r>
              <a:rPr lang="ru-RU" err="1"/>
              <a:t>Std</a:t>
            </a:r>
            <a:r>
              <a:rPr lang="ru-RU"/>
              <a:t>: Standard </a:t>
            </a:r>
            <a:r>
              <a:rPr lang="ru-RU" err="1"/>
              <a:t>deviation</a:t>
            </a:r>
            <a:endParaRPr lang="ru-RU"/>
          </a:p>
          <a:p>
            <a:pPr lvl="0"/>
            <a:r>
              <a:rPr lang="ru-RU" err="1"/>
              <a:t>Min</a:t>
            </a:r>
            <a:r>
              <a:rPr lang="ru-RU"/>
              <a:t>/Max: Range</a:t>
            </a:r>
          </a:p>
          <a:p>
            <a:pPr lvl="0"/>
            <a:r>
              <a:rPr lang="ru-RU"/>
              <a:t>25%, 50%, 75%: </a:t>
            </a:r>
            <a:r>
              <a:rPr lang="ru-RU" err="1"/>
              <a:t>Quartiles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199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0EC20-5238-509C-B42F-C223946B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Univariate</a:t>
            </a:r>
            <a:r>
              <a:rPr lang="ru-RU"/>
              <a:t> Analysis - What </a:t>
            </a:r>
            <a:r>
              <a:rPr lang="ru-RU" err="1"/>
              <a:t>Is</a:t>
            </a:r>
            <a:r>
              <a:rPr lang="ru-RU"/>
              <a:t> It?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DC132-9A7F-2C0A-04F3-C455C813C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err="1"/>
              <a:t>Analyzing</a:t>
            </a:r>
            <a:r>
              <a:rPr lang="ru-RU" b="1"/>
              <a:t> Single </a:t>
            </a:r>
            <a:r>
              <a:rPr lang="ru-RU" b="1" err="1"/>
              <a:t>Variables</a:t>
            </a:r>
            <a:r>
              <a:rPr lang="ru-RU" b="1"/>
              <a:t>:</a:t>
            </a:r>
            <a:endParaRPr lang="ru-RU"/>
          </a:p>
          <a:p>
            <a:r>
              <a:rPr lang="ru-RU" b="1"/>
              <a:t>For </a:t>
            </a:r>
            <a:r>
              <a:rPr lang="ru-RU" b="1" err="1"/>
              <a:t>Numeric</a:t>
            </a:r>
            <a:r>
              <a:rPr lang="ru-RU" b="1"/>
              <a:t> </a:t>
            </a:r>
            <a:r>
              <a:rPr lang="ru-RU" b="1" err="1"/>
              <a:t>Variables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/>
              <a:t>Distribution </a:t>
            </a:r>
            <a:r>
              <a:rPr lang="ru-RU" err="1"/>
              <a:t>shape</a:t>
            </a:r>
            <a:endParaRPr lang="ru-RU"/>
          </a:p>
          <a:p>
            <a:pPr lvl="0"/>
            <a:r>
              <a:rPr lang="ru-RU"/>
              <a:t>Central </a:t>
            </a:r>
            <a:r>
              <a:rPr lang="ru-RU" err="1"/>
              <a:t>tendency</a:t>
            </a:r>
            <a:r>
              <a:rPr lang="ru-RU"/>
              <a:t> (</a:t>
            </a:r>
            <a:r>
              <a:rPr lang="ru-RU" err="1"/>
              <a:t>mean</a:t>
            </a:r>
            <a:r>
              <a:rPr lang="ru-RU"/>
              <a:t>, </a:t>
            </a:r>
            <a:r>
              <a:rPr lang="ru-RU" err="1"/>
              <a:t>median</a:t>
            </a:r>
            <a:r>
              <a:rPr lang="ru-RU"/>
              <a:t>)</a:t>
            </a:r>
          </a:p>
          <a:p>
            <a:pPr lvl="0"/>
            <a:r>
              <a:rPr lang="ru-RU" err="1"/>
              <a:t>Spread</a:t>
            </a:r>
            <a:r>
              <a:rPr lang="ru-RU"/>
              <a:t> (</a:t>
            </a:r>
            <a:r>
              <a:rPr lang="ru-RU" err="1"/>
              <a:t>variance</a:t>
            </a:r>
            <a:r>
              <a:rPr lang="ru-RU"/>
              <a:t>, </a:t>
            </a:r>
            <a:r>
              <a:rPr lang="ru-RU" err="1"/>
              <a:t>range</a:t>
            </a:r>
            <a:r>
              <a:rPr lang="ru-RU"/>
              <a:t>)</a:t>
            </a:r>
          </a:p>
          <a:p>
            <a:pPr lvl="0"/>
            <a:r>
              <a:rPr lang="ru-RU" err="1"/>
              <a:t>Outliers</a:t>
            </a:r>
            <a:endParaRPr lang="ru-RU"/>
          </a:p>
          <a:p>
            <a:r>
              <a:rPr lang="ru-RU" b="1"/>
              <a:t>For </a:t>
            </a:r>
            <a:r>
              <a:rPr lang="ru-RU" b="1" err="1"/>
              <a:t>Categorical</a:t>
            </a:r>
            <a:r>
              <a:rPr lang="ru-RU" b="1"/>
              <a:t> </a:t>
            </a:r>
            <a:r>
              <a:rPr lang="ru-RU" b="1" err="1"/>
              <a:t>Variables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/>
              <a:t>Frequency </a:t>
            </a:r>
            <a:r>
              <a:rPr lang="ru-RU" err="1"/>
              <a:t>counts</a:t>
            </a:r>
            <a:endParaRPr lang="ru-RU"/>
          </a:p>
          <a:p>
            <a:pPr lvl="0"/>
            <a:r>
              <a:rPr lang="ru-RU" err="1"/>
              <a:t>Proportions</a:t>
            </a:r>
            <a:endParaRPr lang="ru-RU"/>
          </a:p>
          <a:p>
            <a:pPr lvl="0"/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common</a:t>
            </a:r>
            <a:r>
              <a:rPr lang="ru-RU"/>
              <a:t> </a:t>
            </a:r>
            <a:r>
              <a:rPr lang="ru-RU" err="1"/>
              <a:t>values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98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38A6C-9FF3-5910-F320-117D6DCE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Analyzing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21A83D-ACA0-D03A-9E97-4741711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err="1"/>
              <a:t>Histogram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latinLnBrk="1"/>
            <a:r>
              <a:rPr lang="ru-RU" err="1"/>
              <a:t>plt.hist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'], </a:t>
            </a:r>
            <a:r>
              <a:rPr lang="ru-RU" err="1"/>
              <a:t>bins</a:t>
            </a:r>
            <a:r>
              <a:rPr lang="ru-RU"/>
              <a:t>=30, </a:t>
            </a:r>
            <a:r>
              <a:rPr lang="ru-RU" err="1"/>
              <a:t>edgecolor</a:t>
            </a:r>
            <a:r>
              <a:rPr lang="ru-RU"/>
              <a:t>='</a:t>
            </a:r>
            <a:r>
              <a:rPr lang="ru-RU" err="1"/>
              <a:t>black</a:t>
            </a:r>
            <a:r>
              <a:rPr lang="ru-RU"/>
              <a:t>', </a:t>
            </a:r>
            <a:r>
              <a:rPr lang="ru-RU" err="1"/>
              <a:t>alpha</a:t>
            </a:r>
            <a:r>
              <a:rPr lang="ru-RU"/>
              <a:t>=0.7)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Distribution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Titanic</a:t>
            </a:r>
            <a:r>
              <a:rPr lang="ru-RU"/>
              <a:t> </a:t>
            </a:r>
            <a:r>
              <a:rPr lang="ru-RU" err="1"/>
              <a:t>Passengers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Count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Insights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passengers</a:t>
            </a:r>
            <a:r>
              <a:rPr lang="ru-RU"/>
              <a:t>: 20-40 </a:t>
            </a:r>
            <a:r>
              <a:rPr lang="ru-RU" err="1"/>
              <a:t>years</a:t>
            </a:r>
            <a:endParaRPr lang="ru-RU"/>
          </a:p>
          <a:p>
            <a:pPr lvl="1"/>
            <a:r>
              <a:rPr lang="ru-RU" err="1"/>
              <a:t>Few</a:t>
            </a:r>
            <a:r>
              <a:rPr lang="ru-RU"/>
              <a:t> </a:t>
            </a:r>
            <a:r>
              <a:rPr lang="ru-RU" err="1"/>
              <a:t>children</a:t>
            </a:r>
            <a:r>
              <a:rPr lang="ru-RU"/>
              <a:t> (&lt;10)</a:t>
            </a:r>
          </a:p>
          <a:p>
            <a:pPr lvl="1"/>
            <a:r>
              <a:rPr lang="ru-RU" err="1"/>
              <a:t>Few</a:t>
            </a:r>
            <a:r>
              <a:rPr lang="ru-RU"/>
              <a:t> </a:t>
            </a:r>
            <a:r>
              <a:rPr lang="ru-RU" err="1"/>
              <a:t>elderly</a:t>
            </a:r>
            <a:r>
              <a:rPr lang="ru-RU"/>
              <a:t> (&gt;60</a:t>
            </a:r>
            <a:r>
              <a:rPr lang="en-US"/>
              <a:t>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802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passengers&#10;&#10;AI-generated content may be incorrect.">
            <a:extLst>
              <a:ext uri="{FF2B5EF4-FFF2-40B4-BE49-F238E27FC236}">
                <a16:creationId xmlns:a16="http://schemas.microsoft.com/office/drawing/2014/main" id="{6407E15B-6A8A-75F5-AD6A-8CA0B8558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8" y="713598"/>
            <a:ext cx="9131808" cy="5849132"/>
          </a:xfrm>
        </p:spPr>
      </p:pic>
    </p:spTree>
    <p:extLst>
      <p:ext uri="{BB962C8B-B14F-4D97-AF65-F5344CB8AC3E}">
        <p14:creationId xmlns:p14="http://schemas.microsoft.com/office/powerpoint/2010/main" val="3984302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C2CCA-1169-5CC5-14C3-FE0B140C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Analyzing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DF25F-517E-E1AD-3ADF-8709F6A57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z="3300" b="1"/>
              <a:t>Box </a:t>
            </a:r>
            <a:r>
              <a:rPr lang="ru-RU" sz="3300" b="1" err="1"/>
              <a:t>Plot</a:t>
            </a:r>
            <a:r>
              <a:rPr lang="ru-RU" sz="3300" b="1"/>
              <a:t> </a:t>
            </a:r>
            <a:r>
              <a:rPr lang="ru-RU" sz="3300" b="1" err="1"/>
              <a:t>for</a:t>
            </a:r>
            <a:r>
              <a:rPr lang="ru-RU" sz="3300" b="1"/>
              <a:t> </a:t>
            </a:r>
            <a:r>
              <a:rPr lang="ru-RU" sz="3300" b="1" err="1"/>
              <a:t>Outliers</a:t>
            </a:r>
            <a:r>
              <a:rPr lang="ru-RU" sz="3300" b="1"/>
              <a:t>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 6))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'].</a:t>
            </a:r>
            <a:r>
              <a:rPr lang="ru-RU" err="1"/>
              <a:t>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box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 Distribution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Outliers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 (USD)')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r>
              <a:rPr lang="ru-RU" sz="3300" b="1" err="1"/>
              <a:t>Histogram</a:t>
            </a:r>
            <a:r>
              <a:rPr lang="ru-RU" sz="3300" b="1"/>
              <a:t> (</a:t>
            </a:r>
            <a:r>
              <a:rPr lang="ru-RU" sz="3300" b="1" err="1"/>
              <a:t>Log</a:t>
            </a:r>
            <a:r>
              <a:rPr lang="ru-RU" sz="3300" b="1"/>
              <a:t> </a:t>
            </a:r>
            <a:r>
              <a:rPr lang="ru-RU" sz="3300" b="1" err="1"/>
              <a:t>Scale</a:t>
            </a:r>
            <a:r>
              <a:rPr lang="ru-RU" sz="3300" b="1"/>
              <a:t>):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latinLnBrk="1"/>
            <a:r>
              <a:rPr lang="ru-RU" err="1"/>
              <a:t>plt.hist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'], </a:t>
            </a:r>
            <a:r>
              <a:rPr lang="ru-RU" err="1"/>
              <a:t>bins</a:t>
            </a:r>
            <a:r>
              <a:rPr lang="ru-RU"/>
              <a:t>=50, </a:t>
            </a:r>
            <a:r>
              <a:rPr lang="ru-RU" err="1"/>
              <a:t>edgecolor</a:t>
            </a:r>
            <a:r>
              <a:rPr lang="ru-RU"/>
              <a:t>='</a:t>
            </a:r>
            <a:r>
              <a:rPr lang="ru-RU" err="1"/>
              <a:t>black</a:t>
            </a:r>
            <a:r>
              <a:rPr lang="ru-RU"/>
              <a:t>', </a:t>
            </a:r>
            <a:r>
              <a:rPr lang="ru-RU" err="1"/>
              <a:t>alpha</a:t>
            </a:r>
            <a:r>
              <a:rPr lang="ru-RU"/>
              <a:t>=0.7, </a:t>
            </a:r>
            <a:r>
              <a:rPr lang="ru-RU" err="1"/>
              <a:t>log</a:t>
            </a:r>
            <a:r>
              <a:rPr lang="ru-RU"/>
              <a:t>=True)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 Distribution (</a:t>
            </a:r>
            <a:r>
              <a:rPr lang="ru-RU" err="1"/>
              <a:t>Log</a:t>
            </a:r>
            <a:r>
              <a:rPr lang="ru-RU"/>
              <a:t> </a:t>
            </a:r>
            <a:r>
              <a:rPr lang="ru-RU" err="1"/>
              <a:t>Scale</a:t>
            </a:r>
            <a:r>
              <a:rPr lang="ru-RU"/>
              <a:t>)')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Count</a:t>
            </a:r>
            <a:r>
              <a:rPr lang="ru-RU"/>
              <a:t> (</a:t>
            </a:r>
            <a:r>
              <a:rPr lang="ru-RU" err="1"/>
              <a:t>Log</a:t>
            </a:r>
            <a:r>
              <a:rPr lang="ru-RU"/>
              <a:t> </a:t>
            </a:r>
            <a:r>
              <a:rPr lang="ru-RU" err="1"/>
              <a:t>Scale</a:t>
            </a:r>
            <a:r>
              <a:rPr lang="ru-RU"/>
              <a:t>)')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37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C19CBA11-43AF-0826-447B-2FFCB2896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22" y="789305"/>
            <a:ext cx="9145782" cy="5867670"/>
          </a:xfrm>
        </p:spPr>
      </p:pic>
    </p:spTree>
    <p:extLst>
      <p:ext uri="{BB962C8B-B14F-4D97-AF65-F5344CB8AC3E}">
        <p14:creationId xmlns:p14="http://schemas.microsoft.com/office/powerpoint/2010/main" val="1155722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69D82-081C-87E5-4696-BA99AFF3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err="1"/>
              <a:t>Categorical</a:t>
            </a:r>
            <a:r>
              <a:rPr lang="ru-RU" sz="4000"/>
              <a:t> Analysis: </a:t>
            </a:r>
            <a:r>
              <a:rPr lang="ru-RU" sz="4000" err="1"/>
              <a:t>Passenger</a:t>
            </a:r>
            <a:r>
              <a:rPr lang="ru-RU" sz="4000"/>
              <a:t> Class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CEE7E4-C0A3-0DC0-C48B-28E5D2BE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err="1"/>
              <a:t>Bar</a:t>
            </a:r>
            <a:r>
              <a:rPr lang="ru-RU" b="1"/>
              <a:t> </a:t>
            </a:r>
            <a:r>
              <a:rPr lang="ru-RU" b="1" err="1"/>
              <a:t>Chart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class_counts</a:t>
            </a:r>
            <a:r>
              <a:rPr lang="ru-RU"/>
              <a:t>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Pclass</a:t>
            </a:r>
            <a:r>
              <a:rPr lang="ru-RU"/>
              <a:t>'].</a:t>
            </a:r>
            <a:r>
              <a:rPr lang="ru-RU" err="1"/>
              <a:t>value_counts</a:t>
            </a:r>
            <a:r>
              <a:rPr lang="ru-RU"/>
              <a:t>().</a:t>
            </a:r>
            <a:r>
              <a:rPr lang="ru-RU" err="1"/>
              <a:t>sort_index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 6))</a:t>
            </a:r>
          </a:p>
          <a:p>
            <a:pPr latinLnBrk="1"/>
            <a:r>
              <a:rPr lang="ru-RU" err="1"/>
              <a:t>class_counts.plot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</a:t>
            </a:r>
            <a:r>
              <a:rPr lang="ru-RU"/>
              <a:t>', </a:t>
            </a:r>
            <a:r>
              <a:rPr lang="ru-RU" err="1"/>
              <a:t>color</a:t>
            </a:r>
            <a:r>
              <a:rPr lang="ru-RU"/>
              <a:t>=['</a:t>
            </a:r>
            <a:r>
              <a:rPr lang="ru-RU" err="1"/>
              <a:t>gold</a:t>
            </a:r>
            <a:r>
              <a:rPr lang="ru-RU"/>
              <a:t>', '</a:t>
            </a:r>
            <a:r>
              <a:rPr lang="ru-RU" err="1"/>
              <a:t>silver</a:t>
            </a:r>
            <a:r>
              <a:rPr lang="ru-RU"/>
              <a:t>', '</a:t>
            </a:r>
            <a:r>
              <a:rPr lang="ru-RU" err="1"/>
              <a:t>brown</a:t>
            </a:r>
            <a:r>
              <a:rPr lang="ru-RU"/>
              <a:t>'])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Passenger</a:t>
            </a:r>
            <a:r>
              <a:rPr lang="ru-RU"/>
              <a:t> Distribution </a:t>
            </a:r>
            <a:r>
              <a:rPr lang="ru-RU" err="1"/>
              <a:t>by</a:t>
            </a:r>
            <a:r>
              <a:rPr lang="ru-RU"/>
              <a:t> Class')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('Class (1=First, 3=</a:t>
            </a:r>
            <a:r>
              <a:rPr lang="ru-RU" err="1"/>
              <a:t>Third</a:t>
            </a:r>
            <a:r>
              <a:rPr lang="ru-RU"/>
              <a:t>)')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('Number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Passengers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plt.xticks</a:t>
            </a:r>
            <a:r>
              <a:rPr lang="ru-RU"/>
              <a:t>(</a:t>
            </a:r>
            <a:r>
              <a:rPr lang="ru-RU" err="1"/>
              <a:t>rotation</a:t>
            </a:r>
            <a:r>
              <a:rPr lang="ru-RU"/>
              <a:t>=0)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Proportions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/>
              <a:t>First Class: 24%</a:t>
            </a:r>
          </a:p>
          <a:p>
            <a:pPr lvl="1"/>
            <a:r>
              <a:rPr lang="ru-RU"/>
              <a:t>Second Class: 21%</a:t>
            </a:r>
          </a:p>
          <a:p>
            <a:pPr lvl="1"/>
            <a:r>
              <a:rPr lang="ru-RU" err="1"/>
              <a:t>Third</a:t>
            </a:r>
            <a:r>
              <a:rPr lang="ru-RU"/>
              <a:t> Class: 55%</a:t>
            </a:r>
          </a:p>
        </p:txBody>
      </p:sp>
    </p:spTree>
    <p:extLst>
      <p:ext uri="{BB962C8B-B14F-4D97-AF65-F5344CB8AC3E}">
        <p14:creationId xmlns:p14="http://schemas.microsoft.com/office/powerpoint/2010/main" val="441703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8E0B9968-E149-3BF6-EE66-CC326316F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313" y="607004"/>
            <a:ext cx="7742375" cy="6070022"/>
          </a:xfrm>
        </p:spPr>
      </p:pic>
    </p:spTree>
    <p:extLst>
      <p:ext uri="{BB962C8B-B14F-4D97-AF65-F5344CB8AC3E}">
        <p14:creationId xmlns:p14="http://schemas.microsoft.com/office/powerpoint/2010/main" val="1170607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F40E1-88B7-387B-6C0A-0781F8F1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Categorical</a:t>
            </a:r>
            <a:r>
              <a:rPr lang="ru-RU"/>
              <a:t> Analysis: </a:t>
            </a:r>
            <a:r>
              <a:rPr lang="ru-RU" err="1"/>
              <a:t>Gender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516359-15F4-F26F-77A6-F585E653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/>
              <a:t>Simple </a:t>
            </a:r>
            <a:r>
              <a:rPr lang="ru-RU" b="1" err="1"/>
              <a:t>Bar</a:t>
            </a:r>
            <a:r>
              <a:rPr lang="ru-RU" b="1"/>
              <a:t> </a:t>
            </a:r>
            <a:r>
              <a:rPr lang="ru-RU" b="1" err="1"/>
              <a:t>Chart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gender_counts</a:t>
            </a:r>
            <a:r>
              <a:rPr lang="ru-RU"/>
              <a:t> = </a:t>
            </a:r>
            <a:r>
              <a:rPr lang="ru-RU" err="1"/>
              <a:t>titanic_clean</a:t>
            </a:r>
            <a:r>
              <a:rPr lang="ru-RU"/>
              <a:t>['Sex'].</a:t>
            </a:r>
            <a:r>
              <a:rPr lang="ru-RU" err="1"/>
              <a:t>value_counts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 6))</a:t>
            </a:r>
          </a:p>
          <a:p>
            <a:pPr latinLnBrk="1"/>
            <a:r>
              <a:rPr lang="ru-RU" err="1"/>
              <a:t>gender_counts.plot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</a:t>
            </a:r>
            <a:r>
              <a:rPr lang="ru-RU"/>
              <a:t>', </a:t>
            </a:r>
            <a:r>
              <a:rPr lang="ru-RU" err="1"/>
              <a:t>color</a:t>
            </a:r>
            <a:r>
              <a:rPr lang="ru-RU"/>
              <a:t>=['</a:t>
            </a:r>
            <a:r>
              <a:rPr lang="ru-RU" err="1"/>
              <a:t>lightblue</a:t>
            </a:r>
            <a:r>
              <a:rPr lang="ru-RU"/>
              <a:t>', '</a:t>
            </a:r>
            <a:r>
              <a:rPr lang="ru-RU" err="1"/>
              <a:t>pink</a:t>
            </a:r>
            <a:r>
              <a:rPr lang="ru-RU"/>
              <a:t>'])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Gender</a:t>
            </a:r>
            <a:r>
              <a:rPr lang="ru-RU"/>
              <a:t> Distribution')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Gender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Count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Statistics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Male</a:t>
            </a:r>
            <a:r>
              <a:rPr lang="ru-RU"/>
              <a:t>: 577 (65%)</a:t>
            </a:r>
          </a:p>
          <a:p>
            <a:pPr lvl="1"/>
            <a:r>
              <a:rPr lang="ru-RU" err="1"/>
              <a:t>Female</a:t>
            </a:r>
            <a:r>
              <a:rPr lang="ru-RU"/>
              <a:t>: 314 (35%)</a:t>
            </a:r>
          </a:p>
          <a:p>
            <a:pPr lvl="1"/>
            <a:r>
              <a:rPr lang="ru-RU" err="1"/>
              <a:t>Ratio</a:t>
            </a:r>
            <a:r>
              <a:rPr lang="ru-RU"/>
              <a:t>: ~2:1 </a:t>
            </a:r>
            <a:r>
              <a:rPr lang="ru-RU" err="1"/>
              <a:t>male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female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211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person and person&#10;&#10;AI-generated content may be incorrect.">
            <a:extLst>
              <a:ext uri="{FF2B5EF4-FFF2-40B4-BE49-F238E27FC236}">
                <a16:creationId xmlns:a16="http://schemas.microsoft.com/office/drawing/2014/main" id="{9D55574E-6804-2B91-CF3A-953965BDD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6" y="228593"/>
            <a:ext cx="9415462" cy="6629407"/>
          </a:xfrm>
        </p:spPr>
      </p:pic>
    </p:spTree>
    <p:extLst>
      <p:ext uri="{BB962C8B-B14F-4D97-AF65-F5344CB8AC3E}">
        <p14:creationId xmlns:p14="http://schemas.microsoft.com/office/powerpoint/2010/main" val="3238592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B25FB-6753-A2CC-2DEF-7FAEF116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Bivariate</a:t>
            </a:r>
            <a:r>
              <a:rPr lang="ru-RU"/>
              <a:t> Analysis - </a:t>
            </a:r>
            <a:r>
              <a:rPr lang="ru-RU" err="1"/>
              <a:t>Understanding</a:t>
            </a:r>
            <a:r>
              <a:rPr lang="ru-RU"/>
              <a:t> </a:t>
            </a:r>
            <a:r>
              <a:rPr lang="ru-RU" err="1"/>
              <a:t>Relationships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FF6A6-B3D3-DEC2-5D62-DD12378EE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err="1"/>
              <a:t>Three</a:t>
            </a:r>
            <a:r>
              <a:rPr lang="ru-RU" b="1"/>
              <a:t> </a:t>
            </a:r>
            <a:r>
              <a:rPr lang="ru-RU" b="1" err="1"/>
              <a:t>Types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Relationships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b="1" err="1"/>
              <a:t>Numeric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Numeric</a:t>
            </a:r>
            <a:endParaRPr lang="ru-RU"/>
          </a:p>
          <a:p>
            <a:pPr lvl="1"/>
            <a:r>
              <a:rPr lang="ru-RU" err="1"/>
              <a:t>Scatter</a:t>
            </a:r>
            <a:r>
              <a:rPr lang="ru-RU"/>
              <a:t> </a:t>
            </a:r>
            <a:r>
              <a:rPr lang="ru-RU" err="1"/>
              <a:t>plots</a:t>
            </a:r>
            <a:endParaRPr lang="ru-RU"/>
          </a:p>
          <a:p>
            <a:pPr lvl="1"/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coefficients</a:t>
            </a:r>
            <a:endParaRPr lang="ru-RU"/>
          </a:p>
          <a:p>
            <a:pPr lvl="0"/>
            <a:r>
              <a:rPr lang="ru-RU" b="1" err="1"/>
              <a:t>Numeric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Categorical</a:t>
            </a:r>
            <a:endParaRPr lang="ru-RU"/>
          </a:p>
          <a:p>
            <a:pPr lvl="1"/>
            <a:r>
              <a:rPr lang="ru-RU"/>
              <a:t>Box </a:t>
            </a:r>
            <a:r>
              <a:rPr lang="ru-RU" err="1"/>
              <a:t>plots</a:t>
            </a:r>
            <a:endParaRPr lang="ru-RU"/>
          </a:p>
          <a:p>
            <a:pPr lvl="1"/>
            <a:r>
              <a:rPr lang="ru-RU" err="1"/>
              <a:t>Violin</a:t>
            </a:r>
            <a:r>
              <a:rPr lang="ru-RU"/>
              <a:t> </a:t>
            </a:r>
            <a:r>
              <a:rPr lang="ru-RU" err="1"/>
              <a:t>plots</a:t>
            </a:r>
            <a:endParaRPr lang="ru-RU"/>
          </a:p>
          <a:p>
            <a:pPr lvl="0"/>
            <a:r>
              <a:rPr lang="ru-RU" b="1" err="1"/>
              <a:t>Categorical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Categorical</a:t>
            </a:r>
            <a:endParaRPr lang="ru-RU"/>
          </a:p>
          <a:p>
            <a:pPr lvl="1"/>
            <a:r>
              <a:rPr lang="ru-RU" err="1"/>
              <a:t>Stacked</a:t>
            </a:r>
            <a:r>
              <a:rPr lang="ru-RU"/>
              <a:t> </a:t>
            </a:r>
            <a:r>
              <a:rPr lang="ru-RU" err="1"/>
              <a:t>bar</a:t>
            </a:r>
            <a:r>
              <a:rPr lang="ru-RU"/>
              <a:t> </a:t>
            </a:r>
            <a:r>
              <a:rPr lang="ru-RU" err="1"/>
              <a:t>charts</a:t>
            </a:r>
            <a:endParaRPr lang="ru-RU"/>
          </a:p>
          <a:p>
            <a:pPr lvl="1"/>
            <a:r>
              <a:rPr lang="ru-RU" err="1"/>
              <a:t>Heatmaps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054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06BBA-074D-2B3E-3B1B-2D17B1B8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</a:t>
            </a:r>
            <a:r>
              <a:rPr lang="ru-RU" err="1"/>
              <a:t>Scatter</a:t>
            </a:r>
            <a:r>
              <a:rPr lang="ru-RU"/>
              <a:t> </a:t>
            </a:r>
            <a:r>
              <a:rPr lang="ru-RU" err="1"/>
              <a:t>Plot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29F493-5435-FA07-6627-C6841F7A5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/>
              <a:t>Basic </a:t>
            </a:r>
            <a:r>
              <a:rPr lang="ru-RU" b="1" err="1"/>
              <a:t>Scatter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latinLnBrk="1"/>
            <a:r>
              <a:rPr lang="ru-RU" err="1"/>
              <a:t>plt.scatter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'],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'], </a:t>
            </a:r>
            <a:r>
              <a:rPr lang="ru-RU" err="1"/>
              <a:t>alpha</a:t>
            </a:r>
            <a:r>
              <a:rPr lang="ru-RU"/>
              <a:t>=0.5)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</a:t>
            </a:r>
            <a:r>
              <a:rPr lang="ru-RU" err="1"/>
              <a:t>Paid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 (USD)')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Insights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Older</a:t>
            </a:r>
            <a:r>
              <a:rPr lang="ru-RU"/>
              <a:t> </a:t>
            </a:r>
            <a:r>
              <a:rPr lang="ru-RU" err="1"/>
              <a:t>passengers</a:t>
            </a:r>
            <a:r>
              <a:rPr lang="ru-RU"/>
              <a:t> </a:t>
            </a:r>
            <a:r>
              <a:rPr lang="ru-RU" err="1"/>
              <a:t>paid</a:t>
            </a:r>
            <a:r>
              <a:rPr lang="ru-RU"/>
              <a:t> </a:t>
            </a:r>
            <a:r>
              <a:rPr lang="ru-RU" err="1"/>
              <a:t>more</a:t>
            </a:r>
            <a:endParaRPr lang="ru-RU"/>
          </a:p>
          <a:p>
            <a:pPr lvl="1"/>
            <a:r>
              <a:rPr lang="ru-RU" err="1"/>
              <a:t>Children</a:t>
            </a:r>
            <a:r>
              <a:rPr lang="ru-RU"/>
              <a:t> (</a:t>
            </a:r>
            <a:r>
              <a:rPr lang="ru-RU" err="1"/>
              <a:t>under</a:t>
            </a:r>
            <a:r>
              <a:rPr lang="ru-RU"/>
              <a:t> 10) </a:t>
            </a:r>
            <a:r>
              <a:rPr lang="ru-RU" err="1"/>
              <a:t>had</a:t>
            </a:r>
            <a:r>
              <a:rPr lang="ru-RU"/>
              <a:t> </a:t>
            </a:r>
            <a:r>
              <a:rPr lang="ru-RU" err="1"/>
              <a:t>lower</a:t>
            </a:r>
            <a:r>
              <a:rPr lang="ru-RU"/>
              <a:t> </a:t>
            </a:r>
            <a:r>
              <a:rPr lang="ru-RU" err="1"/>
              <a:t>fares</a:t>
            </a:r>
            <a:endParaRPr lang="ru-RU"/>
          </a:p>
          <a:p>
            <a:pPr lvl="1"/>
            <a:r>
              <a:rPr lang="ru-RU" err="1"/>
              <a:t>Some</a:t>
            </a:r>
            <a:r>
              <a:rPr lang="ru-RU"/>
              <a:t> </a:t>
            </a:r>
            <a:r>
              <a:rPr lang="ru-RU" err="1"/>
              <a:t>very</a:t>
            </a:r>
            <a:r>
              <a:rPr lang="ru-RU"/>
              <a:t> </a:t>
            </a:r>
            <a:r>
              <a:rPr lang="ru-RU" err="1"/>
              <a:t>high</a:t>
            </a:r>
            <a:r>
              <a:rPr lang="ru-RU"/>
              <a:t> </a:t>
            </a:r>
            <a:r>
              <a:rPr lang="ru-RU" err="1"/>
              <a:t>fares</a:t>
            </a:r>
            <a:r>
              <a:rPr lang="ru-RU"/>
              <a:t> </a:t>
            </a:r>
            <a:r>
              <a:rPr lang="ru-RU" err="1"/>
              <a:t>regardless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age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894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ge versus fare paid&#10;&#10;AI-generated content may be incorrect.">
            <a:extLst>
              <a:ext uri="{FF2B5EF4-FFF2-40B4-BE49-F238E27FC236}">
                <a16:creationId xmlns:a16="http://schemas.microsoft.com/office/drawing/2014/main" id="{0054B496-A064-3C52-4C93-95D435A64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42" y="767555"/>
            <a:ext cx="9059321" cy="5802703"/>
          </a:xfrm>
        </p:spPr>
      </p:pic>
    </p:spTree>
    <p:extLst>
      <p:ext uri="{BB962C8B-B14F-4D97-AF65-F5344CB8AC3E}">
        <p14:creationId xmlns:p14="http://schemas.microsoft.com/office/powerpoint/2010/main" val="2602307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D1981-AB74-4F48-3BD1-0FAB882C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Gender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6177A5-20AD-A4DB-A2BF-931545DF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/>
              <a:t>The </a:t>
            </a:r>
            <a:r>
              <a:rPr lang="ru-RU" b="1" err="1"/>
              <a:t>Most</a:t>
            </a:r>
            <a:r>
              <a:rPr lang="ru-RU" b="1"/>
              <a:t> </a:t>
            </a:r>
            <a:r>
              <a:rPr lang="ru-RU" b="1" err="1"/>
              <a:t>Dramatic</a:t>
            </a:r>
            <a:r>
              <a:rPr lang="ru-RU" b="1"/>
              <a:t> </a:t>
            </a:r>
            <a:r>
              <a:rPr lang="ru-RU" b="1" err="1"/>
              <a:t>Pattern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survival_by_gender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('Sex')['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 6))</a:t>
            </a:r>
          </a:p>
          <a:p>
            <a:pPr latinLnBrk="1"/>
            <a:r>
              <a:rPr lang="ru-RU" err="1"/>
              <a:t>survival_by_gender.plot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</a:t>
            </a:r>
            <a:r>
              <a:rPr lang="ru-RU"/>
              <a:t>', </a:t>
            </a:r>
            <a:r>
              <a:rPr lang="ru-RU" err="1"/>
              <a:t>color</a:t>
            </a:r>
            <a:r>
              <a:rPr lang="ru-RU"/>
              <a:t>=['</a:t>
            </a:r>
            <a:r>
              <a:rPr lang="ru-RU" err="1"/>
              <a:t>pink</a:t>
            </a:r>
            <a:r>
              <a:rPr lang="ru-RU"/>
              <a:t>', '</a:t>
            </a:r>
            <a:r>
              <a:rPr lang="ru-RU" err="1"/>
              <a:t>lightblue</a:t>
            </a:r>
            <a:r>
              <a:rPr lang="ru-RU"/>
              <a:t>'])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Gender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Gender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Rate')</a:t>
            </a:r>
          </a:p>
          <a:p>
            <a:pPr latinLnBrk="1"/>
            <a:r>
              <a:rPr lang="ru-RU" err="1"/>
              <a:t>plt.ylim</a:t>
            </a:r>
            <a:r>
              <a:rPr lang="ru-RU"/>
              <a:t>(0, 1)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/>
              <a:t>The </a:t>
            </a:r>
            <a:r>
              <a:rPr lang="ru-RU" b="1" err="1"/>
              <a:t>Numbers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Female</a:t>
            </a:r>
            <a:r>
              <a:rPr lang="ru-RU"/>
              <a:t>: 74% </a:t>
            </a:r>
            <a:r>
              <a:rPr lang="ru-RU" err="1"/>
              <a:t>survived</a:t>
            </a:r>
            <a:endParaRPr lang="ru-RU"/>
          </a:p>
          <a:p>
            <a:pPr lvl="1"/>
            <a:r>
              <a:rPr lang="ru-RU" err="1"/>
              <a:t>Male</a:t>
            </a:r>
            <a:r>
              <a:rPr lang="ru-RU"/>
              <a:t>: 19% </a:t>
            </a:r>
            <a:r>
              <a:rPr lang="ru-RU" err="1"/>
              <a:t>survived</a:t>
            </a:r>
            <a:endParaRPr lang="ru-RU"/>
          </a:p>
          <a:p>
            <a:pPr lvl="1"/>
            <a:r>
              <a:rPr lang="ru-RU" err="1"/>
              <a:t>Difference</a:t>
            </a:r>
            <a:r>
              <a:rPr lang="ru-RU"/>
              <a:t>: 55 </a:t>
            </a:r>
            <a:r>
              <a:rPr lang="ru-RU" err="1"/>
              <a:t>percentage</a:t>
            </a:r>
            <a:r>
              <a:rPr lang="ru-RU"/>
              <a:t> </a:t>
            </a:r>
            <a:r>
              <a:rPr lang="ru-RU" err="1"/>
              <a:t>points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562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pink and blue rectangle&#10;&#10;AI-generated content may be incorrect.">
            <a:extLst>
              <a:ext uri="{FF2B5EF4-FFF2-40B4-BE49-F238E27FC236}">
                <a16:creationId xmlns:a16="http://schemas.microsoft.com/office/drawing/2014/main" id="{22F33AFC-4E02-2F59-CD4D-D3E37A929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9" y="275455"/>
            <a:ext cx="8763876" cy="6307089"/>
          </a:xfrm>
        </p:spPr>
      </p:pic>
    </p:spTree>
    <p:extLst>
      <p:ext uri="{BB962C8B-B14F-4D97-AF65-F5344CB8AC3E}">
        <p14:creationId xmlns:p14="http://schemas.microsoft.com/office/powerpoint/2010/main" val="4206605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9A9F0-75F2-1A02-16AF-38B5405C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Passenger</a:t>
            </a:r>
            <a:r>
              <a:rPr lang="ru-RU"/>
              <a:t> Class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D0E12-2748-E742-EE82-5895350AA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atinLnBrk="1"/>
            <a:r>
              <a:rPr lang="ru-RU" err="1"/>
              <a:t>survival_by_class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Pclass</a:t>
            </a:r>
            <a:r>
              <a:rPr lang="ru-RU"/>
              <a:t>')['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=(8, 6))</a:t>
            </a:r>
          </a:p>
          <a:p>
            <a:pPr latinLnBrk="1"/>
            <a:r>
              <a:rPr lang="ru-RU" err="1"/>
              <a:t>survival_by_class.plot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</a:t>
            </a:r>
            <a:r>
              <a:rPr lang="ru-RU"/>
              <a:t>', </a:t>
            </a:r>
            <a:r>
              <a:rPr lang="ru-RU" err="1"/>
              <a:t>color</a:t>
            </a:r>
            <a:r>
              <a:rPr lang="ru-RU"/>
              <a:t>=['</a:t>
            </a:r>
            <a:r>
              <a:rPr lang="ru-RU" err="1"/>
              <a:t>gold</a:t>
            </a:r>
            <a:r>
              <a:rPr lang="ru-RU"/>
              <a:t>', '</a:t>
            </a:r>
            <a:r>
              <a:rPr lang="ru-RU" err="1"/>
              <a:t>silver</a:t>
            </a:r>
            <a:r>
              <a:rPr lang="ru-RU"/>
              <a:t>', '</a:t>
            </a:r>
            <a:r>
              <a:rPr lang="ru-RU" err="1"/>
              <a:t>brown</a:t>
            </a:r>
            <a:r>
              <a:rPr lang="ru-RU"/>
              <a:t>'])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Passenger</a:t>
            </a:r>
            <a:r>
              <a:rPr lang="ru-RU"/>
              <a:t> Class')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('Class')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Rate')</a:t>
            </a:r>
          </a:p>
          <a:p>
            <a:pPr latinLnBrk="1"/>
            <a:r>
              <a:rPr lang="ru-RU" err="1"/>
              <a:t>plt.ylim</a:t>
            </a:r>
            <a:r>
              <a:rPr lang="ru-RU"/>
              <a:t>(0, 1)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Survival</a:t>
            </a:r>
            <a:r>
              <a:rPr lang="ru-RU" b="1"/>
              <a:t> </a:t>
            </a:r>
            <a:r>
              <a:rPr lang="ru-RU" b="1" err="1"/>
              <a:t>Rates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/>
              <a:t>First Class: 63%</a:t>
            </a:r>
          </a:p>
          <a:p>
            <a:pPr lvl="1"/>
            <a:r>
              <a:rPr lang="ru-RU"/>
              <a:t>Second Class: 47%</a:t>
            </a:r>
          </a:p>
          <a:p>
            <a:pPr lvl="1"/>
            <a:r>
              <a:rPr lang="ru-RU" err="1"/>
              <a:t>Third</a:t>
            </a:r>
            <a:r>
              <a:rPr lang="ru-RU"/>
              <a:t> Class: 24%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817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 with a red yellow and gray bar&#10;&#10;AI-generated content may be incorrect.">
            <a:extLst>
              <a:ext uri="{FF2B5EF4-FFF2-40B4-BE49-F238E27FC236}">
                <a16:creationId xmlns:a16="http://schemas.microsoft.com/office/drawing/2014/main" id="{23717EFB-D8F2-F182-BF15-C48DB46C9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45" y="1104700"/>
            <a:ext cx="7090651" cy="5535559"/>
          </a:xfrm>
        </p:spPr>
      </p:pic>
    </p:spTree>
    <p:extLst>
      <p:ext uri="{BB962C8B-B14F-4D97-AF65-F5344CB8AC3E}">
        <p14:creationId xmlns:p14="http://schemas.microsoft.com/office/powerpoint/2010/main" val="2980182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ADADB-9791-2A04-8185-FCC96D4F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Enhanced </a:t>
            </a:r>
            <a:r>
              <a:rPr lang="ru-RU" err="1"/>
              <a:t>Scatter</a:t>
            </a:r>
            <a:r>
              <a:rPr lang="ru-RU"/>
              <a:t> </a:t>
            </a:r>
            <a:r>
              <a:rPr lang="ru-RU" err="1"/>
              <a:t>Plot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CC4F7E-058D-FA7F-260B-714F5FAA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ru-RU" b="1"/>
              <a:t>Color </a:t>
            </a:r>
            <a:r>
              <a:rPr lang="ru-RU" b="1" err="1"/>
              <a:t>by</a:t>
            </a:r>
            <a:r>
              <a:rPr lang="ru-RU" b="1"/>
              <a:t> </a:t>
            </a:r>
            <a:r>
              <a:rPr lang="ru-RU" b="1" err="1"/>
              <a:t>Survival</a:t>
            </a:r>
            <a:r>
              <a:rPr lang="ru-RU" b="1"/>
              <a:t>, </a:t>
            </a:r>
            <a:r>
              <a:rPr lang="ru-RU" b="1" err="1"/>
              <a:t>Size</a:t>
            </a:r>
            <a:r>
              <a:rPr lang="ru-RU" b="1"/>
              <a:t> </a:t>
            </a:r>
            <a:r>
              <a:rPr lang="ru-RU" b="1" err="1"/>
              <a:t>by</a:t>
            </a:r>
            <a:r>
              <a:rPr lang="ru-RU" b="1"/>
              <a:t> Class: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=(12, 8))</a:t>
            </a:r>
          </a:p>
          <a:p>
            <a:pPr latinLnBrk="1"/>
            <a:r>
              <a:rPr lang="ru-RU" err="1"/>
              <a:t>scatter</a:t>
            </a:r>
            <a:r>
              <a:rPr lang="ru-RU"/>
              <a:t> = </a:t>
            </a:r>
            <a:r>
              <a:rPr lang="ru-RU" err="1"/>
              <a:t>plt.scatter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'], 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'],</a:t>
            </a:r>
          </a:p>
          <a:p>
            <a:pPr latinLnBrk="1"/>
            <a:r>
              <a:rPr lang="ru-RU"/>
              <a:t>    c=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Survived</a:t>
            </a:r>
            <a:r>
              <a:rPr lang="ru-RU"/>
              <a:t>'],</a:t>
            </a:r>
          </a:p>
          <a:p>
            <a:pPr latinLnBrk="1"/>
            <a:r>
              <a:rPr lang="ru-RU"/>
              <a:t>    s=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Pclass</a:t>
            </a:r>
            <a:r>
              <a:rPr lang="ru-RU"/>
              <a:t>'] * 50,  </a:t>
            </a:r>
            <a:r>
              <a:rPr lang="ru-RU" i="1"/>
              <a:t># </a:t>
            </a:r>
            <a:r>
              <a:rPr lang="ru-RU" i="1" err="1"/>
              <a:t>Size</a:t>
            </a:r>
            <a:r>
              <a:rPr lang="ru-RU" i="1"/>
              <a:t> </a:t>
            </a:r>
            <a:r>
              <a:rPr lang="ru-RU" i="1" err="1"/>
              <a:t>by</a:t>
            </a:r>
            <a:r>
              <a:rPr lang="ru-RU" i="1"/>
              <a:t> </a:t>
            </a:r>
            <a:r>
              <a:rPr lang="ru-RU" i="1" err="1"/>
              <a:t>class</a:t>
            </a:r>
            <a:endParaRPr lang="ru-RU"/>
          </a:p>
          <a:p>
            <a:pPr latinLnBrk="1"/>
            <a:r>
              <a:rPr lang="ru-RU"/>
              <a:t>    </a:t>
            </a:r>
            <a:r>
              <a:rPr lang="ru-RU" err="1"/>
              <a:t>alpha</a:t>
            </a:r>
            <a:r>
              <a:rPr lang="ru-RU"/>
              <a:t>=0.6,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cmap</a:t>
            </a:r>
            <a:r>
              <a:rPr lang="ru-RU"/>
              <a:t>='</a:t>
            </a:r>
            <a:r>
              <a:rPr lang="ru-RU" err="1"/>
              <a:t>coolwarm</a:t>
            </a:r>
            <a:r>
              <a:rPr lang="ru-RU"/>
              <a:t>'</a:t>
            </a:r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 err="1"/>
              <a:t>plt.colorbar</a:t>
            </a:r>
            <a:r>
              <a:rPr lang="ru-RU"/>
              <a:t>(</a:t>
            </a:r>
            <a:r>
              <a:rPr lang="ru-RU" err="1"/>
              <a:t>scatter</a:t>
            </a:r>
            <a:r>
              <a:rPr lang="ru-RU"/>
              <a:t>, </a:t>
            </a:r>
            <a:r>
              <a:rPr lang="ru-RU" err="1"/>
              <a:t>label</a:t>
            </a:r>
            <a:r>
              <a:rPr lang="ru-RU"/>
              <a:t>='</a:t>
            </a:r>
            <a:r>
              <a:rPr lang="ru-RU" err="1"/>
              <a:t>Survived</a:t>
            </a:r>
            <a:r>
              <a:rPr lang="ru-RU"/>
              <a:t> (0=No, 1=Yes)')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(</a:t>
            </a:r>
            <a:r>
              <a:rPr lang="ru-RU" err="1"/>
              <a:t>Colored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Survival</a:t>
            </a:r>
            <a:r>
              <a:rPr lang="ru-RU"/>
              <a:t>, </a:t>
            </a:r>
            <a:r>
              <a:rPr lang="ru-RU" err="1"/>
              <a:t>Sized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Class)')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 (USD)')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081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10C581C4-3DEC-F6F7-8D96-EF0D20C1C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74" y="671513"/>
            <a:ext cx="9612651" cy="6030237"/>
          </a:xfrm>
        </p:spPr>
      </p:pic>
    </p:spTree>
    <p:extLst>
      <p:ext uri="{BB962C8B-B14F-4D97-AF65-F5344CB8AC3E}">
        <p14:creationId xmlns:p14="http://schemas.microsoft.com/office/powerpoint/2010/main" val="3521908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E7FCD-4848-9294-7E04-70778C727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Heatmap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BFCF9-DCA7-21DE-02B5-B1A00DE26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ru-RU" sz="1800" b="1" err="1"/>
              <a:t>Finding</a:t>
            </a:r>
            <a:r>
              <a:rPr lang="ru-RU" sz="1800" b="1"/>
              <a:t> </a:t>
            </a:r>
            <a:r>
              <a:rPr lang="ru-RU" sz="1800" b="1" err="1"/>
              <a:t>Relationships</a:t>
            </a:r>
            <a:r>
              <a:rPr lang="ru-RU" sz="1800" b="1"/>
              <a:t> </a:t>
            </a:r>
            <a:r>
              <a:rPr lang="ru-RU" sz="1800" b="1" err="1"/>
              <a:t>Between</a:t>
            </a:r>
            <a:r>
              <a:rPr lang="ru-RU" sz="1800" b="1"/>
              <a:t> </a:t>
            </a:r>
            <a:r>
              <a:rPr lang="ru-RU" sz="1800" b="1" err="1"/>
              <a:t>Numbers</a:t>
            </a:r>
            <a:r>
              <a:rPr lang="ru-RU" sz="1800" b="1"/>
              <a:t>:</a:t>
            </a:r>
            <a:endParaRPr lang="ru-RU" sz="1800"/>
          </a:p>
          <a:p>
            <a:pPr latinLnBrk="1"/>
            <a:r>
              <a:rPr lang="ru-RU" sz="1800" i="1"/>
              <a:t># Select </a:t>
            </a:r>
            <a:r>
              <a:rPr lang="ru-RU" sz="1800" i="1" err="1"/>
              <a:t>only</a:t>
            </a:r>
            <a:r>
              <a:rPr lang="ru-RU" sz="1800" i="1"/>
              <a:t> </a:t>
            </a:r>
            <a:r>
              <a:rPr lang="ru-RU" sz="1800" i="1" err="1"/>
              <a:t>numeric</a:t>
            </a:r>
            <a:r>
              <a:rPr lang="ru-RU" sz="1800" i="1"/>
              <a:t> </a:t>
            </a:r>
            <a:r>
              <a:rPr lang="ru-RU" sz="1800" i="1" err="1"/>
              <a:t>columns</a:t>
            </a:r>
            <a:endParaRPr lang="ru-RU" sz="1800"/>
          </a:p>
          <a:p>
            <a:pPr latinLnBrk="1"/>
            <a:r>
              <a:rPr lang="ru-RU" sz="1800" err="1"/>
              <a:t>numeric_cols</a:t>
            </a:r>
            <a:r>
              <a:rPr lang="ru-RU" sz="1800"/>
              <a:t> = </a:t>
            </a:r>
            <a:r>
              <a:rPr lang="ru-RU" sz="1800" err="1"/>
              <a:t>titanic_clean.select_dtypes</a:t>
            </a:r>
            <a:r>
              <a:rPr lang="ru-RU" sz="1800"/>
              <a:t>(</a:t>
            </a:r>
            <a:r>
              <a:rPr lang="ru-RU" sz="1800" err="1"/>
              <a:t>include</a:t>
            </a:r>
            <a:r>
              <a:rPr lang="ru-RU" sz="1800"/>
              <a:t>=[</a:t>
            </a:r>
            <a:r>
              <a:rPr lang="ru-RU" sz="1800" err="1"/>
              <a:t>np.number</a:t>
            </a:r>
            <a:r>
              <a:rPr lang="ru-RU" sz="1800"/>
              <a:t>])</a:t>
            </a:r>
          </a:p>
          <a:p>
            <a:pPr marL="0" indent="0" latinLnBrk="1">
              <a:buNone/>
            </a:pPr>
            <a:endParaRPr lang="ru-RU" sz="1800"/>
          </a:p>
          <a:p>
            <a:pPr latinLnBrk="1"/>
            <a:r>
              <a:rPr lang="ru-RU" sz="1800" i="1"/>
              <a:t># </a:t>
            </a:r>
            <a:r>
              <a:rPr lang="ru-RU" sz="1800" i="1" err="1"/>
              <a:t>Calculate</a:t>
            </a:r>
            <a:r>
              <a:rPr lang="ru-RU" sz="1800" i="1"/>
              <a:t> </a:t>
            </a:r>
            <a:r>
              <a:rPr lang="ru-RU" sz="1800" i="1" err="1"/>
              <a:t>correlation</a:t>
            </a:r>
            <a:r>
              <a:rPr lang="ru-RU" sz="1800" i="1"/>
              <a:t> </a:t>
            </a:r>
            <a:r>
              <a:rPr lang="ru-RU" sz="1800" i="1" err="1"/>
              <a:t>matrix</a:t>
            </a:r>
            <a:endParaRPr lang="ru-RU" sz="1800"/>
          </a:p>
          <a:p>
            <a:pPr latinLnBrk="1"/>
            <a:r>
              <a:rPr lang="ru-RU" sz="1800" err="1"/>
              <a:t>corr_matrix</a:t>
            </a:r>
            <a:r>
              <a:rPr lang="ru-RU" sz="1800"/>
              <a:t> = </a:t>
            </a:r>
            <a:r>
              <a:rPr lang="ru-RU" sz="1800" err="1"/>
              <a:t>numeric_cols.corr</a:t>
            </a:r>
            <a:r>
              <a:rPr lang="ru-RU" sz="1800"/>
              <a:t>()</a:t>
            </a:r>
          </a:p>
          <a:p>
            <a:pPr marL="0" indent="0" latinLnBrk="1">
              <a:buNone/>
            </a:pPr>
            <a:endParaRPr lang="ru-RU" sz="1800"/>
          </a:p>
          <a:p>
            <a:pPr latinLnBrk="1"/>
            <a:r>
              <a:rPr lang="ru-RU" sz="1800" i="1"/>
              <a:t># </a:t>
            </a:r>
            <a:r>
              <a:rPr lang="ru-RU" sz="1800" i="1" err="1"/>
              <a:t>Create</a:t>
            </a:r>
            <a:r>
              <a:rPr lang="ru-RU" sz="1800" i="1"/>
              <a:t> </a:t>
            </a:r>
            <a:r>
              <a:rPr lang="ru-RU" sz="1800" i="1" err="1"/>
              <a:t>heatmap</a:t>
            </a:r>
            <a:endParaRPr lang="ru-RU" sz="1800"/>
          </a:p>
          <a:p>
            <a:pPr latinLnBrk="1"/>
            <a:r>
              <a:rPr lang="ru-RU" sz="1800" err="1"/>
              <a:t>plt.figure</a:t>
            </a:r>
            <a:r>
              <a:rPr lang="ru-RU" sz="1800"/>
              <a:t>(</a:t>
            </a:r>
            <a:r>
              <a:rPr lang="ru-RU" sz="1800" err="1"/>
              <a:t>figsize</a:t>
            </a:r>
            <a:r>
              <a:rPr lang="ru-RU" sz="1800"/>
              <a:t>=(10, 8))</a:t>
            </a:r>
          </a:p>
          <a:p>
            <a:pPr latinLnBrk="1"/>
            <a:r>
              <a:rPr lang="ru-RU" sz="1800" err="1"/>
              <a:t>sns.heatmap</a:t>
            </a:r>
            <a:r>
              <a:rPr lang="ru-RU" sz="1800"/>
              <a:t>(</a:t>
            </a:r>
            <a:r>
              <a:rPr lang="ru-RU" sz="1800" err="1"/>
              <a:t>corr_matrix</a:t>
            </a:r>
            <a:r>
              <a:rPr lang="ru-RU" sz="1800"/>
              <a:t>, 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annot</a:t>
            </a:r>
            <a:r>
              <a:rPr lang="ru-RU" sz="1800"/>
              <a:t>=True, 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cmap</a:t>
            </a:r>
            <a:r>
              <a:rPr lang="ru-RU" sz="1800"/>
              <a:t>='</a:t>
            </a:r>
            <a:r>
              <a:rPr lang="ru-RU" sz="1800" err="1"/>
              <a:t>coolwarm</a:t>
            </a:r>
            <a:r>
              <a:rPr lang="ru-RU" sz="1800"/>
              <a:t>', 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center</a:t>
            </a:r>
            <a:r>
              <a:rPr lang="ru-RU" sz="1800"/>
              <a:t>=0,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square</a:t>
            </a:r>
            <a:r>
              <a:rPr lang="ru-RU" sz="1800"/>
              <a:t>=True,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fmt</a:t>
            </a:r>
            <a:r>
              <a:rPr lang="ru-RU" sz="1800"/>
              <a:t>='.2f',</a:t>
            </a:r>
          </a:p>
          <a:p>
            <a:pPr latinLnBrk="1"/>
            <a:r>
              <a:rPr lang="ru-RU" sz="1800"/>
              <a:t>            </a:t>
            </a:r>
            <a:r>
              <a:rPr lang="ru-RU" sz="1800" err="1"/>
              <a:t>linewidths</a:t>
            </a:r>
            <a:r>
              <a:rPr lang="ru-RU" sz="1800"/>
              <a:t>=0.5)</a:t>
            </a:r>
          </a:p>
          <a:p>
            <a:pPr latinLnBrk="1"/>
            <a:r>
              <a:rPr lang="ru-RU" sz="1800" err="1"/>
              <a:t>plt.title</a:t>
            </a:r>
            <a:r>
              <a:rPr lang="ru-RU" sz="1800"/>
              <a:t>('</a:t>
            </a:r>
            <a:r>
              <a:rPr lang="ru-RU" sz="1800" err="1"/>
              <a:t>Correlation</a:t>
            </a:r>
            <a:r>
              <a:rPr lang="ru-RU" sz="1800"/>
              <a:t> </a:t>
            </a:r>
            <a:r>
              <a:rPr lang="ru-RU" sz="1800" err="1"/>
              <a:t>Heatmap</a:t>
            </a:r>
            <a:r>
              <a:rPr lang="ru-RU" sz="1800"/>
              <a:t> </a:t>
            </a:r>
            <a:r>
              <a:rPr lang="ru-RU" sz="1800" err="1"/>
              <a:t>of</a:t>
            </a:r>
            <a:r>
              <a:rPr lang="ru-RU" sz="1800"/>
              <a:t> </a:t>
            </a:r>
            <a:r>
              <a:rPr lang="ru-RU" sz="1800" err="1"/>
              <a:t>Titanic</a:t>
            </a:r>
            <a:r>
              <a:rPr lang="ru-RU" sz="1800"/>
              <a:t> </a:t>
            </a:r>
            <a:r>
              <a:rPr lang="ru-RU" sz="1800" err="1"/>
              <a:t>Dataset</a:t>
            </a:r>
            <a:r>
              <a:rPr lang="ru-RU" sz="1800"/>
              <a:t>')</a:t>
            </a:r>
          </a:p>
          <a:p>
            <a:r>
              <a:rPr lang="ru-RU" sz="1800" err="1"/>
              <a:t>plt.show</a:t>
            </a:r>
            <a:r>
              <a:rPr lang="ru-RU" sz="180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6767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umber of data&#10;&#10;AI-generated content may be incorrect.">
            <a:extLst>
              <a:ext uri="{FF2B5EF4-FFF2-40B4-BE49-F238E27FC236}">
                <a16:creationId xmlns:a16="http://schemas.microsoft.com/office/drawing/2014/main" id="{293CE454-5BC0-5677-E8F5-B5A78BB76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620459"/>
            <a:ext cx="8629650" cy="6237541"/>
          </a:xfrm>
        </p:spPr>
      </p:pic>
    </p:spTree>
    <p:extLst>
      <p:ext uri="{BB962C8B-B14F-4D97-AF65-F5344CB8AC3E}">
        <p14:creationId xmlns:p14="http://schemas.microsoft.com/office/powerpoint/2010/main" val="2827581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8A0FB-BE41-5F31-3378-21418B76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Creating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Groups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AF9F9-7E14-AA03-5E23-19D0869A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err="1"/>
              <a:t>Binning</a:t>
            </a:r>
            <a:r>
              <a:rPr lang="ru-RU" b="1"/>
              <a:t> </a:t>
            </a:r>
            <a:r>
              <a:rPr lang="ru-RU" b="1" err="1"/>
              <a:t>Continuous</a:t>
            </a:r>
            <a:r>
              <a:rPr lang="ru-RU" b="1"/>
              <a:t> Data: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age</a:t>
            </a:r>
            <a:r>
              <a:rPr lang="ru-RU" i="1"/>
              <a:t> </a:t>
            </a:r>
            <a:r>
              <a:rPr lang="ru-RU" i="1" err="1"/>
              <a:t>categories</a:t>
            </a:r>
            <a:endParaRPr lang="ru-RU"/>
          </a:p>
          <a:p>
            <a:pPr latinLnBrk="1"/>
            <a:r>
              <a:rPr lang="ru-RU" err="1"/>
              <a:t>bins</a:t>
            </a:r>
            <a:r>
              <a:rPr lang="ru-RU"/>
              <a:t> = [0, 12, 18, 35, 60, 100]</a:t>
            </a:r>
          </a:p>
          <a:p>
            <a:pPr latinLnBrk="1"/>
            <a:r>
              <a:rPr lang="ru-RU" err="1"/>
              <a:t>labels</a:t>
            </a:r>
            <a:r>
              <a:rPr lang="ru-RU"/>
              <a:t> = ['Child', 'Teen', 'Young </a:t>
            </a:r>
            <a:r>
              <a:rPr lang="ru-RU" err="1"/>
              <a:t>Adult</a:t>
            </a:r>
            <a:r>
              <a:rPr lang="ru-RU"/>
              <a:t>', '</a:t>
            </a:r>
            <a:r>
              <a:rPr lang="ru-RU" err="1"/>
              <a:t>Adult</a:t>
            </a:r>
            <a:r>
              <a:rPr lang="ru-RU"/>
              <a:t>', '</a:t>
            </a:r>
            <a:r>
              <a:rPr lang="ru-RU" err="1"/>
              <a:t>Senior</a:t>
            </a:r>
            <a:r>
              <a:rPr lang="ru-RU"/>
              <a:t>']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AgeGroup</a:t>
            </a:r>
            <a:r>
              <a:rPr lang="ru-RU"/>
              <a:t>'] = </a:t>
            </a:r>
            <a:r>
              <a:rPr lang="ru-RU" err="1"/>
              <a:t>pd.cut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</a:t>
            </a:r>
            <a:r>
              <a:rPr lang="ru-RU"/>
              <a:t>'],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bins</a:t>
            </a:r>
            <a:r>
              <a:rPr lang="ru-RU"/>
              <a:t>=</a:t>
            </a:r>
            <a:r>
              <a:rPr lang="ru-RU" err="1"/>
              <a:t>bins</a:t>
            </a:r>
            <a:r>
              <a:rPr lang="ru-RU"/>
              <a:t>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labels</a:t>
            </a:r>
            <a:r>
              <a:rPr lang="ru-RU"/>
              <a:t>=</a:t>
            </a:r>
            <a:r>
              <a:rPr lang="ru-RU" err="1"/>
              <a:t>labels</a:t>
            </a:r>
            <a:r>
              <a:rPr lang="ru-RU"/>
              <a:t>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right</a:t>
            </a:r>
            <a:r>
              <a:rPr lang="ru-RU"/>
              <a:t>=</a:t>
            </a:r>
            <a:r>
              <a:rPr lang="ru-RU" err="1"/>
              <a:t>False</a:t>
            </a:r>
            <a:r>
              <a:rPr lang="ru-RU"/>
              <a:t> )</a:t>
            </a:r>
          </a:p>
          <a:p>
            <a:pPr latinLnBrk="1"/>
            <a:r>
              <a:rPr lang="ru-RU"/>
              <a:t> </a:t>
            </a:r>
          </a:p>
          <a:p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AgeGroup</a:t>
            </a:r>
            <a:r>
              <a:rPr lang="ru-RU"/>
              <a:t>'].</a:t>
            </a:r>
            <a:r>
              <a:rPr lang="ru-RU" err="1"/>
              <a:t>value_counts</a:t>
            </a:r>
            <a:r>
              <a:rPr lang="ru-RU"/>
              <a:t>().</a:t>
            </a:r>
            <a:r>
              <a:rPr lang="ru-RU" err="1"/>
              <a:t>sort_index</a:t>
            </a:r>
            <a:r>
              <a:rPr lang="ru-RU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075516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CF8696-A7B3-00B0-48CE-E9F08EED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Group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B6A60E-8914-54C0-1404-BD7BCC69E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err="1"/>
              <a:t>Bar</a:t>
            </a:r>
            <a:r>
              <a:rPr lang="ru-RU" b="1"/>
              <a:t> </a:t>
            </a:r>
            <a:r>
              <a:rPr lang="ru-RU" b="1" err="1"/>
              <a:t>Chart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survival_by_agegroup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AgeGroup</a:t>
            </a:r>
            <a:r>
              <a:rPr lang="ru-RU"/>
              <a:t>')['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latinLnBrk="1"/>
            <a:r>
              <a:rPr lang="ru-RU" err="1"/>
              <a:t>survival_by_agegroup.plot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Age</a:t>
            </a:r>
            <a:r>
              <a:rPr lang="ru-RU"/>
              <a:t> Group')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Group')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Rate')</a:t>
            </a:r>
          </a:p>
          <a:p>
            <a:pPr latinLnBrk="1"/>
            <a:r>
              <a:rPr lang="ru-RU" err="1"/>
              <a:t>plt.ylim</a:t>
            </a:r>
            <a:r>
              <a:rPr lang="ru-RU"/>
              <a:t>(0, 1)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axis</a:t>
            </a:r>
            <a:r>
              <a:rPr lang="ru-RU"/>
              <a:t>='y',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/>
              <a:t>"</a:t>
            </a:r>
            <a:r>
              <a:rPr lang="ru-RU" b="1" err="1"/>
              <a:t>Children</a:t>
            </a:r>
            <a:r>
              <a:rPr lang="ru-RU" b="1"/>
              <a:t> First" Protocol:</a:t>
            </a:r>
            <a:endParaRPr lang="ru-RU"/>
          </a:p>
          <a:p>
            <a:pPr lvl="1"/>
            <a:r>
              <a:rPr lang="ru-RU" err="1"/>
              <a:t>Children</a:t>
            </a:r>
            <a:r>
              <a:rPr lang="ru-RU"/>
              <a:t>: 59% </a:t>
            </a:r>
            <a:r>
              <a:rPr lang="ru-RU" err="1"/>
              <a:t>survived</a:t>
            </a:r>
            <a:endParaRPr lang="ru-RU"/>
          </a:p>
          <a:p>
            <a:pPr lvl="1"/>
            <a:r>
              <a:rPr lang="ru-RU" err="1"/>
              <a:t>Teens</a:t>
            </a:r>
            <a:r>
              <a:rPr lang="ru-RU"/>
              <a:t>: 40% </a:t>
            </a:r>
            <a:r>
              <a:rPr lang="ru-RU" err="1"/>
              <a:t>survived</a:t>
            </a:r>
            <a:endParaRPr lang="ru-RU"/>
          </a:p>
          <a:p>
            <a:pPr lvl="1"/>
            <a:r>
              <a:rPr lang="ru-RU" err="1"/>
              <a:t>Adults</a:t>
            </a:r>
            <a:r>
              <a:rPr lang="ru-RU"/>
              <a:t>: 38% </a:t>
            </a:r>
            <a:r>
              <a:rPr lang="ru-RU" err="1"/>
              <a:t>survived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534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DFB2776-4E20-DEA6-2BCD-28C734A89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39" y="896143"/>
            <a:ext cx="9224322" cy="5422324"/>
          </a:xfrm>
        </p:spPr>
      </p:pic>
    </p:spTree>
    <p:extLst>
      <p:ext uri="{BB962C8B-B14F-4D97-AF65-F5344CB8AC3E}">
        <p14:creationId xmlns:p14="http://schemas.microsoft.com/office/powerpoint/2010/main" val="1969470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086EC-07F9-5873-66AB-C7310380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Family </a:t>
            </a:r>
            <a:r>
              <a:rPr lang="ru-RU" err="1"/>
              <a:t>Size</a:t>
            </a:r>
            <a:r>
              <a:rPr lang="ru-RU"/>
              <a:t> Analysis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80411F-3962-C525-0C5E-225FBCAD5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err="1"/>
              <a:t>Create</a:t>
            </a:r>
            <a:r>
              <a:rPr lang="ru-RU" b="1"/>
              <a:t> New </a:t>
            </a:r>
            <a:r>
              <a:rPr lang="ru-RU" b="1" err="1"/>
              <a:t>Features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Family </a:t>
            </a:r>
            <a:r>
              <a:rPr lang="ru-RU" i="1" err="1"/>
              <a:t>size</a:t>
            </a:r>
            <a:r>
              <a:rPr lang="ru-RU" i="1"/>
              <a:t> = </a:t>
            </a:r>
            <a:r>
              <a:rPr lang="ru-RU" i="1" err="1"/>
              <a:t>siblings</a:t>
            </a:r>
            <a:r>
              <a:rPr lang="ru-RU" i="1"/>
              <a:t> + </a:t>
            </a:r>
            <a:r>
              <a:rPr lang="ru-RU" i="1" err="1"/>
              <a:t>parents</a:t>
            </a:r>
            <a:r>
              <a:rPr lang="ru-RU" i="1"/>
              <a:t> + </a:t>
            </a:r>
            <a:r>
              <a:rPr lang="ru-RU" i="1" err="1"/>
              <a:t>self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FamilySize</a:t>
            </a:r>
            <a:r>
              <a:rPr lang="ru-RU"/>
              <a:t>'] = 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SibSp</a:t>
            </a:r>
            <a:r>
              <a:rPr lang="ru-RU"/>
              <a:t>'] + 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Parch</a:t>
            </a:r>
            <a:r>
              <a:rPr lang="ru-RU"/>
              <a:t>'] + </a:t>
            </a:r>
          </a:p>
          <a:p>
            <a:pPr latinLnBrk="1"/>
            <a:r>
              <a:rPr lang="ru-RU"/>
              <a:t>    1  </a:t>
            </a:r>
            <a:r>
              <a:rPr lang="ru-RU" i="1"/>
              <a:t># Self</a:t>
            </a:r>
            <a:endParaRPr lang="ru-RU"/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IsAlone</a:t>
            </a:r>
            <a:r>
              <a:rPr lang="ru-RU"/>
              <a:t>']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FamilySize</a:t>
            </a:r>
            <a:r>
              <a:rPr lang="ru-RU"/>
              <a:t>'] == 1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f"Traveling</a:t>
            </a:r>
            <a:r>
              <a:rPr lang="ru-RU"/>
              <a:t> </a:t>
            </a:r>
            <a:r>
              <a:rPr lang="ru-RU" err="1"/>
              <a:t>alone</a:t>
            </a:r>
            <a:r>
              <a:rPr lang="ru-RU"/>
              <a:t>: {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IsAlone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 * 100:.1f}%")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17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43233-1354-C44B-4704-41FE65B4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Family </a:t>
            </a:r>
            <a:r>
              <a:rPr lang="ru-RU" err="1"/>
              <a:t>Size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4BA32-932C-0F7A-C93D-FC63BB85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/>
              <a:t>Line </a:t>
            </a:r>
            <a:r>
              <a:rPr lang="ru-RU" b="1" err="1"/>
              <a:t>Plot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err="1"/>
              <a:t>survival_by_family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FamilySize</a:t>
            </a:r>
            <a:r>
              <a:rPr lang="ru-RU"/>
              <a:t>')['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</a:t>
            </a:r>
          </a:p>
          <a:p>
            <a:pPr marL="0" indent="0" latinLnBrk="1">
              <a:buNone/>
            </a:pP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=(10, 6))</a:t>
            </a:r>
          </a:p>
          <a:p>
            <a:pPr latinLnBrk="1"/>
            <a:r>
              <a:rPr lang="ru-RU" err="1"/>
              <a:t>survival_by_family.plot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line</a:t>
            </a:r>
            <a:r>
              <a:rPr lang="ru-RU"/>
              <a:t>', </a:t>
            </a:r>
            <a:r>
              <a:rPr lang="ru-RU" err="1"/>
              <a:t>marker</a:t>
            </a:r>
            <a:r>
              <a:rPr lang="ru-RU"/>
              <a:t>='o')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 </a:t>
            </a:r>
            <a:r>
              <a:rPr lang="ru-RU" err="1"/>
              <a:t>by</a:t>
            </a:r>
            <a:r>
              <a:rPr lang="ru-RU"/>
              <a:t> Family </a:t>
            </a:r>
            <a:r>
              <a:rPr lang="ru-RU" err="1"/>
              <a:t>Size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('Family </a:t>
            </a:r>
            <a:r>
              <a:rPr lang="ru-RU" err="1"/>
              <a:t>Size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Rate')</a:t>
            </a:r>
          </a:p>
          <a:p>
            <a:pPr latinLnBrk="1"/>
            <a:r>
              <a:rPr lang="ru-RU" err="1"/>
              <a:t>plt.ylim</a:t>
            </a:r>
            <a:r>
              <a:rPr lang="ru-RU"/>
              <a:t>(0, 1)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pPr lvl="1"/>
            <a:r>
              <a:rPr lang="ru-RU" b="1" err="1"/>
              <a:t>Interesting</a:t>
            </a:r>
            <a:r>
              <a:rPr lang="ru-RU" b="1"/>
              <a:t> </a:t>
            </a:r>
            <a:r>
              <a:rPr lang="ru-RU" b="1" err="1"/>
              <a:t>Pattern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/>
              <a:t>Small </a:t>
            </a:r>
            <a:r>
              <a:rPr lang="ru-RU" err="1"/>
              <a:t>families</a:t>
            </a:r>
            <a:r>
              <a:rPr lang="ru-RU"/>
              <a:t> (2-4) </a:t>
            </a:r>
            <a:r>
              <a:rPr lang="ru-RU" err="1"/>
              <a:t>survived</a:t>
            </a:r>
            <a:r>
              <a:rPr lang="ru-RU"/>
              <a:t> </a:t>
            </a:r>
            <a:r>
              <a:rPr lang="ru-RU" err="1"/>
              <a:t>most</a:t>
            </a:r>
            <a:endParaRPr lang="ru-RU"/>
          </a:p>
          <a:p>
            <a:pPr lvl="1"/>
            <a:r>
              <a:rPr lang="ru-RU" err="1"/>
              <a:t>Singles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very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families</a:t>
            </a:r>
            <a:r>
              <a:rPr lang="ru-RU"/>
              <a:t> </a:t>
            </a:r>
            <a:r>
              <a:rPr lang="ru-RU" err="1"/>
              <a:t>survived</a:t>
            </a:r>
            <a:r>
              <a:rPr lang="ru-RU"/>
              <a:t> </a:t>
            </a:r>
            <a:r>
              <a:rPr lang="ru-RU" err="1"/>
              <a:t>less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19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03EFC47A-61BA-4210-5258-DD999E6EF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480" y="925512"/>
            <a:ext cx="8656908" cy="5572263"/>
          </a:xfrm>
        </p:spPr>
      </p:pic>
    </p:spTree>
    <p:extLst>
      <p:ext uri="{BB962C8B-B14F-4D97-AF65-F5344CB8AC3E}">
        <p14:creationId xmlns:p14="http://schemas.microsoft.com/office/powerpoint/2010/main" val="3798972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99E74-7AD0-35F9-82CD-515D7EDE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Advanced </a:t>
            </a:r>
            <a:r>
              <a:rPr lang="ru-RU" err="1"/>
              <a:t>Visualization</a:t>
            </a:r>
            <a:r>
              <a:rPr lang="ru-RU"/>
              <a:t>: </a:t>
            </a:r>
            <a:r>
              <a:rPr lang="ru-RU" err="1"/>
              <a:t>Pair</a:t>
            </a:r>
            <a:r>
              <a:rPr lang="ru-RU"/>
              <a:t> </a:t>
            </a:r>
            <a:r>
              <a:rPr lang="ru-RU" err="1"/>
              <a:t>Plot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9B89CE-11F6-3738-C55E-6AAB833F9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err="1"/>
              <a:t>See</a:t>
            </a:r>
            <a:r>
              <a:rPr lang="ru-RU" b="1"/>
              <a:t> All </a:t>
            </a:r>
            <a:r>
              <a:rPr lang="ru-RU" b="1" err="1"/>
              <a:t>Relationships</a:t>
            </a:r>
            <a:r>
              <a:rPr lang="ru-RU" b="1"/>
              <a:t> </a:t>
            </a:r>
            <a:r>
              <a:rPr lang="ru-RU" b="1" err="1"/>
              <a:t>at</a:t>
            </a:r>
            <a:r>
              <a:rPr lang="ru-RU" b="1"/>
              <a:t> </a:t>
            </a:r>
            <a:r>
              <a:rPr lang="ru-RU" b="1" err="1"/>
              <a:t>Once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Select </a:t>
            </a:r>
            <a:r>
              <a:rPr lang="ru-RU" i="1" err="1"/>
              <a:t>key</a:t>
            </a:r>
            <a:r>
              <a:rPr lang="ru-RU" i="1"/>
              <a:t> </a:t>
            </a:r>
            <a:r>
              <a:rPr lang="ru-RU" i="1" err="1"/>
              <a:t>columns</a:t>
            </a:r>
            <a:endParaRPr lang="ru-RU"/>
          </a:p>
          <a:p>
            <a:pPr latinLnBrk="1"/>
            <a:r>
              <a:rPr lang="ru-RU" err="1"/>
              <a:t>columns_to_plot</a:t>
            </a:r>
            <a:r>
              <a:rPr lang="ru-RU"/>
              <a:t> = ['</a:t>
            </a:r>
            <a:r>
              <a:rPr lang="ru-RU" err="1"/>
              <a:t>Age</a:t>
            </a:r>
            <a:r>
              <a:rPr lang="ru-RU"/>
              <a:t>', '</a:t>
            </a:r>
            <a:r>
              <a:rPr lang="ru-RU" err="1"/>
              <a:t>Fare</a:t>
            </a:r>
            <a:r>
              <a:rPr lang="ru-RU"/>
              <a:t>', '</a:t>
            </a:r>
            <a:r>
              <a:rPr lang="ru-RU" err="1"/>
              <a:t>Pclass</a:t>
            </a:r>
            <a:r>
              <a:rPr lang="ru-RU"/>
              <a:t>', '</a:t>
            </a:r>
            <a:r>
              <a:rPr lang="ru-RU" err="1"/>
              <a:t>Survived</a:t>
            </a:r>
            <a:r>
              <a:rPr lang="ru-RU"/>
              <a:t>']</a:t>
            </a:r>
            <a:endParaRPr lang="en-US"/>
          </a:p>
          <a:p>
            <a:pPr latinLnBrk="1"/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</a:t>
            </a:r>
            <a:r>
              <a:rPr lang="ru-RU" i="1" err="1"/>
              <a:t>pair</a:t>
            </a:r>
            <a:r>
              <a:rPr lang="ru-RU" i="1"/>
              <a:t> </a:t>
            </a:r>
            <a:r>
              <a:rPr lang="ru-RU" i="1" err="1"/>
              <a:t>plot</a:t>
            </a:r>
            <a:endParaRPr lang="ru-RU"/>
          </a:p>
          <a:p>
            <a:pPr latinLnBrk="1"/>
            <a:r>
              <a:rPr lang="ru-RU" err="1"/>
              <a:t>sns.pairplot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[</a:t>
            </a:r>
            <a:r>
              <a:rPr lang="ru-RU" err="1"/>
              <a:t>columns_to_plot</a:t>
            </a:r>
            <a:r>
              <a:rPr lang="ru-RU"/>
              <a:t>],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hue</a:t>
            </a:r>
            <a:r>
              <a:rPr lang="ru-RU"/>
              <a:t>='</a:t>
            </a:r>
            <a:r>
              <a:rPr lang="ru-RU" err="1"/>
              <a:t>Survived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diag_kind</a:t>
            </a:r>
            <a:r>
              <a:rPr lang="ru-RU"/>
              <a:t>='</a:t>
            </a:r>
            <a:r>
              <a:rPr lang="ru-RU" err="1"/>
              <a:t>kde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plot_kws</a:t>
            </a:r>
            <a:r>
              <a:rPr lang="ru-RU"/>
              <a:t>={'</a:t>
            </a:r>
            <a:r>
              <a:rPr lang="ru-RU" err="1"/>
              <a:t>alpha</a:t>
            </a:r>
            <a:r>
              <a:rPr lang="ru-RU"/>
              <a:t>': 0.6}</a:t>
            </a:r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 err="1"/>
              <a:t>plt.suptitle</a:t>
            </a:r>
            <a:r>
              <a:rPr lang="ru-RU"/>
              <a:t>('</a:t>
            </a:r>
            <a:r>
              <a:rPr lang="ru-RU" err="1"/>
              <a:t>Pair</a:t>
            </a:r>
            <a:r>
              <a:rPr lang="ru-RU"/>
              <a:t> </a:t>
            </a:r>
            <a:r>
              <a:rPr lang="ru-RU" err="1"/>
              <a:t>Plot</a:t>
            </a:r>
            <a:r>
              <a:rPr lang="ru-RU"/>
              <a:t>: </a:t>
            </a:r>
            <a:r>
              <a:rPr lang="ru-RU" err="1"/>
              <a:t>Relationships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Key </a:t>
            </a:r>
            <a:r>
              <a:rPr lang="ru-RU" err="1"/>
              <a:t>Variables</a:t>
            </a:r>
            <a:r>
              <a:rPr lang="ru-RU"/>
              <a:t>', y=1.02)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15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5B2057F6-1BB7-E7D2-F6C4-8560722BD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974" y="475488"/>
            <a:ext cx="9070186" cy="6152377"/>
          </a:xfrm>
        </p:spPr>
      </p:pic>
    </p:spTree>
    <p:extLst>
      <p:ext uri="{BB962C8B-B14F-4D97-AF65-F5344CB8AC3E}">
        <p14:creationId xmlns:p14="http://schemas.microsoft.com/office/powerpoint/2010/main" val="22486125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448BF-9B1A-0CC7-DBA0-3892CC63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Violin</a:t>
            </a:r>
            <a:r>
              <a:rPr lang="ru-RU"/>
              <a:t> </a:t>
            </a:r>
            <a:r>
              <a:rPr lang="ru-RU" err="1"/>
              <a:t>Plot</a:t>
            </a:r>
            <a:r>
              <a:rPr lang="ru-RU"/>
              <a:t> - 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Class &amp; </a:t>
            </a:r>
            <a:r>
              <a:rPr lang="ru-RU" err="1"/>
              <a:t>Survival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92783E-20AD-C3D3-7F87-05032381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/>
              <a:t>Rich Distribution View: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=(12, 8))</a:t>
            </a:r>
          </a:p>
          <a:p>
            <a:pPr latinLnBrk="1"/>
            <a:r>
              <a:rPr lang="ru-RU" err="1"/>
              <a:t>sns.violinplot</a:t>
            </a:r>
            <a:r>
              <a:rPr lang="ru-RU"/>
              <a:t>(</a:t>
            </a:r>
          </a:p>
          <a:p>
            <a:pPr latinLnBrk="1"/>
            <a:r>
              <a:rPr lang="ru-RU"/>
              <a:t>    x='</a:t>
            </a:r>
            <a:r>
              <a:rPr lang="ru-RU" err="1"/>
              <a:t>Pclass</a:t>
            </a:r>
            <a:r>
              <a:rPr lang="ru-RU"/>
              <a:t>',</a:t>
            </a:r>
          </a:p>
          <a:p>
            <a:pPr latinLnBrk="1"/>
            <a:r>
              <a:rPr lang="ru-RU"/>
              <a:t>    y='</a:t>
            </a:r>
            <a:r>
              <a:rPr lang="ru-RU" err="1"/>
              <a:t>Age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hue</a:t>
            </a:r>
            <a:r>
              <a:rPr lang="ru-RU"/>
              <a:t>='</a:t>
            </a:r>
            <a:r>
              <a:rPr lang="ru-RU" err="1"/>
              <a:t>Survived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data</a:t>
            </a:r>
            <a:r>
              <a:rPr lang="ru-RU"/>
              <a:t>=</a:t>
            </a:r>
            <a:r>
              <a:rPr lang="ru-RU" err="1"/>
              <a:t>titanic_clean</a:t>
            </a:r>
            <a:r>
              <a:rPr lang="ru-RU"/>
              <a:t>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split</a:t>
            </a:r>
            <a:r>
              <a:rPr lang="ru-RU"/>
              <a:t>=True,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palette</a:t>
            </a:r>
            <a:r>
              <a:rPr lang="ru-RU"/>
              <a:t>={0: '</a:t>
            </a:r>
            <a:r>
              <a:rPr lang="ru-RU" err="1"/>
              <a:t>red</a:t>
            </a:r>
            <a:r>
              <a:rPr lang="ru-RU"/>
              <a:t>', 1: '</a:t>
            </a:r>
            <a:r>
              <a:rPr lang="ru-RU" err="1"/>
              <a:t>green</a:t>
            </a:r>
            <a:r>
              <a:rPr lang="ru-RU"/>
              <a:t>'}</a:t>
            </a:r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Distribution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Passenger</a:t>
            </a:r>
            <a:r>
              <a:rPr lang="ru-RU"/>
              <a:t> Class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Survival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Passenger</a:t>
            </a:r>
            <a:r>
              <a:rPr lang="ru-RU"/>
              <a:t> Class')</a:t>
            </a:r>
          </a:p>
          <a:p>
            <a:pPr latinLnBrk="1"/>
            <a:r>
              <a:rPr lang="ru-RU" err="1"/>
              <a:t>plt.ylabel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plt.legend</a:t>
            </a:r>
            <a:r>
              <a:rPr lang="ru-RU"/>
              <a:t>(</a:t>
            </a:r>
            <a:r>
              <a:rPr lang="ru-RU" err="1"/>
              <a:t>title</a:t>
            </a:r>
            <a:r>
              <a:rPr lang="ru-RU"/>
              <a:t>='</a:t>
            </a:r>
            <a:r>
              <a:rPr lang="ru-RU" err="1"/>
              <a:t>Survived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6056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umber of rhombuses&#10;&#10;AI-generated content may be incorrect.">
            <a:extLst>
              <a:ext uri="{FF2B5EF4-FFF2-40B4-BE49-F238E27FC236}">
                <a16:creationId xmlns:a16="http://schemas.microsoft.com/office/drawing/2014/main" id="{761D0AAE-5967-23BE-FCCC-A1C2C5975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67" y="510275"/>
            <a:ext cx="9092146" cy="6047687"/>
          </a:xfrm>
        </p:spPr>
      </p:pic>
    </p:spTree>
    <p:extLst>
      <p:ext uri="{BB962C8B-B14F-4D97-AF65-F5344CB8AC3E}">
        <p14:creationId xmlns:p14="http://schemas.microsoft.com/office/powerpoint/2010/main" val="3594391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94402-29B6-A419-0EA2-1C510A70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Facet</a:t>
            </a:r>
            <a:r>
              <a:rPr lang="ru-RU"/>
              <a:t> Grid - Multi-</a:t>
            </a:r>
            <a:r>
              <a:rPr lang="ru-RU" err="1"/>
              <a:t>dimensional</a:t>
            </a:r>
            <a:r>
              <a:rPr lang="ru-RU"/>
              <a:t> View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FB44F-6065-C60E-FB40-77725648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atinLnBrk="1"/>
            <a:r>
              <a:rPr lang="ru-RU" i="1"/>
              <a:t># </a:t>
            </a:r>
            <a:r>
              <a:rPr lang="ru-RU" i="1" err="1"/>
              <a:t>Create</a:t>
            </a:r>
            <a:r>
              <a:rPr lang="ru-RU" i="1"/>
              <a:t> a </a:t>
            </a:r>
            <a:r>
              <a:rPr lang="ru-RU" i="1" err="1"/>
              <a:t>grid</a:t>
            </a:r>
            <a:r>
              <a:rPr lang="ru-RU" i="1"/>
              <a:t> </a:t>
            </a:r>
            <a:r>
              <a:rPr lang="ru-RU" i="1" err="1"/>
              <a:t>of</a:t>
            </a:r>
            <a:r>
              <a:rPr lang="ru-RU" i="1"/>
              <a:t> </a:t>
            </a:r>
            <a:r>
              <a:rPr lang="ru-RU" i="1" err="1"/>
              <a:t>scatter</a:t>
            </a:r>
            <a:r>
              <a:rPr lang="ru-RU" i="1"/>
              <a:t> </a:t>
            </a:r>
            <a:r>
              <a:rPr lang="ru-RU" i="1" err="1"/>
              <a:t>plots</a:t>
            </a:r>
            <a:endParaRPr lang="ru-RU"/>
          </a:p>
          <a:p>
            <a:pPr latinLnBrk="1"/>
            <a:r>
              <a:rPr lang="ru-RU"/>
              <a:t>g = </a:t>
            </a:r>
            <a:r>
              <a:rPr lang="ru-RU" err="1"/>
              <a:t>sns.FacetGrid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col</a:t>
            </a:r>
            <a:r>
              <a:rPr lang="ru-RU"/>
              <a:t>='Sex',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row</a:t>
            </a:r>
            <a:r>
              <a:rPr lang="ru-RU"/>
              <a:t>='</a:t>
            </a:r>
            <a:r>
              <a:rPr lang="ru-RU" err="1"/>
              <a:t>Pclass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hue</a:t>
            </a:r>
            <a:r>
              <a:rPr lang="ru-RU"/>
              <a:t>='</a:t>
            </a:r>
            <a:r>
              <a:rPr lang="ru-RU" err="1"/>
              <a:t>Survived</a:t>
            </a:r>
            <a:r>
              <a:rPr lang="ru-RU"/>
              <a:t>',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height</a:t>
            </a:r>
            <a:r>
              <a:rPr lang="ru-RU"/>
              <a:t>=4,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aspect</a:t>
            </a:r>
            <a:r>
              <a:rPr lang="ru-RU"/>
              <a:t>=1.2</a:t>
            </a:r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 err="1"/>
              <a:t>g.map</a:t>
            </a:r>
            <a:r>
              <a:rPr lang="ru-RU"/>
              <a:t>(</a:t>
            </a:r>
            <a:r>
              <a:rPr lang="ru-RU" err="1"/>
              <a:t>sns.scatterplot</a:t>
            </a:r>
            <a:r>
              <a:rPr lang="ru-RU"/>
              <a:t>, '</a:t>
            </a:r>
            <a:r>
              <a:rPr lang="ru-RU" err="1"/>
              <a:t>Age</a:t>
            </a:r>
            <a:r>
              <a:rPr lang="ru-RU"/>
              <a:t>', '</a:t>
            </a:r>
            <a:r>
              <a:rPr lang="ru-RU" err="1"/>
              <a:t>Fare</a:t>
            </a:r>
            <a:r>
              <a:rPr lang="ru-RU"/>
              <a:t>', </a:t>
            </a:r>
            <a:r>
              <a:rPr lang="ru-RU" err="1"/>
              <a:t>alpha</a:t>
            </a:r>
            <a:r>
              <a:rPr lang="ru-RU"/>
              <a:t>=0.6)</a:t>
            </a:r>
          </a:p>
          <a:p>
            <a:pPr latinLnBrk="1"/>
            <a:r>
              <a:rPr lang="ru-RU" err="1"/>
              <a:t>g.add_legend</a:t>
            </a:r>
            <a:r>
              <a:rPr lang="ru-RU"/>
              <a:t>()</a:t>
            </a:r>
          </a:p>
          <a:p>
            <a:pPr latinLnBrk="1"/>
            <a:r>
              <a:rPr lang="ru-RU" err="1"/>
              <a:t>g.fig.suptitle</a:t>
            </a:r>
            <a:r>
              <a:rPr lang="ru-RU"/>
              <a:t>('</a:t>
            </a:r>
            <a:r>
              <a:rPr lang="ru-RU" err="1"/>
              <a:t>Age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Gender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Class', y=1.02)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045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1977CA33-40EF-5FB7-F318-B52B3D31F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08" y="0"/>
            <a:ext cx="9753605" cy="6486525"/>
          </a:xfrm>
        </p:spPr>
      </p:pic>
    </p:spTree>
    <p:extLst>
      <p:ext uri="{BB962C8B-B14F-4D97-AF65-F5344CB8AC3E}">
        <p14:creationId xmlns:p14="http://schemas.microsoft.com/office/powerpoint/2010/main" val="1443775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ED16D-4ED5-6B15-A438-21AFCBFE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Outlier</a:t>
            </a:r>
            <a:r>
              <a:rPr lang="ru-RU"/>
              <a:t> </a:t>
            </a:r>
            <a:r>
              <a:rPr lang="ru-RU" err="1"/>
              <a:t>Detection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80490-50DC-21F2-F2B2-881C01501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atinLnBrk="1"/>
            <a:r>
              <a:rPr lang="ru-RU"/>
              <a:t>Q1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'].</a:t>
            </a:r>
            <a:r>
              <a:rPr lang="ru-RU" err="1"/>
              <a:t>quantile</a:t>
            </a:r>
            <a:r>
              <a:rPr lang="ru-RU"/>
              <a:t>(0.25)</a:t>
            </a:r>
          </a:p>
          <a:p>
            <a:pPr latinLnBrk="1"/>
            <a:r>
              <a:rPr lang="ru-RU"/>
              <a:t>Q3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'].</a:t>
            </a:r>
            <a:r>
              <a:rPr lang="ru-RU" err="1"/>
              <a:t>quantile</a:t>
            </a:r>
            <a:r>
              <a:rPr lang="ru-RU"/>
              <a:t>(0.75)</a:t>
            </a:r>
          </a:p>
          <a:p>
            <a:pPr latinLnBrk="1"/>
            <a:r>
              <a:rPr lang="ru-RU"/>
              <a:t>IQR = Q3 - Q1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lower_bound</a:t>
            </a:r>
            <a:r>
              <a:rPr lang="ru-RU"/>
              <a:t> = Q1 - 1.5 * IQR</a:t>
            </a:r>
          </a:p>
          <a:p>
            <a:pPr latinLnBrk="1"/>
            <a:r>
              <a:rPr lang="ru-RU" err="1"/>
              <a:t>upper_bound</a:t>
            </a:r>
            <a:r>
              <a:rPr lang="ru-RU"/>
              <a:t> = Q3 + 1.5 * IQR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outliers</a:t>
            </a:r>
            <a:r>
              <a:rPr lang="ru-RU"/>
              <a:t> = </a:t>
            </a:r>
            <a:r>
              <a:rPr lang="ru-RU" err="1"/>
              <a:t>titanic_clean</a:t>
            </a:r>
            <a:r>
              <a:rPr lang="ru-RU"/>
              <a:t>[</a:t>
            </a:r>
          </a:p>
          <a:p>
            <a:pPr latinLnBrk="1"/>
            <a:r>
              <a:rPr lang="ru-RU"/>
              <a:t>    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 &lt; </a:t>
            </a:r>
            <a:r>
              <a:rPr lang="ru-RU" err="1"/>
              <a:t>lower_bound</a:t>
            </a:r>
            <a:r>
              <a:rPr lang="ru-RU"/>
              <a:t>) | </a:t>
            </a:r>
          </a:p>
          <a:p>
            <a:pPr latinLnBrk="1"/>
            <a:r>
              <a:rPr lang="ru-RU"/>
              <a:t>    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 &gt; </a:t>
            </a:r>
            <a:r>
              <a:rPr lang="ru-RU" err="1"/>
              <a:t>upper_bound</a:t>
            </a:r>
            <a:r>
              <a:rPr lang="ru-RU"/>
              <a:t>)</a:t>
            </a:r>
          </a:p>
          <a:p>
            <a:pPr latinLnBrk="1"/>
            <a:r>
              <a:rPr lang="ru-RU"/>
              <a:t>]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f"Outliers</a:t>
            </a:r>
            <a:r>
              <a:rPr lang="ru-RU"/>
              <a:t> </a:t>
            </a:r>
            <a:r>
              <a:rPr lang="ru-RU" err="1"/>
              <a:t>found</a:t>
            </a:r>
            <a:r>
              <a:rPr lang="ru-RU"/>
              <a:t>: {</a:t>
            </a:r>
            <a:r>
              <a:rPr lang="ru-RU" err="1"/>
              <a:t>len</a:t>
            </a:r>
            <a:r>
              <a:rPr lang="ru-RU"/>
              <a:t>(</a:t>
            </a:r>
            <a:r>
              <a:rPr lang="ru-RU" err="1"/>
              <a:t>outliers</a:t>
            </a:r>
            <a:r>
              <a:rPr lang="ru-RU"/>
              <a:t>)}")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f"Percentage</a:t>
            </a:r>
            <a:r>
              <a:rPr lang="ru-RU"/>
              <a:t>: {</a:t>
            </a:r>
            <a:r>
              <a:rPr lang="ru-RU" err="1"/>
              <a:t>len</a:t>
            </a:r>
            <a:r>
              <a:rPr lang="ru-RU"/>
              <a:t>(</a:t>
            </a:r>
            <a:r>
              <a:rPr lang="ru-RU" err="1"/>
              <a:t>outliers</a:t>
            </a:r>
            <a:r>
              <a:rPr lang="ru-RU"/>
              <a:t>)/</a:t>
            </a:r>
            <a:r>
              <a:rPr lang="ru-RU" err="1"/>
              <a:t>len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)*100:.1f}%")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7875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15C7-F3BC-893D-622B-BFEE77CC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Handling</a:t>
            </a:r>
            <a:r>
              <a:rPr lang="ru-RU"/>
              <a:t> </a:t>
            </a:r>
            <a:r>
              <a:rPr lang="ru-RU" err="1"/>
              <a:t>Outliers</a:t>
            </a:r>
            <a:r>
              <a:rPr lang="ru-RU"/>
              <a:t> - </a:t>
            </a:r>
            <a:r>
              <a:rPr lang="ru-RU" err="1"/>
              <a:t>Options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2F9ED-8964-1868-F98A-65D1A5A5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err="1"/>
              <a:t>Three</a:t>
            </a:r>
            <a:r>
              <a:rPr lang="ru-RU" b="1"/>
              <a:t> </a:t>
            </a:r>
            <a:r>
              <a:rPr lang="ru-RU" b="1" err="1"/>
              <a:t>Strategies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b="1" err="1"/>
              <a:t>Keep</a:t>
            </a:r>
            <a:r>
              <a:rPr lang="ru-RU" b="1"/>
              <a:t> </a:t>
            </a:r>
            <a:r>
              <a:rPr lang="ru-RU" b="1" err="1"/>
              <a:t>Them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they're</a:t>
            </a:r>
            <a:r>
              <a:rPr lang="ru-RU"/>
              <a:t> </a:t>
            </a:r>
            <a:r>
              <a:rPr lang="ru-RU" err="1"/>
              <a:t>valid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points</a:t>
            </a:r>
            <a:endParaRPr lang="ru-RU"/>
          </a:p>
          <a:p>
            <a:pPr lvl="1"/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they</a:t>
            </a:r>
            <a:r>
              <a:rPr lang="ru-RU"/>
              <a:t> </a:t>
            </a:r>
            <a:r>
              <a:rPr lang="ru-RU" err="1"/>
              <a:t>contain</a:t>
            </a:r>
            <a:r>
              <a:rPr lang="ru-RU"/>
              <a:t> </a:t>
            </a:r>
            <a:r>
              <a:rPr lang="ru-RU" err="1"/>
              <a:t>important</a:t>
            </a:r>
            <a:r>
              <a:rPr lang="ru-RU"/>
              <a:t> </a:t>
            </a:r>
            <a:r>
              <a:rPr lang="ru-RU" err="1"/>
              <a:t>information</a:t>
            </a:r>
            <a:endParaRPr lang="ru-RU"/>
          </a:p>
          <a:p>
            <a:pPr lvl="0"/>
            <a:r>
              <a:rPr lang="ru-RU" b="1" err="1"/>
              <a:t>Remove</a:t>
            </a:r>
            <a:r>
              <a:rPr lang="ru-RU" b="1"/>
              <a:t> </a:t>
            </a:r>
            <a:r>
              <a:rPr lang="ru-RU" b="1" err="1"/>
              <a:t>Them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they're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errors</a:t>
            </a:r>
            <a:endParaRPr lang="ru-RU"/>
          </a:p>
          <a:p>
            <a:pPr lvl="1"/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they</a:t>
            </a:r>
            <a:r>
              <a:rPr lang="ru-RU"/>
              <a:t> </a:t>
            </a:r>
            <a:r>
              <a:rPr lang="en-US"/>
              <a:t>misrepresent</a:t>
            </a:r>
            <a:r>
              <a:rPr lang="ru-RU"/>
              <a:t> </a:t>
            </a:r>
            <a:r>
              <a:rPr lang="en-US"/>
              <a:t>the </a:t>
            </a:r>
            <a:r>
              <a:rPr lang="ru-RU" err="1"/>
              <a:t>analysis</a:t>
            </a:r>
            <a:r>
              <a:rPr lang="ru-RU"/>
              <a:t> </a:t>
            </a:r>
            <a:r>
              <a:rPr lang="ru-RU" err="1"/>
              <a:t>too</a:t>
            </a:r>
            <a:r>
              <a:rPr lang="ru-RU"/>
              <a:t> </a:t>
            </a:r>
            <a:r>
              <a:rPr lang="ru-RU" err="1"/>
              <a:t>much</a:t>
            </a:r>
            <a:endParaRPr lang="ru-RU"/>
          </a:p>
          <a:p>
            <a:pPr lvl="0"/>
            <a:r>
              <a:rPr lang="ru-RU" b="1" err="1"/>
              <a:t>Transform</a:t>
            </a:r>
            <a:r>
              <a:rPr lang="ru-RU" b="1"/>
              <a:t> </a:t>
            </a:r>
            <a:r>
              <a:rPr lang="ru-RU" b="1" err="1"/>
              <a:t>Them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 err="1"/>
              <a:t>Log</a:t>
            </a:r>
            <a:r>
              <a:rPr lang="ru-RU"/>
              <a:t> </a:t>
            </a:r>
            <a:r>
              <a:rPr lang="ru-RU" err="1"/>
              <a:t>transformation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9747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16583-3D77-0231-4B71-B55ED9ED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Log</a:t>
            </a:r>
            <a:r>
              <a:rPr lang="ru-RU"/>
              <a:t> </a:t>
            </a:r>
            <a:r>
              <a:rPr lang="ru-RU" err="1"/>
              <a:t>Transformation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BF0537-56C4-B4CB-FDCB-BE290992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ru-RU" b="1"/>
              <a:t>For </a:t>
            </a:r>
            <a:r>
              <a:rPr lang="ru-RU" b="1" err="1"/>
              <a:t>Right-Skewed</a:t>
            </a:r>
            <a:r>
              <a:rPr lang="ru-RU" b="1"/>
              <a:t> Data: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Before</a:t>
            </a:r>
            <a:r>
              <a:rPr lang="ru-RU" i="1"/>
              <a:t> </a:t>
            </a:r>
            <a:r>
              <a:rPr lang="ru-RU" i="1" err="1"/>
              <a:t>transformation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=(12, 5))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plt.subplot</a:t>
            </a:r>
            <a:r>
              <a:rPr lang="ru-RU"/>
              <a:t>(1, 2, 1)</a:t>
            </a:r>
          </a:p>
          <a:p>
            <a:pPr latinLnBrk="1"/>
            <a:r>
              <a:rPr lang="ru-RU" err="1"/>
              <a:t>plt.hist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'], </a:t>
            </a:r>
            <a:r>
              <a:rPr lang="ru-RU" err="1"/>
              <a:t>bins</a:t>
            </a:r>
            <a:r>
              <a:rPr lang="ru-RU"/>
              <a:t>=50, </a:t>
            </a:r>
            <a:r>
              <a:rPr lang="ru-RU" err="1"/>
              <a:t>edgecolor</a:t>
            </a:r>
            <a:r>
              <a:rPr lang="ru-RU"/>
              <a:t>='</a:t>
            </a:r>
            <a:r>
              <a:rPr lang="ru-RU" err="1"/>
              <a:t>black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Original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Distribution')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Fare</a:t>
            </a:r>
            <a:r>
              <a:rPr lang="ru-RU"/>
              <a:t>')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After</a:t>
            </a:r>
            <a:r>
              <a:rPr lang="ru-RU" i="1"/>
              <a:t> </a:t>
            </a:r>
            <a:r>
              <a:rPr lang="ru-RU" i="1" err="1"/>
              <a:t>transformation</a:t>
            </a:r>
            <a:endParaRPr lang="ru-RU"/>
          </a:p>
          <a:p>
            <a:pPr latinLnBrk="1"/>
            <a:r>
              <a:rPr lang="ru-RU" err="1"/>
              <a:t>plt.subplot</a:t>
            </a:r>
            <a:r>
              <a:rPr lang="ru-RU"/>
              <a:t>(1, 2, 2)</a:t>
            </a:r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Fare_log</a:t>
            </a:r>
            <a:r>
              <a:rPr lang="ru-RU"/>
              <a:t>'] = np.log1p(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</a:t>
            </a:r>
            <a:r>
              <a:rPr lang="ru-RU"/>
              <a:t>'])</a:t>
            </a:r>
          </a:p>
          <a:p>
            <a:pPr latinLnBrk="1"/>
            <a:r>
              <a:rPr lang="ru-RU" err="1"/>
              <a:t>plt.hist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Fare_log</a:t>
            </a:r>
            <a:r>
              <a:rPr lang="ru-RU"/>
              <a:t>'], </a:t>
            </a:r>
            <a:r>
              <a:rPr lang="ru-RU" err="1"/>
              <a:t>bins</a:t>
            </a:r>
            <a:r>
              <a:rPr lang="ru-RU"/>
              <a:t>=50, </a:t>
            </a:r>
            <a:r>
              <a:rPr lang="ru-RU" err="1"/>
              <a:t>edgecolor</a:t>
            </a:r>
            <a:r>
              <a:rPr lang="ru-RU"/>
              <a:t>='</a:t>
            </a:r>
            <a:r>
              <a:rPr lang="ru-RU" err="1"/>
              <a:t>black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Log-Transformed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Distribution')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Log</a:t>
            </a:r>
            <a:r>
              <a:rPr lang="ru-RU"/>
              <a:t>(</a:t>
            </a:r>
            <a:r>
              <a:rPr lang="ru-RU" err="1"/>
              <a:t>Fare</a:t>
            </a:r>
            <a:r>
              <a:rPr lang="ru-RU"/>
              <a:t> + 1)')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err="1"/>
              <a:t>plt.tight_layout</a:t>
            </a:r>
            <a:r>
              <a:rPr lang="ru-RU"/>
              <a:t>()</a:t>
            </a:r>
          </a:p>
          <a:p>
            <a:r>
              <a:rPr lang="ru-RU" err="1"/>
              <a:t>plt.show</a:t>
            </a:r>
            <a:r>
              <a:rPr lang="ru-RU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787747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ABBC6-9B91-8025-920E-BD16B470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Feature</a:t>
            </a:r>
            <a:r>
              <a:rPr lang="ru-RU"/>
              <a:t> Engineering - </a:t>
            </a:r>
            <a:r>
              <a:rPr lang="ru-RU" err="1"/>
              <a:t>Extract</a:t>
            </a:r>
            <a:r>
              <a:rPr lang="ru-RU"/>
              <a:t> </a:t>
            </a:r>
            <a:r>
              <a:rPr lang="ru-RU" err="1"/>
              <a:t>Titles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7CE20-2F18-F151-5697-D14321DDA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/>
              <a:t>From </a:t>
            </a:r>
            <a:r>
              <a:rPr lang="ru-RU" b="1" err="1"/>
              <a:t>Names</a:t>
            </a:r>
            <a:r>
              <a:rPr lang="ru-RU" b="1"/>
              <a:t> </a:t>
            </a:r>
            <a:r>
              <a:rPr lang="ru-RU" b="1" err="1"/>
              <a:t>to</a:t>
            </a:r>
            <a:r>
              <a:rPr lang="ru-RU" b="1"/>
              <a:t> Social </a:t>
            </a:r>
            <a:r>
              <a:rPr lang="ru-RU" b="1" err="1"/>
              <a:t>Status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Extract</a:t>
            </a:r>
            <a:r>
              <a:rPr lang="ru-RU" i="1"/>
              <a:t> </a:t>
            </a:r>
            <a:r>
              <a:rPr lang="ru-RU" i="1" err="1"/>
              <a:t>title</a:t>
            </a:r>
            <a:r>
              <a:rPr lang="ru-RU" i="1"/>
              <a:t> </a:t>
            </a:r>
            <a:r>
              <a:rPr lang="ru-RU" i="1" err="1"/>
              <a:t>from</a:t>
            </a:r>
            <a:r>
              <a:rPr lang="ru-RU" i="1"/>
              <a:t> </a:t>
            </a:r>
            <a:r>
              <a:rPr lang="ru-RU" i="1" err="1"/>
              <a:t>name</a:t>
            </a:r>
            <a:r>
              <a:rPr lang="ru-RU" i="1"/>
              <a:t> (</a:t>
            </a:r>
            <a:r>
              <a:rPr lang="ru-RU" i="1" err="1"/>
              <a:t>e.g</a:t>
            </a:r>
            <a:r>
              <a:rPr lang="ru-RU" i="1"/>
              <a:t>., "Mr.", "</a:t>
            </a:r>
            <a:r>
              <a:rPr lang="ru-RU" i="1" err="1"/>
              <a:t>Mrs</a:t>
            </a:r>
            <a:r>
              <a:rPr lang="ru-RU" i="1"/>
              <a:t>.", "Dr.")</a:t>
            </a:r>
            <a:endParaRPr lang="ru-RU"/>
          </a:p>
          <a:p>
            <a:pPr latinLnBrk="1"/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Title</a:t>
            </a:r>
            <a:r>
              <a:rPr lang="ru-RU"/>
              <a:t>'] = </a:t>
            </a:r>
            <a:r>
              <a:rPr lang="ru-RU" err="1"/>
              <a:t>titanic_clean</a:t>
            </a:r>
            <a:r>
              <a:rPr lang="ru-RU"/>
              <a:t>['Name'].</a:t>
            </a:r>
            <a:r>
              <a:rPr lang="ru-RU" err="1"/>
              <a:t>str.extract</a:t>
            </a:r>
            <a:r>
              <a:rPr lang="ru-RU"/>
              <a:t>(' ([A-</a:t>
            </a:r>
            <a:r>
              <a:rPr lang="ru-RU" err="1"/>
              <a:t>Za</a:t>
            </a:r>
            <a:r>
              <a:rPr lang="ru-RU"/>
              <a:t>-z]+)\.', </a:t>
            </a:r>
            <a:r>
              <a:rPr lang="ru-RU" err="1"/>
              <a:t>expand</a:t>
            </a:r>
            <a:r>
              <a:rPr lang="ru-RU"/>
              <a:t>=</a:t>
            </a:r>
            <a:r>
              <a:rPr lang="ru-RU" err="1"/>
              <a:t>False</a:t>
            </a:r>
            <a:r>
              <a:rPr lang="ru-RU"/>
              <a:t>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See</a:t>
            </a:r>
            <a:r>
              <a:rPr lang="ru-RU" i="1"/>
              <a:t> </a:t>
            </a:r>
            <a:r>
              <a:rPr lang="ru-RU" i="1" err="1"/>
              <a:t>most</a:t>
            </a:r>
            <a:r>
              <a:rPr lang="ru-RU" i="1"/>
              <a:t> </a:t>
            </a:r>
            <a:r>
              <a:rPr lang="ru-RU" i="1" err="1"/>
              <a:t>common</a:t>
            </a:r>
            <a:r>
              <a:rPr lang="ru-RU" i="1"/>
              <a:t> </a:t>
            </a:r>
            <a:r>
              <a:rPr lang="ru-RU" i="1" err="1"/>
              <a:t>titles</a:t>
            </a:r>
            <a:endParaRPr lang="ru-RU"/>
          </a:p>
          <a:p>
            <a:pPr latinLnBrk="1"/>
            <a:r>
              <a:rPr lang="ru-RU" err="1"/>
              <a:t>title_counts</a:t>
            </a:r>
            <a:r>
              <a:rPr lang="ru-RU"/>
              <a:t> = </a:t>
            </a:r>
            <a:r>
              <a:rPr lang="ru-RU" err="1"/>
              <a:t>titanic_clean</a:t>
            </a:r>
            <a:r>
              <a:rPr lang="ru-RU"/>
              <a:t>['</a:t>
            </a:r>
            <a:r>
              <a:rPr lang="ru-RU" err="1"/>
              <a:t>Title</a:t>
            </a:r>
            <a:r>
              <a:rPr lang="ru-RU"/>
              <a:t>'].</a:t>
            </a:r>
            <a:r>
              <a:rPr lang="ru-RU" err="1"/>
              <a:t>value_counts</a:t>
            </a:r>
            <a:r>
              <a:rPr lang="ru-RU"/>
              <a:t>()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("</a:t>
            </a:r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common</a:t>
            </a:r>
            <a:r>
              <a:rPr lang="ru-RU"/>
              <a:t> </a:t>
            </a:r>
            <a:r>
              <a:rPr lang="ru-RU" err="1"/>
              <a:t>titles</a:t>
            </a:r>
            <a:r>
              <a:rPr lang="ru-RU"/>
              <a:t>:")</a:t>
            </a:r>
          </a:p>
          <a:p>
            <a:pPr latinLnBrk="1"/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title_counts.head</a:t>
            </a:r>
            <a:r>
              <a:rPr lang="ru-RU"/>
              <a:t>(10))</a:t>
            </a:r>
          </a:p>
          <a:p>
            <a:pPr lvl="1"/>
            <a:r>
              <a:rPr lang="ru-RU" b="1"/>
              <a:t>Common </a:t>
            </a:r>
            <a:r>
              <a:rPr lang="ru-RU" b="1" err="1"/>
              <a:t>Titles</a:t>
            </a:r>
            <a:r>
              <a:rPr lang="ru-RU" b="1"/>
              <a:t>:</a:t>
            </a:r>
            <a:endParaRPr lang="ru-RU"/>
          </a:p>
          <a:p>
            <a:pPr lvl="1"/>
            <a:r>
              <a:rPr lang="ru-RU"/>
              <a:t>Mr: 517</a:t>
            </a:r>
          </a:p>
          <a:p>
            <a:pPr lvl="1"/>
            <a:r>
              <a:rPr lang="ru-RU"/>
              <a:t>Miss: 182</a:t>
            </a:r>
          </a:p>
          <a:p>
            <a:pPr lvl="1"/>
            <a:r>
              <a:rPr lang="ru-RU" err="1"/>
              <a:t>Mrs</a:t>
            </a:r>
            <a:r>
              <a:rPr lang="ru-RU"/>
              <a:t>: 125</a:t>
            </a:r>
          </a:p>
          <a:p>
            <a:pPr lvl="1"/>
            <a:r>
              <a:rPr lang="ru-RU"/>
              <a:t>Master: 40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65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7076D-A60A-E411-4B1B-9221FABA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Survival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Title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755B2-B823-1885-F140-BDCDF614A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ru-RU" b="1"/>
              <a:t>Social </a:t>
            </a:r>
            <a:r>
              <a:rPr lang="ru-RU" b="1" err="1"/>
              <a:t>Status</a:t>
            </a:r>
            <a:r>
              <a:rPr lang="ru-RU" b="1"/>
              <a:t> </a:t>
            </a:r>
            <a:r>
              <a:rPr lang="ru-RU" b="1" err="1"/>
              <a:t>Matters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survival</a:t>
            </a:r>
            <a:r>
              <a:rPr lang="ru-RU" i="1"/>
              <a:t> </a:t>
            </a:r>
            <a:r>
              <a:rPr lang="ru-RU" i="1" err="1"/>
              <a:t>by</a:t>
            </a:r>
            <a:r>
              <a:rPr lang="ru-RU" i="1"/>
              <a:t> </a:t>
            </a:r>
            <a:r>
              <a:rPr lang="ru-RU" i="1" err="1"/>
              <a:t>title</a:t>
            </a:r>
            <a:endParaRPr lang="ru-RU"/>
          </a:p>
          <a:p>
            <a:pPr latinLnBrk="1"/>
            <a:r>
              <a:rPr lang="ru-RU" err="1"/>
              <a:t>survival_by_title</a:t>
            </a:r>
            <a:r>
              <a:rPr lang="ru-RU"/>
              <a:t> = </a:t>
            </a:r>
            <a:r>
              <a:rPr lang="ru-RU" err="1"/>
              <a:t>titanic_clean.groupby</a:t>
            </a:r>
            <a:r>
              <a:rPr lang="ru-RU"/>
              <a:t>('</a:t>
            </a:r>
            <a:r>
              <a:rPr lang="ru-RU" err="1"/>
              <a:t>Title</a:t>
            </a:r>
            <a:r>
              <a:rPr lang="ru-RU"/>
              <a:t>')['</a:t>
            </a:r>
            <a:r>
              <a:rPr lang="ru-RU" err="1"/>
              <a:t>Survived</a:t>
            </a:r>
            <a:r>
              <a:rPr lang="ru-RU"/>
              <a:t>'].</a:t>
            </a:r>
            <a:r>
              <a:rPr lang="ru-RU" err="1"/>
              <a:t>mean</a:t>
            </a:r>
            <a:r>
              <a:rPr lang="ru-RU"/>
              <a:t>().</a:t>
            </a:r>
            <a:r>
              <a:rPr lang="ru-RU" err="1"/>
              <a:t>sort_values</a:t>
            </a:r>
            <a:r>
              <a:rPr lang="ru-RU"/>
              <a:t>()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Plot</a:t>
            </a:r>
            <a:r>
              <a:rPr lang="ru-RU" i="1"/>
              <a:t> </a:t>
            </a:r>
            <a:r>
              <a:rPr lang="ru-RU" i="1" err="1"/>
              <a:t>top</a:t>
            </a:r>
            <a:r>
              <a:rPr lang="ru-RU" i="1"/>
              <a:t> 10</a:t>
            </a:r>
            <a:endParaRPr lang="ru-RU"/>
          </a:p>
          <a:p>
            <a:pPr latinLnBrk="1"/>
            <a:r>
              <a:rPr lang="ru-RU" err="1"/>
              <a:t>plt.figure</a:t>
            </a:r>
            <a:r>
              <a:rPr lang="ru-RU"/>
              <a:t>(</a:t>
            </a:r>
            <a:r>
              <a:rPr lang="ru-RU" err="1"/>
              <a:t>figsize</a:t>
            </a:r>
            <a:r>
              <a:rPr lang="ru-RU"/>
              <a:t>=(12, 6))</a:t>
            </a:r>
          </a:p>
          <a:p>
            <a:pPr latinLnBrk="1"/>
            <a:r>
              <a:rPr lang="ru-RU" err="1"/>
              <a:t>survival_by_title.tail</a:t>
            </a:r>
            <a:r>
              <a:rPr lang="ru-RU"/>
              <a:t>(10).</a:t>
            </a:r>
            <a:r>
              <a:rPr lang="ru-RU" err="1"/>
              <a:t>plot</a:t>
            </a:r>
            <a:r>
              <a:rPr lang="ru-RU"/>
              <a:t>(</a:t>
            </a:r>
            <a:r>
              <a:rPr lang="ru-RU" err="1"/>
              <a:t>kind</a:t>
            </a:r>
            <a:r>
              <a:rPr lang="ru-RU"/>
              <a:t>='</a:t>
            </a:r>
            <a:r>
              <a:rPr lang="ru-RU" err="1"/>
              <a:t>barh</a:t>
            </a:r>
            <a:r>
              <a:rPr lang="ru-RU"/>
              <a:t>')</a:t>
            </a:r>
          </a:p>
          <a:p>
            <a:pPr latinLnBrk="1"/>
            <a:r>
              <a:rPr lang="ru-RU" err="1"/>
              <a:t>plt.title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Title</a:t>
            </a:r>
            <a:r>
              <a:rPr lang="ru-RU"/>
              <a:t> (Top 10)')</a:t>
            </a:r>
          </a:p>
          <a:p>
            <a:pPr latinLnBrk="1"/>
            <a:r>
              <a:rPr lang="ru-RU" err="1"/>
              <a:t>plt.xlabel</a:t>
            </a:r>
            <a:r>
              <a:rPr lang="ru-RU"/>
              <a:t>('</a:t>
            </a:r>
            <a:r>
              <a:rPr lang="ru-RU" err="1"/>
              <a:t>Survival</a:t>
            </a:r>
            <a:r>
              <a:rPr lang="ru-RU"/>
              <a:t> Rate')</a:t>
            </a:r>
          </a:p>
          <a:p>
            <a:pPr latinLnBrk="1"/>
            <a:r>
              <a:rPr lang="ru-RU" err="1"/>
              <a:t>plt.xlim</a:t>
            </a:r>
            <a:r>
              <a:rPr lang="ru-RU"/>
              <a:t>(0, 1)</a:t>
            </a:r>
          </a:p>
          <a:p>
            <a:pPr latinLnBrk="1"/>
            <a:r>
              <a:rPr lang="ru-RU" err="1"/>
              <a:t>plt.grid</a:t>
            </a:r>
            <a:r>
              <a:rPr lang="ru-RU"/>
              <a:t>(True, </a:t>
            </a:r>
            <a:r>
              <a:rPr lang="ru-RU" err="1"/>
              <a:t>axis</a:t>
            </a:r>
            <a:r>
              <a:rPr lang="ru-RU"/>
              <a:t>='x', </a:t>
            </a:r>
            <a:r>
              <a:rPr lang="ru-RU" err="1"/>
              <a:t>alpha</a:t>
            </a:r>
            <a:r>
              <a:rPr lang="ru-RU"/>
              <a:t>=0.3)</a:t>
            </a:r>
          </a:p>
          <a:p>
            <a:pPr latinLnBrk="1"/>
            <a:r>
              <a:rPr lang="ru-RU" err="1"/>
              <a:t>plt.show</a:t>
            </a:r>
            <a:r>
              <a:rPr lang="ru-RU"/>
              <a:t>()</a:t>
            </a:r>
          </a:p>
          <a:p>
            <a:r>
              <a:rPr lang="ru-RU" b="1" err="1"/>
              <a:t>Insights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/>
              <a:t>"Master" (</a:t>
            </a:r>
            <a:r>
              <a:rPr lang="ru-RU" err="1"/>
              <a:t>boys</a:t>
            </a:r>
            <a:r>
              <a:rPr lang="ru-RU"/>
              <a:t>): 57% </a:t>
            </a:r>
            <a:r>
              <a:rPr lang="ru-RU" err="1"/>
              <a:t>survived</a:t>
            </a:r>
            <a:endParaRPr lang="ru-RU"/>
          </a:p>
          <a:p>
            <a:pPr lvl="0"/>
            <a:r>
              <a:rPr lang="ru-RU"/>
              <a:t>"Miss" (</a:t>
            </a:r>
            <a:r>
              <a:rPr lang="ru-RU" err="1"/>
              <a:t>unmarried</a:t>
            </a:r>
            <a:r>
              <a:rPr lang="ru-RU"/>
              <a:t> </a:t>
            </a:r>
            <a:r>
              <a:rPr lang="ru-RU" err="1"/>
              <a:t>women</a:t>
            </a:r>
            <a:r>
              <a:rPr lang="ru-RU"/>
              <a:t>): 70% </a:t>
            </a:r>
            <a:r>
              <a:rPr lang="ru-RU" err="1"/>
              <a:t>survived</a:t>
            </a:r>
            <a:endParaRPr lang="ru-RU"/>
          </a:p>
          <a:p>
            <a:pPr lvl="0"/>
            <a:r>
              <a:rPr lang="ru-RU"/>
              <a:t>"</a:t>
            </a:r>
            <a:r>
              <a:rPr lang="ru-RU" err="1"/>
              <a:t>Mrs</a:t>
            </a:r>
            <a:r>
              <a:rPr lang="ru-RU"/>
              <a:t>" (</a:t>
            </a:r>
            <a:r>
              <a:rPr lang="ru-RU" err="1"/>
              <a:t>married</a:t>
            </a:r>
            <a:r>
              <a:rPr lang="ru-RU"/>
              <a:t> </a:t>
            </a:r>
            <a:r>
              <a:rPr lang="ru-RU" err="1"/>
              <a:t>women</a:t>
            </a:r>
            <a:r>
              <a:rPr lang="ru-RU"/>
              <a:t>): 79% </a:t>
            </a:r>
            <a:r>
              <a:rPr lang="ru-RU" err="1"/>
              <a:t>survived</a:t>
            </a:r>
            <a:endParaRPr lang="ru-RU"/>
          </a:p>
          <a:p>
            <a:pPr lvl="0"/>
            <a:r>
              <a:rPr lang="ru-RU"/>
              <a:t>"Mr" (</a:t>
            </a:r>
            <a:r>
              <a:rPr lang="ru-RU" err="1"/>
              <a:t>men</a:t>
            </a:r>
            <a:r>
              <a:rPr lang="ru-RU"/>
              <a:t>): 16% </a:t>
            </a:r>
            <a:r>
              <a:rPr lang="ru-RU" err="1"/>
              <a:t>survived</a:t>
            </a:r>
            <a:endParaRPr lang="ru-RU"/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6304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E602D-6F48-29E9-C015-A8D26F0A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Automated</a:t>
            </a:r>
            <a:r>
              <a:rPr lang="ru-RU"/>
              <a:t> EDA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pandas-profiling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E50F4-F46D-0E60-0205-7A498751E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r>
              <a:rPr lang="ru-RU" b="1"/>
              <a:t>One-Click Analysis: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Install</a:t>
            </a:r>
            <a:r>
              <a:rPr lang="ru-RU" i="1"/>
              <a:t>: !</a:t>
            </a:r>
            <a:r>
              <a:rPr lang="ru-RU" i="1" err="1"/>
              <a:t>pip</a:t>
            </a:r>
            <a:r>
              <a:rPr lang="ru-RU" i="1"/>
              <a:t> </a:t>
            </a:r>
            <a:r>
              <a:rPr lang="ru-RU" i="1" err="1"/>
              <a:t>install</a:t>
            </a:r>
            <a:r>
              <a:rPr lang="ru-RU" i="1"/>
              <a:t> </a:t>
            </a:r>
            <a:r>
              <a:rPr lang="ru-RU" i="1" err="1"/>
              <a:t>pandas-profiling</a:t>
            </a:r>
            <a:endParaRPr lang="ru-RU"/>
          </a:p>
          <a:p>
            <a:pPr latinLnBrk="1"/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pandas_profiling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ProfileReport</a:t>
            </a:r>
            <a:endParaRPr lang="ru-RU"/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</a:t>
            </a:r>
            <a:r>
              <a:rPr lang="ru-RU" i="1" err="1"/>
              <a:t>Generate</a:t>
            </a:r>
            <a:r>
              <a:rPr lang="ru-RU" i="1"/>
              <a:t> </a:t>
            </a:r>
            <a:r>
              <a:rPr lang="ru-RU" i="1" err="1"/>
              <a:t>comprehensive</a:t>
            </a:r>
            <a:r>
              <a:rPr lang="ru-RU" i="1"/>
              <a:t> </a:t>
            </a:r>
            <a:r>
              <a:rPr lang="ru-RU" i="1" err="1"/>
              <a:t>report</a:t>
            </a:r>
            <a:endParaRPr lang="ru-RU"/>
          </a:p>
          <a:p>
            <a:pPr latinLnBrk="1"/>
            <a:r>
              <a:rPr lang="ru-RU" err="1"/>
              <a:t>profile</a:t>
            </a:r>
            <a:r>
              <a:rPr lang="ru-RU"/>
              <a:t> = </a:t>
            </a:r>
            <a:r>
              <a:rPr lang="ru-RU" err="1"/>
              <a:t>ProfileReport</a:t>
            </a:r>
            <a:r>
              <a:rPr lang="ru-RU"/>
              <a:t>(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titanic_clean</a:t>
            </a:r>
            <a:r>
              <a:rPr lang="ru-RU"/>
              <a:t>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title</a:t>
            </a:r>
            <a:r>
              <a:rPr lang="ru-RU"/>
              <a:t>="</a:t>
            </a:r>
            <a:r>
              <a:rPr lang="ru-RU" err="1"/>
              <a:t>Titanic</a:t>
            </a:r>
            <a:r>
              <a:rPr lang="ru-RU"/>
              <a:t> </a:t>
            </a:r>
            <a:r>
              <a:rPr lang="ru-RU" err="1"/>
              <a:t>Dataset</a:t>
            </a:r>
            <a:r>
              <a:rPr lang="ru-RU"/>
              <a:t> EDA Report",</a:t>
            </a:r>
          </a:p>
          <a:p>
            <a:pPr latinLnBrk="1"/>
            <a:r>
              <a:rPr lang="ru-RU"/>
              <a:t>    </a:t>
            </a:r>
            <a:r>
              <a:rPr lang="ru-RU" err="1"/>
              <a:t>explorative</a:t>
            </a:r>
            <a:r>
              <a:rPr lang="ru-RU"/>
              <a:t>=True</a:t>
            </a:r>
          </a:p>
          <a:p>
            <a:pPr latinLnBrk="1"/>
            <a:r>
              <a:rPr lang="ru-RU"/>
              <a:t>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Save </a:t>
            </a:r>
            <a:r>
              <a:rPr lang="ru-RU" i="1" err="1"/>
              <a:t>to</a:t>
            </a:r>
            <a:r>
              <a:rPr lang="ru-RU" i="1"/>
              <a:t> HTML</a:t>
            </a:r>
            <a:endParaRPr lang="ru-RU"/>
          </a:p>
          <a:p>
            <a:pPr latinLnBrk="1"/>
            <a:r>
              <a:rPr lang="ru-RU" err="1"/>
              <a:t>profile.to_file</a:t>
            </a:r>
            <a:r>
              <a:rPr lang="ru-RU"/>
              <a:t>("titanic_eda_report.html")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Display </a:t>
            </a:r>
            <a:r>
              <a:rPr lang="ru-RU" i="1" err="1"/>
              <a:t>in</a:t>
            </a:r>
            <a:r>
              <a:rPr lang="ru-RU" i="1"/>
              <a:t> </a:t>
            </a:r>
            <a:r>
              <a:rPr lang="ru-RU" i="1" err="1"/>
              <a:t>notebook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profile.to_notebook_iframe</a:t>
            </a:r>
            <a:r>
              <a:rPr lang="ru-RU" i="1"/>
              <a:t>()</a:t>
            </a:r>
            <a:endParaRPr lang="ru-RU"/>
          </a:p>
          <a:p>
            <a:r>
              <a:rPr lang="ru-RU" b="1" err="1"/>
              <a:t>Features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err="1"/>
              <a:t>Automatic</a:t>
            </a:r>
            <a:r>
              <a:rPr lang="ru-RU"/>
              <a:t> </a:t>
            </a:r>
            <a:r>
              <a:rPr lang="ru-RU" err="1"/>
              <a:t>correlation</a:t>
            </a:r>
            <a:r>
              <a:rPr lang="ru-RU"/>
              <a:t> </a:t>
            </a:r>
            <a:r>
              <a:rPr lang="ru-RU" err="1"/>
              <a:t>detection</a:t>
            </a:r>
            <a:endParaRPr lang="ru-RU"/>
          </a:p>
          <a:p>
            <a:pPr lvl="0"/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analysis</a:t>
            </a:r>
            <a:endParaRPr lang="ru-RU"/>
          </a:p>
          <a:p>
            <a:pPr lvl="0"/>
            <a:r>
              <a:rPr lang="ru-RU"/>
              <a:t>Distribution </a:t>
            </a:r>
            <a:r>
              <a:rPr lang="ru-RU" err="1"/>
              <a:t>plots</a:t>
            </a:r>
            <a:endParaRPr lang="ru-RU"/>
          </a:p>
          <a:p>
            <a:pPr lvl="0"/>
            <a:r>
              <a:rPr lang="ru-RU"/>
              <a:t>Data </a:t>
            </a:r>
            <a:r>
              <a:rPr lang="ru-RU" err="1"/>
              <a:t>type</a:t>
            </a:r>
            <a:r>
              <a:rPr lang="ru-RU"/>
              <a:t> </a:t>
            </a:r>
            <a:r>
              <a:rPr lang="ru-RU" err="1"/>
              <a:t>detection</a:t>
            </a:r>
            <a:endParaRPr lang="ru-RU"/>
          </a:p>
          <a:p>
            <a:r>
              <a:rPr lang="ru-RU" err="1"/>
              <a:t>Warnings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alerts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91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DBD8A-7B05-BD22-DB21-089E3B9D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Interactive EDA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D-Tale</a:t>
            </a:r>
            <a:r>
              <a:rPr lang="en-US"/>
              <a:t> library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93129-7F3D-2CBE-936B-B16B0FC41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err="1"/>
              <a:t>Browser</a:t>
            </a:r>
            <a:r>
              <a:rPr lang="ru-RU" b="1"/>
              <a:t>-Based </a:t>
            </a:r>
            <a:r>
              <a:rPr lang="ru-RU" b="1" err="1"/>
              <a:t>Exploration</a:t>
            </a:r>
            <a:r>
              <a:rPr lang="ru-RU" b="1"/>
              <a:t>:</a:t>
            </a:r>
            <a:endParaRPr lang="ru-RU"/>
          </a:p>
          <a:p>
            <a:pPr latinLnBrk="1"/>
            <a:r>
              <a:rPr lang="ru-RU" i="1"/>
              <a:t># </a:t>
            </a:r>
            <a:r>
              <a:rPr lang="ru-RU" i="1" err="1"/>
              <a:t>Install</a:t>
            </a:r>
            <a:r>
              <a:rPr lang="ru-RU" i="1"/>
              <a:t>: !</a:t>
            </a:r>
            <a:r>
              <a:rPr lang="ru-RU" i="1" err="1"/>
              <a:t>pip</a:t>
            </a:r>
            <a:r>
              <a:rPr lang="ru-RU" i="1"/>
              <a:t> </a:t>
            </a:r>
            <a:r>
              <a:rPr lang="ru-RU" i="1" err="1"/>
              <a:t>install</a:t>
            </a:r>
            <a:r>
              <a:rPr lang="ru-RU" i="1"/>
              <a:t> </a:t>
            </a:r>
            <a:r>
              <a:rPr lang="ru-RU" i="1" err="1"/>
              <a:t>dtale</a:t>
            </a:r>
            <a:endParaRPr lang="ru-RU"/>
          </a:p>
          <a:p>
            <a:pPr latinLnBrk="1"/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dtale</a:t>
            </a:r>
            <a:endParaRPr lang="ru-RU"/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Launch </a:t>
            </a:r>
            <a:r>
              <a:rPr lang="ru-RU" i="1" err="1"/>
              <a:t>interactive</a:t>
            </a:r>
            <a:r>
              <a:rPr lang="ru-RU" i="1"/>
              <a:t> </a:t>
            </a:r>
            <a:r>
              <a:rPr lang="ru-RU" i="1" err="1"/>
              <a:t>app</a:t>
            </a:r>
            <a:endParaRPr lang="ru-RU"/>
          </a:p>
          <a:p>
            <a:pPr latinLnBrk="1"/>
            <a:r>
              <a:rPr lang="ru-RU"/>
              <a:t>d = </a:t>
            </a:r>
            <a:r>
              <a:rPr lang="ru-RU" err="1"/>
              <a:t>dtale.show</a:t>
            </a:r>
            <a:r>
              <a:rPr lang="ru-RU"/>
              <a:t>(</a:t>
            </a:r>
            <a:r>
              <a:rPr lang="ru-RU" err="1"/>
              <a:t>titanic_clean</a:t>
            </a:r>
            <a:r>
              <a:rPr lang="ru-RU"/>
              <a:t>)</a:t>
            </a:r>
          </a:p>
          <a:p>
            <a:pPr latinLnBrk="1"/>
            <a:r>
              <a:rPr lang="ru-RU"/>
              <a:t> </a:t>
            </a:r>
          </a:p>
          <a:p>
            <a:pPr latinLnBrk="1"/>
            <a:r>
              <a:rPr lang="ru-RU" i="1"/>
              <a:t># Open </a:t>
            </a:r>
            <a:r>
              <a:rPr lang="ru-RU" i="1" err="1"/>
              <a:t>in</a:t>
            </a:r>
            <a:r>
              <a:rPr lang="ru-RU" i="1"/>
              <a:t> </a:t>
            </a:r>
            <a:r>
              <a:rPr lang="ru-RU" i="1" err="1"/>
              <a:t>browser</a:t>
            </a:r>
            <a:endParaRPr lang="ru-RU"/>
          </a:p>
          <a:p>
            <a:pPr latinLnBrk="1"/>
            <a:r>
              <a:rPr lang="ru-RU" err="1"/>
              <a:t>d.open_browser</a:t>
            </a:r>
            <a:r>
              <a:rPr lang="ru-RU"/>
              <a:t>()</a:t>
            </a:r>
          </a:p>
          <a:p>
            <a:r>
              <a:rPr lang="ru-RU" b="1" err="1"/>
              <a:t>Capabilities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/>
              <a:t>Filter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sort</a:t>
            </a:r>
            <a:r>
              <a:rPr lang="ru-RU"/>
              <a:t> </a:t>
            </a:r>
            <a:r>
              <a:rPr lang="ru-RU" err="1"/>
              <a:t>data</a:t>
            </a:r>
            <a:endParaRPr lang="ru-RU"/>
          </a:p>
          <a:p>
            <a:pPr lvl="0"/>
            <a:r>
              <a:rPr lang="ru-RU" err="1"/>
              <a:t>Create</a:t>
            </a:r>
            <a:r>
              <a:rPr lang="ru-RU"/>
              <a:t> </a:t>
            </a:r>
            <a:r>
              <a:rPr lang="ru-RU" err="1"/>
              <a:t>visualizations</a:t>
            </a:r>
            <a:endParaRPr lang="ru-RU"/>
          </a:p>
          <a:p>
            <a:pPr lvl="0"/>
            <a:r>
              <a:rPr lang="ru-RU"/>
              <a:t>Check </a:t>
            </a:r>
            <a:r>
              <a:rPr lang="ru-RU" err="1"/>
              <a:t>correlations</a:t>
            </a:r>
            <a:endParaRPr lang="ru-RU"/>
          </a:p>
          <a:p>
            <a:pPr lvl="0"/>
            <a:r>
              <a:rPr lang="ru-RU" err="1"/>
              <a:t>Export</a:t>
            </a:r>
            <a:r>
              <a:rPr lang="ru-RU"/>
              <a:t> </a:t>
            </a:r>
            <a:r>
              <a:rPr lang="ru-RU" err="1"/>
              <a:t>code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operations</a:t>
            </a:r>
            <a:endParaRPr lang="ru-RU"/>
          </a:p>
          <a:p>
            <a:r>
              <a:rPr lang="ru-RU" err="1"/>
              <a:t>Statistical</a:t>
            </a:r>
            <a:r>
              <a:rPr lang="ru-RU"/>
              <a:t> </a:t>
            </a:r>
            <a:r>
              <a:rPr lang="ru-RU" err="1"/>
              <a:t>summaries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441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38906-7DDA-C525-5D7C-A73C2CC9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Key </a:t>
            </a:r>
            <a:r>
              <a:rPr lang="ru-RU" err="1"/>
              <a:t>Titanic</a:t>
            </a:r>
            <a:r>
              <a:rPr lang="ru-RU"/>
              <a:t> </a:t>
            </a:r>
            <a:r>
              <a:rPr lang="ru-RU" err="1"/>
              <a:t>Insights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569AE-D503-A2DA-A6F7-627C8BF8C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err="1"/>
              <a:t>Summary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Findings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b="1" err="1"/>
              <a:t>Gender</a:t>
            </a:r>
            <a:r>
              <a:rPr lang="ru-RU" b="1"/>
              <a:t> Gap:</a:t>
            </a:r>
            <a:r>
              <a:rPr lang="ru-RU"/>
              <a:t> </a:t>
            </a:r>
            <a:r>
              <a:rPr lang="ru-RU" err="1"/>
              <a:t>Women</a:t>
            </a:r>
            <a:r>
              <a:rPr lang="ru-RU"/>
              <a:t> </a:t>
            </a:r>
            <a:r>
              <a:rPr lang="ru-RU" err="1"/>
              <a:t>survived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</a:t>
            </a:r>
            <a:r>
              <a:rPr lang="ru-RU" err="1"/>
              <a:t>men</a:t>
            </a:r>
            <a:endParaRPr lang="ru-RU"/>
          </a:p>
          <a:p>
            <a:pPr lvl="0"/>
            <a:r>
              <a:rPr lang="ru-RU" b="1"/>
              <a:t>Class </a:t>
            </a:r>
            <a:r>
              <a:rPr lang="ru-RU" b="1" err="1"/>
              <a:t>Divide</a:t>
            </a:r>
            <a:r>
              <a:rPr lang="ru-RU" b="1"/>
              <a:t>:</a:t>
            </a:r>
            <a:r>
              <a:rPr lang="ru-RU"/>
              <a:t> 1st </a:t>
            </a:r>
            <a:r>
              <a:rPr lang="ru-RU" err="1"/>
              <a:t>class</a:t>
            </a:r>
            <a:r>
              <a:rPr lang="ru-RU"/>
              <a:t> </a:t>
            </a:r>
            <a:r>
              <a:rPr lang="ru-RU" err="1"/>
              <a:t>survived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3rd </a:t>
            </a:r>
            <a:r>
              <a:rPr lang="ru-RU" err="1"/>
              <a:t>class</a:t>
            </a:r>
            <a:endParaRPr lang="ru-RU"/>
          </a:p>
          <a:p>
            <a:pPr lvl="0"/>
            <a:r>
              <a:rPr lang="ru-RU" b="1" err="1"/>
              <a:t>Age</a:t>
            </a:r>
            <a:r>
              <a:rPr lang="ru-RU" b="1"/>
              <a:t> </a:t>
            </a:r>
            <a:r>
              <a:rPr lang="ru-RU" b="1" err="1"/>
              <a:t>Priority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Children</a:t>
            </a:r>
            <a:r>
              <a:rPr lang="ru-RU"/>
              <a:t> </a:t>
            </a:r>
            <a:r>
              <a:rPr lang="ru-RU" err="1"/>
              <a:t>had</a:t>
            </a:r>
            <a:r>
              <a:rPr lang="ru-RU"/>
              <a:t> </a:t>
            </a:r>
            <a:r>
              <a:rPr lang="ru-RU" err="1"/>
              <a:t>highest</a:t>
            </a:r>
            <a:r>
              <a:rPr lang="ru-RU"/>
              <a:t> </a:t>
            </a:r>
            <a:r>
              <a:rPr lang="ru-RU" err="1"/>
              <a:t>priority</a:t>
            </a:r>
            <a:endParaRPr lang="ru-RU"/>
          </a:p>
          <a:p>
            <a:pPr lvl="0"/>
            <a:r>
              <a:rPr lang="ru-RU" b="1"/>
              <a:t>Family </a:t>
            </a:r>
            <a:r>
              <a:rPr lang="ru-RU" b="1" err="1"/>
              <a:t>Effect</a:t>
            </a:r>
            <a:r>
              <a:rPr lang="ru-RU" b="1"/>
              <a:t>:</a:t>
            </a:r>
            <a:r>
              <a:rPr lang="ru-RU"/>
              <a:t> </a:t>
            </a:r>
            <a:r>
              <a:rPr lang="ru-RU" err="1"/>
              <a:t>Medium</a:t>
            </a:r>
            <a:r>
              <a:rPr lang="ru-RU"/>
              <a:t> </a:t>
            </a:r>
            <a:r>
              <a:rPr lang="ru-RU" err="1"/>
              <a:t>families</a:t>
            </a:r>
            <a:r>
              <a:rPr lang="ru-RU"/>
              <a:t> (2-4) </a:t>
            </a:r>
            <a:r>
              <a:rPr lang="ru-RU" err="1"/>
              <a:t>survived</a:t>
            </a:r>
            <a:r>
              <a:rPr lang="ru-RU"/>
              <a:t> </a:t>
            </a:r>
            <a:r>
              <a:rPr lang="ru-RU" err="1"/>
              <a:t>most</a:t>
            </a:r>
            <a:endParaRPr lang="ru-RU"/>
          </a:p>
          <a:p>
            <a:r>
              <a:rPr lang="ru-RU" b="1"/>
              <a:t>Price </a:t>
            </a:r>
            <a:r>
              <a:rPr lang="ru-RU" b="1" err="1"/>
              <a:t>of</a:t>
            </a:r>
            <a:r>
              <a:rPr lang="ru-RU" b="1"/>
              <a:t> Safety:</a:t>
            </a:r>
            <a:r>
              <a:rPr lang="ru-RU"/>
              <a:t> </a:t>
            </a:r>
            <a:r>
              <a:rPr lang="ru-RU" err="1"/>
              <a:t>Higher</a:t>
            </a:r>
            <a:r>
              <a:rPr lang="ru-RU"/>
              <a:t> </a:t>
            </a:r>
            <a:r>
              <a:rPr lang="ru-RU" err="1"/>
              <a:t>fare</a:t>
            </a:r>
            <a:r>
              <a:rPr lang="ru-RU"/>
              <a:t> </a:t>
            </a:r>
            <a:r>
              <a:rPr lang="ru-RU" err="1"/>
              <a:t>correlated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survival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647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72293-3F8F-9E11-C619-942A811F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Common EDA </a:t>
            </a:r>
            <a:r>
              <a:rPr lang="ru-RU" err="1"/>
              <a:t>Mistakes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2238D-F408-70CE-3669-89BFAE362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err="1"/>
              <a:t>Avoid</a:t>
            </a:r>
            <a:r>
              <a:rPr lang="ru-RU" b="1"/>
              <a:t> </a:t>
            </a:r>
            <a:r>
              <a:rPr lang="ru-RU" b="1" err="1"/>
              <a:t>These</a:t>
            </a:r>
            <a:r>
              <a:rPr lang="ru-RU" b="1"/>
              <a:t> </a:t>
            </a:r>
            <a:r>
              <a:rPr lang="ru-RU" b="1" err="1"/>
              <a:t>Pitfalls</a:t>
            </a:r>
            <a:r>
              <a:rPr lang="ru-RU" b="1"/>
              <a:t>:</a:t>
            </a:r>
            <a:endParaRPr lang="ru-RU"/>
          </a:p>
          <a:p>
            <a:pPr lvl="0"/>
            <a:r>
              <a:rPr lang="ru-RU" b="1" err="1"/>
              <a:t>Not</a:t>
            </a:r>
            <a:r>
              <a:rPr lang="ru-RU" b="1"/>
              <a:t> </a:t>
            </a:r>
            <a:r>
              <a:rPr lang="ru-RU" b="1" err="1"/>
              <a:t>checking</a:t>
            </a:r>
            <a:r>
              <a:rPr lang="ru-RU" b="1"/>
              <a:t> </a:t>
            </a:r>
            <a:r>
              <a:rPr lang="ru-RU" b="1" err="1"/>
              <a:t>data</a:t>
            </a:r>
            <a:r>
              <a:rPr lang="ru-RU" b="1"/>
              <a:t> </a:t>
            </a:r>
            <a:r>
              <a:rPr lang="ru-RU" b="1" err="1"/>
              <a:t>types</a:t>
            </a:r>
            <a:r>
              <a:rPr lang="ru-RU"/>
              <a:t> → </a:t>
            </a:r>
            <a:r>
              <a:rPr lang="ru-RU" err="1"/>
              <a:t>Wrong</a:t>
            </a:r>
            <a:r>
              <a:rPr lang="ru-RU"/>
              <a:t> </a:t>
            </a:r>
            <a:r>
              <a:rPr lang="ru-RU" err="1"/>
              <a:t>analysis</a:t>
            </a:r>
            <a:endParaRPr lang="ru-RU"/>
          </a:p>
          <a:p>
            <a:pPr lvl="0"/>
            <a:r>
              <a:rPr lang="ru-RU" b="1" err="1"/>
              <a:t>Ignoring</a:t>
            </a:r>
            <a:r>
              <a:rPr lang="ru-RU" b="1"/>
              <a:t> </a:t>
            </a:r>
            <a:r>
              <a:rPr lang="ru-RU" b="1" err="1"/>
              <a:t>missing</a:t>
            </a:r>
            <a:r>
              <a:rPr lang="ru-RU" b="1"/>
              <a:t> </a:t>
            </a:r>
            <a:r>
              <a:rPr lang="ru-RU" b="1" err="1"/>
              <a:t>values</a:t>
            </a:r>
            <a:r>
              <a:rPr lang="ru-RU"/>
              <a:t> → </a:t>
            </a:r>
            <a:r>
              <a:rPr lang="ru-RU" err="1"/>
              <a:t>Biased</a:t>
            </a:r>
            <a:r>
              <a:rPr lang="ru-RU"/>
              <a:t> </a:t>
            </a:r>
            <a:r>
              <a:rPr lang="ru-RU" err="1"/>
              <a:t>results</a:t>
            </a:r>
            <a:endParaRPr lang="ru-RU"/>
          </a:p>
          <a:p>
            <a:pPr lvl="0"/>
            <a:r>
              <a:rPr lang="ru-RU" b="1" err="1"/>
              <a:t>Removing</a:t>
            </a:r>
            <a:r>
              <a:rPr lang="ru-RU" b="1"/>
              <a:t> </a:t>
            </a:r>
            <a:r>
              <a:rPr lang="ru-RU" b="1" err="1"/>
              <a:t>outliers</a:t>
            </a:r>
            <a:r>
              <a:rPr lang="ru-RU" b="1"/>
              <a:t> </a:t>
            </a:r>
            <a:r>
              <a:rPr lang="ru-RU" b="1" err="1"/>
              <a:t>blindly</a:t>
            </a:r>
            <a:r>
              <a:rPr lang="ru-RU"/>
              <a:t> → </a:t>
            </a:r>
            <a:r>
              <a:rPr lang="ru-RU" err="1"/>
              <a:t>Losing</a:t>
            </a:r>
            <a:r>
              <a:rPr lang="ru-RU"/>
              <a:t> </a:t>
            </a:r>
            <a:r>
              <a:rPr lang="ru-RU" err="1"/>
              <a:t>signal</a:t>
            </a:r>
            <a:endParaRPr lang="ru-RU"/>
          </a:p>
          <a:p>
            <a:pPr lvl="0"/>
            <a:r>
              <a:rPr lang="ru-RU" b="1" err="1"/>
              <a:t>Skipping</a:t>
            </a:r>
            <a:r>
              <a:rPr lang="ru-RU" b="1"/>
              <a:t> </a:t>
            </a:r>
            <a:r>
              <a:rPr lang="ru-RU" b="1" err="1"/>
              <a:t>univariate</a:t>
            </a:r>
            <a:r>
              <a:rPr lang="ru-RU" b="1"/>
              <a:t> </a:t>
            </a:r>
            <a:r>
              <a:rPr lang="ru-RU" b="1" err="1"/>
              <a:t>analysis</a:t>
            </a:r>
            <a:r>
              <a:rPr lang="ru-RU"/>
              <a:t> → 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basics</a:t>
            </a:r>
            <a:endParaRPr lang="ru-RU"/>
          </a:p>
          <a:p>
            <a:pPr lvl="0"/>
            <a:r>
              <a:rPr lang="ru-RU" b="1" err="1"/>
              <a:t>Not</a:t>
            </a:r>
            <a:r>
              <a:rPr lang="ru-RU" b="1"/>
              <a:t> </a:t>
            </a:r>
            <a:r>
              <a:rPr lang="ru-RU" b="1" err="1"/>
              <a:t>documenting</a:t>
            </a:r>
            <a:r>
              <a:rPr lang="ru-RU"/>
              <a:t> → </a:t>
            </a:r>
            <a:r>
              <a:rPr lang="ru-RU" err="1"/>
              <a:t>Can't</a:t>
            </a:r>
            <a:r>
              <a:rPr lang="ru-RU"/>
              <a:t> </a:t>
            </a:r>
            <a:r>
              <a:rPr lang="ru-RU" err="1"/>
              <a:t>reproduce</a:t>
            </a:r>
            <a:endParaRPr lang="ru-RU"/>
          </a:p>
          <a:p>
            <a:r>
              <a:rPr lang="ru-RU" b="1" err="1"/>
              <a:t>Over-plotting</a:t>
            </a:r>
            <a:r>
              <a:rPr lang="ru-RU"/>
              <a:t> → </a:t>
            </a:r>
            <a:r>
              <a:rPr lang="ru-RU" err="1"/>
              <a:t>Confusion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5137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5A6F6-C78F-2F1A-2092-B947E428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/>
              <a:t>Visualization</a:t>
            </a:r>
            <a:r>
              <a:rPr lang="ru-RU"/>
              <a:t> Best </a:t>
            </a:r>
            <a:r>
              <a:rPr lang="ru-RU" err="1"/>
              <a:t>Practices</a:t>
            </a:r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492988D-F3BA-21B7-BA5C-2A5D4B661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443307"/>
              </p:ext>
            </p:extLst>
          </p:nvPr>
        </p:nvGraphicFramePr>
        <p:xfrm>
          <a:off x="838200" y="2114184"/>
          <a:ext cx="7162800" cy="2240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9057805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4139332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Question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Best </a:t>
                      </a:r>
                      <a:r>
                        <a:rPr lang="ru-RU" sz="1200" err="1">
                          <a:effectLst/>
                        </a:rPr>
                        <a:t>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1212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Distribution?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Histogram, Box plot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913431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Comparison?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Bar chart, Column 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93031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Relationship?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Scatter plot, Heatmap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16166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Composition?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err="1">
                          <a:effectLst/>
                        </a:rPr>
                        <a:t>Stacked</a:t>
                      </a:r>
                      <a:r>
                        <a:rPr lang="ru-RU" sz="1200">
                          <a:effectLst/>
                        </a:rPr>
                        <a:t> </a:t>
                      </a:r>
                      <a:r>
                        <a:rPr lang="ru-RU" sz="1200" err="1">
                          <a:effectLst/>
                        </a:rPr>
                        <a:t>bar</a:t>
                      </a:r>
                      <a:r>
                        <a:rPr lang="ru-RU" sz="1200">
                          <a:effectLst/>
                        </a:rPr>
                        <a:t>, Pie </a:t>
                      </a:r>
                      <a:r>
                        <a:rPr lang="ru-RU" sz="1200" err="1">
                          <a:effectLst/>
                        </a:rPr>
                        <a:t>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6415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Trend over time?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Line </a:t>
                      </a:r>
                      <a:r>
                        <a:rPr lang="ru-RU" sz="1200" err="1">
                          <a:effectLst/>
                        </a:rPr>
                        <a:t>chart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Aptos" panose="02110004020202020204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7969983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4BE82052-672E-C0CB-B27A-04F73319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89250"/>
            <a:ext cx="397204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Right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Chart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for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the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Right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 </a:t>
            </a:r>
            <a:r>
              <a:rPr kumimoji="0" lang="ru-RU" altLang="ru-RU" sz="1600" b="1" i="0" u="none" strike="noStrike" cap="none" normalizeH="0" baseline="0" err="1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Question</a:t>
            </a: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 charset="0"/>
                <a:cs typeface="Segoe UI" panose="020B0502040204020203" pitchFamily="34" charset="0"/>
              </a:rPr>
              <a:t>:</a:t>
            </a:r>
            <a:endParaRPr kumimoji="0" lang="ru-RU" altLang="ru-RU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18F97-3354-16A5-6903-1F7B77B957EA}"/>
              </a:ext>
            </a:extLst>
          </p:cNvPr>
          <p:cNvSpPr txBox="1"/>
          <p:nvPr/>
        </p:nvSpPr>
        <p:spPr>
          <a:xfrm>
            <a:off x="838200" y="4743816"/>
            <a:ext cx="58055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ru-RU" b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Always:</a:t>
            </a:r>
            <a:endParaRPr lang="ru-RU"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Label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axes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clearly</a:t>
            </a:r>
            <a:endParaRPr lang="ru-RU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Add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informative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titles</a:t>
            </a:r>
            <a:endParaRPr lang="ru-RU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Use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consistent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colors</a:t>
            </a:r>
            <a:endParaRPr lang="ru-RU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Avoid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chart</a:t>
            </a:r>
            <a:r>
              <a:rPr lang="ru-RU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 </a:t>
            </a:r>
            <a:r>
              <a:rPr lang="ru-RU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Aptos" panose="02110004020202020204"/>
              </a:rPr>
              <a:t>junk</a:t>
            </a:r>
            <a:endParaRPr lang="ru-RU">
              <a:solidFill>
                <a:srgbClr val="0F1115"/>
              </a:solidFill>
              <a:effectLst/>
              <a:latin typeface="Times New Roman" panose="02020603050405020304" pitchFamily="18" charset="0"/>
              <a:ea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241719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4492D-1118-52FF-8216-4CAC6D3B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773" y="2384048"/>
            <a:ext cx="10515600" cy="1325563"/>
          </a:xfrm>
        </p:spPr>
        <p:txBody>
          <a:bodyPr/>
          <a:lstStyle/>
          <a:p>
            <a:pPr algn="ctr"/>
            <a:r>
              <a:rPr lang="ru-RU" err="1"/>
              <a:t>Thank</a:t>
            </a:r>
            <a:r>
              <a:rPr lang="ru-RU"/>
              <a:t> You &amp; Good </a:t>
            </a:r>
            <a:r>
              <a:rPr lang="ru-RU" err="1"/>
              <a:t>Luck</a:t>
            </a:r>
            <a:r>
              <a:rPr lang="ru-RU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29009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472F7D-F95E-4CFE-B1EB-DFFF4344DFF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897D864-D0AE-4357-9991-FE82281DC5F6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093991-6498-4E73-A484-5102D504D5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Тема Office</vt:lpstr>
      <vt:lpstr>Exploratory Data Analysis (EDA) Data Cleaning &amp; Visualization </vt:lpstr>
      <vt:lpstr>What is EDA?</vt:lpstr>
      <vt:lpstr>The EDA Philosophy</vt:lpstr>
      <vt:lpstr>The Complete EDA Workflow</vt:lpstr>
      <vt:lpstr>Python's EDA Stack</vt:lpstr>
      <vt:lpstr>Meet Our Dataset: Titanic</vt:lpstr>
      <vt:lpstr>Loading Data in Python</vt:lpstr>
      <vt:lpstr>First look at the Data</vt:lpstr>
      <vt:lpstr>Understanding Data Types</vt:lpstr>
      <vt:lpstr>Missing Data - The Reality Check</vt:lpstr>
      <vt:lpstr>Visualizing Missing Data</vt:lpstr>
      <vt:lpstr>Data Cleaning Strategy</vt:lpstr>
      <vt:lpstr>Step 1 - Drop Problematic Columns</vt:lpstr>
      <vt:lpstr>Step 2 - Impute Age Smartly</vt:lpstr>
      <vt:lpstr>Step 3 - Fix Remaining Issues</vt:lpstr>
      <vt:lpstr>Optimize Data Types</vt:lpstr>
      <vt:lpstr>Summary Statistics</vt:lpstr>
      <vt:lpstr>Univariate Analysis - What Is It?</vt:lpstr>
      <vt:lpstr>Analyzing Age Distribution</vt:lpstr>
      <vt:lpstr>PowerPoint Presentation</vt:lpstr>
      <vt:lpstr>Analyzing Fare Distribution</vt:lpstr>
      <vt:lpstr>PowerPoint Presentation</vt:lpstr>
      <vt:lpstr>Categorical Analysis: Passenger Class</vt:lpstr>
      <vt:lpstr>PowerPoint Presentation</vt:lpstr>
      <vt:lpstr>Categorical Analysis: Gender</vt:lpstr>
      <vt:lpstr>PowerPoint Presentation</vt:lpstr>
      <vt:lpstr>Bivariate Analysis - Understanding Relationships</vt:lpstr>
      <vt:lpstr>Age vs Fare Scatter Plot</vt:lpstr>
      <vt:lpstr>PowerPoint Presentation</vt:lpstr>
      <vt:lpstr>Survival by Gender</vt:lpstr>
      <vt:lpstr>PowerPoint Presentation</vt:lpstr>
      <vt:lpstr>Survival by Passenger Class</vt:lpstr>
      <vt:lpstr>PowerPoint Presentation</vt:lpstr>
      <vt:lpstr>Enhanced Scatter Plot</vt:lpstr>
      <vt:lpstr>PowerPoint Presentation</vt:lpstr>
      <vt:lpstr>Correlation Heatmap</vt:lpstr>
      <vt:lpstr>PowerPoint Presentation</vt:lpstr>
      <vt:lpstr>Creating Age Groups</vt:lpstr>
      <vt:lpstr>Survival by Age Group</vt:lpstr>
      <vt:lpstr>PowerPoint Presentation</vt:lpstr>
      <vt:lpstr>Family Size Analysis</vt:lpstr>
      <vt:lpstr>Survival by Family Size</vt:lpstr>
      <vt:lpstr>PowerPoint Presentation</vt:lpstr>
      <vt:lpstr>Advanced Visualization: Pair Plot</vt:lpstr>
      <vt:lpstr>PowerPoint Presentation</vt:lpstr>
      <vt:lpstr>Violin Plot - Age by Class &amp; Survival</vt:lpstr>
      <vt:lpstr>PowerPoint Presentation</vt:lpstr>
      <vt:lpstr>Facet Grid - Multi-dimensional View</vt:lpstr>
      <vt:lpstr>PowerPoint Presentation</vt:lpstr>
      <vt:lpstr>Outlier Detection</vt:lpstr>
      <vt:lpstr>Handling Outliers - Options</vt:lpstr>
      <vt:lpstr>Log Transformation</vt:lpstr>
      <vt:lpstr>Feature Engineering - Extract Titles</vt:lpstr>
      <vt:lpstr>Survival by Title</vt:lpstr>
      <vt:lpstr>Automated EDA with pandas-profiling</vt:lpstr>
      <vt:lpstr>Interactive EDA with D-Tale library</vt:lpstr>
      <vt:lpstr>Key Titanic Insights</vt:lpstr>
      <vt:lpstr>Common EDA Mistakes</vt:lpstr>
      <vt:lpstr>Visualization Best Practices</vt:lpstr>
      <vt:lpstr>Thank You &amp; Good Luck!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revision>1</cp:revision>
  <dcterms:created xsi:type="dcterms:W3CDTF">2026-01-27T11:14:07Z</dcterms:created>
  <dcterms:modified xsi:type="dcterms:W3CDTF">2026-03-12T17:22:23Z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