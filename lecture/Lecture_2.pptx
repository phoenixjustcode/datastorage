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47E3A3-C02A-7C83-891E-A59D7ECF4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6A1533-654A-850B-0700-FAECAC507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E3AAA3-42B7-07A2-2A13-764B452B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9F808F-B004-7DC7-AC3F-5D52C1CF6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BD03D5-EA99-BC76-D9F3-66037AA66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87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E48301-C318-54D4-F44A-D9DF2B07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6A7F80-5839-1EFD-52EF-C44557E75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39C6CB-2C3B-2D3C-E5D1-0CA8A4E96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B3BD64-508D-C1A9-440D-AD5D77365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BB8AE0-1EEF-15E2-1A5B-AB71158B3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558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504FA4-86AE-F35E-9C64-4066AEFE2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B76D16-B68E-285A-B7C5-61EB1F3CF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8638DD-BCB0-87E7-BEB6-BF1E6BBAD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09102C-ED15-A528-6124-58FC3D6CB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4F557F-815D-D39A-06D2-0C7357FA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157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BD155-9623-B298-804C-A731D899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BF10AB-1D31-B5D3-1E11-B730EBF3C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CFE0E5-F992-6CC8-E16C-32558E398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39B17B-8932-F19D-BD8D-9FE6F6EE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53D23C-7F1D-809C-0F64-DD6A10767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1D02D9-4B88-4734-3917-433A58BD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407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4418E-53FE-7099-A892-AB73D886E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8ABED2-463C-8620-DF46-823D95590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115630-5A5E-F465-1C1E-3DF872B8A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60FD1F-698C-84D7-0BAE-84C3A3216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248DBA9-BDAA-9FFA-8449-5D4011629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2B5FFE6-6426-059B-FB34-C2FB30357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32D91A1-3BD2-21F8-E6EE-DA32A0E1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280E350-5704-4692-D93D-3E3E0E3E9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4597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224358-1141-AC9F-1B1A-307627E3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A520CF-8565-D0EE-B62F-03B53C180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7C26D4-6963-BB41-1C0F-C5B411838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0BFA819-814D-2BAF-412C-8DF329F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34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CB5E2DC-70D3-3DA3-18F1-5CBE7CD32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6A0C54F-C4AC-0192-317E-9820A15C9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BFECB4-F53B-3C79-C7DC-586C5FD4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815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3D708-2800-2CB0-3824-1AF3DACF6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7751B6-3152-6F94-9DE4-157A37FBD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861B1F-FC43-20D7-6A80-C0B8E2E93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08083B-08C5-CFC5-4BAF-E111D3A5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031EA8-E0A7-F0DF-4325-C9F088333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EA067C-A207-1970-FD85-61CBA7E2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119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5526A-1BE3-9AAF-1E51-B702CF094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4863FA9-19F6-6A9D-15C5-FCDEBE8B8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66186E-99C1-680C-9809-245C74CF2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A19B33-1932-248E-865E-3A3DB022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879D38-DCBE-9678-9263-1E4834C20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5F7F48-0724-C97B-C927-57E84788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629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6402F6-BC67-D22C-764B-0364FF7A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98CCF4-099C-75F0-37C5-EF9DB8910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02342B-885D-CAE5-A0B4-0A18C75A3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478146-D6DE-498A-50EE-7E027B2FB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D0BB7A-571C-BC8F-680C-6AB29771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294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3C821C-EA5D-7BFF-1FC1-C2964A8B0E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28E5C2-AF28-9160-8A9F-D3C509E50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14FA00-2193-BD1A-0ACC-D758D3E71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B9AA3F-6F42-E65C-1B1A-36D8CB269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DD081-218F-863B-0C06-F4E7B0222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064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405EA-8ECC-5692-81B0-069E5DA8B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3D6D80-7568-9BC3-67C3-346A24CB7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874A36-0591-A2F4-00EC-1031A034C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6A5AD2-2231-42E9-AC6A-647BE5D7E03B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FACDAD-D35D-61BA-D3F7-F9046815C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BEDE0C-BCC3-3864-6ADD-E68688EB8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47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raw.githubusercontent.com/datasciencedojo/datasets/master/titanic.csv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CA6E8A-FCD7-3EB6-4C71-65B32BBA9D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b="1" dirty="0" err="1"/>
              <a:t>Exploratory</a:t>
            </a:r>
            <a:r>
              <a:rPr lang="ru-RU" sz="4000" b="1" dirty="0"/>
              <a:t> Data Analysis (EDA)</a:t>
            </a:r>
            <a:br>
              <a:rPr lang="ru-RU" sz="4000" dirty="0"/>
            </a:br>
            <a:r>
              <a:rPr lang="ru-RU" sz="4000" i="1" dirty="0"/>
              <a:t>Data </a:t>
            </a:r>
            <a:r>
              <a:rPr lang="ru-RU" sz="4000" i="1" dirty="0" err="1"/>
              <a:t>Cleaning</a:t>
            </a:r>
            <a:r>
              <a:rPr lang="ru-RU" sz="4000" i="1" dirty="0"/>
              <a:t> &amp; </a:t>
            </a:r>
            <a:r>
              <a:rPr lang="ru-RU" sz="4000" i="1" dirty="0" err="1"/>
              <a:t>Visualization</a:t>
            </a:r>
            <a:br>
              <a:rPr lang="ru-RU" sz="4000" dirty="0"/>
            </a:br>
            <a:endParaRPr lang="ru-RU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1C4CF6-D1AD-015C-C937-DE88C9EAA3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dirty="0"/>
              <a:t>Week 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0464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99CCE-A580-762A-8510-619C379E6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What </a:t>
            </a:r>
            <a:r>
              <a:rPr lang="ru-RU" dirty="0" err="1"/>
              <a:t>Exactly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EDA?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476E4C-86FF-B020-06C0-FEC109959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Definition:</a:t>
            </a:r>
            <a:br>
              <a:rPr lang="ru-RU" dirty="0"/>
            </a:br>
            <a:r>
              <a:rPr lang="ru-RU" i="1" dirty="0"/>
              <a:t>"</a:t>
            </a:r>
            <a:r>
              <a:rPr lang="ru-RU" i="1" dirty="0" err="1"/>
              <a:t>Exploratory</a:t>
            </a:r>
            <a:r>
              <a:rPr lang="ru-RU" i="1" dirty="0"/>
              <a:t> Data Analysis </a:t>
            </a:r>
            <a:r>
              <a:rPr lang="ru-RU" i="1" dirty="0" err="1"/>
              <a:t>is</a:t>
            </a:r>
            <a:r>
              <a:rPr lang="ru-RU" i="1" dirty="0"/>
              <a:t> </a:t>
            </a:r>
            <a:r>
              <a:rPr lang="ru-RU" i="1" dirty="0" err="1"/>
              <a:t>the</a:t>
            </a:r>
            <a:r>
              <a:rPr lang="ru-RU" i="1" dirty="0"/>
              <a:t> </a:t>
            </a:r>
            <a:r>
              <a:rPr lang="ru-RU" i="1" dirty="0" err="1"/>
              <a:t>process</a:t>
            </a:r>
            <a:r>
              <a:rPr lang="ru-RU" i="1" dirty="0"/>
              <a:t> </a:t>
            </a:r>
            <a:r>
              <a:rPr lang="ru-RU" i="1" dirty="0" err="1"/>
              <a:t>of</a:t>
            </a:r>
            <a:r>
              <a:rPr lang="ru-RU" i="1" dirty="0"/>
              <a:t> </a:t>
            </a:r>
            <a:r>
              <a:rPr lang="ru-RU" i="1" dirty="0" err="1"/>
              <a:t>understanding</a:t>
            </a:r>
            <a:r>
              <a:rPr lang="ru-RU" i="1" dirty="0"/>
              <a:t> </a:t>
            </a:r>
            <a:r>
              <a:rPr lang="ru-RU" i="1" dirty="0" err="1"/>
              <a:t>your</a:t>
            </a:r>
            <a:r>
              <a:rPr lang="ru-RU" i="1" dirty="0"/>
              <a:t> </a:t>
            </a:r>
            <a:r>
              <a:rPr lang="ru-RU" i="1" dirty="0" err="1"/>
              <a:t>data</a:t>
            </a:r>
            <a:r>
              <a:rPr lang="ru-RU" i="1" dirty="0"/>
              <a:t> </a:t>
            </a:r>
            <a:r>
              <a:rPr lang="ru-RU" i="1" dirty="0" err="1"/>
              <a:t>before</a:t>
            </a:r>
            <a:r>
              <a:rPr lang="ru-RU" i="1" dirty="0"/>
              <a:t> </a:t>
            </a:r>
            <a:r>
              <a:rPr lang="ru-RU" i="1" dirty="0" err="1"/>
              <a:t>formal</a:t>
            </a:r>
            <a:r>
              <a:rPr lang="ru-RU" i="1" dirty="0"/>
              <a:t> </a:t>
            </a:r>
            <a:r>
              <a:rPr lang="ru-RU" i="1" dirty="0" err="1"/>
              <a:t>analysis</a:t>
            </a:r>
            <a:r>
              <a:rPr lang="ru-RU" i="1" dirty="0"/>
              <a:t>"</a:t>
            </a:r>
            <a:endParaRPr lang="ru-RU" dirty="0"/>
          </a:p>
          <a:p>
            <a:r>
              <a:rPr lang="ru-RU" b="1" dirty="0" err="1"/>
              <a:t>Analogy</a:t>
            </a:r>
            <a:r>
              <a:rPr lang="ru-RU" b="1" dirty="0"/>
              <a:t>:</a:t>
            </a:r>
            <a:br>
              <a:rPr lang="ru-RU" dirty="0"/>
            </a:br>
            <a:r>
              <a:rPr lang="ru-RU" i="1" dirty="0"/>
              <a:t>"</a:t>
            </a:r>
            <a:r>
              <a:rPr lang="ru-RU" i="1" dirty="0" err="1"/>
              <a:t>Like</a:t>
            </a:r>
            <a:r>
              <a:rPr lang="ru-RU" i="1" dirty="0"/>
              <a:t> </a:t>
            </a:r>
            <a:r>
              <a:rPr lang="ru-RU" i="1" dirty="0" err="1"/>
              <a:t>exploring</a:t>
            </a:r>
            <a:r>
              <a:rPr lang="ru-RU" i="1" dirty="0"/>
              <a:t> a </a:t>
            </a:r>
            <a:r>
              <a:rPr lang="ru-RU" i="1" dirty="0" err="1"/>
              <a:t>new</a:t>
            </a:r>
            <a:r>
              <a:rPr lang="ru-RU" i="1" dirty="0"/>
              <a:t> </a:t>
            </a:r>
            <a:r>
              <a:rPr lang="ru-RU" i="1" dirty="0" err="1"/>
              <a:t>city</a:t>
            </a:r>
            <a:r>
              <a:rPr lang="ru-RU" i="1" dirty="0"/>
              <a:t> </a:t>
            </a:r>
            <a:r>
              <a:rPr lang="ru-RU" i="1" dirty="0" err="1"/>
              <a:t>before</a:t>
            </a:r>
            <a:r>
              <a:rPr lang="ru-RU" i="1" dirty="0"/>
              <a:t> </a:t>
            </a:r>
            <a:r>
              <a:rPr lang="ru-RU" i="1" dirty="0" err="1"/>
              <a:t>deciding</a:t>
            </a:r>
            <a:r>
              <a:rPr lang="ru-RU" i="1" dirty="0"/>
              <a:t> </a:t>
            </a:r>
            <a:r>
              <a:rPr lang="ru-RU" i="1" dirty="0" err="1"/>
              <a:t>where</a:t>
            </a:r>
            <a:r>
              <a:rPr lang="ru-RU" i="1" dirty="0"/>
              <a:t> </a:t>
            </a:r>
            <a:r>
              <a:rPr lang="ru-RU" i="1" dirty="0" err="1"/>
              <a:t>to</a:t>
            </a:r>
            <a:r>
              <a:rPr lang="ru-RU" i="1" dirty="0"/>
              <a:t> </a:t>
            </a:r>
            <a:r>
              <a:rPr lang="ru-RU" i="1" dirty="0" err="1"/>
              <a:t>live</a:t>
            </a:r>
            <a:r>
              <a:rPr lang="ru-RU" i="1" dirty="0"/>
              <a:t>"</a:t>
            </a:r>
            <a:endParaRPr lang="ru-RU" dirty="0"/>
          </a:p>
          <a:p>
            <a:r>
              <a:rPr lang="ru-RU" b="1" dirty="0" err="1"/>
              <a:t>Three</a:t>
            </a:r>
            <a:r>
              <a:rPr lang="ru-RU" b="1" dirty="0"/>
              <a:t> </a:t>
            </a:r>
            <a:r>
              <a:rPr lang="ru-RU" b="1" dirty="0" err="1"/>
              <a:t>Main</a:t>
            </a:r>
            <a:r>
              <a:rPr lang="ru-RU" b="1" dirty="0"/>
              <a:t> </a:t>
            </a:r>
            <a:r>
              <a:rPr lang="ru-RU" b="1" dirty="0" err="1"/>
              <a:t>Goals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/>
              <a:t>Discover</a:t>
            </a:r>
            <a:r>
              <a:rPr lang="ru-RU" dirty="0"/>
              <a:t> </a:t>
            </a:r>
            <a:r>
              <a:rPr lang="ru-RU" dirty="0" err="1"/>
              <a:t>patterns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relationships</a:t>
            </a:r>
            <a:endParaRPr lang="ru-RU" dirty="0"/>
          </a:p>
          <a:p>
            <a:pPr lvl="0"/>
            <a:r>
              <a:rPr lang="ru-RU" b="1" dirty="0" err="1"/>
              <a:t>Identify</a:t>
            </a:r>
            <a:r>
              <a:rPr lang="ru-RU" dirty="0"/>
              <a:t> </a:t>
            </a:r>
            <a:r>
              <a:rPr lang="ru-RU" dirty="0" err="1"/>
              <a:t>anomalies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issues</a:t>
            </a:r>
            <a:endParaRPr lang="ru-RU" dirty="0"/>
          </a:p>
          <a:p>
            <a:r>
              <a:rPr lang="ru-RU" b="1" dirty="0" err="1"/>
              <a:t>Generate</a:t>
            </a:r>
            <a:r>
              <a:rPr lang="ru-RU" dirty="0"/>
              <a:t> </a:t>
            </a:r>
            <a:r>
              <a:rPr lang="ru-RU" dirty="0" err="1"/>
              <a:t>hypotheses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testing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39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E2501-EAD5-DFC2-3B1B-26CAD8BC4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The EDA </a:t>
            </a:r>
            <a:r>
              <a:rPr lang="ru-RU" dirty="0" err="1"/>
              <a:t>Philosophy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30DB2B-F209-DA57-E525-BB080360E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Be a </a:t>
            </a:r>
            <a:r>
              <a:rPr lang="ru-RU" b="1" dirty="0" err="1"/>
              <a:t>Detective</a:t>
            </a:r>
            <a:r>
              <a:rPr lang="ru-RU" b="1" dirty="0"/>
              <a:t>, </a:t>
            </a:r>
            <a:r>
              <a:rPr lang="ru-RU" b="1" dirty="0" err="1"/>
              <a:t>Not</a:t>
            </a:r>
            <a:r>
              <a:rPr lang="ru-RU" b="1" dirty="0"/>
              <a:t> a </a:t>
            </a:r>
            <a:r>
              <a:rPr lang="ru-RU" b="1" dirty="0" err="1"/>
              <a:t>Judge</a:t>
            </a:r>
            <a:r>
              <a:rPr lang="ru-RU" b="1" dirty="0"/>
              <a:t>:</a:t>
            </a:r>
            <a:endParaRPr lang="en-US" b="1" dirty="0"/>
          </a:p>
          <a:p>
            <a:endParaRPr lang="ru-RU" dirty="0"/>
          </a:p>
          <a:p>
            <a:r>
              <a:rPr lang="ru-RU" b="1" dirty="0" err="1"/>
              <a:t>Ask</a:t>
            </a:r>
            <a:r>
              <a:rPr lang="ru-RU" b="1" dirty="0"/>
              <a:t> </a:t>
            </a:r>
            <a:r>
              <a:rPr lang="ru-RU" b="1" dirty="0" err="1"/>
              <a:t>Questions</a:t>
            </a:r>
            <a:r>
              <a:rPr lang="ru-RU" b="1" dirty="0"/>
              <a:t>:</a:t>
            </a:r>
            <a:r>
              <a:rPr lang="ru-RU" dirty="0"/>
              <a:t> "</a:t>
            </a:r>
            <a:r>
              <a:rPr lang="ru-RU" dirty="0" err="1"/>
              <a:t>Why</a:t>
            </a:r>
            <a:r>
              <a:rPr lang="ru-RU" dirty="0"/>
              <a:t> </a:t>
            </a:r>
            <a:r>
              <a:rPr lang="ru-RU" dirty="0" err="1"/>
              <a:t>does</a:t>
            </a:r>
            <a:r>
              <a:rPr lang="ru-RU" dirty="0"/>
              <a:t> </a:t>
            </a:r>
            <a:r>
              <a:rPr lang="ru-RU" dirty="0" err="1"/>
              <a:t>this</a:t>
            </a:r>
            <a:r>
              <a:rPr lang="ru-RU" dirty="0"/>
              <a:t> </a:t>
            </a:r>
            <a:r>
              <a:rPr lang="ru-RU" dirty="0" err="1"/>
              <a:t>pattern</a:t>
            </a:r>
            <a:r>
              <a:rPr lang="ru-RU" dirty="0"/>
              <a:t> </a:t>
            </a:r>
            <a:r>
              <a:rPr lang="ru-RU" dirty="0" err="1"/>
              <a:t>exist</a:t>
            </a:r>
            <a:r>
              <a:rPr lang="ru-RU" dirty="0"/>
              <a:t>?“</a:t>
            </a:r>
            <a:endParaRPr lang="en-US" dirty="0"/>
          </a:p>
          <a:p>
            <a:r>
              <a:rPr lang="ru-RU" b="1" dirty="0"/>
              <a:t>Document </a:t>
            </a:r>
            <a:r>
              <a:rPr lang="ru-RU" b="1" dirty="0" err="1"/>
              <a:t>Everything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Every</a:t>
            </a:r>
            <a:r>
              <a:rPr lang="ru-RU" dirty="0"/>
              <a:t> </a:t>
            </a:r>
            <a:r>
              <a:rPr lang="ru-RU" dirty="0" err="1"/>
              <a:t>observation</a:t>
            </a:r>
            <a:r>
              <a:rPr lang="ru-RU" dirty="0"/>
              <a:t> </a:t>
            </a:r>
            <a:r>
              <a:rPr lang="ru-RU" dirty="0" err="1"/>
              <a:t>counts</a:t>
            </a:r>
            <a:endParaRPr lang="en-US" dirty="0"/>
          </a:p>
          <a:p>
            <a:r>
              <a:rPr lang="ru-RU" b="1" dirty="0" err="1"/>
              <a:t>Stay</a:t>
            </a:r>
            <a:r>
              <a:rPr lang="ru-RU" b="1" dirty="0"/>
              <a:t> </a:t>
            </a:r>
            <a:r>
              <a:rPr lang="ru-RU" b="1" dirty="0" err="1"/>
              <a:t>Curious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Assume</a:t>
            </a:r>
            <a:r>
              <a:rPr lang="ru-RU" dirty="0"/>
              <a:t> </a:t>
            </a:r>
            <a:r>
              <a:rPr lang="ru-RU" dirty="0" err="1"/>
              <a:t>nothing</a:t>
            </a:r>
            <a:r>
              <a:rPr lang="ru-RU" dirty="0"/>
              <a:t>, </a:t>
            </a:r>
            <a:r>
              <a:rPr lang="ru-RU" dirty="0" err="1"/>
              <a:t>question</a:t>
            </a:r>
            <a:r>
              <a:rPr lang="ru-RU" dirty="0"/>
              <a:t> </a:t>
            </a:r>
            <a:r>
              <a:rPr lang="ru-RU" dirty="0" err="1"/>
              <a:t>everything</a:t>
            </a:r>
            <a:endParaRPr lang="en-US" dirty="0"/>
          </a:p>
          <a:p>
            <a:r>
              <a:rPr lang="ru-RU" b="1" dirty="0" err="1"/>
              <a:t>Visualize</a:t>
            </a:r>
            <a:r>
              <a:rPr lang="ru-RU" b="1" dirty="0"/>
              <a:t> </a:t>
            </a:r>
            <a:r>
              <a:rPr lang="ru-RU" b="1" dirty="0" err="1"/>
              <a:t>Early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See</a:t>
            </a:r>
            <a:r>
              <a:rPr lang="ru-RU" dirty="0"/>
              <a:t> </a:t>
            </a:r>
            <a:r>
              <a:rPr lang="ru-RU" dirty="0" err="1"/>
              <a:t>what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numbers</a:t>
            </a:r>
            <a:r>
              <a:rPr lang="ru-RU" dirty="0"/>
              <a:t> </a:t>
            </a:r>
            <a:r>
              <a:rPr lang="ru-RU" dirty="0" err="1"/>
              <a:t>can't</a:t>
            </a:r>
            <a:r>
              <a:rPr lang="ru-RU" dirty="0"/>
              <a:t> </a:t>
            </a:r>
            <a:r>
              <a:rPr lang="ru-RU" dirty="0" err="1"/>
              <a:t>show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7279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F10B7-C743-264A-F195-A80C83100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The </a:t>
            </a:r>
            <a:r>
              <a:rPr lang="ru-RU" dirty="0" err="1"/>
              <a:t>Complete</a:t>
            </a:r>
            <a:r>
              <a:rPr lang="ru-RU" dirty="0"/>
              <a:t> EDA </a:t>
            </a:r>
            <a:r>
              <a:rPr lang="ru-RU" dirty="0" err="1"/>
              <a:t>Workflow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487922-1659-A152-0F18-14ABDAB0C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atinLnBrk="1"/>
            <a:r>
              <a:rPr lang="ru-RU" dirty="0"/>
              <a:t>1. LOAD → Get </a:t>
            </a:r>
            <a:r>
              <a:rPr lang="ru-RU" dirty="0" err="1"/>
              <a:t>your</a:t>
            </a:r>
            <a:r>
              <a:rPr lang="ru-RU" dirty="0"/>
              <a:t> </a:t>
            </a:r>
            <a:r>
              <a:rPr lang="ru-RU" dirty="0" err="1"/>
              <a:t>data</a:t>
            </a:r>
            <a:endParaRPr lang="ru-RU" dirty="0"/>
          </a:p>
          <a:p>
            <a:pPr latinLnBrk="1"/>
            <a:r>
              <a:rPr lang="ru-RU" dirty="0"/>
              <a:t>2. INSPECT → First </a:t>
            </a:r>
            <a:r>
              <a:rPr lang="ru-RU" dirty="0" err="1"/>
              <a:t>impressions</a:t>
            </a:r>
            <a:endParaRPr lang="ru-RU" dirty="0"/>
          </a:p>
          <a:p>
            <a:pPr latinLnBrk="1"/>
            <a:r>
              <a:rPr lang="ru-RU" dirty="0"/>
              <a:t>3. CLEAN → </a:t>
            </a:r>
            <a:r>
              <a:rPr lang="ru-RU" dirty="0" err="1"/>
              <a:t>Fix</a:t>
            </a:r>
            <a:r>
              <a:rPr lang="ru-RU" dirty="0"/>
              <a:t> </a:t>
            </a:r>
            <a:r>
              <a:rPr lang="ru-RU" dirty="0" err="1"/>
              <a:t>problems</a:t>
            </a:r>
            <a:endParaRPr lang="ru-RU" dirty="0"/>
          </a:p>
          <a:p>
            <a:pPr latinLnBrk="1"/>
            <a:r>
              <a:rPr lang="ru-RU" dirty="0"/>
              <a:t>4. EXPLORE → </a:t>
            </a:r>
            <a:r>
              <a:rPr lang="ru-RU" dirty="0" err="1"/>
              <a:t>Find</a:t>
            </a:r>
            <a:r>
              <a:rPr lang="ru-RU" dirty="0"/>
              <a:t> </a:t>
            </a:r>
            <a:r>
              <a:rPr lang="ru-RU" dirty="0" err="1"/>
              <a:t>patterns</a:t>
            </a:r>
            <a:endParaRPr lang="ru-RU" dirty="0"/>
          </a:p>
          <a:p>
            <a:pPr latinLnBrk="1"/>
            <a:r>
              <a:rPr lang="ru-RU" dirty="0"/>
              <a:t>5. VISUALIZE → </a:t>
            </a:r>
            <a:r>
              <a:rPr lang="ru-RU" dirty="0" err="1"/>
              <a:t>See</a:t>
            </a:r>
            <a:r>
              <a:rPr lang="ru-RU" dirty="0"/>
              <a:t> </a:t>
            </a:r>
            <a:r>
              <a:rPr lang="ru-RU" dirty="0" err="1"/>
              <a:t>insights</a:t>
            </a:r>
            <a:endParaRPr lang="ru-RU" dirty="0"/>
          </a:p>
          <a:p>
            <a:pPr latinLnBrk="1"/>
            <a:r>
              <a:rPr lang="ru-RU" dirty="0"/>
              <a:t>6. DOCUMENT → </a:t>
            </a:r>
            <a:r>
              <a:rPr lang="ru-RU" dirty="0" err="1"/>
              <a:t>Record</a:t>
            </a:r>
            <a:r>
              <a:rPr lang="ru-RU" dirty="0"/>
              <a:t> </a:t>
            </a:r>
            <a:r>
              <a:rPr lang="ru-RU" dirty="0" err="1"/>
              <a:t>everything</a:t>
            </a:r>
            <a:endParaRPr lang="ru-RU" dirty="0"/>
          </a:p>
          <a:p>
            <a:r>
              <a:rPr lang="ru-RU" b="1" dirty="0"/>
              <a:t>Time </a:t>
            </a:r>
            <a:r>
              <a:rPr lang="ru-RU" b="1" dirty="0" err="1"/>
              <a:t>Allocation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Cleaning</a:t>
            </a:r>
            <a:r>
              <a:rPr lang="ru-RU" dirty="0"/>
              <a:t>: 40%</a:t>
            </a:r>
          </a:p>
          <a:p>
            <a:pPr lvl="0"/>
            <a:r>
              <a:rPr lang="ru-RU" dirty="0" err="1"/>
              <a:t>Visualization</a:t>
            </a:r>
            <a:r>
              <a:rPr lang="ru-RU" dirty="0"/>
              <a:t>: 30%</a:t>
            </a:r>
          </a:p>
          <a:p>
            <a:pPr lvl="0"/>
            <a:r>
              <a:rPr lang="ru-RU" dirty="0" err="1"/>
              <a:t>Exploration</a:t>
            </a:r>
            <a:r>
              <a:rPr lang="ru-RU" dirty="0"/>
              <a:t>: 20%</a:t>
            </a:r>
          </a:p>
          <a:p>
            <a:r>
              <a:rPr lang="ru-RU" dirty="0" err="1"/>
              <a:t>Documentation</a:t>
            </a:r>
            <a:r>
              <a:rPr lang="ru-RU" dirty="0"/>
              <a:t>: 10%</a:t>
            </a:r>
          </a:p>
        </p:txBody>
      </p:sp>
    </p:spTree>
    <p:extLst>
      <p:ext uri="{BB962C8B-B14F-4D97-AF65-F5344CB8AC3E}">
        <p14:creationId xmlns:p14="http://schemas.microsoft.com/office/powerpoint/2010/main" val="795290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569A9-CF4E-4DF1-509C-764D3A6A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Python's</a:t>
            </a:r>
            <a:r>
              <a:rPr lang="ru-RU" dirty="0"/>
              <a:t> EDA </a:t>
            </a:r>
            <a:r>
              <a:rPr lang="ru-RU" dirty="0" err="1"/>
              <a:t>Stack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A905E5-F7E1-86FA-7E79-AD0E172F2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r>
              <a:rPr lang="ru-RU" sz="1400" b="1" dirty="0" err="1"/>
              <a:t>Essential</a:t>
            </a:r>
            <a:r>
              <a:rPr lang="ru-RU" sz="1400" b="1" dirty="0"/>
              <a:t> </a:t>
            </a:r>
            <a:r>
              <a:rPr lang="ru-RU" sz="1400" b="1" dirty="0" err="1"/>
              <a:t>Libraries</a:t>
            </a:r>
            <a:r>
              <a:rPr lang="ru-RU" sz="1400" b="1" dirty="0"/>
              <a:t>:</a:t>
            </a:r>
            <a:endParaRPr lang="ru-RU" sz="1400" dirty="0"/>
          </a:p>
          <a:p>
            <a:pPr latinLnBrk="1"/>
            <a:r>
              <a:rPr lang="ru-RU" sz="1400" i="1" dirty="0"/>
              <a:t># Data </a:t>
            </a:r>
            <a:r>
              <a:rPr lang="ru-RU" sz="1400" i="1" dirty="0" err="1"/>
              <a:t>Manipulation</a:t>
            </a:r>
            <a:endParaRPr lang="ru-RU" sz="1400" dirty="0"/>
          </a:p>
          <a:p>
            <a:pPr latinLnBrk="1"/>
            <a:r>
              <a:rPr lang="ru-RU" sz="1400" dirty="0" err="1"/>
              <a:t>import</a:t>
            </a:r>
            <a:r>
              <a:rPr lang="ru-RU" sz="1400" dirty="0"/>
              <a:t> </a:t>
            </a:r>
            <a:r>
              <a:rPr lang="ru-RU" sz="1400" dirty="0" err="1"/>
              <a:t>pandas</a:t>
            </a:r>
            <a:r>
              <a:rPr lang="ru-RU" sz="1400" dirty="0"/>
              <a:t> </a:t>
            </a:r>
            <a:r>
              <a:rPr lang="ru-RU" sz="1400" dirty="0" err="1"/>
              <a:t>as</a:t>
            </a:r>
            <a:r>
              <a:rPr lang="ru-RU" sz="1400" dirty="0"/>
              <a:t> </a:t>
            </a:r>
            <a:r>
              <a:rPr lang="ru-RU" sz="1400" dirty="0" err="1"/>
              <a:t>pd</a:t>
            </a:r>
            <a:endParaRPr lang="ru-RU" sz="1400" dirty="0"/>
          </a:p>
          <a:p>
            <a:pPr latinLnBrk="1"/>
            <a:r>
              <a:rPr lang="ru-RU" sz="1400" dirty="0"/>
              <a:t> </a:t>
            </a:r>
            <a:r>
              <a:rPr lang="ru-RU" sz="1400" i="1" dirty="0"/>
              <a:t># </a:t>
            </a:r>
            <a:r>
              <a:rPr lang="ru-RU" sz="1400" i="1" dirty="0" err="1"/>
              <a:t>Numerical</a:t>
            </a:r>
            <a:r>
              <a:rPr lang="ru-RU" sz="1400" i="1" dirty="0"/>
              <a:t> Operations</a:t>
            </a:r>
            <a:endParaRPr lang="ru-RU" sz="1400" dirty="0"/>
          </a:p>
          <a:p>
            <a:pPr latinLnBrk="1"/>
            <a:r>
              <a:rPr lang="ru-RU" sz="1400" dirty="0" err="1"/>
              <a:t>import</a:t>
            </a:r>
            <a:r>
              <a:rPr lang="ru-RU" sz="1400" dirty="0"/>
              <a:t> </a:t>
            </a:r>
            <a:r>
              <a:rPr lang="ru-RU" sz="1400" dirty="0" err="1"/>
              <a:t>numpy</a:t>
            </a:r>
            <a:r>
              <a:rPr lang="ru-RU" sz="1400" dirty="0"/>
              <a:t> </a:t>
            </a:r>
            <a:r>
              <a:rPr lang="ru-RU" sz="1400" dirty="0" err="1"/>
              <a:t>as</a:t>
            </a:r>
            <a:r>
              <a:rPr lang="ru-RU" sz="1400" dirty="0"/>
              <a:t> </a:t>
            </a:r>
            <a:r>
              <a:rPr lang="ru-RU" sz="1400" dirty="0" err="1"/>
              <a:t>np</a:t>
            </a:r>
            <a:endParaRPr lang="ru-RU" sz="1400" dirty="0"/>
          </a:p>
          <a:p>
            <a:pPr latinLnBrk="1"/>
            <a:r>
              <a:rPr lang="ru-RU" sz="1400" dirty="0"/>
              <a:t> </a:t>
            </a:r>
            <a:r>
              <a:rPr lang="ru-RU" sz="1400" i="1" dirty="0"/>
              <a:t># Basic </a:t>
            </a:r>
            <a:r>
              <a:rPr lang="ru-RU" sz="1400" i="1" dirty="0" err="1"/>
              <a:t>Plotting</a:t>
            </a:r>
            <a:endParaRPr lang="ru-RU" sz="1400" dirty="0"/>
          </a:p>
          <a:p>
            <a:pPr latinLnBrk="1"/>
            <a:r>
              <a:rPr lang="ru-RU" sz="1400" dirty="0" err="1"/>
              <a:t>import</a:t>
            </a:r>
            <a:r>
              <a:rPr lang="ru-RU" sz="1400" dirty="0"/>
              <a:t> </a:t>
            </a:r>
            <a:r>
              <a:rPr lang="ru-RU" sz="1400" dirty="0" err="1"/>
              <a:t>matplotlib.pyplot</a:t>
            </a:r>
            <a:r>
              <a:rPr lang="ru-RU" sz="1400" dirty="0"/>
              <a:t> </a:t>
            </a:r>
            <a:r>
              <a:rPr lang="ru-RU" sz="1400" dirty="0" err="1"/>
              <a:t>as</a:t>
            </a:r>
            <a:r>
              <a:rPr lang="ru-RU" sz="1400" dirty="0"/>
              <a:t> </a:t>
            </a:r>
            <a:r>
              <a:rPr lang="ru-RU" sz="1400" dirty="0" err="1"/>
              <a:t>plt</a:t>
            </a:r>
            <a:endParaRPr lang="ru-RU" sz="1400" dirty="0"/>
          </a:p>
          <a:p>
            <a:pPr latinLnBrk="1"/>
            <a:r>
              <a:rPr lang="ru-RU" sz="1400" dirty="0"/>
              <a:t> </a:t>
            </a:r>
            <a:r>
              <a:rPr lang="ru-RU" sz="1400" i="1" dirty="0"/>
              <a:t># </a:t>
            </a:r>
            <a:r>
              <a:rPr lang="ru-RU" sz="1400" i="1" dirty="0" err="1"/>
              <a:t>Statistical</a:t>
            </a:r>
            <a:r>
              <a:rPr lang="ru-RU" sz="1400" i="1" dirty="0"/>
              <a:t> </a:t>
            </a:r>
            <a:r>
              <a:rPr lang="ru-RU" sz="1400" i="1" dirty="0" err="1"/>
              <a:t>Visualization</a:t>
            </a:r>
            <a:endParaRPr lang="ru-RU" sz="1400" dirty="0"/>
          </a:p>
          <a:p>
            <a:pPr latinLnBrk="1"/>
            <a:r>
              <a:rPr lang="ru-RU" sz="1400" dirty="0" err="1"/>
              <a:t>import</a:t>
            </a:r>
            <a:r>
              <a:rPr lang="ru-RU" sz="1400" dirty="0"/>
              <a:t> </a:t>
            </a:r>
            <a:r>
              <a:rPr lang="ru-RU" sz="1400" dirty="0" err="1"/>
              <a:t>seaborn</a:t>
            </a:r>
            <a:r>
              <a:rPr lang="ru-RU" sz="1400" dirty="0"/>
              <a:t> </a:t>
            </a:r>
            <a:r>
              <a:rPr lang="ru-RU" sz="1400" dirty="0" err="1"/>
              <a:t>as</a:t>
            </a:r>
            <a:r>
              <a:rPr lang="ru-RU" sz="1400" dirty="0"/>
              <a:t> </a:t>
            </a:r>
            <a:r>
              <a:rPr lang="ru-RU" sz="1400" dirty="0" err="1"/>
              <a:t>sns</a:t>
            </a:r>
            <a:endParaRPr lang="ru-RU" sz="1400" dirty="0"/>
          </a:p>
          <a:p>
            <a:pPr latinLnBrk="1"/>
            <a:r>
              <a:rPr lang="ru-RU" sz="1400" dirty="0"/>
              <a:t> </a:t>
            </a:r>
            <a:r>
              <a:rPr lang="ru-RU" sz="1400" i="1" dirty="0"/>
              <a:t># </a:t>
            </a:r>
            <a:r>
              <a:rPr lang="ru-RU" sz="1400" i="1" dirty="0" err="1"/>
              <a:t>Missing</a:t>
            </a:r>
            <a:r>
              <a:rPr lang="ru-RU" sz="1400" i="1" dirty="0"/>
              <a:t> Data </a:t>
            </a:r>
            <a:r>
              <a:rPr lang="ru-RU" sz="1400" i="1" dirty="0" err="1"/>
              <a:t>Visualization</a:t>
            </a:r>
            <a:endParaRPr lang="ru-RU" sz="1400" dirty="0"/>
          </a:p>
          <a:p>
            <a:pPr latinLnBrk="1"/>
            <a:r>
              <a:rPr lang="ru-RU" sz="1400" dirty="0"/>
              <a:t>!</a:t>
            </a:r>
            <a:r>
              <a:rPr lang="ru-RU" sz="1400" dirty="0" err="1"/>
              <a:t>pip</a:t>
            </a:r>
            <a:r>
              <a:rPr lang="ru-RU" sz="1400" dirty="0"/>
              <a:t> </a:t>
            </a:r>
            <a:r>
              <a:rPr lang="ru-RU" sz="1400" dirty="0" err="1"/>
              <a:t>install</a:t>
            </a:r>
            <a:r>
              <a:rPr lang="ru-RU" sz="1400" dirty="0"/>
              <a:t> </a:t>
            </a:r>
            <a:r>
              <a:rPr lang="ru-RU" sz="1400" dirty="0" err="1"/>
              <a:t>missingno</a:t>
            </a:r>
            <a:endParaRPr lang="ru-RU" sz="1400" dirty="0"/>
          </a:p>
          <a:p>
            <a:pPr latinLnBrk="1"/>
            <a:r>
              <a:rPr lang="ru-RU" sz="1400" dirty="0" err="1"/>
              <a:t>import</a:t>
            </a:r>
            <a:r>
              <a:rPr lang="ru-RU" sz="1400" dirty="0"/>
              <a:t> </a:t>
            </a:r>
            <a:r>
              <a:rPr lang="ru-RU" sz="1400" dirty="0" err="1"/>
              <a:t>missingno</a:t>
            </a:r>
            <a:r>
              <a:rPr lang="ru-RU" sz="1400" dirty="0"/>
              <a:t> </a:t>
            </a:r>
            <a:r>
              <a:rPr lang="ru-RU" sz="1400" dirty="0" err="1"/>
              <a:t>as</a:t>
            </a:r>
            <a:r>
              <a:rPr lang="ru-RU" sz="1400" dirty="0"/>
              <a:t> </a:t>
            </a:r>
            <a:r>
              <a:rPr lang="ru-RU" sz="1400" dirty="0" err="1"/>
              <a:t>msno</a:t>
            </a:r>
            <a:endParaRPr lang="ru-RU" sz="1400" dirty="0"/>
          </a:p>
          <a:p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134813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A4A6AC-6D93-3733-8C65-2ED99D073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Meet</a:t>
            </a:r>
            <a:r>
              <a:rPr lang="ru-RU" dirty="0"/>
              <a:t> </a:t>
            </a:r>
            <a:r>
              <a:rPr lang="ru-RU" dirty="0" err="1"/>
              <a:t>Our</a:t>
            </a:r>
            <a:r>
              <a:rPr lang="ru-RU" dirty="0"/>
              <a:t> </a:t>
            </a:r>
            <a:r>
              <a:rPr lang="ru-RU" dirty="0" err="1"/>
              <a:t>Dataset</a:t>
            </a:r>
            <a:r>
              <a:rPr lang="ru-RU" dirty="0"/>
              <a:t>: </a:t>
            </a:r>
            <a:r>
              <a:rPr lang="ru-RU" dirty="0" err="1"/>
              <a:t>Titanic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3EFDC3-C757-90E1-31E2-C8317CC96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Real </a:t>
            </a:r>
            <a:r>
              <a:rPr lang="ru-RU" b="1" dirty="0" err="1"/>
              <a:t>Historical</a:t>
            </a:r>
            <a:r>
              <a:rPr lang="ru-RU" b="1" dirty="0"/>
              <a:t> Data:</a:t>
            </a:r>
            <a:endParaRPr lang="ru-RU" dirty="0"/>
          </a:p>
          <a:p>
            <a:pPr lvl="0"/>
            <a:r>
              <a:rPr lang="ru-RU" dirty="0"/>
              <a:t>891 </a:t>
            </a:r>
            <a:r>
              <a:rPr lang="ru-RU" dirty="0" err="1"/>
              <a:t>passengers</a:t>
            </a:r>
            <a:r>
              <a:rPr lang="ru-RU" dirty="0"/>
              <a:t> </a:t>
            </a:r>
            <a:r>
              <a:rPr lang="ru-RU" dirty="0" err="1"/>
              <a:t>on</a:t>
            </a:r>
            <a:r>
              <a:rPr lang="ru-RU" dirty="0"/>
              <a:t> RMS </a:t>
            </a:r>
            <a:r>
              <a:rPr lang="ru-RU" dirty="0" err="1"/>
              <a:t>Titanic</a:t>
            </a:r>
            <a:endParaRPr lang="ru-RU" dirty="0"/>
          </a:p>
          <a:p>
            <a:pPr lvl="0"/>
            <a:r>
              <a:rPr lang="ru-RU" dirty="0" err="1"/>
              <a:t>Survival</a:t>
            </a:r>
            <a:r>
              <a:rPr lang="ru-RU" dirty="0"/>
              <a:t> </a:t>
            </a:r>
            <a:r>
              <a:rPr lang="ru-RU" dirty="0" err="1"/>
              <a:t>records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1912</a:t>
            </a:r>
          </a:p>
          <a:p>
            <a:pPr lvl="0"/>
            <a:r>
              <a:rPr lang="ru-RU" dirty="0"/>
              <a:t>12 </a:t>
            </a:r>
            <a:r>
              <a:rPr lang="ru-RU" dirty="0" err="1"/>
              <a:t>features</a:t>
            </a:r>
            <a:r>
              <a:rPr lang="ru-RU" dirty="0"/>
              <a:t> </a:t>
            </a:r>
            <a:r>
              <a:rPr lang="ru-RU" dirty="0" err="1"/>
              <a:t>per</a:t>
            </a:r>
            <a:r>
              <a:rPr lang="ru-RU" dirty="0"/>
              <a:t> </a:t>
            </a:r>
            <a:r>
              <a:rPr lang="ru-RU" dirty="0" err="1"/>
              <a:t>passenger</a:t>
            </a:r>
            <a:endParaRPr lang="ru-RU" dirty="0"/>
          </a:p>
          <a:p>
            <a:r>
              <a:rPr lang="ru-RU" b="1" dirty="0" err="1"/>
              <a:t>Why</a:t>
            </a:r>
            <a:r>
              <a:rPr lang="ru-RU" b="1" dirty="0"/>
              <a:t> </a:t>
            </a:r>
            <a:r>
              <a:rPr lang="ru-RU" b="1" dirty="0" err="1"/>
              <a:t>This</a:t>
            </a:r>
            <a:r>
              <a:rPr lang="ru-RU" b="1" dirty="0"/>
              <a:t> </a:t>
            </a:r>
            <a:r>
              <a:rPr lang="ru-RU" b="1" dirty="0" err="1"/>
              <a:t>Dataset</a:t>
            </a:r>
            <a:r>
              <a:rPr lang="ru-RU" b="1" dirty="0"/>
              <a:t>?</a:t>
            </a:r>
            <a:endParaRPr lang="ru-RU" dirty="0"/>
          </a:p>
          <a:p>
            <a:pPr lvl="0"/>
            <a:r>
              <a:rPr lang="ru-RU" dirty="0" err="1"/>
              <a:t>Clean</a:t>
            </a:r>
            <a:r>
              <a:rPr lang="ru-RU" dirty="0"/>
              <a:t> </a:t>
            </a:r>
            <a:r>
              <a:rPr lang="ru-RU" dirty="0" err="1"/>
              <a:t>but</a:t>
            </a:r>
            <a:r>
              <a:rPr lang="ru-RU" dirty="0"/>
              <a:t> </a:t>
            </a:r>
            <a:r>
              <a:rPr lang="ru-RU" dirty="0" err="1"/>
              <a:t>realistic</a:t>
            </a:r>
            <a:endParaRPr lang="ru-RU" dirty="0"/>
          </a:p>
          <a:p>
            <a:pPr lvl="0"/>
            <a:r>
              <a:rPr lang="ru-RU" dirty="0"/>
              <a:t>Clear </a:t>
            </a:r>
            <a:r>
              <a:rPr lang="ru-RU" dirty="0" err="1"/>
              <a:t>business</a:t>
            </a:r>
            <a:r>
              <a:rPr lang="ru-RU" dirty="0"/>
              <a:t> </a:t>
            </a:r>
            <a:r>
              <a:rPr lang="ru-RU" dirty="0" err="1"/>
              <a:t>questions</a:t>
            </a:r>
            <a:endParaRPr lang="ru-RU" dirty="0"/>
          </a:p>
          <a:p>
            <a:pPr lvl="0"/>
            <a:r>
              <a:rPr lang="ru-RU" dirty="0" err="1"/>
              <a:t>Mix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types</a:t>
            </a:r>
            <a:endParaRPr lang="ru-RU" dirty="0"/>
          </a:p>
          <a:p>
            <a:r>
              <a:rPr lang="ru-RU" dirty="0" err="1"/>
              <a:t>Well-documented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4984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370C57-21FA-9529-CA3C-FC4295B38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Loading</a:t>
            </a:r>
            <a:r>
              <a:rPr lang="ru-RU" dirty="0"/>
              <a:t> Data </a:t>
            </a:r>
            <a:r>
              <a:rPr lang="ru-RU" dirty="0" err="1"/>
              <a:t>in</a:t>
            </a:r>
            <a:r>
              <a:rPr lang="ru-RU" dirty="0"/>
              <a:t> Python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F50F5B-3770-B993-A2DC-F02A43D9F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From URL (</a:t>
            </a:r>
            <a:r>
              <a:rPr lang="ru-RU" b="1" dirty="0" err="1"/>
              <a:t>Easiest</a:t>
            </a:r>
            <a:r>
              <a:rPr lang="ru-RU" b="1" dirty="0"/>
              <a:t>):</a:t>
            </a:r>
            <a:endParaRPr lang="ru-RU" dirty="0"/>
          </a:p>
          <a:p>
            <a:pPr latinLnBrk="1"/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pandas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pd</a:t>
            </a:r>
            <a:endParaRPr lang="ru-RU" dirty="0"/>
          </a:p>
          <a:p>
            <a:pPr latinLnBrk="1"/>
            <a:r>
              <a:rPr lang="ru-RU" dirty="0" err="1"/>
              <a:t>url</a:t>
            </a:r>
            <a:r>
              <a:rPr lang="ru-RU" dirty="0"/>
              <a:t> = "</a:t>
            </a:r>
            <a:r>
              <a:rPr lang="ru-RU" u="sng" dirty="0">
                <a:hlinkClick r:id="rId2"/>
              </a:rPr>
              <a:t>https://raw.githubusercontent.com/datasciencedojo/datasets/master/titanic.csv</a:t>
            </a:r>
            <a:r>
              <a:rPr lang="ru-RU" dirty="0"/>
              <a:t>"</a:t>
            </a:r>
          </a:p>
          <a:p>
            <a:pPr latinLnBrk="1"/>
            <a:r>
              <a:rPr lang="ru-RU" dirty="0" err="1"/>
              <a:t>titanic</a:t>
            </a:r>
            <a:r>
              <a:rPr lang="ru-RU" dirty="0"/>
              <a:t> = </a:t>
            </a:r>
            <a:r>
              <a:rPr lang="ru-RU" dirty="0" err="1"/>
              <a:t>pd.read_csv</a:t>
            </a:r>
            <a:r>
              <a:rPr lang="ru-RU" dirty="0"/>
              <a:t>(</a:t>
            </a:r>
            <a:r>
              <a:rPr lang="ru-RU" dirty="0" err="1"/>
              <a:t>url</a:t>
            </a:r>
            <a:r>
              <a:rPr lang="ru-RU" dirty="0"/>
              <a:t>)</a:t>
            </a:r>
          </a:p>
          <a:p>
            <a:r>
              <a:rPr lang="ru-RU" b="1" dirty="0"/>
              <a:t>From Local File:</a:t>
            </a:r>
            <a:endParaRPr lang="ru-RU" dirty="0"/>
          </a:p>
          <a:p>
            <a:pPr latinLnBrk="1"/>
            <a:r>
              <a:rPr lang="ru-RU" dirty="0" err="1"/>
              <a:t>titanic</a:t>
            </a:r>
            <a:r>
              <a:rPr lang="ru-RU" dirty="0"/>
              <a:t> = </a:t>
            </a:r>
            <a:r>
              <a:rPr lang="ru-RU" dirty="0" err="1"/>
              <a:t>pd.read_csv</a:t>
            </a:r>
            <a:r>
              <a:rPr lang="ru-RU" dirty="0"/>
              <a:t>('titanic.csv')</a:t>
            </a:r>
          </a:p>
          <a:p>
            <a:r>
              <a:rPr lang="ru-RU" b="1" dirty="0" err="1"/>
              <a:t>Output</a:t>
            </a:r>
            <a:r>
              <a:rPr lang="ru-RU" b="1" dirty="0"/>
              <a:t> Check:</a:t>
            </a:r>
            <a:endParaRPr lang="ru-RU" dirty="0"/>
          </a:p>
          <a:p>
            <a:pPr latinLnBrk="1"/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f"Rows</a:t>
            </a:r>
            <a:r>
              <a:rPr lang="ru-RU" dirty="0"/>
              <a:t>: {</a:t>
            </a:r>
            <a:r>
              <a:rPr lang="ru-RU" dirty="0" err="1"/>
              <a:t>titanic.shape</a:t>
            </a:r>
            <a:r>
              <a:rPr lang="ru-RU" dirty="0"/>
              <a:t>[0]}, </a:t>
            </a:r>
            <a:r>
              <a:rPr lang="ru-RU" dirty="0" err="1"/>
              <a:t>Columns</a:t>
            </a:r>
            <a:r>
              <a:rPr lang="ru-RU" dirty="0"/>
              <a:t>: {</a:t>
            </a:r>
            <a:r>
              <a:rPr lang="ru-RU" dirty="0" err="1"/>
              <a:t>titanic.shape</a:t>
            </a:r>
            <a:r>
              <a:rPr lang="ru-RU" dirty="0"/>
              <a:t>[1]}")</a:t>
            </a:r>
          </a:p>
        </p:txBody>
      </p:sp>
    </p:spTree>
    <p:extLst>
      <p:ext uri="{BB962C8B-B14F-4D97-AF65-F5344CB8AC3E}">
        <p14:creationId xmlns:p14="http://schemas.microsoft.com/office/powerpoint/2010/main" val="3473063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1A59F-3355-72FD-F8B4-99487DC4D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First </a:t>
            </a:r>
            <a:r>
              <a:rPr lang="ru-RU" dirty="0" err="1"/>
              <a:t>Glance</a:t>
            </a:r>
            <a:r>
              <a:rPr lang="ru-RU" dirty="0"/>
              <a:t> </a:t>
            </a:r>
            <a:r>
              <a:rPr lang="ru-RU" dirty="0" err="1"/>
              <a:t>at</a:t>
            </a:r>
            <a:r>
              <a:rPr lang="ru-RU" dirty="0"/>
              <a:t> Data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67B774-F0E5-8E8B-03D0-0F03DACFB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Quick </a:t>
            </a:r>
            <a:r>
              <a:rPr lang="ru-RU" b="1" dirty="0" err="1"/>
              <a:t>Inspection</a:t>
            </a:r>
            <a:r>
              <a:rPr lang="ru-RU" b="1" dirty="0"/>
              <a:t> </a:t>
            </a:r>
            <a:r>
              <a:rPr lang="ru-RU" b="1" dirty="0" err="1"/>
              <a:t>Commands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dirty="0" err="1"/>
              <a:t>titanic.head</a:t>
            </a:r>
            <a:r>
              <a:rPr lang="ru-RU" dirty="0"/>
              <a:t>()      </a:t>
            </a:r>
            <a:r>
              <a:rPr lang="ru-RU" i="1" dirty="0"/>
              <a:t># First 5 </a:t>
            </a:r>
            <a:r>
              <a:rPr lang="ru-RU" i="1" dirty="0" err="1"/>
              <a:t>rows</a:t>
            </a:r>
            <a:endParaRPr lang="ru-RU" dirty="0"/>
          </a:p>
          <a:p>
            <a:pPr latinLnBrk="1"/>
            <a:r>
              <a:rPr lang="ru-RU" dirty="0" err="1"/>
              <a:t>titanic.tail</a:t>
            </a:r>
            <a:r>
              <a:rPr lang="ru-RU" dirty="0"/>
              <a:t>()      </a:t>
            </a:r>
            <a:r>
              <a:rPr lang="ru-RU" i="1" dirty="0"/>
              <a:t># </a:t>
            </a:r>
            <a:r>
              <a:rPr lang="ru-RU" i="1" dirty="0" err="1"/>
              <a:t>Last</a:t>
            </a:r>
            <a:r>
              <a:rPr lang="ru-RU" i="1" dirty="0"/>
              <a:t> 5 </a:t>
            </a:r>
            <a:r>
              <a:rPr lang="ru-RU" i="1" dirty="0" err="1"/>
              <a:t>rows</a:t>
            </a:r>
            <a:endParaRPr lang="ru-RU" dirty="0"/>
          </a:p>
          <a:p>
            <a:pPr latinLnBrk="1"/>
            <a:r>
              <a:rPr lang="ru-RU" dirty="0" err="1"/>
              <a:t>titanic.shape</a:t>
            </a:r>
            <a:r>
              <a:rPr lang="ru-RU" dirty="0"/>
              <a:t>       </a:t>
            </a:r>
            <a:r>
              <a:rPr lang="ru-RU" i="1" dirty="0"/>
              <a:t># (891, 12)</a:t>
            </a:r>
            <a:endParaRPr lang="ru-RU" dirty="0"/>
          </a:p>
          <a:p>
            <a:pPr latinLnBrk="1"/>
            <a:r>
              <a:rPr lang="ru-RU" dirty="0" err="1"/>
              <a:t>titanic.columns</a:t>
            </a:r>
            <a:r>
              <a:rPr lang="ru-RU" dirty="0"/>
              <a:t>     </a:t>
            </a:r>
            <a:r>
              <a:rPr lang="ru-RU" i="1" dirty="0"/>
              <a:t># </a:t>
            </a:r>
            <a:r>
              <a:rPr lang="ru-RU" i="1" dirty="0" err="1"/>
              <a:t>Column</a:t>
            </a:r>
            <a:r>
              <a:rPr lang="ru-RU" i="1" dirty="0"/>
              <a:t> </a:t>
            </a:r>
            <a:r>
              <a:rPr lang="ru-RU" i="1" dirty="0" err="1"/>
              <a:t>names</a:t>
            </a:r>
            <a:endParaRPr lang="ru-RU" dirty="0"/>
          </a:p>
          <a:p>
            <a:pPr latinLnBrk="1"/>
            <a:r>
              <a:rPr lang="ru-RU" dirty="0" err="1"/>
              <a:t>titanic.dtypes</a:t>
            </a:r>
            <a:r>
              <a:rPr lang="ru-RU" dirty="0"/>
              <a:t>      </a:t>
            </a:r>
            <a:r>
              <a:rPr lang="ru-RU" i="1" dirty="0"/>
              <a:t># Data </a:t>
            </a:r>
            <a:r>
              <a:rPr lang="ru-RU" i="1" dirty="0" err="1"/>
              <a:t>types</a:t>
            </a:r>
            <a:endParaRPr lang="ru-RU" dirty="0"/>
          </a:p>
          <a:p>
            <a:r>
              <a:rPr lang="ru-RU" dirty="0"/>
              <a:t>titanic.info()      </a:t>
            </a:r>
            <a:r>
              <a:rPr lang="ru-RU" i="1" dirty="0"/>
              <a:t># </a:t>
            </a:r>
            <a:r>
              <a:rPr lang="ru-RU" i="1" dirty="0" err="1"/>
              <a:t>Detailed</a:t>
            </a:r>
            <a:r>
              <a:rPr lang="ru-RU" i="1" dirty="0"/>
              <a:t> </a:t>
            </a:r>
            <a:r>
              <a:rPr lang="ru-RU" i="1" dirty="0" err="1"/>
              <a:t>overview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6047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0E1CB7-9C79-D9E5-CC9B-28A47D76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Understanding</a:t>
            </a:r>
            <a:r>
              <a:rPr lang="ru-RU" dirty="0"/>
              <a:t> Data </a:t>
            </a:r>
            <a:r>
              <a:rPr lang="ru-RU" dirty="0" err="1"/>
              <a:t>Types</a:t>
            </a:r>
            <a:endParaRPr lang="ru-RU" dirty="0"/>
          </a:p>
        </p:txBody>
      </p:sp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2B15BDCB-A3FD-DD7B-1B92-12ACC790E1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6891015"/>
              </p:ext>
            </p:extLst>
          </p:nvPr>
        </p:nvGraphicFramePr>
        <p:xfrm>
          <a:off x="838200" y="2354531"/>
          <a:ext cx="9358746" cy="32427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19582">
                  <a:extLst>
                    <a:ext uri="{9D8B030D-6E8A-4147-A177-3AD203B41FA5}">
                      <a16:colId xmlns:a16="http://schemas.microsoft.com/office/drawing/2014/main" val="1349096073"/>
                    </a:ext>
                  </a:extLst>
                </a:gridCol>
                <a:gridCol w="3119582">
                  <a:extLst>
                    <a:ext uri="{9D8B030D-6E8A-4147-A177-3AD203B41FA5}">
                      <a16:colId xmlns:a16="http://schemas.microsoft.com/office/drawing/2014/main" val="2525107752"/>
                    </a:ext>
                  </a:extLst>
                </a:gridCol>
                <a:gridCol w="3119582">
                  <a:extLst>
                    <a:ext uri="{9D8B030D-6E8A-4147-A177-3AD203B41FA5}">
                      <a16:colId xmlns:a16="http://schemas.microsoft.com/office/drawing/2014/main" val="2363542750"/>
                    </a:ext>
                  </a:extLst>
                </a:gridCol>
              </a:tblGrid>
              <a:tr h="540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Type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 err="1">
                          <a:effectLst/>
                        </a:rPr>
                        <a:t>Examples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What to Do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512590832"/>
                  </a:ext>
                </a:extLst>
              </a:tr>
              <a:tr h="540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int64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Age, Pclass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Calculate statistics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305345229"/>
                  </a:ext>
                </a:extLst>
              </a:tr>
              <a:tr h="540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float64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Fare, Age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Numerical analysis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620752813"/>
                  </a:ext>
                </a:extLst>
              </a:tr>
              <a:tr h="540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 err="1">
                          <a:effectLst/>
                        </a:rPr>
                        <a:t>object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Name, Sex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Text processing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043647124"/>
                  </a:ext>
                </a:extLst>
              </a:tr>
              <a:tr h="540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bool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Survived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Count proportions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681501949"/>
                  </a:ext>
                </a:extLst>
              </a:tr>
              <a:tr h="540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category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 err="1">
                          <a:effectLst/>
                        </a:rPr>
                        <a:t>Embarked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>
                          <a:effectLst/>
                        </a:rPr>
                        <a:t>Group </a:t>
                      </a:r>
                      <a:r>
                        <a:rPr lang="ru-RU" sz="1600" dirty="0" err="1">
                          <a:effectLst/>
                        </a:rPr>
                        <a:t>operations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147460346"/>
                  </a:ext>
                </a:extLst>
              </a:tr>
            </a:tbl>
          </a:graphicData>
        </a:graphic>
      </p:graphicFrame>
      <p:sp>
        <p:nvSpPr>
          <p:cNvPr id="14" name="Rectangle 4">
            <a:extLst>
              <a:ext uri="{FF2B5EF4-FFF2-40B4-BE49-F238E27FC236}">
                <a16:creationId xmlns:a16="http://schemas.microsoft.com/office/drawing/2014/main" id="{77D722B6-BAA4-D9CF-1F52-F017047C3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36799"/>
            <a:ext cx="84720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Common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Types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 &amp;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Their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Uses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: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138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DC3249-5424-9163-8CE9-267ACC764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Missing</a:t>
            </a:r>
            <a:r>
              <a:rPr lang="ru-RU" dirty="0"/>
              <a:t> Data - The </a:t>
            </a:r>
            <a:r>
              <a:rPr lang="ru-RU" dirty="0" err="1"/>
              <a:t>Reality</a:t>
            </a:r>
            <a:r>
              <a:rPr lang="ru-RU" dirty="0"/>
              <a:t> Check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97FCD-B1BF-266C-161C-5E8806229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/>
              <a:t>Check </a:t>
            </a:r>
            <a:r>
              <a:rPr lang="ru-RU" b="1" dirty="0" err="1"/>
              <a:t>for</a:t>
            </a:r>
            <a:r>
              <a:rPr lang="ru-RU" b="1" dirty="0"/>
              <a:t> </a:t>
            </a:r>
            <a:r>
              <a:rPr lang="ru-RU" b="1" dirty="0" err="1"/>
              <a:t>Missing</a:t>
            </a:r>
            <a:r>
              <a:rPr lang="ru-RU" b="1" dirty="0"/>
              <a:t> </a:t>
            </a:r>
            <a:r>
              <a:rPr lang="ru-RU" b="1" dirty="0" err="1"/>
              <a:t>Values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dirty="0" err="1"/>
              <a:t>missing</a:t>
            </a:r>
            <a:r>
              <a:rPr lang="ru-RU" dirty="0"/>
              <a:t> = </a:t>
            </a:r>
            <a:r>
              <a:rPr lang="ru-RU" dirty="0" err="1"/>
              <a:t>titanic.isnull</a:t>
            </a:r>
            <a:r>
              <a:rPr lang="ru-RU" dirty="0"/>
              <a:t>().</a:t>
            </a:r>
            <a:r>
              <a:rPr lang="ru-RU" dirty="0" err="1"/>
              <a:t>sum</a:t>
            </a:r>
            <a:r>
              <a:rPr lang="ru-RU" dirty="0"/>
              <a:t>()</a:t>
            </a:r>
          </a:p>
          <a:p>
            <a:pPr latinLnBrk="1"/>
            <a:r>
              <a:rPr lang="ru-RU" dirty="0" err="1"/>
              <a:t>missing_pct</a:t>
            </a:r>
            <a:r>
              <a:rPr lang="ru-RU" dirty="0"/>
              <a:t> = (</a:t>
            </a:r>
            <a:r>
              <a:rPr lang="ru-RU" dirty="0" err="1"/>
              <a:t>missing</a:t>
            </a:r>
            <a:r>
              <a:rPr lang="ru-RU" dirty="0"/>
              <a:t> / </a:t>
            </a:r>
            <a:r>
              <a:rPr lang="ru-RU" dirty="0" err="1"/>
              <a:t>len</a:t>
            </a:r>
            <a:r>
              <a:rPr lang="ru-RU" dirty="0"/>
              <a:t>(</a:t>
            </a:r>
            <a:r>
              <a:rPr lang="ru-RU" dirty="0" err="1"/>
              <a:t>titanic</a:t>
            </a:r>
            <a:r>
              <a:rPr lang="ru-RU" dirty="0"/>
              <a:t>)) * 100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dirty="0" err="1"/>
              <a:t>missing_df</a:t>
            </a:r>
            <a:r>
              <a:rPr lang="ru-RU" dirty="0"/>
              <a:t> = </a:t>
            </a:r>
            <a:r>
              <a:rPr lang="ru-RU" dirty="0" err="1"/>
              <a:t>pd.DataFrame</a:t>
            </a:r>
            <a:r>
              <a:rPr lang="ru-RU" dirty="0"/>
              <a:t>({</a:t>
            </a:r>
          </a:p>
          <a:p>
            <a:pPr latinLnBrk="1"/>
            <a:r>
              <a:rPr lang="ru-RU" dirty="0"/>
              <a:t>    '</a:t>
            </a:r>
            <a:r>
              <a:rPr lang="ru-RU" dirty="0" err="1"/>
              <a:t>Missing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': </a:t>
            </a:r>
            <a:r>
              <a:rPr lang="ru-RU" dirty="0" err="1"/>
              <a:t>missing</a:t>
            </a:r>
            <a:r>
              <a:rPr lang="ru-RU" dirty="0"/>
              <a:t>,</a:t>
            </a:r>
          </a:p>
          <a:p>
            <a:pPr latinLnBrk="1"/>
            <a:r>
              <a:rPr lang="ru-RU" dirty="0"/>
              <a:t>    '</a:t>
            </a:r>
            <a:r>
              <a:rPr lang="ru-RU" dirty="0" err="1"/>
              <a:t>Percentage</a:t>
            </a:r>
            <a:r>
              <a:rPr lang="ru-RU" dirty="0"/>
              <a:t>': </a:t>
            </a:r>
            <a:r>
              <a:rPr lang="ru-RU" dirty="0" err="1"/>
              <a:t>missing_pct</a:t>
            </a:r>
            <a:endParaRPr lang="ru-RU" dirty="0"/>
          </a:p>
          <a:p>
            <a:pPr latinLnBrk="1"/>
            <a:r>
              <a:rPr lang="ru-RU" dirty="0"/>
              <a:t>})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missing_df</a:t>
            </a:r>
            <a:r>
              <a:rPr lang="ru-RU" dirty="0"/>
              <a:t>[</a:t>
            </a:r>
            <a:r>
              <a:rPr lang="ru-RU" dirty="0" err="1"/>
              <a:t>missing_df</a:t>
            </a:r>
            <a:r>
              <a:rPr lang="ru-RU" dirty="0"/>
              <a:t>['</a:t>
            </a:r>
            <a:r>
              <a:rPr lang="ru-RU" dirty="0" err="1"/>
              <a:t>Missing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'] &gt; 0])</a:t>
            </a:r>
          </a:p>
          <a:p>
            <a:pPr lvl="1"/>
            <a:r>
              <a:rPr lang="ru-RU" b="1" dirty="0" err="1"/>
              <a:t>Titanic's</a:t>
            </a:r>
            <a:r>
              <a:rPr lang="ru-RU" b="1" dirty="0"/>
              <a:t> </a:t>
            </a:r>
            <a:r>
              <a:rPr lang="ru-RU" b="1" dirty="0" err="1"/>
              <a:t>Missing</a:t>
            </a:r>
            <a:r>
              <a:rPr lang="ru-RU" b="1" dirty="0"/>
              <a:t> Data:</a:t>
            </a:r>
            <a:endParaRPr lang="ru-RU" dirty="0"/>
          </a:p>
          <a:p>
            <a:pPr lvl="1"/>
            <a:r>
              <a:rPr lang="ru-RU" dirty="0" err="1"/>
              <a:t>Age</a:t>
            </a:r>
            <a:r>
              <a:rPr lang="ru-RU" dirty="0"/>
              <a:t>: 177 (19.9%)</a:t>
            </a:r>
          </a:p>
          <a:p>
            <a:pPr lvl="1"/>
            <a:r>
              <a:rPr lang="ru-RU" dirty="0" err="1"/>
              <a:t>Cabin</a:t>
            </a:r>
            <a:r>
              <a:rPr lang="ru-RU" dirty="0"/>
              <a:t>: 687 (77.1%)</a:t>
            </a:r>
          </a:p>
          <a:p>
            <a:pPr lvl="1"/>
            <a:r>
              <a:rPr lang="ru-RU" dirty="0" err="1"/>
              <a:t>Embarked</a:t>
            </a:r>
            <a:r>
              <a:rPr lang="ru-RU" dirty="0"/>
              <a:t>: 2 (0.2%)</a:t>
            </a:r>
          </a:p>
        </p:txBody>
      </p:sp>
    </p:spTree>
    <p:extLst>
      <p:ext uri="{BB962C8B-B14F-4D97-AF65-F5344CB8AC3E}">
        <p14:creationId xmlns:p14="http://schemas.microsoft.com/office/powerpoint/2010/main" val="3895422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DCFE2A-CF14-1811-94B3-C9B04B1FF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Visualizing</a:t>
            </a:r>
            <a:r>
              <a:rPr lang="ru-RU" dirty="0"/>
              <a:t> </a:t>
            </a:r>
            <a:r>
              <a:rPr lang="ru-RU" dirty="0" err="1"/>
              <a:t>Missing</a:t>
            </a:r>
            <a:r>
              <a:rPr lang="ru-RU" dirty="0"/>
              <a:t> Data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A4BAA4-FE46-1CBD-58AC-61A158488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Matrix View:</a:t>
            </a:r>
            <a:endParaRPr lang="ru-RU" dirty="0"/>
          </a:p>
          <a:p>
            <a:pPr latinLnBrk="1"/>
            <a:r>
              <a:rPr lang="ru-RU" dirty="0" err="1"/>
              <a:t>msno.matrix</a:t>
            </a:r>
            <a:r>
              <a:rPr lang="ru-RU" dirty="0"/>
              <a:t>(</a:t>
            </a:r>
            <a:r>
              <a:rPr lang="ru-RU" dirty="0" err="1"/>
              <a:t>titanic</a:t>
            </a:r>
            <a:r>
              <a:rPr lang="ru-RU" dirty="0"/>
              <a:t>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("</a:t>
            </a:r>
            <a:r>
              <a:rPr lang="ru-RU" dirty="0" err="1"/>
              <a:t>Missing</a:t>
            </a:r>
            <a:r>
              <a:rPr lang="ru-RU" dirty="0"/>
              <a:t> Data </a:t>
            </a:r>
            <a:r>
              <a:rPr lang="ru-RU" dirty="0" err="1"/>
              <a:t>Pattern</a:t>
            </a:r>
            <a:r>
              <a:rPr lang="ru-RU" dirty="0"/>
              <a:t>")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r>
              <a:rPr lang="ru-RU" b="1" dirty="0" err="1"/>
              <a:t>Bar</a:t>
            </a:r>
            <a:r>
              <a:rPr lang="ru-RU" b="1" dirty="0"/>
              <a:t> </a:t>
            </a:r>
            <a:r>
              <a:rPr lang="ru-RU" b="1" dirty="0" err="1"/>
              <a:t>Chart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dirty="0" err="1"/>
              <a:t>msno.bar</a:t>
            </a:r>
            <a:r>
              <a:rPr lang="ru-RU" dirty="0"/>
              <a:t>(</a:t>
            </a:r>
            <a:r>
              <a:rPr lang="ru-RU" dirty="0" err="1"/>
              <a:t>titanic</a:t>
            </a:r>
            <a:r>
              <a:rPr lang="ru-RU" dirty="0"/>
              <a:t>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("</a:t>
            </a:r>
            <a:r>
              <a:rPr lang="ru-RU" dirty="0" err="1"/>
              <a:t>Missing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Column</a:t>
            </a:r>
            <a:r>
              <a:rPr lang="ru-RU" dirty="0"/>
              <a:t>")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60715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0D5EE-5BB2-E8CE-B466-8A4DCB301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Data </a:t>
            </a:r>
            <a:r>
              <a:rPr lang="ru-RU" dirty="0" err="1"/>
              <a:t>Cleaning</a:t>
            </a:r>
            <a:r>
              <a:rPr lang="ru-RU" dirty="0"/>
              <a:t> Strategy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FF47DB-D198-9184-A1F4-BB62595B2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Decision</a:t>
            </a:r>
            <a:r>
              <a:rPr lang="ru-RU" b="1" dirty="0"/>
              <a:t> </a:t>
            </a:r>
            <a:r>
              <a:rPr lang="ru-RU" b="1" dirty="0" err="1"/>
              <a:t>Tree</a:t>
            </a:r>
            <a:r>
              <a:rPr lang="ru-RU" b="1" dirty="0"/>
              <a:t> </a:t>
            </a:r>
            <a:r>
              <a:rPr lang="ru-RU" b="1" dirty="0" err="1"/>
              <a:t>for</a:t>
            </a:r>
            <a:r>
              <a:rPr lang="ru-RU" b="1" dirty="0"/>
              <a:t> </a:t>
            </a:r>
            <a:r>
              <a:rPr lang="ru-RU" b="1" dirty="0" err="1"/>
              <a:t>Missing</a:t>
            </a:r>
            <a:r>
              <a:rPr lang="ru-RU" b="1" dirty="0"/>
              <a:t> Data:</a:t>
            </a:r>
            <a:endParaRPr lang="ru-RU" dirty="0"/>
          </a:p>
          <a:p>
            <a:pPr latinLnBrk="1"/>
            <a:r>
              <a:rPr lang="ru-RU" dirty="0" err="1"/>
              <a:t>Is</a:t>
            </a:r>
            <a:r>
              <a:rPr lang="ru-RU" dirty="0"/>
              <a:t> &gt;70% </a:t>
            </a:r>
            <a:r>
              <a:rPr lang="ru-RU" dirty="0" err="1"/>
              <a:t>missing</a:t>
            </a:r>
            <a:r>
              <a:rPr lang="ru-RU" dirty="0"/>
              <a:t>? → DROP </a:t>
            </a:r>
            <a:r>
              <a:rPr lang="ru-RU" dirty="0" err="1"/>
              <a:t>column</a:t>
            </a:r>
            <a:endParaRPr lang="ru-RU" dirty="0"/>
          </a:p>
          <a:p>
            <a:pPr latinLnBrk="1"/>
            <a:r>
              <a:rPr lang="ru-RU" dirty="0" err="1"/>
              <a:t>Is</a:t>
            </a:r>
            <a:r>
              <a:rPr lang="ru-RU" dirty="0"/>
              <a:t> 30-70% </a:t>
            </a:r>
            <a:r>
              <a:rPr lang="ru-RU" dirty="0" err="1"/>
              <a:t>missing</a:t>
            </a:r>
            <a:r>
              <a:rPr lang="ru-RU" dirty="0"/>
              <a:t>? → IMPUTE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care</a:t>
            </a:r>
            <a:endParaRPr lang="ru-RU" dirty="0"/>
          </a:p>
          <a:p>
            <a:pPr latinLnBrk="1"/>
            <a:r>
              <a:rPr lang="ru-RU" dirty="0" err="1"/>
              <a:t>Is</a:t>
            </a:r>
            <a:r>
              <a:rPr lang="ru-RU" dirty="0"/>
              <a:t> &lt;30% </a:t>
            </a:r>
            <a:r>
              <a:rPr lang="ru-RU" dirty="0" err="1"/>
              <a:t>missing</a:t>
            </a:r>
            <a:r>
              <a:rPr lang="ru-RU" dirty="0"/>
              <a:t>? → IMPUTE </a:t>
            </a:r>
            <a:r>
              <a:rPr lang="ru-RU" dirty="0" err="1"/>
              <a:t>reasonably</a:t>
            </a:r>
            <a:endParaRPr lang="ru-RU" dirty="0"/>
          </a:p>
          <a:p>
            <a:pPr latinLnBrk="1"/>
            <a:r>
              <a:rPr lang="ru-RU" dirty="0" err="1"/>
              <a:t>Is</a:t>
            </a:r>
            <a:r>
              <a:rPr lang="ru-RU" dirty="0"/>
              <a:t> &lt;5% </a:t>
            </a:r>
            <a:r>
              <a:rPr lang="ru-RU" dirty="0" err="1"/>
              <a:t>missing</a:t>
            </a:r>
            <a:r>
              <a:rPr lang="ru-RU" dirty="0"/>
              <a:t>? → IMPUTE </a:t>
            </a:r>
            <a:r>
              <a:rPr lang="ru-RU" dirty="0" err="1"/>
              <a:t>or</a:t>
            </a:r>
            <a:r>
              <a:rPr lang="ru-RU" dirty="0"/>
              <a:t> DROP </a:t>
            </a:r>
            <a:r>
              <a:rPr lang="ru-RU" dirty="0" err="1"/>
              <a:t>few</a:t>
            </a:r>
            <a:r>
              <a:rPr lang="ru-RU" dirty="0"/>
              <a:t> </a:t>
            </a:r>
            <a:r>
              <a:rPr lang="ru-RU" dirty="0" err="1"/>
              <a:t>rows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4483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999B60-FC13-EE7F-3B4B-A1E716D6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Step 1 - </a:t>
            </a:r>
            <a:r>
              <a:rPr lang="ru-RU" dirty="0" err="1"/>
              <a:t>Drop</a:t>
            </a:r>
            <a:r>
              <a:rPr lang="ru-RU" dirty="0"/>
              <a:t> </a:t>
            </a:r>
            <a:r>
              <a:rPr lang="ru-RU" dirty="0" err="1"/>
              <a:t>Problematic</a:t>
            </a:r>
            <a:r>
              <a:rPr lang="ru-RU" dirty="0"/>
              <a:t> </a:t>
            </a:r>
            <a:r>
              <a:rPr lang="ru-RU" dirty="0" err="1"/>
              <a:t>Columns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BC3F2E-2B59-76D9-3192-0A31B4C14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Cabin</a:t>
            </a:r>
            <a:r>
              <a:rPr lang="ru-RU" b="1" dirty="0"/>
              <a:t> </a:t>
            </a:r>
            <a:r>
              <a:rPr lang="ru-RU" b="1" dirty="0" err="1"/>
              <a:t>has</a:t>
            </a:r>
            <a:r>
              <a:rPr lang="ru-RU" b="1" dirty="0"/>
              <a:t> 77% </a:t>
            </a:r>
            <a:r>
              <a:rPr lang="ru-RU" b="1" dirty="0" err="1"/>
              <a:t>missing</a:t>
            </a:r>
            <a:r>
              <a:rPr lang="ru-RU" b="1" dirty="0"/>
              <a:t> → </a:t>
            </a:r>
            <a:r>
              <a:rPr lang="ru-RU" b="1" dirty="0" err="1"/>
              <a:t>Drop</a:t>
            </a:r>
            <a:r>
              <a:rPr lang="ru-RU" b="1" dirty="0"/>
              <a:t> </a:t>
            </a:r>
            <a:r>
              <a:rPr lang="ru-RU" b="1" dirty="0" err="1"/>
              <a:t>it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dirty="0" err="1"/>
              <a:t>titanic_clean</a:t>
            </a:r>
            <a:r>
              <a:rPr lang="ru-RU" dirty="0"/>
              <a:t> = </a:t>
            </a:r>
            <a:r>
              <a:rPr lang="ru-RU" dirty="0" err="1"/>
              <a:t>titanic.drop</a:t>
            </a:r>
            <a:r>
              <a:rPr lang="ru-RU" dirty="0"/>
              <a:t>(</a:t>
            </a:r>
            <a:r>
              <a:rPr lang="ru-RU" dirty="0" err="1"/>
              <a:t>columns</a:t>
            </a:r>
            <a:r>
              <a:rPr lang="ru-RU" dirty="0"/>
              <a:t>=['</a:t>
            </a:r>
            <a:r>
              <a:rPr lang="ru-RU" dirty="0" err="1"/>
              <a:t>Cabin</a:t>
            </a:r>
            <a:r>
              <a:rPr lang="ru-RU" dirty="0"/>
              <a:t>'])</a:t>
            </a:r>
          </a:p>
          <a:p>
            <a:pPr latinLnBrk="1"/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f"After</a:t>
            </a:r>
            <a:r>
              <a:rPr lang="ru-RU" dirty="0"/>
              <a:t> </a:t>
            </a:r>
            <a:r>
              <a:rPr lang="ru-RU" dirty="0" err="1"/>
              <a:t>dropping</a:t>
            </a:r>
            <a:r>
              <a:rPr lang="ru-RU" dirty="0"/>
              <a:t> </a:t>
            </a:r>
            <a:r>
              <a:rPr lang="ru-RU" dirty="0" err="1"/>
              <a:t>Cabin</a:t>
            </a:r>
            <a:r>
              <a:rPr lang="ru-RU" dirty="0"/>
              <a:t>: {</a:t>
            </a:r>
            <a:r>
              <a:rPr lang="ru-RU" dirty="0" err="1"/>
              <a:t>titanic_clean.shape</a:t>
            </a:r>
            <a:r>
              <a:rPr lang="ru-RU" dirty="0"/>
              <a:t>}")</a:t>
            </a:r>
          </a:p>
          <a:p>
            <a:r>
              <a:rPr lang="ru-RU" b="1" dirty="0" err="1"/>
              <a:t>Why</a:t>
            </a:r>
            <a:r>
              <a:rPr lang="ru-RU" b="1" dirty="0"/>
              <a:t> </a:t>
            </a:r>
            <a:r>
              <a:rPr lang="ru-RU" b="1" dirty="0" err="1"/>
              <a:t>Drop</a:t>
            </a:r>
            <a:r>
              <a:rPr lang="ru-RU" b="1" dirty="0"/>
              <a:t>?</a:t>
            </a:r>
            <a:endParaRPr lang="ru-RU" dirty="0"/>
          </a:p>
          <a:p>
            <a:pPr lvl="0"/>
            <a:r>
              <a:rPr lang="ru-RU" dirty="0" err="1"/>
              <a:t>Too</a:t>
            </a:r>
            <a:r>
              <a:rPr lang="ru-RU" dirty="0"/>
              <a:t> </a:t>
            </a:r>
            <a:r>
              <a:rPr lang="ru-RU" dirty="0" err="1"/>
              <a:t>many</a:t>
            </a:r>
            <a:r>
              <a:rPr lang="ru-RU" dirty="0"/>
              <a:t> </a:t>
            </a:r>
            <a:r>
              <a:rPr lang="ru-RU" dirty="0" err="1"/>
              <a:t>missing</a:t>
            </a:r>
            <a:r>
              <a:rPr lang="ru-RU" dirty="0"/>
              <a:t> </a:t>
            </a:r>
            <a:r>
              <a:rPr lang="ru-RU" dirty="0" err="1"/>
              <a:t>values</a:t>
            </a:r>
            <a:endParaRPr lang="ru-RU" dirty="0"/>
          </a:p>
          <a:p>
            <a:pPr lvl="0"/>
            <a:r>
              <a:rPr lang="ru-RU" dirty="0"/>
              <a:t>Hard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impute</a:t>
            </a:r>
            <a:r>
              <a:rPr lang="ru-RU" dirty="0"/>
              <a:t> </a:t>
            </a:r>
            <a:r>
              <a:rPr lang="ru-RU" dirty="0" err="1"/>
              <a:t>meaningfully</a:t>
            </a:r>
            <a:endParaRPr lang="ru-RU" dirty="0"/>
          </a:p>
          <a:p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critical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analysis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1077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4D340F-1C38-C077-BE59-A5CB34C20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Step 2 - </a:t>
            </a:r>
            <a:r>
              <a:rPr lang="ru-RU" dirty="0" err="1"/>
              <a:t>Impute</a:t>
            </a:r>
            <a:r>
              <a:rPr lang="ru-RU" dirty="0"/>
              <a:t> </a:t>
            </a:r>
            <a:r>
              <a:rPr lang="ru-RU" dirty="0" err="1"/>
              <a:t>Age</a:t>
            </a:r>
            <a:r>
              <a:rPr lang="ru-RU" dirty="0"/>
              <a:t> </a:t>
            </a:r>
            <a:r>
              <a:rPr lang="ru-RU" dirty="0" err="1"/>
              <a:t>Smartly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CF3BA8-5428-A3BF-D210-B1386C1F4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err="1"/>
              <a:t>Age</a:t>
            </a:r>
            <a:r>
              <a:rPr lang="ru-RU" b="1" dirty="0"/>
              <a:t> </a:t>
            </a:r>
            <a:r>
              <a:rPr lang="ru-RU" b="1" dirty="0" err="1"/>
              <a:t>has</a:t>
            </a:r>
            <a:r>
              <a:rPr lang="ru-RU" b="1" dirty="0"/>
              <a:t> 20% </a:t>
            </a:r>
            <a:r>
              <a:rPr lang="ru-RU" b="1" dirty="0" err="1"/>
              <a:t>missing</a:t>
            </a:r>
            <a:r>
              <a:rPr lang="ru-RU" b="1" dirty="0"/>
              <a:t> → </a:t>
            </a:r>
            <a:r>
              <a:rPr lang="ru-RU" b="1" dirty="0" err="1"/>
              <a:t>Impute</a:t>
            </a:r>
            <a:r>
              <a:rPr lang="ru-RU" b="1" dirty="0"/>
              <a:t> </a:t>
            </a:r>
            <a:r>
              <a:rPr lang="ru-RU" b="1" dirty="0" err="1"/>
              <a:t>by</a:t>
            </a:r>
            <a:r>
              <a:rPr lang="ru-RU" b="1" dirty="0"/>
              <a:t> </a:t>
            </a:r>
            <a:r>
              <a:rPr lang="ru-RU" b="1" dirty="0" err="1"/>
              <a:t>class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Calculate</a:t>
            </a:r>
            <a:r>
              <a:rPr lang="ru-RU" i="1" dirty="0"/>
              <a:t> </a:t>
            </a:r>
            <a:r>
              <a:rPr lang="ru-RU" i="1" dirty="0" err="1"/>
              <a:t>median</a:t>
            </a:r>
            <a:r>
              <a:rPr lang="ru-RU" i="1" dirty="0"/>
              <a:t> </a:t>
            </a:r>
            <a:r>
              <a:rPr lang="ru-RU" i="1" dirty="0" err="1"/>
              <a:t>age</a:t>
            </a:r>
            <a:r>
              <a:rPr lang="ru-RU" i="1" dirty="0"/>
              <a:t> </a:t>
            </a:r>
            <a:r>
              <a:rPr lang="ru-RU" i="1" dirty="0" err="1"/>
              <a:t>by</a:t>
            </a:r>
            <a:r>
              <a:rPr lang="ru-RU" i="1" dirty="0"/>
              <a:t> </a:t>
            </a:r>
            <a:r>
              <a:rPr lang="ru-RU" i="1" dirty="0" err="1"/>
              <a:t>passenger</a:t>
            </a:r>
            <a:r>
              <a:rPr lang="ru-RU" i="1" dirty="0"/>
              <a:t> </a:t>
            </a:r>
            <a:r>
              <a:rPr lang="ru-RU" i="1" dirty="0" err="1"/>
              <a:t>class</a:t>
            </a:r>
            <a:endParaRPr lang="ru-RU" dirty="0"/>
          </a:p>
          <a:p>
            <a:pPr latinLnBrk="1"/>
            <a:r>
              <a:rPr lang="ru-RU" dirty="0" err="1"/>
              <a:t>age_by_class</a:t>
            </a:r>
            <a:r>
              <a:rPr lang="ru-RU" dirty="0"/>
              <a:t> = </a:t>
            </a:r>
            <a:r>
              <a:rPr lang="ru-RU" dirty="0" err="1"/>
              <a:t>titanic_clean.groupby</a:t>
            </a:r>
            <a:r>
              <a:rPr lang="ru-RU" dirty="0"/>
              <a:t>('</a:t>
            </a:r>
            <a:r>
              <a:rPr lang="ru-RU" dirty="0" err="1"/>
              <a:t>Pclass</a:t>
            </a:r>
            <a:r>
              <a:rPr lang="ru-RU" dirty="0"/>
              <a:t>')['</a:t>
            </a:r>
            <a:r>
              <a:rPr lang="ru-RU" dirty="0" err="1"/>
              <a:t>Age</a:t>
            </a:r>
            <a:r>
              <a:rPr lang="ru-RU" dirty="0"/>
              <a:t>'].</a:t>
            </a:r>
            <a:r>
              <a:rPr lang="ru-RU" dirty="0" err="1"/>
              <a:t>median</a:t>
            </a:r>
            <a:r>
              <a:rPr lang="ru-RU" dirty="0"/>
              <a:t>()</a:t>
            </a:r>
          </a:p>
          <a:p>
            <a:pPr latinLnBrk="1"/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age_by_class</a:t>
            </a:r>
            <a:r>
              <a:rPr lang="ru-RU" dirty="0"/>
              <a:t>)</a:t>
            </a:r>
          </a:p>
          <a:p>
            <a:r>
              <a:rPr lang="ru-RU" b="1" dirty="0" err="1"/>
              <a:t>Apply</a:t>
            </a:r>
            <a:r>
              <a:rPr lang="ru-RU" b="1" dirty="0"/>
              <a:t> </a:t>
            </a:r>
            <a:r>
              <a:rPr lang="ru-RU" b="1" dirty="0" err="1"/>
              <a:t>imputation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Age</a:t>
            </a:r>
            <a:r>
              <a:rPr lang="ru-RU" dirty="0"/>
              <a:t>'] = </a:t>
            </a:r>
            <a:r>
              <a:rPr lang="ru-RU" dirty="0" err="1"/>
              <a:t>titanic_clean.groupby</a:t>
            </a:r>
            <a:r>
              <a:rPr lang="ru-RU" dirty="0"/>
              <a:t>('</a:t>
            </a:r>
            <a:r>
              <a:rPr lang="ru-RU" dirty="0" err="1"/>
              <a:t>Pclass</a:t>
            </a:r>
            <a:r>
              <a:rPr lang="ru-RU" dirty="0"/>
              <a:t>')['</a:t>
            </a:r>
            <a:r>
              <a:rPr lang="ru-RU" dirty="0" err="1"/>
              <a:t>Age</a:t>
            </a:r>
            <a:r>
              <a:rPr lang="ru-RU" dirty="0"/>
              <a:t>'].</a:t>
            </a:r>
            <a:r>
              <a:rPr lang="ru-RU" dirty="0" err="1"/>
              <a:t>apply</a:t>
            </a:r>
            <a:r>
              <a:rPr lang="ru-RU" dirty="0"/>
              <a:t>(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lambda</a:t>
            </a:r>
            <a:r>
              <a:rPr lang="ru-RU" dirty="0"/>
              <a:t> x: </a:t>
            </a:r>
            <a:r>
              <a:rPr lang="ru-RU" dirty="0" err="1"/>
              <a:t>x.fillna</a:t>
            </a:r>
            <a:r>
              <a:rPr lang="ru-RU" dirty="0"/>
              <a:t>(</a:t>
            </a:r>
            <a:r>
              <a:rPr lang="ru-RU" dirty="0" err="1"/>
              <a:t>x.median</a:t>
            </a:r>
            <a:r>
              <a:rPr lang="ru-RU" dirty="0"/>
              <a:t>())</a:t>
            </a:r>
          </a:p>
          <a:p>
            <a:pPr latinLnBrk="1"/>
            <a:r>
              <a:rPr lang="ru-RU" dirty="0"/>
              <a:t>)</a:t>
            </a:r>
          </a:p>
          <a:p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f"Missing</a:t>
            </a:r>
            <a:r>
              <a:rPr lang="ru-RU" dirty="0"/>
              <a:t> </a:t>
            </a:r>
            <a:r>
              <a:rPr lang="ru-RU" dirty="0" err="1"/>
              <a:t>Age</a:t>
            </a:r>
            <a:r>
              <a:rPr lang="ru-RU" dirty="0"/>
              <a:t> </a:t>
            </a:r>
            <a:r>
              <a:rPr lang="ru-RU" dirty="0" err="1"/>
              <a:t>now</a:t>
            </a:r>
            <a:r>
              <a:rPr lang="ru-RU" dirty="0"/>
              <a:t>: {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Age</a:t>
            </a:r>
            <a:r>
              <a:rPr lang="ru-RU" dirty="0"/>
              <a:t>'].</a:t>
            </a:r>
            <a:r>
              <a:rPr lang="ru-RU" dirty="0" err="1"/>
              <a:t>isnull</a:t>
            </a:r>
            <a:r>
              <a:rPr lang="ru-RU" dirty="0"/>
              <a:t>().</a:t>
            </a:r>
            <a:r>
              <a:rPr lang="ru-RU" dirty="0" err="1"/>
              <a:t>sum</a:t>
            </a:r>
            <a:r>
              <a:rPr lang="ru-RU" dirty="0"/>
              <a:t>()}")</a:t>
            </a:r>
          </a:p>
        </p:txBody>
      </p:sp>
    </p:spTree>
    <p:extLst>
      <p:ext uri="{BB962C8B-B14F-4D97-AF65-F5344CB8AC3E}">
        <p14:creationId xmlns:p14="http://schemas.microsoft.com/office/powerpoint/2010/main" val="3425548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9D8FF-2A72-67B1-E046-BB6E7F01D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Step 3 - </a:t>
            </a:r>
            <a:r>
              <a:rPr lang="ru-RU" dirty="0" err="1"/>
              <a:t>Fix</a:t>
            </a:r>
            <a:r>
              <a:rPr lang="ru-RU" dirty="0"/>
              <a:t> </a:t>
            </a:r>
            <a:r>
              <a:rPr lang="ru-RU" dirty="0" err="1"/>
              <a:t>Remaining</a:t>
            </a:r>
            <a:r>
              <a:rPr lang="ru-RU" dirty="0"/>
              <a:t> </a:t>
            </a:r>
            <a:r>
              <a:rPr lang="ru-RU" dirty="0" err="1"/>
              <a:t>Issues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E600DC-AD27-156B-FA7A-D607E10AF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 err="1"/>
              <a:t>Embarked</a:t>
            </a:r>
            <a:r>
              <a:rPr lang="ru-RU" b="1" dirty="0"/>
              <a:t> (</a:t>
            </a:r>
            <a:r>
              <a:rPr lang="ru-RU" b="1" dirty="0" err="1"/>
              <a:t>only</a:t>
            </a:r>
            <a:r>
              <a:rPr lang="ru-RU" b="1" dirty="0"/>
              <a:t> 2 </a:t>
            </a:r>
            <a:r>
              <a:rPr lang="ru-RU" b="1" dirty="0" err="1"/>
              <a:t>missing</a:t>
            </a:r>
            <a:r>
              <a:rPr lang="ru-RU" b="1" dirty="0"/>
              <a:t>):</a:t>
            </a:r>
            <a:endParaRPr lang="ru-RU" dirty="0"/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Find</a:t>
            </a:r>
            <a:r>
              <a:rPr lang="ru-RU" i="1" dirty="0"/>
              <a:t> </a:t>
            </a:r>
            <a:r>
              <a:rPr lang="ru-RU" i="1" dirty="0" err="1"/>
              <a:t>most</a:t>
            </a:r>
            <a:r>
              <a:rPr lang="ru-RU" i="1" dirty="0"/>
              <a:t> </a:t>
            </a:r>
            <a:r>
              <a:rPr lang="ru-RU" i="1" dirty="0" err="1"/>
              <a:t>common</a:t>
            </a:r>
            <a:r>
              <a:rPr lang="ru-RU" i="1" dirty="0"/>
              <a:t> </a:t>
            </a:r>
            <a:r>
              <a:rPr lang="ru-RU" i="1" dirty="0" err="1"/>
              <a:t>value</a:t>
            </a:r>
            <a:endParaRPr lang="ru-RU" dirty="0"/>
          </a:p>
          <a:p>
            <a:pPr latinLnBrk="1"/>
            <a:r>
              <a:rPr lang="ru-RU" dirty="0" err="1"/>
              <a:t>most_common</a:t>
            </a:r>
            <a:r>
              <a:rPr lang="ru-RU" dirty="0"/>
              <a:t> = 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Embarked</a:t>
            </a:r>
            <a:r>
              <a:rPr lang="ru-RU" dirty="0"/>
              <a:t>'].</a:t>
            </a:r>
            <a:r>
              <a:rPr lang="ru-RU" dirty="0" err="1"/>
              <a:t>mode</a:t>
            </a:r>
            <a:r>
              <a:rPr lang="ru-RU" dirty="0"/>
              <a:t>()[0]</a:t>
            </a:r>
          </a:p>
          <a:p>
            <a:pPr latinLnBrk="1"/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f"Most</a:t>
            </a:r>
            <a:r>
              <a:rPr lang="ru-RU" dirty="0"/>
              <a:t> </a:t>
            </a:r>
            <a:r>
              <a:rPr lang="ru-RU" dirty="0" err="1"/>
              <a:t>common</a:t>
            </a:r>
            <a:r>
              <a:rPr lang="ru-RU" dirty="0"/>
              <a:t> </a:t>
            </a:r>
            <a:r>
              <a:rPr lang="ru-RU" dirty="0" err="1"/>
              <a:t>embarkation</a:t>
            </a:r>
            <a:r>
              <a:rPr lang="ru-RU" dirty="0"/>
              <a:t>: {</a:t>
            </a:r>
            <a:r>
              <a:rPr lang="ru-RU" dirty="0" err="1"/>
              <a:t>most_common</a:t>
            </a:r>
            <a:r>
              <a:rPr lang="ru-RU" dirty="0"/>
              <a:t>}")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Fill</a:t>
            </a:r>
            <a:r>
              <a:rPr lang="ru-RU" i="1" dirty="0"/>
              <a:t> </a:t>
            </a:r>
            <a:r>
              <a:rPr lang="ru-RU" i="1" dirty="0" err="1"/>
              <a:t>missing</a:t>
            </a:r>
            <a:r>
              <a:rPr lang="ru-RU" i="1" dirty="0"/>
              <a:t> </a:t>
            </a:r>
            <a:r>
              <a:rPr lang="ru-RU" i="1" dirty="0" err="1"/>
              <a:t>values</a:t>
            </a:r>
            <a:endParaRPr lang="ru-RU" dirty="0"/>
          </a:p>
          <a:p>
            <a:pPr latinLnBrk="1"/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Embarked</a:t>
            </a:r>
            <a:r>
              <a:rPr lang="ru-RU" dirty="0"/>
              <a:t>'] = 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Embarked</a:t>
            </a:r>
            <a:r>
              <a:rPr lang="ru-RU" dirty="0"/>
              <a:t>'].</a:t>
            </a:r>
            <a:r>
              <a:rPr lang="ru-RU" dirty="0" err="1"/>
              <a:t>fillna</a:t>
            </a:r>
            <a:r>
              <a:rPr lang="ru-RU" dirty="0"/>
              <a:t>(</a:t>
            </a:r>
            <a:r>
              <a:rPr lang="ru-RU" dirty="0" err="1"/>
              <a:t>most_common</a:t>
            </a:r>
            <a:r>
              <a:rPr lang="ru-RU" dirty="0"/>
              <a:t>)</a:t>
            </a:r>
          </a:p>
          <a:p>
            <a:r>
              <a:rPr lang="ru-RU" b="1" dirty="0" err="1"/>
              <a:t>Verify</a:t>
            </a:r>
            <a:r>
              <a:rPr lang="ru-RU" b="1" dirty="0"/>
              <a:t> </a:t>
            </a:r>
            <a:r>
              <a:rPr lang="ru-RU" b="1" dirty="0" err="1"/>
              <a:t>cleaning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dirty="0" err="1"/>
              <a:t>print</a:t>
            </a:r>
            <a:r>
              <a:rPr lang="ru-RU" dirty="0"/>
              <a:t>("</a:t>
            </a:r>
            <a:r>
              <a:rPr lang="ru-RU" dirty="0" err="1"/>
              <a:t>Missing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after</a:t>
            </a:r>
            <a:r>
              <a:rPr lang="ru-RU" dirty="0"/>
              <a:t> </a:t>
            </a:r>
            <a:r>
              <a:rPr lang="ru-RU" dirty="0" err="1"/>
              <a:t>cleaning</a:t>
            </a:r>
            <a:r>
              <a:rPr lang="ru-RU" dirty="0"/>
              <a:t>:")</a:t>
            </a:r>
          </a:p>
          <a:p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titanic_clean.isnull</a:t>
            </a:r>
            <a:r>
              <a:rPr lang="ru-RU" dirty="0"/>
              <a:t>().</a:t>
            </a:r>
            <a:r>
              <a:rPr lang="ru-RU" dirty="0" err="1"/>
              <a:t>sum</a:t>
            </a:r>
            <a:r>
              <a:rPr lang="ru-RU" dirty="0"/>
              <a:t>().</a:t>
            </a:r>
            <a:r>
              <a:rPr lang="ru-RU" dirty="0" err="1"/>
              <a:t>sum</a:t>
            </a:r>
            <a:r>
              <a:rPr lang="ru-RU" dirty="0"/>
              <a:t>())  </a:t>
            </a:r>
            <a:r>
              <a:rPr lang="ru-RU" i="1" dirty="0"/>
              <a:t># </a:t>
            </a:r>
            <a:r>
              <a:rPr lang="ru-RU" i="1" dirty="0" err="1"/>
              <a:t>Should</a:t>
            </a:r>
            <a:r>
              <a:rPr lang="ru-RU" i="1" dirty="0"/>
              <a:t> </a:t>
            </a:r>
            <a:r>
              <a:rPr lang="ru-RU" i="1" dirty="0" err="1"/>
              <a:t>be</a:t>
            </a:r>
            <a:r>
              <a:rPr lang="ru-RU" i="1" dirty="0"/>
              <a:t> 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5347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F58B8E-E952-A028-DF4D-88F43EF50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Optimize</a:t>
            </a:r>
            <a:r>
              <a:rPr lang="ru-RU" dirty="0"/>
              <a:t> Data </a:t>
            </a:r>
            <a:r>
              <a:rPr lang="ru-RU" dirty="0" err="1"/>
              <a:t>Types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974017-8B6C-3917-284C-ADDF0C2F8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Memory </a:t>
            </a:r>
            <a:r>
              <a:rPr lang="ru-RU" b="1" dirty="0" err="1"/>
              <a:t>Optimization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Before</a:t>
            </a:r>
            <a:r>
              <a:rPr lang="ru-RU" i="1" dirty="0"/>
              <a:t> </a:t>
            </a:r>
            <a:r>
              <a:rPr lang="ru-RU" i="1" dirty="0" err="1"/>
              <a:t>conversion</a:t>
            </a:r>
            <a:endParaRPr lang="ru-RU" dirty="0"/>
          </a:p>
          <a:p>
            <a:pPr latinLnBrk="1"/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f"Memory</a:t>
            </a:r>
            <a:r>
              <a:rPr lang="ru-RU" dirty="0"/>
              <a:t> </a:t>
            </a:r>
            <a:r>
              <a:rPr lang="ru-RU" dirty="0" err="1"/>
              <a:t>before</a:t>
            </a:r>
            <a:r>
              <a:rPr lang="ru-RU" dirty="0"/>
              <a:t>: {</a:t>
            </a:r>
            <a:r>
              <a:rPr lang="ru-RU" dirty="0" err="1"/>
              <a:t>titanic_clean.memory_usage</a:t>
            </a:r>
            <a:r>
              <a:rPr lang="ru-RU" dirty="0"/>
              <a:t>(</a:t>
            </a:r>
            <a:r>
              <a:rPr lang="ru-RU" dirty="0" err="1"/>
              <a:t>deep</a:t>
            </a:r>
            <a:r>
              <a:rPr lang="ru-RU" dirty="0"/>
              <a:t>=True).</a:t>
            </a:r>
            <a:r>
              <a:rPr lang="ru-RU" dirty="0" err="1"/>
              <a:t>sum</a:t>
            </a:r>
            <a:r>
              <a:rPr lang="ru-RU" dirty="0"/>
              <a:t>() / 1024**2:.2f} MB")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Convert</a:t>
            </a:r>
            <a:r>
              <a:rPr lang="ru-RU" i="1" dirty="0"/>
              <a:t> </a:t>
            </a:r>
            <a:r>
              <a:rPr lang="ru-RU" i="1" dirty="0" err="1"/>
              <a:t>to</a:t>
            </a:r>
            <a:r>
              <a:rPr lang="ru-RU" i="1" dirty="0"/>
              <a:t> </a:t>
            </a:r>
            <a:r>
              <a:rPr lang="ru-RU" i="1" dirty="0" err="1"/>
              <a:t>efficient</a:t>
            </a:r>
            <a:r>
              <a:rPr lang="ru-RU" i="1" dirty="0"/>
              <a:t> </a:t>
            </a:r>
            <a:r>
              <a:rPr lang="ru-RU" i="1" dirty="0" err="1"/>
              <a:t>types</a:t>
            </a:r>
            <a:endParaRPr lang="ru-RU" dirty="0"/>
          </a:p>
          <a:p>
            <a:pPr latinLnBrk="1"/>
            <a:r>
              <a:rPr lang="ru-RU" dirty="0" err="1"/>
              <a:t>titanic_clean</a:t>
            </a:r>
            <a:r>
              <a:rPr lang="ru-RU" dirty="0"/>
              <a:t>['Sex'] = </a:t>
            </a:r>
            <a:r>
              <a:rPr lang="ru-RU" dirty="0" err="1"/>
              <a:t>titanic_clean</a:t>
            </a:r>
            <a:r>
              <a:rPr lang="ru-RU" dirty="0"/>
              <a:t>['Sex'].</a:t>
            </a:r>
            <a:r>
              <a:rPr lang="ru-RU" dirty="0" err="1"/>
              <a:t>astype</a:t>
            </a:r>
            <a:r>
              <a:rPr lang="ru-RU" dirty="0"/>
              <a:t>('</a:t>
            </a:r>
            <a:r>
              <a:rPr lang="ru-RU" dirty="0" err="1"/>
              <a:t>category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Embarked</a:t>
            </a:r>
            <a:r>
              <a:rPr lang="ru-RU" dirty="0"/>
              <a:t>'] = 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Embarked</a:t>
            </a:r>
            <a:r>
              <a:rPr lang="ru-RU" dirty="0"/>
              <a:t>'].</a:t>
            </a:r>
            <a:r>
              <a:rPr lang="ru-RU" dirty="0" err="1"/>
              <a:t>astype</a:t>
            </a:r>
            <a:r>
              <a:rPr lang="ru-RU" dirty="0"/>
              <a:t>('</a:t>
            </a:r>
            <a:r>
              <a:rPr lang="ru-RU" dirty="0" err="1"/>
              <a:t>category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Survived</a:t>
            </a:r>
            <a:r>
              <a:rPr lang="ru-RU" dirty="0"/>
              <a:t>'] = 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Survived</a:t>
            </a:r>
            <a:r>
              <a:rPr lang="ru-RU" dirty="0"/>
              <a:t>'].</a:t>
            </a:r>
            <a:r>
              <a:rPr lang="ru-RU" dirty="0" err="1"/>
              <a:t>astype</a:t>
            </a:r>
            <a:r>
              <a:rPr lang="ru-RU" dirty="0"/>
              <a:t>('</a:t>
            </a:r>
            <a:r>
              <a:rPr lang="ru-RU" dirty="0" err="1"/>
              <a:t>bool</a:t>
            </a:r>
            <a:r>
              <a:rPr lang="ru-RU" dirty="0"/>
              <a:t>')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After</a:t>
            </a:r>
            <a:r>
              <a:rPr lang="ru-RU" i="1" dirty="0"/>
              <a:t> </a:t>
            </a:r>
            <a:r>
              <a:rPr lang="ru-RU" i="1" dirty="0" err="1"/>
              <a:t>conversion</a:t>
            </a:r>
            <a:endParaRPr lang="ru-RU" dirty="0"/>
          </a:p>
          <a:p>
            <a:pPr latinLnBrk="1"/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f"Memory</a:t>
            </a:r>
            <a:r>
              <a:rPr lang="ru-RU" dirty="0"/>
              <a:t> </a:t>
            </a:r>
            <a:r>
              <a:rPr lang="ru-RU" dirty="0" err="1"/>
              <a:t>after</a:t>
            </a:r>
            <a:r>
              <a:rPr lang="ru-RU" dirty="0"/>
              <a:t>: {</a:t>
            </a:r>
            <a:r>
              <a:rPr lang="ru-RU" dirty="0" err="1"/>
              <a:t>titanic_clean.memory_usage</a:t>
            </a:r>
            <a:r>
              <a:rPr lang="ru-RU" dirty="0"/>
              <a:t>(</a:t>
            </a:r>
            <a:r>
              <a:rPr lang="ru-RU" dirty="0" err="1"/>
              <a:t>deep</a:t>
            </a:r>
            <a:r>
              <a:rPr lang="ru-RU" dirty="0"/>
              <a:t>=True).</a:t>
            </a:r>
            <a:r>
              <a:rPr lang="ru-RU" dirty="0" err="1"/>
              <a:t>sum</a:t>
            </a:r>
            <a:r>
              <a:rPr lang="ru-RU" dirty="0"/>
              <a:t>() / 1024**2:.2f} MB")</a:t>
            </a:r>
          </a:p>
          <a:p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f"Saved</a:t>
            </a:r>
            <a:r>
              <a:rPr lang="ru-RU" dirty="0"/>
              <a:t>: {(1 - (</a:t>
            </a:r>
            <a:r>
              <a:rPr lang="ru-RU" dirty="0" err="1"/>
              <a:t>after</a:t>
            </a:r>
            <a:r>
              <a:rPr lang="ru-RU" dirty="0"/>
              <a:t>/</a:t>
            </a:r>
            <a:r>
              <a:rPr lang="ru-RU" dirty="0" err="1"/>
              <a:t>before</a:t>
            </a:r>
            <a:r>
              <a:rPr lang="ru-RU" dirty="0"/>
              <a:t>)) * 100:.1f}% </a:t>
            </a:r>
            <a:r>
              <a:rPr lang="ru-RU" dirty="0" err="1"/>
              <a:t>memory</a:t>
            </a:r>
            <a:r>
              <a:rPr lang="ru-RU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3769165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07DC29-0ABA-19A7-564E-39731188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Summary</a:t>
            </a:r>
            <a:r>
              <a:rPr lang="ru-RU" dirty="0"/>
              <a:t> </a:t>
            </a:r>
            <a:r>
              <a:rPr lang="ru-RU" dirty="0" err="1"/>
              <a:t>Statistics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6BAEF3-0FA5-1533-8E27-7EFAEC575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The .</a:t>
            </a:r>
            <a:r>
              <a:rPr lang="ru-RU" b="1" dirty="0" err="1"/>
              <a:t>describe</a:t>
            </a:r>
            <a:r>
              <a:rPr lang="ru-RU" b="1" dirty="0"/>
              <a:t>() </a:t>
            </a:r>
            <a:r>
              <a:rPr lang="ru-RU" b="1" dirty="0" err="1"/>
              <a:t>Method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titanic_clean.describe</a:t>
            </a:r>
            <a:r>
              <a:rPr lang="ru-RU" dirty="0"/>
              <a:t>())</a:t>
            </a:r>
          </a:p>
          <a:p>
            <a:r>
              <a:rPr lang="ru-RU" b="1" dirty="0" err="1"/>
              <a:t>Output</a:t>
            </a:r>
            <a:r>
              <a:rPr lang="ru-RU" b="1" dirty="0"/>
              <a:t> </a:t>
            </a:r>
            <a:r>
              <a:rPr lang="ru-RU" b="1" dirty="0" err="1"/>
              <a:t>shows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Count</a:t>
            </a:r>
            <a:r>
              <a:rPr lang="ru-RU" dirty="0"/>
              <a:t>: Number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non-null</a:t>
            </a:r>
            <a:r>
              <a:rPr lang="ru-RU" dirty="0"/>
              <a:t> </a:t>
            </a:r>
            <a:r>
              <a:rPr lang="ru-RU" dirty="0" err="1"/>
              <a:t>values</a:t>
            </a:r>
            <a:endParaRPr lang="ru-RU" dirty="0"/>
          </a:p>
          <a:p>
            <a:pPr lvl="0"/>
            <a:r>
              <a:rPr lang="ru-RU" dirty="0" err="1"/>
              <a:t>Mean</a:t>
            </a:r>
            <a:r>
              <a:rPr lang="ru-RU" dirty="0"/>
              <a:t>: </a:t>
            </a:r>
            <a:r>
              <a:rPr lang="ru-RU" dirty="0" err="1"/>
              <a:t>Average</a:t>
            </a:r>
            <a:endParaRPr lang="ru-RU" dirty="0"/>
          </a:p>
          <a:p>
            <a:pPr lvl="0"/>
            <a:r>
              <a:rPr lang="ru-RU" dirty="0" err="1"/>
              <a:t>Std</a:t>
            </a:r>
            <a:r>
              <a:rPr lang="ru-RU" dirty="0"/>
              <a:t>: Standard </a:t>
            </a:r>
            <a:r>
              <a:rPr lang="ru-RU" dirty="0" err="1"/>
              <a:t>deviation</a:t>
            </a:r>
            <a:endParaRPr lang="ru-RU" dirty="0"/>
          </a:p>
          <a:p>
            <a:pPr lvl="0"/>
            <a:r>
              <a:rPr lang="ru-RU" dirty="0" err="1"/>
              <a:t>Min</a:t>
            </a:r>
            <a:r>
              <a:rPr lang="ru-RU" dirty="0"/>
              <a:t>/Max: Range</a:t>
            </a:r>
          </a:p>
          <a:p>
            <a:pPr lvl="0"/>
            <a:r>
              <a:rPr lang="ru-RU" dirty="0"/>
              <a:t>25%, 50%, 75%: </a:t>
            </a:r>
            <a:r>
              <a:rPr lang="ru-RU" dirty="0" err="1"/>
              <a:t>Quartiles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1199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D0EC20-5238-509C-B42F-C223946BB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Univariate</a:t>
            </a:r>
            <a:r>
              <a:rPr lang="ru-RU" dirty="0"/>
              <a:t> Analysis - What </a:t>
            </a:r>
            <a:r>
              <a:rPr lang="ru-RU" dirty="0" err="1"/>
              <a:t>Is</a:t>
            </a:r>
            <a:r>
              <a:rPr lang="ru-RU" dirty="0"/>
              <a:t> It?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ADC132-9A7F-2C0A-04F3-C455C813C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 err="1"/>
              <a:t>Analyzing</a:t>
            </a:r>
            <a:r>
              <a:rPr lang="ru-RU" b="1" dirty="0"/>
              <a:t> Single </a:t>
            </a:r>
            <a:r>
              <a:rPr lang="ru-RU" b="1" dirty="0" err="1"/>
              <a:t>Variables</a:t>
            </a:r>
            <a:r>
              <a:rPr lang="ru-RU" b="1" dirty="0"/>
              <a:t>:</a:t>
            </a:r>
            <a:endParaRPr lang="ru-RU" dirty="0"/>
          </a:p>
          <a:p>
            <a:r>
              <a:rPr lang="ru-RU" b="1" dirty="0"/>
              <a:t>For </a:t>
            </a:r>
            <a:r>
              <a:rPr lang="ru-RU" b="1" dirty="0" err="1"/>
              <a:t>Numeric</a:t>
            </a:r>
            <a:r>
              <a:rPr lang="ru-RU" b="1" dirty="0"/>
              <a:t> </a:t>
            </a:r>
            <a:r>
              <a:rPr lang="ru-RU" b="1" dirty="0" err="1"/>
              <a:t>Variables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/>
              <a:t>Distribution </a:t>
            </a:r>
            <a:r>
              <a:rPr lang="ru-RU" dirty="0" err="1"/>
              <a:t>shape</a:t>
            </a:r>
            <a:endParaRPr lang="ru-RU" dirty="0"/>
          </a:p>
          <a:p>
            <a:pPr lvl="0"/>
            <a:r>
              <a:rPr lang="ru-RU" dirty="0"/>
              <a:t>Central </a:t>
            </a:r>
            <a:r>
              <a:rPr lang="ru-RU" dirty="0" err="1"/>
              <a:t>tendency</a:t>
            </a:r>
            <a:r>
              <a:rPr lang="ru-RU" dirty="0"/>
              <a:t> (</a:t>
            </a:r>
            <a:r>
              <a:rPr lang="ru-RU" dirty="0" err="1"/>
              <a:t>mean</a:t>
            </a:r>
            <a:r>
              <a:rPr lang="ru-RU" dirty="0"/>
              <a:t>, </a:t>
            </a:r>
            <a:r>
              <a:rPr lang="ru-RU" dirty="0" err="1"/>
              <a:t>median</a:t>
            </a:r>
            <a:r>
              <a:rPr lang="ru-RU" dirty="0"/>
              <a:t>)</a:t>
            </a:r>
          </a:p>
          <a:p>
            <a:pPr lvl="0"/>
            <a:r>
              <a:rPr lang="ru-RU" dirty="0" err="1"/>
              <a:t>Spread</a:t>
            </a:r>
            <a:r>
              <a:rPr lang="ru-RU" dirty="0"/>
              <a:t> (</a:t>
            </a:r>
            <a:r>
              <a:rPr lang="ru-RU" dirty="0" err="1"/>
              <a:t>variance</a:t>
            </a:r>
            <a:r>
              <a:rPr lang="ru-RU" dirty="0"/>
              <a:t>, </a:t>
            </a:r>
            <a:r>
              <a:rPr lang="ru-RU" dirty="0" err="1"/>
              <a:t>range</a:t>
            </a:r>
            <a:r>
              <a:rPr lang="ru-RU" dirty="0"/>
              <a:t>)</a:t>
            </a:r>
          </a:p>
          <a:p>
            <a:pPr lvl="0"/>
            <a:r>
              <a:rPr lang="ru-RU" dirty="0" err="1"/>
              <a:t>Outliers</a:t>
            </a:r>
            <a:endParaRPr lang="ru-RU" dirty="0"/>
          </a:p>
          <a:p>
            <a:r>
              <a:rPr lang="ru-RU" b="1" dirty="0"/>
              <a:t>For </a:t>
            </a:r>
            <a:r>
              <a:rPr lang="ru-RU" b="1" dirty="0" err="1"/>
              <a:t>Categorical</a:t>
            </a:r>
            <a:r>
              <a:rPr lang="ru-RU" b="1" dirty="0"/>
              <a:t> </a:t>
            </a:r>
            <a:r>
              <a:rPr lang="ru-RU" b="1" dirty="0" err="1"/>
              <a:t>Variables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/>
              <a:t>Frequency </a:t>
            </a:r>
            <a:r>
              <a:rPr lang="ru-RU" dirty="0" err="1"/>
              <a:t>counts</a:t>
            </a:r>
            <a:endParaRPr lang="ru-RU" dirty="0"/>
          </a:p>
          <a:p>
            <a:pPr lvl="0"/>
            <a:r>
              <a:rPr lang="ru-RU" dirty="0" err="1"/>
              <a:t>Proportions</a:t>
            </a:r>
            <a:endParaRPr lang="ru-RU" dirty="0"/>
          </a:p>
          <a:p>
            <a:pPr lvl="0"/>
            <a:r>
              <a:rPr lang="ru-RU" dirty="0" err="1"/>
              <a:t>Most</a:t>
            </a:r>
            <a:r>
              <a:rPr lang="ru-RU" dirty="0"/>
              <a:t> </a:t>
            </a:r>
            <a:r>
              <a:rPr lang="ru-RU" dirty="0" err="1"/>
              <a:t>common</a:t>
            </a:r>
            <a:r>
              <a:rPr lang="ru-RU" dirty="0"/>
              <a:t> </a:t>
            </a:r>
            <a:r>
              <a:rPr lang="ru-RU" dirty="0" err="1"/>
              <a:t>values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4981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538A6C-9FF3-5910-F320-117D6DCEA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Analyzing</a:t>
            </a:r>
            <a:r>
              <a:rPr lang="ru-RU" dirty="0"/>
              <a:t> </a:t>
            </a:r>
            <a:r>
              <a:rPr lang="ru-RU" dirty="0" err="1"/>
              <a:t>Age</a:t>
            </a:r>
            <a:r>
              <a:rPr lang="ru-RU" dirty="0"/>
              <a:t> Distribution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21A83D-ACA0-D03A-9E97-474171169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err="1"/>
              <a:t>Histogram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=(10, 6))</a:t>
            </a:r>
          </a:p>
          <a:p>
            <a:pPr latinLnBrk="1"/>
            <a:r>
              <a:rPr lang="ru-RU" dirty="0" err="1"/>
              <a:t>plt.hist</a:t>
            </a:r>
            <a:r>
              <a:rPr lang="ru-RU" dirty="0"/>
              <a:t>(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Age</a:t>
            </a:r>
            <a:r>
              <a:rPr lang="ru-RU" dirty="0"/>
              <a:t>'], </a:t>
            </a:r>
            <a:r>
              <a:rPr lang="ru-RU" dirty="0" err="1"/>
              <a:t>bins</a:t>
            </a:r>
            <a:r>
              <a:rPr lang="ru-RU" dirty="0"/>
              <a:t>=30, </a:t>
            </a:r>
            <a:r>
              <a:rPr lang="ru-RU" dirty="0" err="1"/>
              <a:t>edgecolor</a:t>
            </a:r>
            <a:r>
              <a:rPr lang="ru-RU" dirty="0"/>
              <a:t>='</a:t>
            </a:r>
            <a:r>
              <a:rPr lang="ru-RU" dirty="0" err="1"/>
              <a:t>black</a:t>
            </a:r>
            <a:r>
              <a:rPr lang="ru-RU" dirty="0"/>
              <a:t>', </a:t>
            </a:r>
            <a:r>
              <a:rPr lang="ru-RU" dirty="0" err="1"/>
              <a:t>alpha</a:t>
            </a:r>
            <a:r>
              <a:rPr lang="ru-RU" dirty="0"/>
              <a:t>=0.7)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Age</a:t>
            </a:r>
            <a:r>
              <a:rPr lang="ru-RU" dirty="0"/>
              <a:t> Distribution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Titanic</a:t>
            </a:r>
            <a:r>
              <a:rPr lang="ru-RU" dirty="0"/>
              <a:t> </a:t>
            </a:r>
            <a:r>
              <a:rPr lang="ru-RU" dirty="0" err="1"/>
              <a:t>Passengers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plt.xlabel</a:t>
            </a:r>
            <a:r>
              <a:rPr lang="ru-RU" dirty="0"/>
              <a:t>('</a:t>
            </a:r>
            <a:r>
              <a:rPr lang="ru-RU" dirty="0" err="1"/>
              <a:t>Age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plt.ylabel</a:t>
            </a:r>
            <a:r>
              <a:rPr lang="ru-RU" dirty="0"/>
              <a:t>('</a:t>
            </a:r>
            <a:r>
              <a:rPr lang="ru-RU" dirty="0" err="1"/>
              <a:t>Count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plt.grid</a:t>
            </a:r>
            <a:r>
              <a:rPr lang="ru-RU" dirty="0"/>
              <a:t>(True, </a:t>
            </a:r>
            <a:r>
              <a:rPr lang="ru-RU" dirty="0" err="1"/>
              <a:t>alpha</a:t>
            </a:r>
            <a:r>
              <a:rPr lang="ru-RU" dirty="0"/>
              <a:t>=0.3)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r>
              <a:rPr lang="ru-RU" i="1" dirty="0"/>
              <a:t>[Image: </a:t>
            </a:r>
            <a:r>
              <a:rPr lang="ru-RU" i="1" dirty="0" err="1"/>
              <a:t>Histogram</a:t>
            </a:r>
            <a:r>
              <a:rPr lang="ru-RU" i="1" dirty="0"/>
              <a:t> </a:t>
            </a:r>
            <a:r>
              <a:rPr lang="ru-RU" i="1" dirty="0" err="1"/>
              <a:t>of</a:t>
            </a:r>
            <a:r>
              <a:rPr lang="ru-RU" i="1" dirty="0"/>
              <a:t> </a:t>
            </a:r>
            <a:r>
              <a:rPr lang="ru-RU" i="1" dirty="0" err="1"/>
              <a:t>ages</a:t>
            </a:r>
            <a:r>
              <a:rPr lang="ru-RU" i="1" dirty="0"/>
              <a:t>]</a:t>
            </a:r>
            <a:endParaRPr lang="ru-RU" dirty="0"/>
          </a:p>
          <a:p>
            <a:pPr lvl="1"/>
            <a:r>
              <a:rPr lang="ru-RU" b="1" dirty="0" err="1"/>
              <a:t>Insights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 err="1"/>
              <a:t>Most</a:t>
            </a:r>
            <a:r>
              <a:rPr lang="ru-RU" dirty="0"/>
              <a:t> </a:t>
            </a:r>
            <a:r>
              <a:rPr lang="ru-RU" dirty="0" err="1"/>
              <a:t>passengers</a:t>
            </a:r>
            <a:r>
              <a:rPr lang="ru-RU" dirty="0"/>
              <a:t>: 20-40 </a:t>
            </a:r>
            <a:r>
              <a:rPr lang="ru-RU" dirty="0" err="1"/>
              <a:t>years</a:t>
            </a:r>
            <a:endParaRPr lang="ru-RU" dirty="0"/>
          </a:p>
          <a:p>
            <a:pPr lvl="1"/>
            <a:r>
              <a:rPr lang="ru-RU" dirty="0" err="1"/>
              <a:t>Few</a:t>
            </a:r>
            <a:r>
              <a:rPr lang="ru-RU" dirty="0"/>
              <a:t> </a:t>
            </a:r>
            <a:r>
              <a:rPr lang="ru-RU" dirty="0" err="1"/>
              <a:t>children</a:t>
            </a:r>
            <a:r>
              <a:rPr lang="ru-RU" dirty="0"/>
              <a:t> (&lt;10)</a:t>
            </a:r>
          </a:p>
          <a:p>
            <a:pPr lvl="1"/>
            <a:r>
              <a:rPr lang="ru-RU" dirty="0" err="1"/>
              <a:t>Few</a:t>
            </a:r>
            <a:r>
              <a:rPr lang="ru-RU" dirty="0"/>
              <a:t> </a:t>
            </a:r>
            <a:r>
              <a:rPr lang="ru-RU" dirty="0" err="1"/>
              <a:t>elderly</a:t>
            </a:r>
            <a:r>
              <a:rPr lang="ru-RU" dirty="0"/>
              <a:t> (&gt;60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1802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9C2CCA-1169-5CC5-14C3-FE0B140C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Analyzing</a:t>
            </a:r>
            <a:r>
              <a:rPr lang="ru-RU" dirty="0"/>
              <a:t> </a:t>
            </a:r>
            <a:r>
              <a:rPr lang="ru-RU" dirty="0" err="1"/>
              <a:t>Fare</a:t>
            </a:r>
            <a:r>
              <a:rPr lang="ru-RU" dirty="0"/>
              <a:t> Distribution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BDF25F-517E-E1AD-3ADF-8709F6A57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sz="3300" b="1" dirty="0"/>
              <a:t>Box </a:t>
            </a:r>
            <a:r>
              <a:rPr lang="ru-RU" sz="3300" b="1" dirty="0" err="1"/>
              <a:t>Plot</a:t>
            </a:r>
            <a:r>
              <a:rPr lang="ru-RU" sz="3300" b="1" dirty="0"/>
              <a:t> </a:t>
            </a:r>
            <a:r>
              <a:rPr lang="ru-RU" sz="3300" b="1" dirty="0" err="1"/>
              <a:t>for</a:t>
            </a:r>
            <a:r>
              <a:rPr lang="ru-RU" sz="3300" b="1" dirty="0"/>
              <a:t> </a:t>
            </a:r>
            <a:r>
              <a:rPr lang="ru-RU" sz="3300" b="1" dirty="0" err="1"/>
              <a:t>Outliers</a:t>
            </a:r>
            <a:r>
              <a:rPr lang="ru-RU" sz="3300" b="1" dirty="0"/>
              <a:t>:</a:t>
            </a:r>
            <a:endParaRPr lang="ru-RU" dirty="0"/>
          </a:p>
          <a:p>
            <a:pPr latinLnBrk="1"/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=(8, 6))</a:t>
            </a:r>
          </a:p>
          <a:p>
            <a:pPr latinLnBrk="1"/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Fare</a:t>
            </a:r>
            <a:r>
              <a:rPr lang="ru-RU" dirty="0"/>
              <a:t>'].</a:t>
            </a:r>
            <a:r>
              <a:rPr lang="ru-RU" dirty="0" err="1"/>
              <a:t>plot</a:t>
            </a:r>
            <a:r>
              <a:rPr lang="ru-RU" dirty="0"/>
              <a:t>(</a:t>
            </a:r>
            <a:r>
              <a:rPr lang="ru-RU" dirty="0" err="1"/>
              <a:t>kind</a:t>
            </a:r>
            <a:r>
              <a:rPr lang="ru-RU" dirty="0"/>
              <a:t>='</a:t>
            </a:r>
            <a:r>
              <a:rPr lang="ru-RU" dirty="0" err="1"/>
              <a:t>box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Fare</a:t>
            </a:r>
            <a:r>
              <a:rPr lang="ru-RU" dirty="0"/>
              <a:t> Distribution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Outliers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plt.ylabel</a:t>
            </a:r>
            <a:r>
              <a:rPr lang="ru-RU" dirty="0"/>
              <a:t>('</a:t>
            </a:r>
            <a:r>
              <a:rPr lang="ru-RU" dirty="0" err="1"/>
              <a:t>Fare</a:t>
            </a:r>
            <a:r>
              <a:rPr lang="ru-RU" dirty="0"/>
              <a:t> (USD)')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r>
              <a:rPr lang="ru-RU" sz="3300" b="1" dirty="0" err="1"/>
              <a:t>Histogram</a:t>
            </a:r>
            <a:r>
              <a:rPr lang="ru-RU" sz="3300" b="1" dirty="0"/>
              <a:t> (</a:t>
            </a:r>
            <a:r>
              <a:rPr lang="ru-RU" sz="3300" b="1" dirty="0" err="1"/>
              <a:t>Log</a:t>
            </a:r>
            <a:r>
              <a:rPr lang="ru-RU" sz="3300" b="1" dirty="0"/>
              <a:t> </a:t>
            </a:r>
            <a:r>
              <a:rPr lang="ru-RU" sz="3300" b="1" dirty="0" err="1"/>
              <a:t>Scale</a:t>
            </a:r>
            <a:r>
              <a:rPr lang="ru-RU" sz="3300" b="1" dirty="0"/>
              <a:t>):</a:t>
            </a:r>
            <a:endParaRPr lang="ru-RU" dirty="0"/>
          </a:p>
          <a:p>
            <a:pPr latinLnBrk="1"/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=(10, 6))</a:t>
            </a:r>
          </a:p>
          <a:p>
            <a:pPr latinLnBrk="1"/>
            <a:r>
              <a:rPr lang="ru-RU" dirty="0" err="1"/>
              <a:t>plt.hist</a:t>
            </a:r>
            <a:r>
              <a:rPr lang="ru-RU" dirty="0"/>
              <a:t>(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Fare</a:t>
            </a:r>
            <a:r>
              <a:rPr lang="ru-RU" dirty="0"/>
              <a:t>'], </a:t>
            </a:r>
            <a:r>
              <a:rPr lang="ru-RU" dirty="0" err="1"/>
              <a:t>bins</a:t>
            </a:r>
            <a:r>
              <a:rPr lang="ru-RU" dirty="0"/>
              <a:t>=50, </a:t>
            </a:r>
            <a:r>
              <a:rPr lang="ru-RU" dirty="0" err="1"/>
              <a:t>edgecolor</a:t>
            </a:r>
            <a:r>
              <a:rPr lang="ru-RU" dirty="0"/>
              <a:t>='</a:t>
            </a:r>
            <a:r>
              <a:rPr lang="ru-RU" dirty="0" err="1"/>
              <a:t>black</a:t>
            </a:r>
            <a:r>
              <a:rPr lang="ru-RU" dirty="0"/>
              <a:t>', </a:t>
            </a:r>
            <a:r>
              <a:rPr lang="ru-RU" dirty="0" err="1"/>
              <a:t>alpha</a:t>
            </a:r>
            <a:r>
              <a:rPr lang="ru-RU" dirty="0"/>
              <a:t>=0.7, </a:t>
            </a:r>
            <a:r>
              <a:rPr lang="ru-RU" dirty="0" err="1"/>
              <a:t>log</a:t>
            </a:r>
            <a:r>
              <a:rPr lang="ru-RU" dirty="0"/>
              <a:t>=True)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Fare</a:t>
            </a:r>
            <a:r>
              <a:rPr lang="ru-RU" dirty="0"/>
              <a:t> Distribution (</a:t>
            </a:r>
            <a:r>
              <a:rPr lang="ru-RU" dirty="0" err="1"/>
              <a:t>Log</a:t>
            </a:r>
            <a:r>
              <a:rPr lang="ru-RU" dirty="0"/>
              <a:t> </a:t>
            </a:r>
            <a:r>
              <a:rPr lang="ru-RU" dirty="0" err="1"/>
              <a:t>Scale</a:t>
            </a:r>
            <a:r>
              <a:rPr lang="ru-RU" dirty="0"/>
              <a:t>)')</a:t>
            </a:r>
          </a:p>
          <a:p>
            <a:pPr latinLnBrk="1"/>
            <a:r>
              <a:rPr lang="ru-RU" dirty="0" err="1"/>
              <a:t>plt.xlabel</a:t>
            </a:r>
            <a:r>
              <a:rPr lang="ru-RU" dirty="0"/>
              <a:t>('</a:t>
            </a:r>
            <a:r>
              <a:rPr lang="ru-RU" dirty="0" err="1"/>
              <a:t>Fare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plt.ylabel</a:t>
            </a:r>
            <a:r>
              <a:rPr lang="ru-RU" dirty="0"/>
              <a:t>('</a:t>
            </a:r>
            <a:r>
              <a:rPr lang="ru-RU" dirty="0" err="1"/>
              <a:t>Count</a:t>
            </a:r>
            <a:r>
              <a:rPr lang="ru-RU" dirty="0"/>
              <a:t> (</a:t>
            </a:r>
            <a:r>
              <a:rPr lang="ru-RU" dirty="0" err="1"/>
              <a:t>Log</a:t>
            </a:r>
            <a:r>
              <a:rPr lang="ru-RU" dirty="0"/>
              <a:t> </a:t>
            </a:r>
            <a:r>
              <a:rPr lang="ru-RU" dirty="0" err="1"/>
              <a:t>Scale</a:t>
            </a:r>
            <a:r>
              <a:rPr lang="ru-RU" dirty="0"/>
              <a:t>)')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137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E69D82-081C-87E5-4696-BA99AFF31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Categorical</a:t>
            </a:r>
            <a:r>
              <a:rPr lang="ru-RU" dirty="0"/>
              <a:t> Analysis: </a:t>
            </a:r>
            <a:r>
              <a:rPr lang="ru-RU" dirty="0" err="1"/>
              <a:t>Passenger</a:t>
            </a:r>
            <a:r>
              <a:rPr lang="ru-RU" dirty="0"/>
              <a:t> Class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CEE7E4-C0A3-0DC0-C48B-28E5D2BE4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 err="1"/>
              <a:t>Bar</a:t>
            </a:r>
            <a:r>
              <a:rPr lang="ru-RU" b="1" dirty="0"/>
              <a:t> </a:t>
            </a:r>
            <a:r>
              <a:rPr lang="ru-RU" b="1" dirty="0" err="1"/>
              <a:t>Chart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dirty="0" err="1"/>
              <a:t>class_counts</a:t>
            </a:r>
            <a:r>
              <a:rPr lang="ru-RU" dirty="0"/>
              <a:t> = 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Pclass</a:t>
            </a:r>
            <a:r>
              <a:rPr lang="ru-RU" dirty="0"/>
              <a:t>'].</a:t>
            </a:r>
            <a:r>
              <a:rPr lang="ru-RU" dirty="0" err="1"/>
              <a:t>value_counts</a:t>
            </a:r>
            <a:r>
              <a:rPr lang="ru-RU" dirty="0"/>
              <a:t>().</a:t>
            </a:r>
            <a:r>
              <a:rPr lang="ru-RU" dirty="0" err="1"/>
              <a:t>sort_index</a:t>
            </a:r>
            <a:r>
              <a:rPr lang="ru-RU" dirty="0"/>
              <a:t>()</a:t>
            </a:r>
          </a:p>
          <a:p>
            <a:pPr marL="0" indent="0" latinLnBrk="1">
              <a:buNone/>
            </a:pPr>
            <a:endParaRPr lang="ru-RU" dirty="0"/>
          </a:p>
          <a:p>
            <a:pPr latinLnBrk="1"/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=(8, 6))</a:t>
            </a:r>
          </a:p>
          <a:p>
            <a:pPr latinLnBrk="1"/>
            <a:r>
              <a:rPr lang="ru-RU" dirty="0" err="1"/>
              <a:t>class_counts.plot</a:t>
            </a:r>
            <a:r>
              <a:rPr lang="ru-RU" dirty="0"/>
              <a:t>(</a:t>
            </a:r>
            <a:r>
              <a:rPr lang="ru-RU" dirty="0" err="1"/>
              <a:t>kind</a:t>
            </a:r>
            <a:r>
              <a:rPr lang="ru-RU" dirty="0"/>
              <a:t>='</a:t>
            </a:r>
            <a:r>
              <a:rPr lang="ru-RU" dirty="0" err="1"/>
              <a:t>bar</a:t>
            </a:r>
            <a:r>
              <a:rPr lang="ru-RU" dirty="0"/>
              <a:t>', </a:t>
            </a:r>
            <a:r>
              <a:rPr lang="ru-RU" dirty="0" err="1"/>
              <a:t>color</a:t>
            </a:r>
            <a:r>
              <a:rPr lang="ru-RU" dirty="0"/>
              <a:t>=['</a:t>
            </a:r>
            <a:r>
              <a:rPr lang="ru-RU" dirty="0" err="1"/>
              <a:t>gold</a:t>
            </a:r>
            <a:r>
              <a:rPr lang="ru-RU" dirty="0"/>
              <a:t>', '</a:t>
            </a:r>
            <a:r>
              <a:rPr lang="ru-RU" dirty="0" err="1"/>
              <a:t>silver</a:t>
            </a:r>
            <a:r>
              <a:rPr lang="ru-RU" dirty="0"/>
              <a:t>', '</a:t>
            </a:r>
            <a:r>
              <a:rPr lang="ru-RU" dirty="0" err="1"/>
              <a:t>brown</a:t>
            </a:r>
            <a:r>
              <a:rPr lang="ru-RU" dirty="0"/>
              <a:t>'])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Passenger</a:t>
            </a:r>
            <a:r>
              <a:rPr lang="ru-RU" dirty="0"/>
              <a:t> Distribution </a:t>
            </a:r>
            <a:r>
              <a:rPr lang="ru-RU" dirty="0" err="1"/>
              <a:t>by</a:t>
            </a:r>
            <a:r>
              <a:rPr lang="ru-RU" dirty="0"/>
              <a:t> Class')</a:t>
            </a:r>
          </a:p>
          <a:p>
            <a:pPr latinLnBrk="1"/>
            <a:r>
              <a:rPr lang="ru-RU" dirty="0" err="1"/>
              <a:t>plt.xlabel</a:t>
            </a:r>
            <a:r>
              <a:rPr lang="ru-RU" dirty="0"/>
              <a:t>('Class (1=First, 3=</a:t>
            </a:r>
            <a:r>
              <a:rPr lang="ru-RU" dirty="0" err="1"/>
              <a:t>Third</a:t>
            </a:r>
            <a:r>
              <a:rPr lang="ru-RU" dirty="0"/>
              <a:t>)')</a:t>
            </a:r>
          </a:p>
          <a:p>
            <a:pPr latinLnBrk="1"/>
            <a:r>
              <a:rPr lang="ru-RU" dirty="0" err="1"/>
              <a:t>plt.ylabel</a:t>
            </a:r>
            <a:r>
              <a:rPr lang="ru-RU" dirty="0"/>
              <a:t>('Number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Passengers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plt.xticks</a:t>
            </a:r>
            <a:r>
              <a:rPr lang="ru-RU" dirty="0"/>
              <a:t>(</a:t>
            </a:r>
            <a:r>
              <a:rPr lang="ru-RU" dirty="0" err="1"/>
              <a:t>rotation</a:t>
            </a:r>
            <a:r>
              <a:rPr lang="ru-RU" dirty="0"/>
              <a:t>=0)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pPr lvl="1"/>
            <a:r>
              <a:rPr lang="ru-RU" b="1" dirty="0" err="1"/>
              <a:t>Proportions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First Class: 24%</a:t>
            </a:r>
          </a:p>
          <a:p>
            <a:pPr lvl="1"/>
            <a:r>
              <a:rPr lang="ru-RU" dirty="0"/>
              <a:t>Second Class: 21%</a:t>
            </a:r>
          </a:p>
          <a:p>
            <a:pPr lvl="1"/>
            <a:r>
              <a:rPr lang="ru-RU" dirty="0" err="1"/>
              <a:t>Third</a:t>
            </a:r>
            <a:r>
              <a:rPr lang="ru-RU" dirty="0"/>
              <a:t> Class: 55%</a:t>
            </a:r>
          </a:p>
        </p:txBody>
      </p:sp>
    </p:spTree>
    <p:extLst>
      <p:ext uri="{BB962C8B-B14F-4D97-AF65-F5344CB8AC3E}">
        <p14:creationId xmlns:p14="http://schemas.microsoft.com/office/powerpoint/2010/main" val="441703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F40E1-88B7-387B-6C0A-0781F8F12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Categorical</a:t>
            </a:r>
            <a:r>
              <a:rPr lang="ru-RU" dirty="0"/>
              <a:t> Analysis: </a:t>
            </a:r>
            <a:r>
              <a:rPr lang="ru-RU" dirty="0" err="1"/>
              <a:t>Gender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516359-15F4-F26F-77A6-F585E653F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Simple </a:t>
            </a:r>
            <a:r>
              <a:rPr lang="ru-RU" b="1" dirty="0" err="1"/>
              <a:t>Bar</a:t>
            </a:r>
            <a:r>
              <a:rPr lang="ru-RU" b="1" dirty="0"/>
              <a:t> </a:t>
            </a:r>
            <a:r>
              <a:rPr lang="ru-RU" b="1" dirty="0" err="1"/>
              <a:t>Chart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dirty="0" err="1"/>
              <a:t>gender_counts</a:t>
            </a:r>
            <a:r>
              <a:rPr lang="ru-RU" dirty="0"/>
              <a:t> = </a:t>
            </a:r>
            <a:r>
              <a:rPr lang="ru-RU" dirty="0" err="1"/>
              <a:t>titanic_clean</a:t>
            </a:r>
            <a:r>
              <a:rPr lang="ru-RU" dirty="0"/>
              <a:t>['Sex'].</a:t>
            </a:r>
            <a:r>
              <a:rPr lang="ru-RU" dirty="0" err="1"/>
              <a:t>value_counts</a:t>
            </a:r>
            <a:r>
              <a:rPr lang="ru-RU" dirty="0"/>
              <a:t>()</a:t>
            </a:r>
          </a:p>
          <a:p>
            <a:pPr marL="0" indent="0" latinLnBrk="1">
              <a:buNone/>
            </a:pPr>
            <a:endParaRPr lang="ru-RU" dirty="0"/>
          </a:p>
          <a:p>
            <a:pPr latinLnBrk="1"/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=(8, 6))</a:t>
            </a:r>
          </a:p>
          <a:p>
            <a:pPr latinLnBrk="1"/>
            <a:r>
              <a:rPr lang="ru-RU" dirty="0" err="1"/>
              <a:t>gender_counts.plot</a:t>
            </a:r>
            <a:r>
              <a:rPr lang="ru-RU" dirty="0"/>
              <a:t>(</a:t>
            </a:r>
            <a:r>
              <a:rPr lang="ru-RU" dirty="0" err="1"/>
              <a:t>kind</a:t>
            </a:r>
            <a:r>
              <a:rPr lang="ru-RU" dirty="0"/>
              <a:t>='</a:t>
            </a:r>
            <a:r>
              <a:rPr lang="ru-RU" dirty="0" err="1"/>
              <a:t>bar</a:t>
            </a:r>
            <a:r>
              <a:rPr lang="ru-RU" dirty="0"/>
              <a:t>', </a:t>
            </a:r>
            <a:r>
              <a:rPr lang="ru-RU" dirty="0" err="1"/>
              <a:t>color</a:t>
            </a:r>
            <a:r>
              <a:rPr lang="ru-RU" dirty="0"/>
              <a:t>=['</a:t>
            </a:r>
            <a:r>
              <a:rPr lang="ru-RU" dirty="0" err="1"/>
              <a:t>lightblue</a:t>
            </a:r>
            <a:r>
              <a:rPr lang="ru-RU" dirty="0"/>
              <a:t>', '</a:t>
            </a:r>
            <a:r>
              <a:rPr lang="ru-RU" dirty="0" err="1"/>
              <a:t>pink</a:t>
            </a:r>
            <a:r>
              <a:rPr lang="ru-RU" dirty="0"/>
              <a:t>'])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Gender</a:t>
            </a:r>
            <a:r>
              <a:rPr lang="ru-RU" dirty="0"/>
              <a:t> Distribution')</a:t>
            </a:r>
          </a:p>
          <a:p>
            <a:pPr latinLnBrk="1"/>
            <a:r>
              <a:rPr lang="ru-RU" dirty="0" err="1"/>
              <a:t>plt.xlabel</a:t>
            </a:r>
            <a:r>
              <a:rPr lang="ru-RU" dirty="0"/>
              <a:t>('</a:t>
            </a:r>
            <a:r>
              <a:rPr lang="ru-RU" dirty="0" err="1"/>
              <a:t>Gender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plt.ylabel</a:t>
            </a:r>
            <a:r>
              <a:rPr lang="ru-RU" dirty="0"/>
              <a:t>('</a:t>
            </a:r>
            <a:r>
              <a:rPr lang="ru-RU" dirty="0" err="1"/>
              <a:t>Count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pPr lvl="1"/>
            <a:r>
              <a:rPr lang="ru-RU" b="1" dirty="0" err="1"/>
              <a:t>Statistics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 err="1"/>
              <a:t>Male</a:t>
            </a:r>
            <a:r>
              <a:rPr lang="ru-RU" dirty="0"/>
              <a:t>: 577 (65%)</a:t>
            </a:r>
          </a:p>
          <a:p>
            <a:pPr lvl="1"/>
            <a:r>
              <a:rPr lang="ru-RU" dirty="0" err="1"/>
              <a:t>Female</a:t>
            </a:r>
            <a:r>
              <a:rPr lang="ru-RU" dirty="0"/>
              <a:t>: 314 (35%)</a:t>
            </a:r>
          </a:p>
          <a:p>
            <a:pPr lvl="1"/>
            <a:r>
              <a:rPr lang="ru-RU" dirty="0" err="1"/>
              <a:t>Ratio</a:t>
            </a:r>
            <a:r>
              <a:rPr lang="ru-RU" dirty="0"/>
              <a:t>: ~2:1 </a:t>
            </a:r>
            <a:r>
              <a:rPr lang="ru-RU" dirty="0" err="1"/>
              <a:t>male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female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3211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4B25FB-6753-A2CC-2DEF-7FAEF116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Bivariate</a:t>
            </a:r>
            <a:r>
              <a:rPr lang="ru-RU" dirty="0"/>
              <a:t> Analysis - </a:t>
            </a:r>
            <a:r>
              <a:rPr lang="ru-RU" dirty="0" err="1"/>
              <a:t>Understanding</a:t>
            </a:r>
            <a:r>
              <a:rPr lang="ru-RU" dirty="0"/>
              <a:t> </a:t>
            </a:r>
            <a:r>
              <a:rPr lang="ru-RU" dirty="0" err="1"/>
              <a:t>Relationships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3FF6A6-B3D3-DEC2-5D62-DD12378EE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err="1"/>
              <a:t>Three</a:t>
            </a:r>
            <a:r>
              <a:rPr lang="ru-RU" b="1" dirty="0"/>
              <a:t> </a:t>
            </a:r>
            <a:r>
              <a:rPr lang="ru-RU" b="1" dirty="0" err="1"/>
              <a:t>Types</a:t>
            </a:r>
            <a:r>
              <a:rPr lang="ru-RU" b="1" dirty="0"/>
              <a:t> </a:t>
            </a:r>
            <a:r>
              <a:rPr lang="ru-RU" b="1" dirty="0" err="1"/>
              <a:t>of</a:t>
            </a:r>
            <a:r>
              <a:rPr lang="ru-RU" b="1" dirty="0"/>
              <a:t> </a:t>
            </a:r>
            <a:r>
              <a:rPr lang="ru-RU" b="1" dirty="0" err="1"/>
              <a:t>Relationships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 err="1"/>
              <a:t>Numeric</a:t>
            </a:r>
            <a:r>
              <a:rPr lang="ru-RU" b="1" dirty="0"/>
              <a:t> </a:t>
            </a:r>
            <a:r>
              <a:rPr lang="ru-RU" b="1" dirty="0" err="1"/>
              <a:t>vs</a:t>
            </a:r>
            <a:r>
              <a:rPr lang="ru-RU" b="1" dirty="0"/>
              <a:t> </a:t>
            </a:r>
            <a:r>
              <a:rPr lang="ru-RU" b="1" dirty="0" err="1"/>
              <a:t>Numeric</a:t>
            </a:r>
            <a:endParaRPr lang="ru-RU" dirty="0"/>
          </a:p>
          <a:p>
            <a:pPr lvl="1"/>
            <a:r>
              <a:rPr lang="ru-RU" dirty="0" err="1"/>
              <a:t>Scatter</a:t>
            </a:r>
            <a:r>
              <a:rPr lang="ru-RU" dirty="0"/>
              <a:t> </a:t>
            </a:r>
            <a:r>
              <a:rPr lang="ru-RU" dirty="0" err="1"/>
              <a:t>plots</a:t>
            </a:r>
            <a:endParaRPr lang="ru-RU" dirty="0"/>
          </a:p>
          <a:p>
            <a:pPr lvl="1"/>
            <a:r>
              <a:rPr lang="ru-RU" dirty="0" err="1"/>
              <a:t>Correlation</a:t>
            </a:r>
            <a:r>
              <a:rPr lang="ru-RU" dirty="0"/>
              <a:t> </a:t>
            </a:r>
            <a:r>
              <a:rPr lang="ru-RU" dirty="0" err="1"/>
              <a:t>coefficients</a:t>
            </a:r>
            <a:endParaRPr lang="ru-RU" dirty="0"/>
          </a:p>
          <a:p>
            <a:pPr lvl="0"/>
            <a:r>
              <a:rPr lang="ru-RU" b="1" dirty="0" err="1"/>
              <a:t>Numeric</a:t>
            </a:r>
            <a:r>
              <a:rPr lang="ru-RU" b="1" dirty="0"/>
              <a:t> </a:t>
            </a:r>
            <a:r>
              <a:rPr lang="ru-RU" b="1" dirty="0" err="1"/>
              <a:t>vs</a:t>
            </a:r>
            <a:r>
              <a:rPr lang="ru-RU" b="1" dirty="0"/>
              <a:t> </a:t>
            </a:r>
            <a:r>
              <a:rPr lang="ru-RU" b="1" dirty="0" err="1"/>
              <a:t>Categorical</a:t>
            </a:r>
            <a:endParaRPr lang="ru-RU" dirty="0"/>
          </a:p>
          <a:p>
            <a:pPr lvl="1"/>
            <a:r>
              <a:rPr lang="ru-RU" dirty="0"/>
              <a:t>Box </a:t>
            </a:r>
            <a:r>
              <a:rPr lang="ru-RU" dirty="0" err="1"/>
              <a:t>plots</a:t>
            </a:r>
            <a:endParaRPr lang="ru-RU" dirty="0"/>
          </a:p>
          <a:p>
            <a:pPr lvl="1"/>
            <a:r>
              <a:rPr lang="ru-RU" dirty="0" err="1"/>
              <a:t>Violin</a:t>
            </a:r>
            <a:r>
              <a:rPr lang="ru-RU" dirty="0"/>
              <a:t> </a:t>
            </a:r>
            <a:r>
              <a:rPr lang="ru-RU" dirty="0" err="1"/>
              <a:t>plots</a:t>
            </a:r>
            <a:endParaRPr lang="ru-RU" dirty="0"/>
          </a:p>
          <a:p>
            <a:pPr lvl="0"/>
            <a:r>
              <a:rPr lang="ru-RU" b="1" dirty="0" err="1"/>
              <a:t>Categorical</a:t>
            </a:r>
            <a:r>
              <a:rPr lang="ru-RU" b="1" dirty="0"/>
              <a:t> </a:t>
            </a:r>
            <a:r>
              <a:rPr lang="ru-RU" b="1" dirty="0" err="1"/>
              <a:t>vs</a:t>
            </a:r>
            <a:r>
              <a:rPr lang="ru-RU" b="1" dirty="0"/>
              <a:t> </a:t>
            </a:r>
            <a:r>
              <a:rPr lang="ru-RU" b="1" dirty="0" err="1"/>
              <a:t>Categorical</a:t>
            </a:r>
            <a:endParaRPr lang="ru-RU" dirty="0"/>
          </a:p>
          <a:p>
            <a:pPr lvl="1"/>
            <a:r>
              <a:rPr lang="ru-RU" dirty="0" err="1"/>
              <a:t>Stacked</a:t>
            </a:r>
            <a:r>
              <a:rPr lang="ru-RU" dirty="0"/>
              <a:t> </a:t>
            </a:r>
            <a:r>
              <a:rPr lang="ru-RU" dirty="0" err="1"/>
              <a:t>bar</a:t>
            </a:r>
            <a:r>
              <a:rPr lang="ru-RU" dirty="0"/>
              <a:t> </a:t>
            </a:r>
            <a:r>
              <a:rPr lang="ru-RU" dirty="0" err="1"/>
              <a:t>charts</a:t>
            </a:r>
            <a:endParaRPr lang="ru-RU" dirty="0"/>
          </a:p>
          <a:p>
            <a:pPr lvl="1"/>
            <a:r>
              <a:rPr lang="ru-RU" dirty="0" err="1"/>
              <a:t>Heatmaps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3054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FD1981-AB74-4F48-3BD1-0FAB882C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Survival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Gender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6177A5-20AD-A4DB-A2BF-931545DF8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The </a:t>
            </a:r>
            <a:r>
              <a:rPr lang="ru-RU" b="1" dirty="0" err="1"/>
              <a:t>Most</a:t>
            </a:r>
            <a:r>
              <a:rPr lang="ru-RU" b="1" dirty="0"/>
              <a:t> </a:t>
            </a:r>
            <a:r>
              <a:rPr lang="ru-RU" b="1" dirty="0" err="1"/>
              <a:t>Dramatic</a:t>
            </a:r>
            <a:r>
              <a:rPr lang="ru-RU" b="1" dirty="0"/>
              <a:t> </a:t>
            </a:r>
            <a:r>
              <a:rPr lang="ru-RU" b="1" dirty="0" err="1"/>
              <a:t>Pattern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dirty="0" err="1"/>
              <a:t>survival_by_gender</a:t>
            </a:r>
            <a:r>
              <a:rPr lang="ru-RU" dirty="0"/>
              <a:t> = </a:t>
            </a:r>
            <a:r>
              <a:rPr lang="ru-RU" dirty="0" err="1"/>
              <a:t>titanic_clean.groupby</a:t>
            </a:r>
            <a:r>
              <a:rPr lang="ru-RU" dirty="0"/>
              <a:t>('Sex')['</a:t>
            </a:r>
            <a:r>
              <a:rPr lang="ru-RU" dirty="0" err="1"/>
              <a:t>Survived</a:t>
            </a:r>
            <a:r>
              <a:rPr lang="ru-RU" dirty="0"/>
              <a:t>'].</a:t>
            </a:r>
            <a:r>
              <a:rPr lang="ru-RU" dirty="0" err="1"/>
              <a:t>mean</a:t>
            </a:r>
            <a:r>
              <a:rPr lang="ru-RU" dirty="0"/>
              <a:t>()</a:t>
            </a:r>
          </a:p>
          <a:p>
            <a:pPr marL="0" indent="0" latinLnBrk="1">
              <a:buNone/>
            </a:pPr>
            <a:endParaRPr lang="ru-RU" dirty="0"/>
          </a:p>
          <a:p>
            <a:pPr latinLnBrk="1"/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=(8, 6))</a:t>
            </a:r>
          </a:p>
          <a:p>
            <a:pPr latinLnBrk="1"/>
            <a:r>
              <a:rPr lang="ru-RU" dirty="0" err="1"/>
              <a:t>survival_by_gender.plot</a:t>
            </a:r>
            <a:r>
              <a:rPr lang="ru-RU" dirty="0"/>
              <a:t>(</a:t>
            </a:r>
            <a:r>
              <a:rPr lang="ru-RU" dirty="0" err="1"/>
              <a:t>kind</a:t>
            </a:r>
            <a:r>
              <a:rPr lang="ru-RU" dirty="0"/>
              <a:t>='</a:t>
            </a:r>
            <a:r>
              <a:rPr lang="ru-RU" dirty="0" err="1"/>
              <a:t>bar</a:t>
            </a:r>
            <a:r>
              <a:rPr lang="ru-RU" dirty="0"/>
              <a:t>', </a:t>
            </a:r>
            <a:r>
              <a:rPr lang="ru-RU" dirty="0" err="1"/>
              <a:t>color</a:t>
            </a:r>
            <a:r>
              <a:rPr lang="ru-RU" dirty="0"/>
              <a:t>=['</a:t>
            </a:r>
            <a:r>
              <a:rPr lang="ru-RU" dirty="0" err="1"/>
              <a:t>pink</a:t>
            </a:r>
            <a:r>
              <a:rPr lang="ru-RU" dirty="0"/>
              <a:t>', '</a:t>
            </a:r>
            <a:r>
              <a:rPr lang="ru-RU" dirty="0" err="1"/>
              <a:t>lightblue</a:t>
            </a:r>
            <a:r>
              <a:rPr lang="ru-RU" dirty="0"/>
              <a:t>'])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Survival</a:t>
            </a:r>
            <a:r>
              <a:rPr lang="ru-RU" dirty="0"/>
              <a:t> Rate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Gender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plt.xlabel</a:t>
            </a:r>
            <a:r>
              <a:rPr lang="ru-RU" dirty="0"/>
              <a:t>('</a:t>
            </a:r>
            <a:r>
              <a:rPr lang="ru-RU" dirty="0" err="1"/>
              <a:t>Gender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plt.ylabel</a:t>
            </a:r>
            <a:r>
              <a:rPr lang="ru-RU" dirty="0"/>
              <a:t>('</a:t>
            </a:r>
            <a:r>
              <a:rPr lang="ru-RU" dirty="0" err="1"/>
              <a:t>Survival</a:t>
            </a:r>
            <a:r>
              <a:rPr lang="ru-RU" dirty="0"/>
              <a:t> Rate')</a:t>
            </a:r>
          </a:p>
          <a:p>
            <a:pPr latinLnBrk="1"/>
            <a:r>
              <a:rPr lang="ru-RU" dirty="0" err="1"/>
              <a:t>plt.ylim</a:t>
            </a:r>
            <a:r>
              <a:rPr lang="ru-RU" dirty="0"/>
              <a:t>(0, 1)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pPr lvl="1"/>
            <a:r>
              <a:rPr lang="ru-RU" b="1" dirty="0"/>
              <a:t>The </a:t>
            </a:r>
            <a:r>
              <a:rPr lang="ru-RU" b="1" dirty="0" err="1"/>
              <a:t>Numbers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 err="1"/>
              <a:t>Female</a:t>
            </a:r>
            <a:r>
              <a:rPr lang="ru-RU" dirty="0"/>
              <a:t>: 74% </a:t>
            </a:r>
            <a:r>
              <a:rPr lang="ru-RU" dirty="0" err="1"/>
              <a:t>survived</a:t>
            </a:r>
            <a:endParaRPr lang="ru-RU" dirty="0"/>
          </a:p>
          <a:p>
            <a:pPr lvl="1"/>
            <a:r>
              <a:rPr lang="ru-RU" dirty="0" err="1"/>
              <a:t>Male</a:t>
            </a:r>
            <a:r>
              <a:rPr lang="ru-RU" dirty="0"/>
              <a:t>: 19% </a:t>
            </a:r>
            <a:r>
              <a:rPr lang="ru-RU" dirty="0" err="1"/>
              <a:t>survived</a:t>
            </a:r>
            <a:endParaRPr lang="ru-RU" dirty="0"/>
          </a:p>
          <a:p>
            <a:pPr lvl="1"/>
            <a:r>
              <a:rPr lang="ru-RU" dirty="0" err="1"/>
              <a:t>Difference</a:t>
            </a:r>
            <a:r>
              <a:rPr lang="ru-RU" dirty="0"/>
              <a:t>: 55 </a:t>
            </a:r>
            <a:r>
              <a:rPr lang="ru-RU" dirty="0" err="1"/>
              <a:t>percentage</a:t>
            </a:r>
            <a:r>
              <a:rPr lang="ru-RU" dirty="0"/>
              <a:t> </a:t>
            </a:r>
            <a:r>
              <a:rPr lang="ru-RU" dirty="0" err="1"/>
              <a:t>points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3562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F9A9F0-75F2-1A02-16AF-38B5405CE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Survival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Passenger</a:t>
            </a:r>
            <a:r>
              <a:rPr lang="ru-RU" dirty="0"/>
              <a:t> Class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4D0E12-2748-E742-EE82-5895350AA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"</a:t>
            </a:r>
            <a:r>
              <a:rPr lang="ru-RU" b="1" dirty="0" err="1"/>
              <a:t>Women</a:t>
            </a:r>
            <a:r>
              <a:rPr lang="ru-RU" b="1" dirty="0"/>
              <a:t> </a:t>
            </a:r>
            <a:r>
              <a:rPr lang="ru-RU" b="1" dirty="0" err="1"/>
              <a:t>and</a:t>
            </a:r>
            <a:r>
              <a:rPr lang="ru-RU" b="1" dirty="0"/>
              <a:t> </a:t>
            </a:r>
            <a:r>
              <a:rPr lang="ru-RU" b="1" dirty="0" err="1"/>
              <a:t>Children</a:t>
            </a:r>
            <a:r>
              <a:rPr lang="ru-RU" b="1" dirty="0"/>
              <a:t> First" - </a:t>
            </a:r>
            <a:r>
              <a:rPr lang="ru-RU" b="1" dirty="0" err="1"/>
              <a:t>But</a:t>
            </a:r>
            <a:r>
              <a:rPr lang="ru-RU" b="1" dirty="0"/>
              <a:t> Class </a:t>
            </a:r>
            <a:r>
              <a:rPr lang="ru-RU" b="1" dirty="0" err="1"/>
              <a:t>Mattered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dirty="0" err="1"/>
              <a:t>survival_by_class</a:t>
            </a:r>
            <a:r>
              <a:rPr lang="ru-RU" dirty="0"/>
              <a:t> = </a:t>
            </a:r>
            <a:r>
              <a:rPr lang="ru-RU" dirty="0" err="1"/>
              <a:t>titanic_clean.groupby</a:t>
            </a:r>
            <a:r>
              <a:rPr lang="ru-RU" dirty="0"/>
              <a:t>('</a:t>
            </a:r>
            <a:r>
              <a:rPr lang="ru-RU" dirty="0" err="1"/>
              <a:t>Pclass</a:t>
            </a:r>
            <a:r>
              <a:rPr lang="ru-RU" dirty="0"/>
              <a:t>')['</a:t>
            </a:r>
            <a:r>
              <a:rPr lang="ru-RU" dirty="0" err="1"/>
              <a:t>Survived</a:t>
            </a:r>
            <a:r>
              <a:rPr lang="ru-RU" dirty="0"/>
              <a:t>'].</a:t>
            </a:r>
            <a:r>
              <a:rPr lang="ru-RU" dirty="0" err="1"/>
              <a:t>mean</a:t>
            </a:r>
            <a:r>
              <a:rPr lang="ru-RU" dirty="0"/>
              <a:t>()</a:t>
            </a:r>
          </a:p>
          <a:p>
            <a:pPr marL="0" indent="0" latinLnBrk="1">
              <a:buNone/>
            </a:pPr>
            <a:endParaRPr lang="ru-RU" dirty="0"/>
          </a:p>
          <a:p>
            <a:pPr latinLnBrk="1"/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=(8, 6))</a:t>
            </a:r>
          </a:p>
          <a:p>
            <a:pPr latinLnBrk="1"/>
            <a:r>
              <a:rPr lang="ru-RU" dirty="0" err="1"/>
              <a:t>survival_by_class.plot</a:t>
            </a:r>
            <a:r>
              <a:rPr lang="ru-RU" dirty="0"/>
              <a:t>(</a:t>
            </a:r>
            <a:r>
              <a:rPr lang="ru-RU" dirty="0" err="1"/>
              <a:t>kind</a:t>
            </a:r>
            <a:r>
              <a:rPr lang="ru-RU" dirty="0"/>
              <a:t>='</a:t>
            </a:r>
            <a:r>
              <a:rPr lang="ru-RU" dirty="0" err="1"/>
              <a:t>bar</a:t>
            </a:r>
            <a:r>
              <a:rPr lang="ru-RU" dirty="0"/>
              <a:t>', </a:t>
            </a:r>
            <a:r>
              <a:rPr lang="ru-RU" dirty="0" err="1"/>
              <a:t>color</a:t>
            </a:r>
            <a:r>
              <a:rPr lang="ru-RU" dirty="0"/>
              <a:t>=['</a:t>
            </a:r>
            <a:r>
              <a:rPr lang="ru-RU" dirty="0" err="1"/>
              <a:t>gold</a:t>
            </a:r>
            <a:r>
              <a:rPr lang="ru-RU" dirty="0"/>
              <a:t>', '</a:t>
            </a:r>
            <a:r>
              <a:rPr lang="ru-RU" dirty="0" err="1"/>
              <a:t>silver</a:t>
            </a:r>
            <a:r>
              <a:rPr lang="ru-RU" dirty="0"/>
              <a:t>', '</a:t>
            </a:r>
            <a:r>
              <a:rPr lang="ru-RU" dirty="0" err="1"/>
              <a:t>brown</a:t>
            </a:r>
            <a:r>
              <a:rPr lang="ru-RU" dirty="0"/>
              <a:t>'])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Survival</a:t>
            </a:r>
            <a:r>
              <a:rPr lang="ru-RU" dirty="0"/>
              <a:t> Rate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Passenger</a:t>
            </a:r>
            <a:r>
              <a:rPr lang="ru-RU" dirty="0"/>
              <a:t> Class')</a:t>
            </a:r>
          </a:p>
          <a:p>
            <a:pPr latinLnBrk="1"/>
            <a:r>
              <a:rPr lang="ru-RU" dirty="0" err="1"/>
              <a:t>plt.xlabel</a:t>
            </a:r>
            <a:r>
              <a:rPr lang="ru-RU" dirty="0"/>
              <a:t>('Class')</a:t>
            </a:r>
          </a:p>
          <a:p>
            <a:pPr latinLnBrk="1"/>
            <a:r>
              <a:rPr lang="ru-RU" dirty="0" err="1"/>
              <a:t>plt.ylabel</a:t>
            </a:r>
            <a:r>
              <a:rPr lang="ru-RU" dirty="0"/>
              <a:t>('</a:t>
            </a:r>
            <a:r>
              <a:rPr lang="ru-RU" dirty="0" err="1"/>
              <a:t>Survival</a:t>
            </a:r>
            <a:r>
              <a:rPr lang="ru-RU" dirty="0"/>
              <a:t> Rate')</a:t>
            </a:r>
          </a:p>
          <a:p>
            <a:pPr latinLnBrk="1"/>
            <a:r>
              <a:rPr lang="ru-RU" dirty="0" err="1"/>
              <a:t>plt.ylim</a:t>
            </a:r>
            <a:r>
              <a:rPr lang="ru-RU" dirty="0"/>
              <a:t>(0, 1)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pPr lvl="1"/>
            <a:r>
              <a:rPr lang="ru-RU" b="1" dirty="0" err="1"/>
              <a:t>Survival</a:t>
            </a:r>
            <a:r>
              <a:rPr lang="ru-RU" b="1" dirty="0"/>
              <a:t> </a:t>
            </a:r>
            <a:r>
              <a:rPr lang="ru-RU" b="1" dirty="0" err="1"/>
              <a:t>Rates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First Class: 63%</a:t>
            </a:r>
          </a:p>
          <a:p>
            <a:pPr lvl="1"/>
            <a:r>
              <a:rPr lang="ru-RU" dirty="0"/>
              <a:t>Second Class: 47%</a:t>
            </a:r>
          </a:p>
          <a:p>
            <a:pPr lvl="1"/>
            <a:r>
              <a:rPr lang="ru-RU" dirty="0" err="1"/>
              <a:t>Third</a:t>
            </a:r>
            <a:r>
              <a:rPr lang="ru-RU" dirty="0"/>
              <a:t> Class: 24%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1817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06BBA-074D-2B3E-3B1B-2D17B1B8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Age</a:t>
            </a:r>
            <a:r>
              <a:rPr lang="ru-RU" dirty="0"/>
              <a:t> </a:t>
            </a:r>
            <a:r>
              <a:rPr lang="ru-RU" dirty="0" err="1"/>
              <a:t>vs</a:t>
            </a:r>
            <a:r>
              <a:rPr lang="ru-RU" dirty="0"/>
              <a:t> </a:t>
            </a:r>
            <a:r>
              <a:rPr lang="ru-RU" dirty="0" err="1"/>
              <a:t>Fare</a:t>
            </a:r>
            <a:r>
              <a:rPr lang="ru-RU" dirty="0"/>
              <a:t> </a:t>
            </a:r>
            <a:r>
              <a:rPr lang="ru-RU" dirty="0" err="1"/>
              <a:t>Scatter</a:t>
            </a:r>
            <a:r>
              <a:rPr lang="ru-RU" dirty="0"/>
              <a:t> </a:t>
            </a:r>
            <a:r>
              <a:rPr lang="ru-RU" dirty="0" err="1"/>
              <a:t>Plot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29F493-5435-FA07-6627-C6841F7A5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Basic </a:t>
            </a:r>
            <a:r>
              <a:rPr lang="ru-RU" b="1" dirty="0" err="1"/>
              <a:t>Scatter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=(10, 6))</a:t>
            </a:r>
          </a:p>
          <a:p>
            <a:pPr latinLnBrk="1"/>
            <a:r>
              <a:rPr lang="ru-RU" dirty="0" err="1"/>
              <a:t>plt.scatter</a:t>
            </a:r>
            <a:r>
              <a:rPr lang="ru-RU" dirty="0"/>
              <a:t>(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Age</a:t>
            </a:r>
            <a:r>
              <a:rPr lang="ru-RU" dirty="0"/>
              <a:t>'], 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Fare</a:t>
            </a:r>
            <a:r>
              <a:rPr lang="ru-RU" dirty="0"/>
              <a:t>'], </a:t>
            </a:r>
            <a:r>
              <a:rPr lang="ru-RU" dirty="0" err="1"/>
              <a:t>alpha</a:t>
            </a:r>
            <a:r>
              <a:rPr lang="ru-RU" dirty="0"/>
              <a:t>=0.5)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Age</a:t>
            </a:r>
            <a:r>
              <a:rPr lang="ru-RU" dirty="0"/>
              <a:t> </a:t>
            </a:r>
            <a:r>
              <a:rPr lang="ru-RU" dirty="0" err="1"/>
              <a:t>vs</a:t>
            </a:r>
            <a:r>
              <a:rPr lang="ru-RU" dirty="0"/>
              <a:t> </a:t>
            </a:r>
            <a:r>
              <a:rPr lang="ru-RU" dirty="0" err="1"/>
              <a:t>Fare</a:t>
            </a:r>
            <a:r>
              <a:rPr lang="ru-RU" dirty="0"/>
              <a:t> </a:t>
            </a:r>
            <a:r>
              <a:rPr lang="ru-RU" dirty="0" err="1"/>
              <a:t>Paid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plt.xlabel</a:t>
            </a:r>
            <a:r>
              <a:rPr lang="ru-RU" dirty="0"/>
              <a:t>('</a:t>
            </a:r>
            <a:r>
              <a:rPr lang="ru-RU" dirty="0" err="1"/>
              <a:t>Age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plt.ylabel</a:t>
            </a:r>
            <a:r>
              <a:rPr lang="ru-RU" dirty="0"/>
              <a:t>('</a:t>
            </a:r>
            <a:r>
              <a:rPr lang="ru-RU" dirty="0" err="1"/>
              <a:t>Fare</a:t>
            </a:r>
            <a:r>
              <a:rPr lang="ru-RU" dirty="0"/>
              <a:t> (USD)')</a:t>
            </a:r>
          </a:p>
          <a:p>
            <a:pPr latinLnBrk="1"/>
            <a:r>
              <a:rPr lang="ru-RU" dirty="0" err="1"/>
              <a:t>plt.grid</a:t>
            </a:r>
            <a:r>
              <a:rPr lang="ru-RU" dirty="0"/>
              <a:t>(True, </a:t>
            </a:r>
            <a:r>
              <a:rPr lang="ru-RU" dirty="0" err="1"/>
              <a:t>alpha</a:t>
            </a:r>
            <a:r>
              <a:rPr lang="ru-RU" dirty="0"/>
              <a:t>=0.3)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pPr lvl="1"/>
            <a:r>
              <a:rPr lang="ru-RU" b="1" dirty="0" err="1"/>
              <a:t>Insights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 err="1"/>
              <a:t>Older</a:t>
            </a:r>
            <a:r>
              <a:rPr lang="ru-RU" dirty="0"/>
              <a:t> </a:t>
            </a:r>
            <a:r>
              <a:rPr lang="ru-RU" dirty="0" err="1"/>
              <a:t>passengers</a:t>
            </a:r>
            <a:r>
              <a:rPr lang="ru-RU" dirty="0"/>
              <a:t> </a:t>
            </a:r>
            <a:r>
              <a:rPr lang="ru-RU" dirty="0" err="1"/>
              <a:t>paid</a:t>
            </a:r>
            <a:r>
              <a:rPr lang="ru-RU" dirty="0"/>
              <a:t> </a:t>
            </a:r>
            <a:r>
              <a:rPr lang="ru-RU" dirty="0" err="1"/>
              <a:t>more</a:t>
            </a:r>
            <a:endParaRPr lang="ru-RU" dirty="0"/>
          </a:p>
          <a:p>
            <a:pPr lvl="1"/>
            <a:r>
              <a:rPr lang="ru-RU" dirty="0" err="1"/>
              <a:t>Children</a:t>
            </a:r>
            <a:r>
              <a:rPr lang="ru-RU" dirty="0"/>
              <a:t> (</a:t>
            </a:r>
            <a:r>
              <a:rPr lang="ru-RU" dirty="0" err="1"/>
              <a:t>under</a:t>
            </a:r>
            <a:r>
              <a:rPr lang="ru-RU" dirty="0"/>
              <a:t> 10) </a:t>
            </a:r>
            <a:r>
              <a:rPr lang="ru-RU" dirty="0" err="1"/>
              <a:t>had</a:t>
            </a:r>
            <a:r>
              <a:rPr lang="ru-RU" dirty="0"/>
              <a:t> </a:t>
            </a:r>
            <a:r>
              <a:rPr lang="ru-RU" dirty="0" err="1"/>
              <a:t>lower</a:t>
            </a:r>
            <a:r>
              <a:rPr lang="ru-RU" dirty="0"/>
              <a:t> </a:t>
            </a:r>
            <a:r>
              <a:rPr lang="ru-RU" dirty="0" err="1"/>
              <a:t>fares</a:t>
            </a:r>
            <a:endParaRPr lang="ru-RU" dirty="0"/>
          </a:p>
          <a:p>
            <a:pPr lvl="1"/>
            <a:r>
              <a:rPr lang="ru-RU" dirty="0" err="1"/>
              <a:t>Some</a:t>
            </a:r>
            <a:r>
              <a:rPr lang="ru-RU" dirty="0"/>
              <a:t> </a:t>
            </a:r>
            <a:r>
              <a:rPr lang="ru-RU" dirty="0" err="1"/>
              <a:t>very</a:t>
            </a:r>
            <a:r>
              <a:rPr lang="ru-RU" dirty="0"/>
              <a:t> </a:t>
            </a:r>
            <a:r>
              <a:rPr lang="ru-RU" dirty="0" err="1"/>
              <a:t>high</a:t>
            </a:r>
            <a:r>
              <a:rPr lang="ru-RU" dirty="0"/>
              <a:t> </a:t>
            </a:r>
            <a:r>
              <a:rPr lang="ru-RU" dirty="0" err="1"/>
              <a:t>fares</a:t>
            </a:r>
            <a:r>
              <a:rPr lang="ru-RU" dirty="0"/>
              <a:t> </a:t>
            </a:r>
            <a:r>
              <a:rPr lang="ru-RU" dirty="0" err="1"/>
              <a:t>regardless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age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28941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DADADB-9791-2A04-8185-FCC96D4F6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Enhanced </a:t>
            </a:r>
            <a:r>
              <a:rPr lang="ru-RU" dirty="0" err="1"/>
              <a:t>Scatter</a:t>
            </a:r>
            <a:r>
              <a:rPr lang="ru-RU" dirty="0"/>
              <a:t> </a:t>
            </a:r>
            <a:r>
              <a:rPr lang="ru-RU" dirty="0" err="1"/>
              <a:t>Plot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CC4F7E-058D-FA7F-260B-714F5FAAF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r>
              <a:rPr lang="ru-RU" b="1" dirty="0"/>
              <a:t>Color </a:t>
            </a:r>
            <a:r>
              <a:rPr lang="ru-RU" b="1" dirty="0" err="1"/>
              <a:t>by</a:t>
            </a:r>
            <a:r>
              <a:rPr lang="ru-RU" b="1" dirty="0"/>
              <a:t> </a:t>
            </a:r>
            <a:r>
              <a:rPr lang="ru-RU" b="1" dirty="0" err="1"/>
              <a:t>Survival</a:t>
            </a:r>
            <a:r>
              <a:rPr lang="ru-RU" b="1" dirty="0"/>
              <a:t>, </a:t>
            </a:r>
            <a:r>
              <a:rPr lang="ru-RU" b="1" dirty="0" err="1"/>
              <a:t>Size</a:t>
            </a:r>
            <a:r>
              <a:rPr lang="ru-RU" b="1" dirty="0"/>
              <a:t> </a:t>
            </a:r>
            <a:r>
              <a:rPr lang="ru-RU" b="1" dirty="0" err="1"/>
              <a:t>by</a:t>
            </a:r>
            <a:r>
              <a:rPr lang="ru-RU" b="1" dirty="0"/>
              <a:t> Class:</a:t>
            </a:r>
            <a:endParaRPr lang="ru-RU" dirty="0"/>
          </a:p>
          <a:p>
            <a:pPr latinLnBrk="1"/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=(12, 8))</a:t>
            </a:r>
          </a:p>
          <a:p>
            <a:pPr latinLnBrk="1"/>
            <a:r>
              <a:rPr lang="ru-RU" dirty="0" err="1"/>
              <a:t>scatter</a:t>
            </a:r>
            <a:r>
              <a:rPr lang="ru-RU" dirty="0"/>
              <a:t> = </a:t>
            </a:r>
            <a:r>
              <a:rPr lang="ru-RU" dirty="0" err="1"/>
              <a:t>plt.scatter</a:t>
            </a:r>
            <a:r>
              <a:rPr lang="ru-RU" dirty="0"/>
              <a:t>(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Age</a:t>
            </a:r>
            <a:r>
              <a:rPr lang="ru-RU" dirty="0"/>
              <a:t>'], 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Fare</a:t>
            </a:r>
            <a:r>
              <a:rPr lang="ru-RU" dirty="0"/>
              <a:t>'],</a:t>
            </a:r>
          </a:p>
          <a:p>
            <a:pPr latinLnBrk="1"/>
            <a:r>
              <a:rPr lang="ru-RU" dirty="0"/>
              <a:t>    c=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Survived</a:t>
            </a:r>
            <a:r>
              <a:rPr lang="ru-RU" dirty="0"/>
              <a:t>'],</a:t>
            </a:r>
          </a:p>
          <a:p>
            <a:pPr latinLnBrk="1"/>
            <a:r>
              <a:rPr lang="ru-RU" dirty="0"/>
              <a:t>    s=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Pclass</a:t>
            </a:r>
            <a:r>
              <a:rPr lang="ru-RU" dirty="0"/>
              <a:t>'] * 50,  </a:t>
            </a:r>
            <a:r>
              <a:rPr lang="ru-RU" i="1" dirty="0"/>
              <a:t># </a:t>
            </a:r>
            <a:r>
              <a:rPr lang="ru-RU" i="1" dirty="0" err="1"/>
              <a:t>Size</a:t>
            </a:r>
            <a:r>
              <a:rPr lang="ru-RU" i="1" dirty="0"/>
              <a:t> </a:t>
            </a:r>
            <a:r>
              <a:rPr lang="ru-RU" i="1" dirty="0" err="1"/>
              <a:t>by</a:t>
            </a:r>
            <a:r>
              <a:rPr lang="ru-RU" i="1" dirty="0"/>
              <a:t> </a:t>
            </a:r>
            <a:r>
              <a:rPr lang="ru-RU" i="1" dirty="0" err="1"/>
              <a:t>class</a:t>
            </a:r>
            <a:endParaRPr lang="ru-RU" dirty="0"/>
          </a:p>
          <a:p>
            <a:pPr latinLnBrk="1"/>
            <a:r>
              <a:rPr lang="ru-RU" dirty="0"/>
              <a:t>    </a:t>
            </a:r>
            <a:r>
              <a:rPr lang="ru-RU" dirty="0" err="1"/>
              <a:t>alpha</a:t>
            </a:r>
            <a:r>
              <a:rPr lang="ru-RU" dirty="0"/>
              <a:t>=0.6,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cmap</a:t>
            </a:r>
            <a:r>
              <a:rPr lang="ru-RU" dirty="0"/>
              <a:t>='</a:t>
            </a:r>
            <a:r>
              <a:rPr lang="ru-RU" dirty="0" err="1"/>
              <a:t>coolwarm</a:t>
            </a:r>
            <a:r>
              <a:rPr lang="ru-RU" dirty="0"/>
              <a:t>'</a:t>
            </a:r>
          </a:p>
          <a:p>
            <a:pPr latinLnBrk="1"/>
            <a:r>
              <a:rPr lang="ru-RU" dirty="0"/>
              <a:t>)</a:t>
            </a:r>
          </a:p>
          <a:p>
            <a:pPr latinLnBrk="1"/>
            <a:r>
              <a:rPr lang="ru-RU" dirty="0" err="1"/>
              <a:t>plt.colorbar</a:t>
            </a:r>
            <a:r>
              <a:rPr lang="ru-RU" dirty="0"/>
              <a:t>(</a:t>
            </a:r>
            <a:r>
              <a:rPr lang="ru-RU" dirty="0" err="1"/>
              <a:t>scatter</a:t>
            </a:r>
            <a:r>
              <a:rPr lang="ru-RU" dirty="0"/>
              <a:t>, </a:t>
            </a:r>
            <a:r>
              <a:rPr lang="ru-RU" dirty="0" err="1"/>
              <a:t>label</a:t>
            </a:r>
            <a:r>
              <a:rPr lang="ru-RU" dirty="0"/>
              <a:t>='</a:t>
            </a:r>
            <a:r>
              <a:rPr lang="ru-RU" dirty="0" err="1"/>
              <a:t>Survived</a:t>
            </a:r>
            <a:r>
              <a:rPr lang="ru-RU" dirty="0"/>
              <a:t> (0=No, 1=Yes)')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Age</a:t>
            </a:r>
            <a:r>
              <a:rPr lang="ru-RU" dirty="0"/>
              <a:t> </a:t>
            </a:r>
            <a:r>
              <a:rPr lang="ru-RU" dirty="0" err="1"/>
              <a:t>vs</a:t>
            </a:r>
            <a:r>
              <a:rPr lang="ru-RU" dirty="0"/>
              <a:t> </a:t>
            </a:r>
            <a:r>
              <a:rPr lang="ru-RU" dirty="0" err="1"/>
              <a:t>Fare</a:t>
            </a:r>
            <a:r>
              <a:rPr lang="ru-RU" dirty="0"/>
              <a:t> (</a:t>
            </a:r>
            <a:r>
              <a:rPr lang="ru-RU" dirty="0" err="1"/>
              <a:t>Colored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Survival</a:t>
            </a:r>
            <a:r>
              <a:rPr lang="ru-RU" dirty="0"/>
              <a:t>, </a:t>
            </a:r>
            <a:r>
              <a:rPr lang="ru-RU" dirty="0" err="1"/>
              <a:t>Sized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Class)')</a:t>
            </a:r>
          </a:p>
          <a:p>
            <a:pPr latinLnBrk="1"/>
            <a:r>
              <a:rPr lang="ru-RU" dirty="0" err="1"/>
              <a:t>plt.xlabel</a:t>
            </a:r>
            <a:r>
              <a:rPr lang="ru-RU" dirty="0"/>
              <a:t>('</a:t>
            </a:r>
            <a:r>
              <a:rPr lang="ru-RU" dirty="0" err="1"/>
              <a:t>Age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plt.ylabel</a:t>
            </a:r>
            <a:r>
              <a:rPr lang="ru-RU" dirty="0"/>
              <a:t>('</a:t>
            </a:r>
            <a:r>
              <a:rPr lang="ru-RU" dirty="0" err="1"/>
              <a:t>Fare</a:t>
            </a:r>
            <a:r>
              <a:rPr lang="ru-RU" dirty="0"/>
              <a:t> (USD)')</a:t>
            </a:r>
          </a:p>
          <a:p>
            <a:pPr latinLnBrk="1"/>
            <a:r>
              <a:rPr lang="ru-RU" dirty="0" err="1"/>
              <a:t>plt.grid</a:t>
            </a:r>
            <a:r>
              <a:rPr lang="ru-RU" dirty="0"/>
              <a:t>(True, </a:t>
            </a:r>
            <a:r>
              <a:rPr lang="ru-RU" dirty="0" err="1"/>
              <a:t>alpha</a:t>
            </a:r>
            <a:r>
              <a:rPr lang="ru-RU" dirty="0"/>
              <a:t>=0.3)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6081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8E7FCD-4848-9294-7E04-70778C727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Correlation</a:t>
            </a:r>
            <a:r>
              <a:rPr lang="ru-RU" dirty="0"/>
              <a:t> </a:t>
            </a:r>
            <a:r>
              <a:rPr lang="ru-RU" dirty="0" err="1"/>
              <a:t>Heatmap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6BFCF9-DCA7-21DE-02B5-B1A00DE26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r>
              <a:rPr lang="ru-RU" sz="1800" b="1" dirty="0" err="1"/>
              <a:t>Finding</a:t>
            </a:r>
            <a:r>
              <a:rPr lang="ru-RU" sz="1800" b="1" dirty="0"/>
              <a:t> </a:t>
            </a:r>
            <a:r>
              <a:rPr lang="ru-RU" sz="1800" b="1" dirty="0" err="1"/>
              <a:t>Relationships</a:t>
            </a:r>
            <a:r>
              <a:rPr lang="ru-RU" sz="1800" b="1" dirty="0"/>
              <a:t> </a:t>
            </a:r>
            <a:r>
              <a:rPr lang="ru-RU" sz="1800" b="1" dirty="0" err="1"/>
              <a:t>Between</a:t>
            </a:r>
            <a:r>
              <a:rPr lang="ru-RU" sz="1800" b="1" dirty="0"/>
              <a:t> </a:t>
            </a:r>
            <a:r>
              <a:rPr lang="ru-RU" sz="1800" b="1" dirty="0" err="1"/>
              <a:t>Numbers</a:t>
            </a:r>
            <a:r>
              <a:rPr lang="ru-RU" sz="1800" b="1" dirty="0"/>
              <a:t>:</a:t>
            </a:r>
            <a:endParaRPr lang="ru-RU" sz="1800" dirty="0"/>
          </a:p>
          <a:p>
            <a:pPr latinLnBrk="1"/>
            <a:r>
              <a:rPr lang="ru-RU" sz="1800" i="1" dirty="0"/>
              <a:t># Select </a:t>
            </a:r>
            <a:r>
              <a:rPr lang="ru-RU" sz="1800" i="1" dirty="0" err="1"/>
              <a:t>only</a:t>
            </a:r>
            <a:r>
              <a:rPr lang="ru-RU" sz="1800" i="1" dirty="0"/>
              <a:t> </a:t>
            </a:r>
            <a:r>
              <a:rPr lang="ru-RU" sz="1800" i="1" dirty="0" err="1"/>
              <a:t>numeric</a:t>
            </a:r>
            <a:r>
              <a:rPr lang="ru-RU" sz="1800" i="1" dirty="0"/>
              <a:t> </a:t>
            </a:r>
            <a:r>
              <a:rPr lang="ru-RU" sz="1800" i="1" dirty="0" err="1"/>
              <a:t>columns</a:t>
            </a:r>
            <a:endParaRPr lang="ru-RU" sz="1800" dirty="0"/>
          </a:p>
          <a:p>
            <a:pPr latinLnBrk="1"/>
            <a:r>
              <a:rPr lang="ru-RU" sz="1800" dirty="0" err="1"/>
              <a:t>numeric_cols</a:t>
            </a:r>
            <a:r>
              <a:rPr lang="ru-RU" sz="1800" dirty="0"/>
              <a:t> = </a:t>
            </a:r>
            <a:r>
              <a:rPr lang="ru-RU" sz="1800" dirty="0" err="1"/>
              <a:t>titanic_clean.select_dtypes</a:t>
            </a:r>
            <a:r>
              <a:rPr lang="ru-RU" sz="1800" dirty="0"/>
              <a:t>(</a:t>
            </a:r>
            <a:r>
              <a:rPr lang="ru-RU" sz="1800" dirty="0" err="1"/>
              <a:t>include</a:t>
            </a:r>
            <a:r>
              <a:rPr lang="ru-RU" sz="1800" dirty="0"/>
              <a:t>=[</a:t>
            </a:r>
            <a:r>
              <a:rPr lang="ru-RU" sz="1800" dirty="0" err="1"/>
              <a:t>np.number</a:t>
            </a:r>
            <a:r>
              <a:rPr lang="ru-RU" sz="1800" dirty="0"/>
              <a:t>])</a:t>
            </a:r>
          </a:p>
          <a:p>
            <a:pPr marL="0" indent="0" latinLnBrk="1">
              <a:buNone/>
            </a:pPr>
            <a:endParaRPr lang="ru-RU" sz="1800" dirty="0"/>
          </a:p>
          <a:p>
            <a:pPr latinLnBrk="1"/>
            <a:r>
              <a:rPr lang="ru-RU" sz="1800" i="1" dirty="0"/>
              <a:t># </a:t>
            </a:r>
            <a:r>
              <a:rPr lang="ru-RU" sz="1800" i="1" dirty="0" err="1"/>
              <a:t>Calculate</a:t>
            </a:r>
            <a:r>
              <a:rPr lang="ru-RU" sz="1800" i="1" dirty="0"/>
              <a:t> </a:t>
            </a:r>
            <a:r>
              <a:rPr lang="ru-RU" sz="1800" i="1" dirty="0" err="1"/>
              <a:t>correlation</a:t>
            </a:r>
            <a:r>
              <a:rPr lang="ru-RU" sz="1800" i="1" dirty="0"/>
              <a:t> </a:t>
            </a:r>
            <a:r>
              <a:rPr lang="ru-RU" sz="1800" i="1" dirty="0" err="1"/>
              <a:t>matrix</a:t>
            </a:r>
            <a:endParaRPr lang="ru-RU" sz="1800" dirty="0"/>
          </a:p>
          <a:p>
            <a:pPr latinLnBrk="1"/>
            <a:r>
              <a:rPr lang="ru-RU" sz="1800" dirty="0" err="1"/>
              <a:t>corr_matrix</a:t>
            </a:r>
            <a:r>
              <a:rPr lang="ru-RU" sz="1800" dirty="0"/>
              <a:t> = </a:t>
            </a:r>
            <a:r>
              <a:rPr lang="ru-RU" sz="1800" dirty="0" err="1"/>
              <a:t>numeric_cols.corr</a:t>
            </a:r>
            <a:r>
              <a:rPr lang="ru-RU" sz="1800" dirty="0"/>
              <a:t>()</a:t>
            </a:r>
          </a:p>
          <a:p>
            <a:pPr marL="0" indent="0" latinLnBrk="1">
              <a:buNone/>
            </a:pPr>
            <a:endParaRPr lang="ru-RU" sz="1800" dirty="0"/>
          </a:p>
          <a:p>
            <a:pPr latinLnBrk="1"/>
            <a:r>
              <a:rPr lang="ru-RU" sz="1800" i="1" dirty="0"/>
              <a:t># </a:t>
            </a:r>
            <a:r>
              <a:rPr lang="ru-RU" sz="1800" i="1" dirty="0" err="1"/>
              <a:t>Create</a:t>
            </a:r>
            <a:r>
              <a:rPr lang="ru-RU" sz="1800" i="1" dirty="0"/>
              <a:t> </a:t>
            </a:r>
            <a:r>
              <a:rPr lang="ru-RU" sz="1800" i="1" dirty="0" err="1"/>
              <a:t>heatmap</a:t>
            </a:r>
            <a:endParaRPr lang="ru-RU" sz="1800" dirty="0"/>
          </a:p>
          <a:p>
            <a:pPr latinLnBrk="1"/>
            <a:r>
              <a:rPr lang="ru-RU" sz="1800" dirty="0" err="1"/>
              <a:t>plt.figure</a:t>
            </a:r>
            <a:r>
              <a:rPr lang="ru-RU" sz="1800" dirty="0"/>
              <a:t>(</a:t>
            </a:r>
            <a:r>
              <a:rPr lang="ru-RU" sz="1800" dirty="0" err="1"/>
              <a:t>figsize</a:t>
            </a:r>
            <a:r>
              <a:rPr lang="ru-RU" sz="1800" dirty="0"/>
              <a:t>=(10, 8))</a:t>
            </a:r>
          </a:p>
          <a:p>
            <a:pPr latinLnBrk="1"/>
            <a:r>
              <a:rPr lang="ru-RU" sz="1800" dirty="0" err="1"/>
              <a:t>sns.heatmap</a:t>
            </a:r>
            <a:r>
              <a:rPr lang="ru-RU" sz="1800" dirty="0"/>
              <a:t>(</a:t>
            </a:r>
            <a:r>
              <a:rPr lang="ru-RU" sz="1800" dirty="0" err="1"/>
              <a:t>corr_matrix</a:t>
            </a:r>
            <a:r>
              <a:rPr lang="ru-RU" sz="1800" dirty="0"/>
              <a:t>, </a:t>
            </a:r>
          </a:p>
          <a:p>
            <a:pPr latinLnBrk="1"/>
            <a:r>
              <a:rPr lang="ru-RU" sz="1800" dirty="0"/>
              <a:t>            </a:t>
            </a:r>
            <a:r>
              <a:rPr lang="ru-RU" sz="1800" dirty="0" err="1"/>
              <a:t>annot</a:t>
            </a:r>
            <a:r>
              <a:rPr lang="ru-RU" sz="1800" dirty="0"/>
              <a:t>=True, </a:t>
            </a:r>
          </a:p>
          <a:p>
            <a:pPr latinLnBrk="1"/>
            <a:r>
              <a:rPr lang="ru-RU" sz="1800" dirty="0"/>
              <a:t>            </a:t>
            </a:r>
            <a:r>
              <a:rPr lang="ru-RU" sz="1800" dirty="0" err="1"/>
              <a:t>cmap</a:t>
            </a:r>
            <a:r>
              <a:rPr lang="ru-RU" sz="1800" dirty="0"/>
              <a:t>='</a:t>
            </a:r>
            <a:r>
              <a:rPr lang="ru-RU" sz="1800" dirty="0" err="1"/>
              <a:t>coolwarm</a:t>
            </a:r>
            <a:r>
              <a:rPr lang="ru-RU" sz="1800" dirty="0"/>
              <a:t>', </a:t>
            </a:r>
          </a:p>
          <a:p>
            <a:pPr latinLnBrk="1"/>
            <a:r>
              <a:rPr lang="ru-RU" sz="1800" dirty="0"/>
              <a:t>            </a:t>
            </a:r>
            <a:r>
              <a:rPr lang="ru-RU" sz="1800" dirty="0" err="1"/>
              <a:t>center</a:t>
            </a:r>
            <a:r>
              <a:rPr lang="ru-RU" sz="1800" dirty="0"/>
              <a:t>=0,</a:t>
            </a:r>
          </a:p>
          <a:p>
            <a:pPr latinLnBrk="1"/>
            <a:r>
              <a:rPr lang="ru-RU" sz="1800" dirty="0"/>
              <a:t>            </a:t>
            </a:r>
            <a:r>
              <a:rPr lang="ru-RU" sz="1800" dirty="0" err="1"/>
              <a:t>square</a:t>
            </a:r>
            <a:r>
              <a:rPr lang="ru-RU" sz="1800" dirty="0"/>
              <a:t>=True,</a:t>
            </a:r>
          </a:p>
          <a:p>
            <a:pPr latinLnBrk="1"/>
            <a:r>
              <a:rPr lang="ru-RU" sz="1800" dirty="0"/>
              <a:t>            </a:t>
            </a:r>
            <a:r>
              <a:rPr lang="ru-RU" sz="1800" dirty="0" err="1"/>
              <a:t>fmt</a:t>
            </a:r>
            <a:r>
              <a:rPr lang="ru-RU" sz="1800" dirty="0"/>
              <a:t>='.2f',</a:t>
            </a:r>
          </a:p>
          <a:p>
            <a:pPr latinLnBrk="1"/>
            <a:r>
              <a:rPr lang="ru-RU" sz="1800" dirty="0"/>
              <a:t>            </a:t>
            </a:r>
            <a:r>
              <a:rPr lang="ru-RU" sz="1800" dirty="0" err="1"/>
              <a:t>linewidths</a:t>
            </a:r>
            <a:r>
              <a:rPr lang="ru-RU" sz="1800" dirty="0"/>
              <a:t>=0.5)</a:t>
            </a:r>
          </a:p>
          <a:p>
            <a:pPr latinLnBrk="1"/>
            <a:r>
              <a:rPr lang="ru-RU" sz="1800" dirty="0" err="1"/>
              <a:t>plt.title</a:t>
            </a:r>
            <a:r>
              <a:rPr lang="ru-RU" sz="1800" dirty="0"/>
              <a:t>('</a:t>
            </a:r>
            <a:r>
              <a:rPr lang="ru-RU" sz="1800" dirty="0" err="1"/>
              <a:t>Correlation</a:t>
            </a:r>
            <a:r>
              <a:rPr lang="ru-RU" sz="1800" dirty="0"/>
              <a:t> </a:t>
            </a:r>
            <a:r>
              <a:rPr lang="ru-RU" sz="1800" dirty="0" err="1"/>
              <a:t>Heatmap</a:t>
            </a:r>
            <a:r>
              <a:rPr lang="ru-RU" sz="1800" dirty="0"/>
              <a:t> </a:t>
            </a:r>
            <a:r>
              <a:rPr lang="ru-RU" sz="1800" dirty="0" err="1"/>
              <a:t>of</a:t>
            </a:r>
            <a:r>
              <a:rPr lang="ru-RU" sz="1800" dirty="0"/>
              <a:t> </a:t>
            </a:r>
            <a:r>
              <a:rPr lang="ru-RU" sz="1800" dirty="0" err="1"/>
              <a:t>Titanic</a:t>
            </a:r>
            <a:r>
              <a:rPr lang="ru-RU" sz="1800" dirty="0"/>
              <a:t> </a:t>
            </a:r>
            <a:r>
              <a:rPr lang="ru-RU" sz="1800" dirty="0" err="1"/>
              <a:t>Dataset</a:t>
            </a:r>
            <a:r>
              <a:rPr lang="ru-RU" sz="1800" dirty="0"/>
              <a:t>')</a:t>
            </a:r>
          </a:p>
          <a:p>
            <a:r>
              <a:rPr lang="ru-RU" sz="1800" dirty="0" err="1"/>
              <a:t>plt.show</a:t>
            </a:r>
            <a:r>
              <a:rPr lang="ru-RU" sz="1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6767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58A0FB-BE41-5F31-3378-21418B76C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Creating</a:t>
            </a:r>
            <a:r>
              <a:rPr lang="ru-RU" dirty="0"/>
              <a:t> </a:t>
            </a:r>
            <a:r>
              <a:rPr lang="ru-RU" dirty="0" err="1"/>
              <a:t>Age</a:t>
            </a:r>
            <a:r>
              <a:rPr lang="ru-RU" dirty="0"/>
              <a:t> </a:t>
            </a:r>
            <a:r>
              <a:rPr lang="ru-RU" dirty="0" err="1"/>
              <a:t>Groups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6AF9F9-7E14-AA03-5E23-19D0869AE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 err="1"/>
              <a:t>Binning</a:t>
            </a:r>
            <a:r>
              <a:rPr lang="ru-RU" b="1" dirty="0"/>
              <a:t> </a:t>
            </a:r>
            <a:r>
              <a:rPr lang="ru-RU" b="1" dirty="0" err="1"/>
              <a:t>Continuous</a:t>
            </a:r>
            <a:r>
              <a:rPr lang="ru-RU" b="1" dirty="0"/>
              <a:t> Data:</a:t>
            </a:r>
            <a:endParaRPr lang="ru-RU" dirty="0"/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Create</a:t>
            </a:r>
            <a:r>
              <a:rPr lang="ru-RU" i="1" dirty="0"/>
              <a:t> </a:t>
            </a:r>
            <a:r>
              <a:rPr lang="ru-RU" i="1" dirty="0" err="1"/>
              <a:t>age</a:t>
            </a:r>
            <a:r>
              <a:rPr lang="ru-RU" i="1" dirty="0"/>
              <a:t> </a:t>
            </a:r>
            <a:r>
              <a:rPr lang="ru-RU" i="1" dirty="0" err="1"/>
              <a:t>categories</a:t>
            </a:r>
            <a:endParaRPr lang="ru-RU" dirty="0"/>
          </a:p>
          <a:p>
            <a:pPr latinLnBrk="1"/>
            <a:r>
              <a:rPr lang="ru-RU" dirty="0" err="1"/>
              <a:t>bins</a:t>
            </a:r>
            <a:r>
              <a:rPr lang="ru-RU" dirty="0"/>
              <a:t> = [0, 12, 18, 35, 60, 100]</a:t>
            </a:r>
          </a:p>
          <a:p>
            <a:pPr latinLnBrk="1"/>
            <a:r>
              <a:rPr lang="ru-RU" dirty="0" err="1"/>
              <a:t>labels</a:t>
            </a:r>
            <a:r>
              <a:rPr lang="ru-RU" dirty="0"/>
              <a:t> = ['Child', 'Teen', 'Young </a:t>
            </a:r>
            <a:r>
              <a:rPr lang="ru-RU" dirty="0" err="1"/>
              <a:t>Adult</a:t>
            </a:r>
            <a:r>
              <a:rPr lang="ru-RU" dirty="0"/>
              <a:t>', '</a:t>
            </a:r>
            <a:r>
              <a:rPr lang="ru-RU" dirty="0" err="1"/>
              <a:t>Adult</a:t>
            </a:r>
            <a:r>
              <a:rPr lang="ru-RU" dirty="0"/>
              <a:t>', '</a:t>
            </a:r>
            <a:r>
              <a:rPr lang="ru-RU" dirty="0" err="1"/>
              <a:t>Senior</a:t>
            </a:r>
            <a:r>
              <a:rPr lang="ru-RU" dirty="0"/>
              <a:t>']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AgeGroup</a:t>
            </a:r>
            <a:r>
              <a:rPr lang="ru-RU" dirty="0"/>
              <a:t>'] = </a:t>
            </a:r>
            <a:r>
              <a:rPr lang="ru-RU" dirty="0" err="1"/>
              <a:t>pd.cut</a:t>
            </a:r>
            <a:r>
              <a:rPr lang="ru-RU" dirty="0"/>
              <a:t>(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Age</a:t>
            </a:r>
            <a:r>
              <a:rPr lang="ru-RU" dirty="0"/>
              <a:t>'],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bins</a:t>
            </a:r>
            <a:r>
              <a:rPr lang="ru-RU" dirty="0"/>
              <a:t>=</a:t>
            </a:r>
            <a:r>
              <a:rPr lang="ru-RU" dirty="0" err="1"/>
              <a:t>bins</a:t>
            </a:r>
            <a:r>
              <a:rPr lang="ru-RU" dirty="0"/>
              <a:t>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labels</a:t>
            </a:r>
            <a:r>
              <a:rPr lang="ru-RU" dirty="0"/>
              <a:t>=</a:t>
            </a:r>
            <a:r>
              <a:rPr lang="ru-RU" dirty="0" err="1"/>
              <a:t>labels</a:t>
            </a:r>
            <a:r>
              <a:rPr lang="ru-RU" dirty="0"/>
              <a:t>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right</a:t>
            </a:r>
            <a:r>
              <a:rPr lang="ru-RU" dirty="0"/>
              <a:t>=</a:t>
            </a:r>
            <a:r>
              <a:rPr lang="ru-RU" dirty="0" err="1"/>
              <a:t>False</a:t>
            </a:r>
            <a:r>
              <a:rPr lang="ru-RU" dirty="0"/>
              <a:t>  </a:t>
            </a:r>
            <a:r>
              <a:rPr lang="ru-RU" i="1" dirty="0"/>
              <a:t># </a:t>
            </a:r>
            <a:r>
              <a:rPr lang="ru-RU" i="1" dirty="0" err="1"/>
              <a:t>Don't</a:t>
            </a:r>
            <a:r>
              <a:rPr lang="ru-RU" i="1" dirty="0"/>
              <a:t> </a:t>
            </a:r>
            <a:r>
              <a:rPr lang="ru-RU" i="1" dirty="0" err="1"/>
              <a:t>include</a:t>
            </a:r>
            <a:r>
              <a:rPr lang="ru-RU" i="1" dirty="0"/>
              <a:t> </a:t>
            </a:r>
            <a:r>
              <a:rPr lang="ru-RU" i="1" dirty="0" err="1"/>
              <a:t>right</a:t>
            </a:r>
            <a:r>
              <a:rPr lang="ru-RU" i="1" dirty="0"/>
              <a:t> </a:t>
            </a:r>
            <a:r>
              <a:rPr lang="ru-RU" i="1" dirty="0" err="1"/>
              <a:t>edge</a:t>
            </a:r>
            <a:endParaRPr lang="ru-RU" dirty="0"/>
          </a:p>
          <a:p>
            <a:pPr latinLnBrk="1"/>
            <a:r>
              <a:rPr lang="ru-RU" dirty="0"/>
              <a:t>)</a:t>
            </a:r>
          </a:p>
          <a:p>
            <a:pPr latinLnBrk="1"/>
            <a:r>
              <a:rPr lang="ru-RU" dirty="0"/>
              <a:t> </a:t>
            </a:r>
          </a:p>
          <a:p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AgeGroup</a:t>
            </a:r>
            <a:r>
              <a:rPr lang="ru-RU" dirty="0"/>
              <a:t>'].</a:t>
            </a:r>
            <a:r>
              <a:rPr lang="ru-RU" dirty="0" err="1"/>
              <a:t>value_counts</a:t>
            </a:r>
            <a:r>
              <a:rPr lang="ru-RU" dirty="0"/>
              <a:t>().</a:t>
            </a:r>
            <a:r>
              <a:rPr lang="ru-RU" dirty="0" err="1"/>
              <a:t>sort_index</a:t>
            </a:r>
            <a:r>
              <a:rPr lang="ru-RU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107551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CF8696-A7B3-00B0-48CE-E9F08EED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Survival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Age</a:t>
            </a:r>
            <a:r>
              <a:rPr lang="ru-RU" dirty="0"/>
              <a:t> Group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B6A60E-8914-54C0-1404-BD7BCC69E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 dirty="0" err="1"/>
              <a:t>Bar</a:t>
            </a:r>
            <a:r>
              <a:rPr lang="ru-RU" b="1" dirty="0"/>
              <a:t> </a:t>
            </a:r>
            <a:r>
              <a:rPr lang="ru-RU" b="1" dirty="0" err="1"/>
              <a:t>Chart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dirty="0" err="1"/>
              <a:t>survival_by_agegroup</a:t>
            </a:r>
            <a:r>
              <a:rPr lang="ru-RU" dirty="0"/>
              <a:t> = </a:t>
            </a:r>
            <a:r>
              <a:rPr lang="ru-RU" dirty="0" err="1"/>
              <a:t>titanic_clean.groupby</a:t>
            </a:r>
            <a:r>
              <a:rPr lang="ru-RU" dirty="0"/>
              <a:t>('</a:t>
            </a:r>
            <a:r>
              <a:rPr lang="ru-RU" dirty="0" err="1"/>
              <a:t>AgeGroup</a:t>
            </a:r>
            <a:r>
              <a:rPr lang="ru-RU" dirty="0"/>
              <a:t>')['</a:t>
            </a:r>
            <a:r>
              <a:rPr lang="ru-RU" dirty="0" err="1"/>
              <a:t>Survived</a:t>
            </a:r>
            <a:r>
              <a:rPr lang="ru-RU" dirty="0"/>
              <a:t>'].</a:t>
            </a:r>
            <a:r>
              <a:rPr lang="ru-RU" dirty="0" err="1"/>
              <a:t>mean</a:t>
            </a:r>
            <a:r>
              <a:rPr lang="ru-RU" dirty="0"/>
              <a:t>()</a:t>
            </a:r>
          </a:p>
          <a:p>
            <a:pPr marL="0" indent="0" latinLnBrk="1">
              <a:buNone/>
            </a:pPr>
            <a:endParaRPr lang="ru-RU" dirty="0"/>
          </a:p>
          <a:p>
            <a:pPr latinLnBrk="1"/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=(10, 6))</a:t>
            </a:r>
          </a:p>
          <a:p>
            <a:pPr latinLnBrk="1"/>
            <a:r>
              <a:rPr lang="ru-RU" dirty="0" err="1"/>
              <a:t>survival_by_agegroup.plot</a:t>
            </a:r>
            <a:r>
              <a:rPr lang="ru-RU" dirty="0"/>
              <a:t>(</a:t>
            </a:r>
            <a:r>
              <a:rPr lang="ru-RU" dirty="0" err="1"/>
              <a:t>kind</a:t>
            </a:r>
            <a:r>
              <a:rPr lang="ru-RU" dirty="0"/>
              <a:t>='</a:t>
            </a:r>
            <a:r>
              <a:rPr lang="ru-RU" dirty="0" err="1"/>
              <a:t>bar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Survival</a:t>
            </a:r>
            <a:r>
              <a:rPr lang="ru-RU" dirty="0"/>
              <a:t> Rate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Age</a:t>
            </a:r>
            <a:r>
              <a:rPr lang="ru-RU" dirty="0"/>
              <a:t> Group')</a:t>
            </a:r>
          </a:p>
          <a:p>
            <a:pPr latinLnBrk="1"/>
            <a:r>
              <a:rPr lang="ru-RU" dirty="0" err="1"/>
              <a:t>plt.xlabel</a:t>
            </a:r>
            <a:r>
              <a:rPr lang="ru-RU" dirty="0"/>
              <a:t>('</a:t>
            </a:r>
            <a:r>
              <a:rPr lang="ru-RU" dirty="0" err="1"/>
              <a:t>Age</a:t>
            </a:r>
            <a:r>
              <a:rPr lang="ru-RU" dirty="0"/>
              <a:t> Group')</a:t>
            </a:r>
          </a:p>
          <a:p>
            <a:pPr latinLnBrk="1"/>
            <a:r>
              <a:rPr lang="ru-RU" dirty="0" err="1"/>
              <a:t>plt.ylabel</a:t>
            </a:r>
            <a:r>
              <a:rPr lang="ru-RU" dirty="0"/>
              <a:t>('</a:t>
            </a:r>
            <a:r>
              <a:rPr lang="ru-RU" dirty="0" err="1"/>
              <a:t>Survival</a:t>
            </a:r>
            <a:r>
              <a:rPr lang="ru-RU" dirty="0"/>
              <a:t> Rate')</a:t>
            </a:r>
          </a:p>
          <a:p>
            <a:pPr latinLnBrk="1"/>
            <a:r>
              <a:rPr lang="ru-RU" dirty="0" err="1"/>
              <a:t>plt.ylim</a:t>
            </a:r>
            <a:r>
              <a:rPr lang="ru-RU" dirty="0"/>
              <a:t>(0, 1)</a:t>
            </a:r>
          </a:p>
          <a:p>
            <a:pPr latinLnBrk="1"/>
            <a:r>
              <a:rPr lang="ru-RU" dirty="0" err="1"/>
              <a:t>plt.grid</a:t>
            </a:r>
            <a:r>
              <a:rPr lang="ru-RU" dirty="0"/>
              <a:t>(True, </a:t>
            </a:r>
            <a:r>
              <a:rPr lang="ru-RU" dirty="0" err="1"/>
              <a:t>axis</a:t>
            </a:r>
            <a:r>
              <a:rPr lang="ru-RU" dirty="0"/>
              <a:t>='y', </a:t>
            </a:r>
            <a:r>
              <a:rPr lang="ru-RU" dirty="0" err="1"/>
              <a:t>alpha</a:t>
            </a:r>
            <a:r>
              <a:rPr lang="ru-RU" dirty="0"/>
              <a:t>=0.3)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pPr lvl="1"/>
            <a:r>
              <a:rPr lang="ru-RU" b="1" dirty="0"/>
              <a:t>"</a:t>
            </a:r>
            <a:r>
              <a:rPr lang="ru-RU" b="1" dirty="0" err="1"/>
              <a:t>Children</a:t>
            </a:r>
            <a:r>
              <a:rPr lang="ru-RU" b="1" dirty="0"/>
              <a:t> First" Protocol:</a:t>
            </a:r>
            <a:endParaRPr lang="ru-RU" dirty="0"/>
          </a:p>
          <a:p>
            <a:pPr lvl="1"/>
            <a:r>
              <a:rPr lang="ru-RU" dirty="0" err="1"/>
              <a:t>Children</a:t>
            </a:r>
            <a:r>
              <a:rPr lang="ru-RU" dirty="0"/>
              <a:t>: 59% </a:t>
            </a:r>
            <a:r>
              <a:rPr lang="ru-RU" dirty="0" err="1"/>
              <a:t>survived</a:t>
            </a:r>
            <a:endParaRPr lang="ru-RU" dirty="0"/>
          </a:p>
          <a:p>
            <a:pPr lvl="1"/>
            <a:r>
              <a:rPr lang="ru-RU" dirty="0" err="1"/>
              <a:t>Teens</a:t>
            </a:r>
            <a:r>
              <a:rPr lang="ru-RU" dirty="0"/>
              <a:t>: 40% </a:t>
            </a:r>
            <a:r>
              <a:rPr lang="ru-RU" dirty="0" err="1"/>
              <a:t>survived</a:t>
            </a:r>
            <a:endParaRPr lang="ru-RU" dirty="0"/>
          </a:p>
          <a:p>
            <a:pPr lvl="1"/>
            <a:r>
              <a:rPr lang="ru-RU" dirty="0" err="1"/>
              <a:t>Adults</a:t>
            </a:r>
            <a:r>
              <a:rPr lang="ru-RU" dirty="0"/>
              <a:t>: 38% </a:t>
            </a:r>
            <a:r>
              <a:rPr lang="ru-RU" dirty="0" err="1"/>
              <a:t>survived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15349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5086EC-07F9-5873-66AB-C73103807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Family </a:t>
            </a:r>
            <a:r>
              <a:rPr lang="ru-RU" dirty="0" err="1"/>
              <a:t>Size</a:t>
            </a:r>
            <a:r>
              <a:rPr lang="ru-RU" dirty="0"/>
              <a:t> Analysis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80411F-3962-C525-0C5E-225FBCAD5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err="1"/>
              <a:t>Create</a:t>
            </a:r>
            <a:r>
              <a:rPr lang="ru-RU" b="1" dirty="0"/>
              <a:t> New </a:t>
            </a:r>
            <a:r>
              <a:rPr lang="ru-RU" b="1" dirty="0" err="1"/>
              <a:t>Features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i="1" dirty="0"/>
              <a:t># Family </a:t>
            </a:r>
            <a:r>
              <a:rPr lang="ru-RU" i="1" dirty="0" err="1"/>
              <a:t>size</a:t>
            </a:r>
            <a:r>
              <a:rPr lang="ru-RU" i="1" dirty="0"/>
              <a:t> = </a:t>
            </a:r>
            <a:r>
              <a:rPr lang="ru-RU" i="1" dirty="0" err="1"/>
              <a:t>siblings</a:t>
            </a:r>
            <a:r>
              <a:rPr lang="ru-RU" i="1" dirty="0"/>
              <a:t> + </a:t>
            </a:r>
            <a:r>
              <a:rPr lang="ru-RU" i="1" dirty="0" err="1"/>
              <a:t>parents</a:t>
            </a:r>
            <a:r>
              <a:rPr lang="ru-RU" i="1" dirty="0"/>
              <a:t> + </a:t>
            </a:r>
            <a:r>
              <a:rPr lang="ru-RU" i="1" dirty="0" err="1"/>
              <a:t>self</a:t>
            </a:r>
            <a:endParaRPr lang="ru-RU" dirty="0"/>
          </a:p>
          <a:p>
            <a:pPr latinLnBrk="1"/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FamilySize</a:t>
            </a:r>
            <a:r>
              <a:rPr lang="ru-RU" dirty="0"/>
              <a:t>'] = (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SibSp</a:t>
            </a:r>
            <a:r>
              <a:rPr lang="ru-RU" dirty="0"/>
              <a:t>'] + 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Parch</a:t>
            </a:r>
            <a:r>
              <a:rPr lang="ru-RU" dirty="0"/>
              <a:t>'] + </a:t>
            </a:r>
          </a:p>
          <a:p>
            <a:pPr latinLnBrk="1"/>
            <a:r>
              <a:rPr lang="ru-RU" dirty="0"/>
              <a:t>    1  </a:t>
            </a:r>
            <a:r>
              <a:rPr lang="ru-RU" i="1" dirty="0"/>
              <a:t># Self</a:t>
            </a:r>
            <a:endParaRPr lang="ru-RU" dirty="0"/>
          </a:p>
          <a:p>
            <a:pPr latinLnBrk="1"/>
            <a:r>
              <a:rPr lang="ru-RU" dirty="0"/>
              <a:t>)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Traveling</a:t>
            </a:r>
            <a:r>
              <a:rPr lang="ru-RU" i="1" dirty="0"/>
              <a:t> </a:t>
            </a:r>
            <a:r>
              <a:rPr lang="ru-RU" i="1" dirty="0" err="1"/>
              <a:t>alone</a:t>
            </a:r>
            <a:r>
              <a:rPr lang="ru-RU" i="1" dirty="0"/>
              <a:t>?</a:t>
            </a:r>
            <a:endParaRPr lang="ru-RU" dirty="0"/>
          </a:p>
          <a:p>
            <a:pPr latinLnBrk="1"/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IsAlone</a:t>
            </a:r>
            <a:r>
              <a:rPr lang="ru-RU" dirty="0"/>
              <a:t>'] = 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FamilySize</a:t>
            </a:r>
            <a:r>
              <a:rPr lang="ru-RU" dirty="0"/>
              <a:t>'] == 1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f"Traveling</a:t>
            </a:r>
            <a:r>
              <a:rPr lang="ru-RU" dirty="0"/>
              <a:t> </a:t>
            </a:r>
            <a:r>
              <a:rPr lang="ru-RU" dirty="0" err="1"/>
              <a:t>alone</a:t>
            </a:r>
            <a:r>
              <a:rPr lang="ru-RU" dirty="0"/>
              <a:t>: {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IsAlone</a:t>
            </a:r>
            <a:r>
              <a:rPr lang="ru-RU" dirty="0"/>
              <a:t>'].</a:t>
            </a:r>
            <a:r>
              <a:rPr lang="ru-RU" dirty="0" err="1"/>
              <a:t>mean</a:t>
            </a:r>
            <a:r>
              <a:rPr lang="ru-RU" dirty="0"/>
              <a:t>() * 100:.1f}%")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94174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43233-1354-C44B-4704-41FE65B40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Survival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Family </a:t>
            </a:r>
            <a:r>
              <a:rPr lang="ru-RU" dirty="0" err="1"/>
              <a:t>Size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84BA32-932C-0F7A-C93D-FC63BB853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/>
              <a:t>Line </a:t>
            </a:r>
            <a:r>
              <a:rPr lang="ru-RU" b="1" dirty="0" err="1"/>
              <a:t>Plot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dirty="0" err="1"/>
              <a:t>survival_by_family</a:t>
            </a:r>
            <a:r>
              <a:rPr lang="ru-RU" dirty="0"/>
              <a:t> = </a:t>
            </a:r>
            <a:r>
              <a:rPr lang="ru-RU" dirty="0" err="1"/>
              <a:t>titanic_clean.groupby</a:t>
            </a:r>
            <a:r>
              <a:rPr lang="ru-RU" dirty="0"/>
              <a:t>('</a:t>
            </a:r>
            <a:r>
              <a:rPr lang="ru-RU" dirty="0" err="1"/>
              <a:t>FamilySize</a:t>
            </a:r>
            <a:r>
              <a:rPr lang="ru-RU" dirty="0"/>
              <a:t>')['</a:t>
            </a:r>
            <a:r>
              <a:rPr lang="ru-RU" dirty="0" err="1"/>
              <a:t>Survived</a:t>
            </a:r>
            <a:r>
              <a:rPr lang="ru-RU" dirty="0"/>
              <a:t>'].</a:t>
            </a:r>
            <a:r>
              <a:rPr lang="ru-RU" dirty="0" err="1"/>
              <a:t>mean</a:t>
            </a:r>
            <a:r>
              <a:rPr lang="ru-RU" dirty="0"/>
              <a:t>()</a:t>
            </a:r>
          </a:p>
          <a:p>
            <a:pPr marL="0" indent="0" latinLnBrk="1">
              <a:buNone/>
            </a:pPr>
            <a:endParaRPr lang="ru-RU" dirty="0"/>
          </a:p>
          <a:p>
            <a:pPr latinLnBrk="1"/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=(10, 6))</a:t>
            </a:r>
          </a:p>
          <a:p>
            <a:pPr latinLnBrk="1"/>
            <a:r>
              <a:rPr lang="ru-RU" dirty="0" err="1"/>
              <a:t>survival_by_family.plot</a:t>
            </a:r>
            <a:r>
              <a:rPr lang="ru-RU" dirty="0"/>
              <a:t>(</a:t>
            </a:r>
            <a:r>
              <a:rPr lang="ru-RU" dirty="0" err="1"/>
              <a:t>kind</a:t>
            </a:r>
            <a:r>
              <a:rPr lang="ru-RU" dirty="0"/>
              <a:t>='</a:t>
            </a:r>
            <a:r>
              <a:rPr lang="ru-RU" dirty="0" err="1"/>
              <a:t>line</a:t>
            </a:r>
            <a:r>
              <a:rPr lang="ru-RU" dirty="0"/>
              <a:t>', </a:t>
            </a:r>
            <a:r>
              <a:rPr lang="ru-RU" dirty="0" err="1"/>
              <a:t>marker</a:t>
            </a:r>
            <a:r>
              <a:rPr lang="ru-RU" dirty="0"/>
              <a:t>='o')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Survival</a:t>
            </a:r>
            <a:r>
              <a:rPr lang="ru-RU" dirty="0"/>
              <a:t> Rate </a:t>
            </a:r>
            <a:r>
              <a:rPr lang="ru-RU" dirty="0" err="1"/>
              <a:t>by</a:t>
            </a:r>
            <a:r>
              <a:rPr lang="ru-RU" dirty="0"/>
              <a:t> Family </a:t>
            </a:r>
            <a:r>
              <a:rPr lang="ru-RU" dirty="0" err="1"/>
              <a:t>Size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plt.xlabel</a:t>
            </a:r>
            <a:r>
              <a:rPr lang="ru-RU" dirty="0"/>
              <a:t>('Family </a:t>
            </a:r>
            <a:r>
              <a:rPr lang="ru-RU" dirty="0" err="1"/>
              <a:t>Size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plt.ylabel</a:t>
            </a:r>
            <a:r>
              <a:rPr lang="ru-RU" dirty="0"/>
              <a:t>('</a:t>
            </a:r>
            <a:r>
              <a:rPr lang="ru-RU" dirty="0" err="1"/>
              <a:t>Survival</a:t>
            </a:r>
            <a:r>
              <a:rPr lang="ru-RU" dirty="0"/>
              <a:t> Rate')</a:t>
            </a:r>
          </a:p>
          <a:p>
            <a:pPr latinLnBrk="1"/>
            <a:r>
              <a:rPr lang="ru-RU" dirty="0" err="1"/>
              <a:t>plt.ylim</a:t>
            </a:r>
            <a:r>
              <a:rPr lang="ru-RU" dirty="0"/>
              <a:t>(0, 1)</a:t>
            </a:r>
          </a:p>
          <a:p>
            <a:pPr latinLnBrk="1"/>
            <a:r>
              <a:rPr lang="ru-RU" dirty="0" err="1"/>
              <a:t>plt.grid</a:t>
            </a:r>
            <a:r>
              <a:rPr lang="ru-RU" dirty="0"/>
              <a:t>(True, </a:t>
            </a:r>
            <a:r>
              <a:rPr lang="ru-RU" dirty="0" err="1"/>
              <a:t>alpha</a:t>
            </a:r>
            <a:r>
              <a:rPr lang="ru-RU" dirty="0"/>
              <a:t>=0.3)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pPr lvl="1"/>
            <a:r>
              <a:rPr lang="ru-RU" b="1" dirty="0" err="1"/>
              <a:t>Interesting</a:t>
            </a:r>
            <a:r>
              <a:rPr lang="ru-RU" b="1" dirty="0"/>
              <a:t> </a:t>
            </a:r>
            <a:r>
              <a:rPr lang="ru-RU" b="1" dirty="0" err="1"/>
              <a:t>Pattern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Small </a:t>
            </a:r>
            <a:r>
              <a:rPr lang="ru-RU" dirty="0" err="1"/>
              <a:t>families</a:t>
            </a:r>
            <a:r>
              <a:rPr lang="ru-RU" dirty="0"/>
              <a:t> (2-4) </a:t>
            </a:r>
            <a:r>
              <a:rPr lang="ru-RU" dirty="0" err="1"/>
              <a:t>survived</a:t>
            </a:r>
            <a:r>
              <a:rPr lang="ru-RU" dirty="0"/>
              <a:t> </a:t>
            </a:r>
            <a:r>
              <a:rPr lang="ru-RU" dirty="0" err="1"/>
              <a:t>most</a:t>
            </a:r>
            <a:endParaRPr lang="ru-RU" dirty="0"/>
          </a:p>
          <a:p>
            <a:pPr lvl="1"/>
            <a:r>
              <a:rPr lang="ru-RU" dirty="0" err="1"/>
              <a:t>Singles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very</a:t>
            </a:r>
            <a:r>
              <a:rPr lang="ru-RU" dirty="0"/>
              <a:t> </a:t>
            </a:r>
            <a:r>
              <a:rPr lang="ru-RU" dirty="0" err="1"/>
              <a:t>large</a:t>
            </a:r>
            <a:r>
              <a:rPr lang="ru-RU" dirty="0"/>
              <a:t> </a:t>
            </a:r>
            <a:r>
              <a:rPr lang="ru-RU" dirty="0" err="1"/>
              <a:t>families</a:t>
            </a:r>
            <a:r>
              <a:rPr lang="ru-RU" dirty="0"/>
              <a:t> </a:t>
            </a:r>
            <a:r>
              <a:rPr lang="ru-RU" dirty="0" err="1"/>
              <a:t>survived</a:t>
            </a:r>
            <a:r>
              <a:rPr lang="ru-RU" dirty="0"/>
              <a:t> </a:t>
            </a:r>
            <a:r>
              <a:rPr lang="ru-RU" dirty="0" err="1"/>
              <a:t>less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819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99E74-7AD0-35F9-82CD-515D7EDE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Advanced </a:t>
            </a:r>
            <a:r>
              <a:rPr lang="ru-RU" dirty="0" err="1"/>
              <a:t>Visualization</a:t>
            </a:r>
            <a:r>
              <a:rPr lang="ru-RU" dirty="0"/>
              <a:t>: </a:t>
            </a:r>
            <a:r>
              <a:rPr lang="ru-RU" dirty="0" err="1"/>
              <a:t>Pair</a:t>
            </a:r>
            <a:r>
              <a:rPr lang="ru-RU" dirty="0"/>
              <a:t> </a:t>
            </a:r>
            <a:r>
              <a:rPr lang="ru-RU" dirty="0" err="1"/>
              <a:t>Plot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9B89CE-11F6-3738-C55E-6AAB833F9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 err="1"/>
              <a:t>See</a:t>
            </a:r>
            <a:r>
              <a:rPr lang="ru-RU" b="1" dirty="0"/>
              <a:t> All </a:t>
            </a:r>
            <a:r>
              <a:rPr lang="ru-RU" b="1" dirty="0" err="1"/>
              <a:t>Relationships</a:t>
            </a:r>
            <a:r>
              <a:rPr lang="ru-RU" b="1" dirty="0"/>
              <a:t> </a:t>
            </a:r>
            <a:r>
              <a:rPr lang="ru-RU" b="1" dirty="0" err="1"/>
              <a:t>at</a:t>
            </a:r>
            <a:r>
              <a:rPr lang="ru-RU" b="1" dirty="0"/>
              <a:t> </a:t>
            </a:r>
            <a:r>
              <a:rPr lang="ru-RU" b="1" dirty="0" err="1"/>
              <a:t>Once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i="1" dirty="0"/>
              <a:t># Select </a:t>
            </a:r>
            <a:r>
              <a:rPr lang="ru-RU" i="1" dirty="0" err="1"/>
              <a:t>key</a:t>
            </a:r>
            <a:r>
              <a:rPr lang="ru-RU" i="1" dirty="0"/>
              <a:t> </a:t>
            </a:r>
            <a:r>
              <a:rPr lang="ru-RU" i="1" dirty="0" err="1"/>
              <a:t>columns</a:t>
            </a:r>
            <a:endParaRPr lang="ru-RU" dirty="0"/>
          </a:p>
          <a:p>
            <a:pPr latinLnBrk="1"/>
            <a:r>
              <a:rPr lang="ru-RU" dirty="0" err="1"/>
              <a:t>columns_to_plot</a:t>
            </a:r>
            <a:r>
              <a:rPr lang="ru-RU" dirty="0"/>
              <a:t> = ['</a:t>
            </a:r>
            <a:r>
              <a:rPr lang="ru-RU" dirty="0" err="1"/>
              <a:t>Age</a:t>
            </a:r>
            <a:r>
              <a:rPr lang="ru-RU" dirty="0"/>
              <a:t>', '</a:t>
            </a:r>
            <a:r>
              <a:rPr lang="ru-RU" dirty="0" err="1"/>
              <a:t>Fare</a:t>
            </a:r>
            <a:r>
              <a:rPr lang="ru-RU" dirty="0"/>
              <a:t>', '</a:t>
            </a:r>
            <a:r>
              <a:rPr lang="ru-RU" dirty="0" err="1"/>
              <a:t>Pclass</a:t>
            </a:r>
            <a:r>
              <a:rPr lang="ru-RU" dirty="0"/>
              <a:t>', '</a:t>
            </a:r>
            <a:r>
              <a:rPr lang="ru-RU" dirty="0" err="1"/>
              <a:t>Survived</a:t>
            </a:r>
            <a:r>
              <a:rPr lang="ru-RU" dirty="0"/>
              <a:t>’]</a:t>
            </a:r>
            <a:endParaRPr lang="en-US" dirty="0"/>
          </a:p>
          <a:p>
            <a:pPr latinLnBrk="1"/>
            <a:endParaRPr lang="ru-RU" dirty="0"/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Create</a:t>
            </a:r>
            <a:r>
              <a:rPr lang="ru-RU" i="1" dirty="0"/>
              <a:t> </a:t>
            </a:r>
            <a:r>
              <a:rPr lang="ru-RU" i="1" dirty="0" err="1"/>
              <a:t>pair</a:t>
            </a:r>
            <a:r>
              <a:rPr lang="ru-RU" i="1" dirty="0"/>
              <a:t> </a:t>
            </a:r>
            <a:r>
              <a:rPr lang="ru-RU" i="1" dirty="0" err="1"/>
              <a:t>plot</a:t>
            </a:r>
            <a:endParaRPr lang="ru-RU" dirty="0"/>
          </a:p>
          <a:p>
            <a:pPr latinLnBrk="1"/>
            <a:r>
              <a:rPr lang="ru-RU" dirty="0" err="1"/>
              <a:t>sns.pairplot</a:t>
            </a:r>
            <a:r>
              <a:rPr lang="ru-RU" dirty="0"/>
              <a:t>(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titanic_clean</a:t>
            </a:r>
            <a:r>
              <a:rPr lang="ru-RU" dirty="0"/>
              <a:t>[</a:t>
            </a:r>
            <a:r>
              <a:rPr lang="ru-RU" dirty="0" err="1"/>
              <a:t>columns_to_plot</a:t>
            </a:r>
            <a:r>
              <a:rPr lang="ru-RU" dirty="0"/>
              <a:t>],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hue</a:t>
            </a:r>
            <a:r>
              <a:rPr lang="ru-RU" dirty="0"/>
              <a:t>='</a:t>
            </a:r>
            <a:r>
              <a:rPr lang="ru-RU" dirty="0" err="1"/>
              <a:t>Survived</a:t>
            </a:r>
            <a:r>
              <a:rPr lang="ru-RU" dirty="0"/>
              <a:t>',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diag_kind</a:t>
            </a:r>
            <a:r>
              <a:rPr lang="ru-RU" dirty="0"/>
              <a:t>='</a:t>
            </a:r>
            <a:r>
              <a:rPr lang="ru-RU" dirty="0" err="1"/>
              <a:t>kde</a:t>
            </a:r>
            <a:r>
              <a:rPr lang="ru-RU" dirty="0"/>
              <a:t>',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plot_kws</a:t>
            </a:r>
            <a:r>
              <a:rPr lang="ru-RU" dirty="0"/>
              <a:t>={'</a:t>
            </a:r>
            <a:r>
              <a:rPr lang="ru-RU" dirty="0" err="1"/>
              <a:t>alpha</a:t>
            </a:r>
            <a:r>
              <a:rPr lang="ru-RU" dirty="0"/>
              <a:t>': 0.6}</a:t>
            </a:r>
          </a:p>
          <a:p>
            <a:pPr latinLnBrk="1"/>
            <a:r>
              <a:rPr lang="ru-RU" dirty="0"/>
              <a:t>)</a:t>
            </a:r>
          </a:p>
          <a:p>
            <a:pPr latinLnBrk="1"/>
            <a:r>
              <a:rPr lang="ru-RU" dirty="0" err="1"/>
              <a:t>plt.suptitle</a:t>
            </a:r>
            <a:r>
              <a:rPr lang="ru-RU" dirty="0"/>
              <a:t>('</a:t>
            </a:r>
            <a:r>
              <a:rPr lang="ru-RU" dirty="0" err="1"/>
              <a:t>Pair</a:t>
            </a:r>
            <a:r>
              <a:rPr lang="ru-RU" dirty="0"/>
              <a:t> </a:t>
            </a:r>
            <a:r>
              <a:rPr lang="ru-RU" dirty="0" err="1"/>
              <a:t>Plot</a:t>
            </a:r>
            <a:r>
              <a:rPr lang="ru-RU" dirty="0"/>
              <a:t>: </a:t>
            </a:r>
            <a:r>
              <a:rPr lang="ru-RU" dirty="0" err="1"/>
              <a:t>Relationships</a:t>
            </a:r>
            <a:r>
              <a:rPr lang="ru-RU" dirty="0"/>
              <a:t> </a:t>
            </a:r>
            <a:r>
              <a:rPr lang="ru-RU" dirty="0" err="1"/>
              <a:t>Between</a:t>
            </a:r>
            <a:r>
              <a:rPr lang="ru-RU" dirty="0"/>
              <a:t> Key </a:t>
            </a:r>
            <a:r>
              <a:rPr lang="ru-RU" dirty="0" err="1"/>
              <a:t>Variables</a:t>
            </a:r>
            <a:r>
              <a:rPr lang="ru-RU" dirty="0"/>
              <a:t>', y=1.02)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41556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4448BF-9B1A-0CC7-DBA0-3892CC637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Violin</a:t>
            </a:r>
            <a:r>
              <a:rPr lang="ru-RU" dirty="0"/>
              <a:t> </a:t>
            </a:r>
            <a:r>
              <a:rPr lang="ru-RU" dirty="0" err="1"/>
              <a:t>Plot</a:t>
            </a:r>
            <a:r>
              <a:rPr lang="ru-RU" dirty="0"/>
              <a:t> - </a:t>
            </a:r>
            <a:r>
              <a:rPr lang="ru-RU" dirty="0" err="1"/>
              <a:t>Age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Class &amp; </a:t>
            </a:r>
            <a:r>
              <a:rPr lang="ru-RU" dirty="0" err="1"/>
              <a:t>Survival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92783E-20AD-C3D3-7F87-050323817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 dirty="0"/>
              <a:t>Rich Distribution View:</a:t>
            </a:r>
            <a:endParaRPr lang="ru-RU" dirty="0"/>
          </a:p>
          <a:p>
            <a:pPr latinLnBrk="1"/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=(12, 8))</a:t>
            </a:r>
          </a:p>
          <a:p>
            <a:pPr latinLnBrk="1"/>
            <a:r>
              <a:rPr lang="ru-RU" dirty="0" err="1"/>
              <a:t>sns.violinplot</a:t>
            </a:r>
            <a:r>
              <a:rPr lang="ru-RU" dirty="0"/>
              <a:t>(</a:t>
            </a:r>
          </a:p>
          <a:p>
            <a:pPr latinLnBrk="1"/>
            <a:r>
              <a:rPr lang="ru-RU" dirty="0"/>
              <a:t>    x='</a:t>
            </a:r>
            <a:r>
              <a:rPr lang="ru-RU" dirty="0" err="1"/>
              <a:t>Pclass</a:t>
            </a:r>
            <a:r>
              <a:rPr lang="ru-RU" dirty="0"/>
              <a:t>',</a:t>
            </a:r>
          </a:p>
          <a:p>
            <a:pPr latinLnBrk="1"/>
            <a:r>
              <a:rPr lang="ru-RU" dirty="0"/>
              <a:t>    y='</a:t>
            </a:r>
            <a:r>
              <a:rPr lang="ru-RU" dirty="0" err="1"/>
              <a:t>Age</a:t>
            </a:r>
            <a:r>
              <a:rPr lang="ru-RU" dirty="0"/>
              <a:t>',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hue</a:t>
            </a:r>
            <a:r>
              <a:rPr lang="ru-RU" dirty="0"/>
              <a:t>='</a:t>
            </a:r>
            <a:r>
              <a:rPr lang="ru-RU" dirty="0" err="1"/>
              <a:t>Survived</a:t>
            </a:r>
            <a:r>
              <a:rPr lang="ru-RU" dirty="0"/>
              <a:t>',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data</a:t>
            </a:r>
            <a:r>
              <a:rPr lang="ru-RU" dirty="0"/>
              <a:t>=</a:t>
            </a:r>
            <a:r>
              <a:rPr lang="ru-RU" dirty="0" err="1"/>
              <a:t>titanic_clean</a:t>
            </a:r>
            <a:r>
              <a:rPr lang="ru-RU" dirty="0"/>
              <a:t>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split</a:t>
            </a:r>
            <a:r>
              <a:rPr lang="ru-RU" dirty="0"/>
              <a:t>=True,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palette</a:t>
            </a:r>
            <a:r>
              <a:rPr lang="ru-RU" dirty="0"/>
              <a:t>={0: '</a:t>
            </a:r>
            <a:r>
              <a:rPr lang="ru-RU" dirty="0" err="1"/>
              <a:t>red</a:t>
            </a:r>
            <a:r>
              <a:rPr lang="ru-RU" dirty="0"/>
              <a:t>', 1: '</a:t>
            </a:r>
            <a:r>
              <a:rPr lang="ru-RU" dirty="0" err="1"/>
              <a:t>green</a:t>
            </a:r>
            <a:r>
              <a:rPr lang="ru-RU" dirty="0"/>
              <a:t>'}</a:t>
            </a:r>
          </a:p>
          <a:p>
            <a:pPr latinLnBrk="1"/>
            <a:r>
              <a:rPr lang="ru-RU" dirty="0"/>
              <a:t>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Age</a:t>
            </a:r>
            <a:r>
              <a:rPr lang="ru-RU" dirty="0"/>
              <a:t> Distribution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Passenger</a:t>
            </a:r>
            <a:r>
              <a:rPr lang="ru-RU" dirty="0"/>
              <a:t> Class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Survival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plt.xlabel</a:t>
            </a:r>
            <a:r>
              <a:rPr lang="ru-RU" dirty="0"/>
              <a:t>('</a:t>
            </a:r>
            <a:r>
              <a:rPr lang="ru-RU" dirty="0" err="1"/>
              <a:t>Passenger</a:t>
            </a:r>
            <a:r>
              <a:rPr lang="ru-RU" dirty="0"/>
              <a:t> Class')</a:t>
            </a:r>
          </a:p>
          <a:p>
            <a:pPr latinLnBrk="1"/>
            <a:r>
              <a:rPr lang="ru-RU" dirty="0" err="1"/>
              <a:t>plt.ylabel</a:t>
            </a:r>
            <a:r>
              <a:rPr lang="ru-RU" dirty="0"/>
              <a:t>('</a:t>
            </a:r>
            <a:r>
              <a:rPr lang="ru-RU" dirty="0" err="1"/>
              <a:t>Age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plt.legend</a:t>
            </a:r>
            <a:r>
              <a:rPr lang="ru-RU" dirty="0"/>
              <a:t>(</a:t>
            </a:r>
            <a:r>
              <a:rPr lang="ru-RU" dirty="0" err="1"/>
              <a:t>title</a:t>
            </a:r>
            <a:r>
              <a:rPr lang="ru-RU" dirty="0"/>
              <a:t>='</a:t>
            </a:r>
            <a:r>
              <a:rPr lang="ru-RU" dirty="0" err="1"/>
              <a:t>Survived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36056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94402-29B6-A419-0EA2-1C510A70B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Facet</a:t>
            </a:r>
            <a:r>
              <a:rPr lang="ru-RU" dirty="0"/>
              <a:t> Grid - Multi-</a:t>
            </a:r>
            <a:r>
              <a:rPr lang="ru-RU" dirty="0" err="1"/>
              <a:t>dimensional</a:t>
            </a:r>
            <a:r>
              <a:rPr lang="ru-RU" dirty="0"/>
              <a:t> View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4FB44F-6065-C60E-FB40-777256483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atinLnBrk="1"/>
            <a:r>
              <a:rPr lang="ru-RU" i="1" dirty="0"/>
              <a:t># </a:t>
            </a:r>
            <a:r>
              <a:rPr lang="ru-RU" i="1" dirty="0" err="1"/>
              <a:t>Create</a:t>
            </a:r>
            <a:r>
              <a:rPr lang="ru-RU" i="1" dirty="0"/>
              <a:t> a </a:t>
            </a:r>
            <a:r>
              <a:rPr lang="ru-RU" i="1" dirty="0" err="1"/>
              <a:t>grid</a:t>
            </a:r>
            <a:r>
              <a:rPr lang="ru-RU" i="1" dirty="0"/>
              <a:t> </a:t>
            </a:r>
            <a:r>
              <a:rPr lang="ru-RU" i="1" dirty="0" err="1"/>
              <a:t>of</a:t>
            </a:r>
            <a:r>
              <a:rPr lang="ru-RU" i="1" dirty="0"/>
              <a:t> </a:t>
            </a:r>
            <a:r>
              <a:rPr lang="ru-RU" i="1" dirty="0" err="1"/>
              <a:t>scatter</a:t>
            </a:r>
            <a:r>
              <a:rPr lang="ru-RU" i="1" dirty="0"/>
              <a:t> </a:t>
            </a:r>
            <a:r>
              <a:rPr lang="ru-RU" i="1" dirty="0" err="1"/>
              <a:t>plots</a:t>
            </a:r>
            <a:endParaRPr lang="ru-RU" dirty="0"/>
          </a:p>
          <a:p>
            <a:pPr latinLnBrk="1"/>
            <a:r>
              <a:rPr lang="ru-RU" dirty="0"/>
              <a:t>g = </a:t>
            </a:r>
            <a:r>
              <a:rPr lang="ru-RU" dirty="0" err="1"/>
              <a:t>sns.FacetGrid</a:t>
            </a:r>
            <a:r>
              <a:rPr lang="ru-RU" dirty="0"/>
              <a:t>(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titanic_clean</a:t>
            </a:r>
            <a:r>
              <a:rPr lang="ru-RU" dirty="0"/>
              <a:t>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col</a:t>
            </a:r>
            <a:r>
              <a:rPr lang="ru-RU" dirty="0"/>
              <a:t>='Sex',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row</a:t>
            </a:r>
            <a:r>
              <a:rPr lang="ru-RU" dirty="0"/>
              <a:t>='</a:t>
            </a:r>
            <a:r>
              <a:rPr lang="ru-RU" dirty="0" err="1"/>
              <a:t>Pclass</a:t>
            </a:r>
            <a:r>
              <a:rPr lang="ru-RU" dirty="0"/>
              <a:t>',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hue</a:t>
            </a:r>
            <a:r>
              <a:rPr lang="ru-RU" dirty="0"/>
              <a:t>='</a:t>
            </a:r>
            <a:r>
              <a:rPr lang="ru-RU" dirty="0" err="1"/>
              <a:t>Survived</a:t>
            </a:r>
            <a:r>
              <a:rPr lang="ru-RU" dirty="0"/>
              <a:t>',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height</a:t>
            </a:r>
            <a:r>
              <a:rPr lang="ru-RU" dirty="0"/>
              <a:t>=4,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aspect</a:t>
            </a:r>
            <a:r>
              <a:rPr lang="ru-RU" dirty="0"/>
              <a:t>=1.2</a:t>
            </a:r>
          </a:p>
          <a:p>
            <a:pPr latinLnBrk="1"/>
            <a:r>
              <a:rPr lang="ru-RU" dirty="0"/>
              <a:t>)</a:t>
            </a:r>
          </a:p>
          <a:p>
            <a:pPr latinLnBrk="1"/>
            <a:r>
              <a:rPr lang="ru-RU" dirty="0" err="1"/>
              <a:t>g.map</a:t>
            </a:r>
            <a:r>
              <a:rPr lang="ru-RU" dirty="0"/>
              <a:t>(</a:t>
            </a:r>
            <a:r>
              <a:rPr lang="ru-RU" dirty="0" err="1"/>
              <a:t>sns.scatterplot</a:t>
            </a:r>
            <a:r>
              <a:rPr lang="ru-RU" dirty="0"/>
              <a:t>, '</a:t>
            </a:r>
            <a:r>
              <a:rPr lang="ru-RU" dirty="0" err="1"/>
              <a:t>Age</a:t>
            </a:r>
            <a:r>
              <a:rPr lang="ru-RU" dirty="0"/>
              <a:t>', '</a:t>
            </a:r>
            <a:r>
              <a:rPr lang="ru-RU" dirty="0" err="1"/>
              <a:t>Fare</a:t>
            </a:r>
            <a:r>
              <a:rPr lang="ru-RU" dirty="0"/>
              <a:t>', </a:t>
            </a:r>
            <a:r>
              <a:rPr lang="ru-RU" dirty="0" err="1"/>
              <a:t>alpha</a:t>
            </a:r>
            <a:r>
              <a:rPr lang="ru-RU" dirty="0"/>
              <a:t>=0.6)</a:t>
            </a:r>
          </a:p>
          <a:p>
            <a:pPr latinLnBrk="1"/>
            <a:r>
              <a:rPr lang="ru-RU" dirty="0" err="1"/>
              <a:t>g.add_legend</a:t>
            </a:r>
            <a:r>
              <a:rPr lang="ru-RU" dirty="0"/>
              <a:t>()</a:t>
            </a:r>
          </a:p>
          <a:p>
            <a:pPr latinLnBrk="1"/>
            <a:r>
              <a:rPr lang="ru-RU" dirty="0" err="1"/>
              <a:t>g.fig.suptitle</a:t>
            </a:r>
            <a:r>
              <a:rPr lang="ru-RU" dirty="0"/>
              <a:t>('</a:t>
            </a:r>
            <a:r>
              <a:rPr lang="ru-RU" dirty="0" err="1"/>
              <a:t>Age</a:t>
            </a:r>
            <a:r>
              <a:rPr lang="ru-RU" dirty="0"/>
              <a:t> </a:t>
            </a:r>
            <a:r>
              <a:rPr lang="ru-RU" dirty="0" err="1"/>
              <a:t>vs</a:t>
            </a:r>
            <a:r>
              <a:rPr lang="ru-RU" dirty="0"/>
              <a:t> </a:t>
            </a:r>
            <a:r>
              <a:rPr lang="ru-RU" dirty="0" err="1"/>
              <a:t>Fare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Gender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Class', y=1.02)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5045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9ED16D-4ED5-6B15-A438-21AFCBFE9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Outlier</a:t>
            </a:r>
            <a:r>
              <a:rPr lang="ru-RU" dirty="0"/>
              <a:t> </a:t>
            </a:r>
            <a:r>
              <a:rPr lang="ru-RU" dirty="0" err="1"/>
              <a:t>Detection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80490-50DC-21F2-F2B2-881C01501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atinLnBrk="1"/>
            <a:r>
              <a:rPr lang="ru-RU" dirty="0"/>
              <a:t>Q1 = 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Fare</a:t>
            </a:r>
            <a:r>
              <a:rPr lang="ru-RU" dirty="0"/>
              <a:t>'].</a:t>
            </a:r>
            <a:r>
              <a:rPr lang="ru-RU" dirty="0" err="1"/>
              <a:t>quantile</a:t>
            </a:r>
            <a:r>
              <a:rPr lang="ru-RU" dirty="0"/>
              <a:t>(0.25)</a:t>
            </a:r>
          </a:p>
          <a:p>
            <a:pPr latinLnBrk="1"/>
            <a:r>
              <a:rPr lang="ru-RU" dirty="0"/>
              <a:t>Q3 = 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Fare</a:t>
            </a:r>
            <a:r>
              <a:rPr lang="ru-RU" dirty="0"/>
              <a:t>'].</a:t>
            </a:r>
            <a:r>
              <a:rPr lang="ru-RU" dirty="0" err="1"/>
              <a:t>quantile</a:t>
            </a:r>
            <a:r>
              <a:rPr lang="ru-RU" dirty="0"/>
              <a:t>(0.75)</a:t>
            </a:r>
          </a:p>
          <a:p>
            <a:pPr latinLnBrk="1"/>
            <a:r>
              <a:rPr lang="ru-RU" dirty="0"/>
              <a:t>IQR = Q3 - Q1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dirty="0" err="1"/>
              <a:t>lower_bound</a:t>
            </a:r>
            <a:r>
              <a:rPr lang="ru-RU" dirty="0"/>
              <a:t> = Q1 - 1.5 * IQR</a:t>
            </a:r>
          </a:p>
          <a:p>
            <a:pPr latinLnBrk="1"/>
            <a:r>
              <a:rPr lang="ru-RU" dirty="0" err="1"/>
              <a:t>upper_bound</a:t>
            </a:r>
            <a:r>
              <a:rPr lang="ru-RU" dirty="0"/>
              <a:t> = Q3 + 1.5 * IQR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dirty="0" err="1"/>
              <a:t>outliers</a:t>
            </a:r>
            <a:r>
              <a:rPr lang="ru-RU" dirty="0"/>
              <a:t> = </a:t>
            </a:r>
            <a:r>
              <a:rPr lang="ru-RU" dirty="0" err="1"/>
              <a:t>titanic_clean</a:t>
            </a:r>
            <a:r>
              <a:rPr lang="ru-RU" dirty="0"/>
              <a:t>[</a:t>
            </a:r>
          </a:p>
          <a:p>
            <a:pPr latinLnBrk="1"/>
            <a:r>
              <a:rPr lang="ru-RU" dirty="0"/>
              <a:t>    (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Fare</a:t>
            </a:r>
            <a:r>
              <a:rPr lang="ru-RU" dirty="0"/>
              <a:t>'] &lt; </a:t>
            </a:r>
            <a:r>
              <a:rPr lang="ru-RU" dirty="0" err="1"/>
              <a:t>lower_bound</a:t>
            </a:r>
            <a:r>
              <a:rPr lang="ru-RU" dirty="0"/>
              <a:t>) | </a:t>
            </a:r>
          </a:p>
          <a:p>
            <a:pPr latinLnBrk="1"/>
            <a:r>
              <a:rPr lang="ru-RU" dirty="0"/>
              <a:t>    (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Fare</a:t>
            </a:r>
            <a:r>
              <a:rPr lang="ru-RU" dirty="0"/>
              <a:t>'] &gt; </a:t>
            </a:r>
            <a:r>
              <a:rPr lang="ru-RU" dirty="0" err="1"/>
              <a:t>upper_bound</a:t>
            </a:r>
            <a:r>
              <a:rPr lang="ru-RU" dirty="0"/>
              <a:t>)</a:t>
            </a:r>
          </a:p>
          <a:p>
            <a:pPr latinLnBrk="1"/>
            <a:r>
              <a:rPr lang="ru-RU" dirty="0"/>
              <a:t>]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f"Outliers</a:t>
            </a:r>
            <a:r>
              <a:rPr lang="ru-RU" dirty="0"/>
              <a:t> </a:t>
            </a:r>
            <a:r>
              <a:rPr lang="ru-RU" dirty="0" err="1"/>
              <a:t>found</a:t>
            </a:r>
            <a:r>
              <a:rPr lang="ru-RU" dirty="0"/>
              <a:t>: {</a:t>
            </a:r>
            <a:r>
              <a:rPr lang="ru-RU" dirty="0" err="1"/>
              <a:t>len</a:t>
            </a:r>
            <a:r>
              <a:rPr lang="ru-RU" dirty="0"/>
              <a:t>(</a:t>
            </a:r>
            <a:r>
              <a:rPr lang="ru-RU" dirty="0" err="1"/>
              <a:t>outliers</a:t>
            </a:r>
            <a:r>
              <a:rPr lang="ru-RU" dirty="0"/>
              <a:t>)}")</a:t>
            </a:r>
          </a:p>
          <a:p>
            <a:pPr latinLnBrk="1"/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f"Percentage</a:t>
            </a:r>
            <a:r>
              <a:rPr lang="ru-RU" dirty="0"/>
              <a:t>: {</a:t>
            </a:r>
            <a:r>
              <a:rPr lang="ru-RU" dirty="0" err="1"/>
              <a:t>len</a:t>
            </a:r>
            <a:r>
              <a:rPr lang="ru-RU" dirty="0"/>
              <a:t>(</a:t>
            </a:r>
            <a:r>
              <a:rPr lang="ru-RU" dirty="0" err="1"/>
              <a:t>outliers</a:t>
            </a:r>
            <a:r>
              <a:rPr lang="ru-RU" dirty="0"/>
              <a:t>)/</a:t>
            </a:r>
            <a:r>
              <a:rPr lang="ru-RU" dirty="0" err="1"/>
              <a:t>len</a:t>
            </a:r>
            <a:r>
              <a:rPr lang="ru-RU" dirty="0"/>
              <a:t>(</a:t>
            </a:r>
            <a:r>
              <a:rPr lang="ru-RU" dirty="0" err="1"/>
              <a:t>titanic_clean</a:t>
            </a:r>
            <a:r>
              <a:rPr lang="ru-RU" dirty="0"/>
              <a:t>)*100:.1f}%")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1787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215C7-F3BC-893D-622B-BFEE77CC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Handling</a:t>
            </a:r>
            <a:r>
              <a:rPr lang="ru-RU" dirty="0"/>
              <a:t> </a:t>
            </a:r>
            <a:r>
              <a:rPr lang="ru-RU" dirty="0" err="1"/>
              <a:t>Outliers</a:t>
            </a:r>
            <a:r>
              <a:rPr lang="ru-RU" dirty="0"/>
              <a:t> - </a:t>
            </a:r>
            <a:r>
              <a:rPr lang="ru-RU" dirty="0" err="1"/>
              <a:t>Options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32F9ED-8964-1868-F98A-65D1A5A50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err="1"/>
              <a:t>Three</a:t>
            </a:r>
            <a:r>
              <a:rPr lang="ru-RU" b="1" dirty="0"/>
              <a:t> </a:t>
            </a:r>
            <a:r>
              <a:rPr lang="ru-RU" b="1" dirty="0" err="1"/>
              <a:t>Strategies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 err="1"/>
              <a:t>Keep</a:t>
            </a:r>
            <a:r>
              <a:rPr lang="ru-RU" b="1" dirty="0"/>
              <a:t> </a:t>
            </a:r>
            <a:r>
              <a:rPr lang="ru-RU" b="1" dirty="0" err="1"/>
              <a:t>Them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they're</a:t>
            </a:r>
            <a:r>
              <a:rPr lang="ru-RU" dirty="0"/>
              <a:t> </a:t>
            </a:r>
            <a:r>
              <a:rPr lang="ru-RU" dirty="0" err="1"/>
              <a:t>valid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points</a:t>
            </a:r>
            <a:endParaRPr lang="ru-RU" dirty="0"/>
          </a:p>
          <a:p>
            <a:pPr lvl="1"/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they</a:t>
            </a:r>
            <a:r>
              <a:rPr lang="ru-RU" dirty="0"/>
              <a:t> </a:t>
            </a:r>
            <a:r>
              <a:rPr lang="ru-RU" dirty="0" err="1"/>
              <a:t>contain</a:t>
            </a:r>
            <a:r>
              <a:rPr lang="ru-RU" dirty="0"/>
              <a:t> </a:t>
            </a:r>
            <a:r>
              <a:rPr lang="ru-RU" dirty="0" err="1"/>
              <a:t>important</a:t>
            </a:r>
            <a:r>
              <a:rPr lang="ru-RU" dirty="0"/>
              <a:t> </a:t>
            </a:r>
            <a:r>
              <a:rPr lang="ru-RU" dirty="0" err="1"/>
              <a:t>information</a:t>
            </a:r>
            <a:endParaRPr lang="ru-RU" dirty="0"/>
          </a:p>
          <a:p>
            <a:pPr lvl="0"/>
            <a:r>
              <a:rPr lang="ru-RU" b="1" dirty="0" err="1"/>
              <a:t>Remove</a:t>
            </a:r>
            <a:r>
              <a:rPr lang="ru-RU" b="1" dirty="0"/>
              <a:t> </a:t>
            </a:r>
            <a:r>
              <a:rPr lang="ru-RU" b="1" dirty="0" err="1"/>
              <a:t>Them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they're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errors</a:t>
            </a:r>
            <a:endParaRPr lang="ru-RU" dirty="0"/>
          </a:p>
          <a:p>
            <a:pPr lvl="1"/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they</a:t>
            </a:r>
            <a:r>
              <a:rPr lang="ru-RU" dirty="0"/>
              <a:t> </a:t>
            </a:r>
            <a:r>
              <a:rPr lang="ru-RU" dirty="0" err="1"/>
              <a:t>distort</a:t>
            </a:r>
            <a:r>
              <a:rPr lang="ru-RU" dirty="0"/>
              <a:t> </a:t>
            </a:r>
            <a:r>
              <a:rPr lang="ru-RU" dirty="0" err="1"/>
              <a:t>analysis</a:t>
            </a:r>
            <a:r>
              <a:rPr lang="ru-RU" dirty="0"/>
              <a:t> </a:t>
            </a:r>
            <a:r>
              <a:rPr lang="ru-RU" dirty="0" err="1"/>
              <a:t>too</a:t>
            </a:r>
            <a:r>
              <a:rPr lang="ru-RU" dirty="0"/>
              <a:t> </a:t>
            </a:r>
            <a:r>
              <a:rPr lang="ru-RU" dirty="0" err="1"/>
              <a:t>much</a:t>
            </a:r>
            <a:endParaRPr lang="ru-RU" dirty="0"/>
          </a:p>
          <a:p>
            <a:pPr lvl="0"/>
            <a:r>
              <a:rPr lang="ru-RU" b="1" dirty="0" err="1"/>
              <a:t>Transform</a:t>
            </a:r>
            <a:r>
              <a:rPr lang="ru-RU" b="1" dirty="0"/>
              <a:t> </a:t>
            </a:r>
            <a:r>
              <a:rPr lang="ru-RU" b="1" dirty="0" err="1"/>
              <a:t>Them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 err="1"/>
              <a:t>Log</a:t>
            </a:r>
            <a:r>
              <a:rPr lang="ru-RU" dirty="0"/>
              <a:t> </a:t>
            </a:r>
            <a:r>
              <a:rPr lang="ru-RU" dirty="0" err="1"/>
              <a:t>transformation</a:t>
            </a:r>
            <a:endParaRPr lang="ru-RU" dirty="0"/>
          </a:p>
          <a:p>
            <a:pPr lvl="1"/>
            <a:r>
              <a:rPr lang="ru-RU" dirty="0" err="1"/>
              <a:t>Winsorization</a:t>
            </a:r>
            <a:r>
              <a:rPr lang="ru-RU" dirty="0"/>
              <a:t> (</a:t>
            </a:r>
            <a:r>
              <a:rPr lang="ru-RU" dirty="0" err="1"/>
              <a:t>cap</a:t>
            </a:r>
            <a:r>
              <a:rPr lang="ru-RU" dirty="0"/>
              <a:t> </a:t>
            </a:r>
            <a:r>
              <a:rPr lang="ru-RU" dirty="0" err="1"/>
              <a:t>at</a:t>
            </a:r>
            <a:r>
              <a:rPr lang="ru-RU" dirty="0"/>
              <a:t> </a:t>
            </a:r>
            <a:r>
              <a:rPr lang="ru-RU" dirty="0" err="1"/>
              <a:t>percentiles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ru-RU" dirty="0" err="1"/>
              <a:t>Binning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29747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16583-3D77-0231-4B71-B55ED9ED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Log</a:t>
            </a:r>
            <a:r>
              <a:rPr lang="ru-RU" dirty="0"/>
              <a:t> </a:t>
            </a:r>
            <a:r>
              <a:rPr lang="ru-RU" dirty="0" err="1"/>
              <a:t>Transformation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BF0537-56C4-B4CB-FDCB-BE2909924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r>
              <a:rPr lang="ru-RU" b="1" dirty="0"/>
              <a:t>For </a:t>
            </a:r>
            <a:r>
              <a:rPr lang="ru-RU" b="1" dirty="0" err="1"/>
              <a:t>Right-Skewed</a:t>
            </a:r>
            <a:r>
              <a:rPr lang="ru-RU" b="1" dirty="0"/>
              <a:t> Data:</a:t>
            </a:r>
            <a:endParaRPr lang="ru-RU" dirty="0"/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Before</a:t>
            </a:r>
            <a:r>
              <a:rPr lang="ru-RU" i="1" dirty="0"/>
              <a:t> </a:t>
            </a:r>
            <a:r>
              <a:rPr lang="ru-RU" i="1" dirty="0" err="1"/>
              <a:t>transformation</a:t>
            </a:r>
            <a:endParaRPr lang="ru-RU" dirty="0"/>
          </a:p>
          <a:p>
            <a:pPr latinLnBrk="1"/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=(12, 5))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dirty="0" err="1"/>
              <a:t>plt.subplot</a:t>
            </a:r>
            <a:r>
              <a:rPr lang="ru-RU" dirty="0"/>
              <a:t>(1, 2, 1)</a:t>
            </a:r>
          </a:p>
          <a:p>
            <a:pPr latinLnBrk="1"/>
            <a:r>
              <a:rPr lang="ru-RU" dirty="0" err="1"/>
              <a:t>plt.hist</a:t>
            </a:r>
            <a:r>
              <a:rPr lang="ru-RU" dirty="0"/>
              <a:t>(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Fare</a:t>
            </a:r>
            <a:r>
              <a:rPr lang="ru-RU" dirty="0"/>
              <a:t>'], </a:t>
            </a:r>
            <a:r>
              <a:rPr lang="ru-RU" dirty="0" err="1"/>
              <a:t>bins</a:t>
            </a:r>
            <a:r>
              <a:rPr lang="ru-RU" dirty="0"/>
              <a:t>=50, </a:t>
            </a:r>
            <a:r>
              <a:rPr lang="ru-RU" dirty="0" err="1"/>
              <a:t>edgecolor</a:t>
            </a:r>
            <a:r>
              <a:rPr lang="ru-RU" dirty="0"/>
              <a:t>='</a:t>
            </a:r>
            <a:r>
              <a:rPr lang="ru-RU" dirty="0" err="1"/>
              <a:t>black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Original</a:t>
            </a:r>
            <a:r>
              <a:rPr lang="ru-RU" dirty="0"/>
              <a:t> </a:t>
            </a:r>
            <a:r>
              <a:rPr lang="ru-RU" dirty="0" err="1"/>
              <a:t>Fare</a:t>
            </a:r>
            <a:r>
              <a:rPr lang="ru-RU" dirty="0"/>
              <a:t> Distribution')</a:t>
            </a:r>
          </a:p>
          <a:p>
            <a:pPr latinLnBrk="1"/>
            <a:r>
              <a:rPr lang="ru-RU" dirty="0" err="1"/>
              <a:t>plt.xlabel</a:t>
            </a:r>
            <a:r>
              <a:rPr lang="ru-RU" dirty="0"/>
              <a:t>('</a:t>
            </a:r>
            <a:r>
              <a:rPr lang="ru-RU" dirty="0" err="1"/>
              <a:t>Fare</a:t>
            </a:r>
            <a:r>
              <a:rPr lang="ru-RU" dirty="0"/>
              <a:t>')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After</a:t>
            </a:r>
            <a:r>
              <a:rPr lang="ru-RU" i="1" dirty="0"/>
              <a:t> </a:t>
            </a:r>
            <a:r>
              <a:rPr lang="ru-RU" i="1" dirty="0" err="1"/>
              <a:t>transformation</a:t>
            </a:r>
            <a:endParaRPr lang="ru-RU" dirty="0"/>
          </a:p>
          <a:p>
            <a:pPr latinLnBrk="1"/>
            <a:r>
              <a:rPr lang="ru-RU" dirty="0" err="1"/>
              <a:t>plt.subplot</a:t>
            </a:r>
            <a:r>
              <a:rPr lang="ru-RU" dirty="0"/>
              <a:t>(1, 2, 2)</a:t>
            </a:r>
          </a:p>
          <a:p>
            <a:pPr latinLnBrk="1"/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Fare_log</a:t>
            </a:r>
            <a:r>
              <a:rPr lang="ru-RU" dirty="0"/>
              <a:t>'] = np.log1p(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Fare</a:t>
            </a:r>
            <a:r>
              <a:rPr lang="ru-RU" dirty="0"/>
              <a:t>'])</a:t>
            </a:r>
          </a:p>
          <a:p>
            <a:pPr latinLnBrk="1"/>
            <a:r>
              <a:rPr lang="ru-RU" dirty="0" err="1"/>
              <a:t>plt.hist</a:t>
            </a:r>
            <a:r>
              <a:rPr lang="ru-RU" dirty="0"/>
              <a:t>(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Fare_log</a:t>
            </a:r>
            <a:r>
              <a:rPr lang="ru-RU" dirty="0"/>
              <a:t>'], </a:t>
            </a:r>
            <a:r>
              <a:rPr lang="ru-RU" dirty="0" err="1"/>
              <a:t>bins</a:t>
            </a:r>
            <a:r>
              <a:rPr lang="ru-RU" dirty="0"/>
              <a:t>=50, </a:t>
            </a:r>
            <a:r>
              <a:rPr lang="ru-RU" dirty="0" err="1"/>
              <a:t>edgecolor</a:t>
            </a:r>
            <a:r>
              <a:rPr lang="ru-RU" dirty="0"/>
              <a:t>='</a:t>
            </a:r>
            <a:r>
              <a:rPr lang="ru-RU" dirty="0" err="1"/>
              <a:t>black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Log-Transformed</a:t>
            </a:r>
            <a:r>
              <a:rPr lang="ru-RU" dirty="0"/>
              <a:t> </a:t>
            </a:r>
            <a:r>
              <a:rPr lang="ru-RU" dirty="0" err="1"/>
              <a:t>Fare</a:t>
            </a:r>
            <a:r>
              <a:rPr lang="ru-RU" dirty="0"/>
              <a:t> Distribution')</a:t>
            </a:r>
          </a:p>
          <a:p>
            <a:pPr latinLnBrk="1"/>
            <a:r>
              <a:rPr lang="ru-RU" dirty="0" err="1"/>
              <a:t>plt.xlabel</a:t>
            </a:r>
            <a:r>
              <a:rPr lang="ru-RU" dirty="0"/>
              <a:t>('</a:t>
            </a:r>
            <a:r>
              <a:rPr lang="ru-RU" dirty="0" err="1"/>
              <a:t>Log</a:t>
            </a:r>
            <a:r>
              <a:rPr lang="ru-RU" dirty="0"/>
              <a:t>(</a:t>
            </a:r>
            <a:r>
              <a:rPr lang="ru-RU" dirty="0" err="1"/>
              <a:t>Fare</a:t>
            </a:r>
            <a:r>
              <a:rPr lang="ru-RU" dirty="0"/>
              <a:t> + 1)')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dirty="0" err="1"/>
              <a:t>plt.tight_layout</a:t>
            </a:r>
            <a:r>
              <a:rPr lang="ru-RU" dirty="0"/>
              <a:t>()</a:t>
            </a:r>
          </a:p>
          <a:p>
            <a:r>
              <a:rPr lang="ru-RU" dirty="0" err="1"/>
              <a:t>plt.show</a:t>
            </a:r>
            <a:r>
              <a:rPr lang="ru-RU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787747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FABBC6-9B91-8025-920E-BD16B470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Feature</a:t>
            </a:r>
            <a:r>
              <a:rPr lang="ru-RU" dirty="0"/>
              <a:t> Engineering - </a:t>
            </a:r>
            <a:r>
              <a:rPr lang="ru-RU" dirty="0" err="1"/>
              <a:t>Extract</a:t>
            </a:r>
            <a:r>
              <a:rPr lang="ru-RU" dirty="0"/>
              <a:t> </a:t>
            </a:r>
            <a:r>
              <a:rPr lang="ru-RU" dirty="0" err="1"/>
              <a:t>Titles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47CE20-2F18-F151-5697-D14321DDA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From </a:t>
            </a:r>
            <a:r>
              <a:rPr lang="ru-RU" b="1" dirty="0" err="1"/>
              <a:t>Names</a:t>
            </a:r>
            <a:r>
              <a:rPr lang="ru-RU" b="1" dirty="0"/>
              <a:t> </a:t>
            </a:r>
            <a:r>
              <a:rPr lang="ru-RU" b="1" dirty="0" err="1"/>
              <a:t>to</a:t>
            </a:r>
            <a:r>
              <a:rPr lang="ru-RU" b="1" dirty="0"/>
              <a:t> Social </a:t>
            </a:r>
            <a:r>
              <a:rPr lang="ru-RU" b="1" dirty="0" err="1"/>
              <a:t>Status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Extract</a:t>
            </a:r>
            <a:r>
              <a:rPr lang="ru-RU" i="1" dirty="0"/>
              <a:t> </a:t>
            </a:r>
            <a:r>
              <a:rPr lang="ru-RU" i="1" dirty="0" err="1"/>
              <a:t>title</a:t>
            </a:r>
            <a:r>
              <a:rPr lang="ru-RU" i="1" dirty="0"/>
              <a:t> </a:t>
            </a:r>
            <a:r>
              <a:rPr lang="ru-RU" i="1" dirty="0" err="1"/>
              <a:t>from</a:t>
            </a:r>
            <a:r>
              <a:rPr lang="ru-RU" i="1" dirty="0"/>
              <a:t> </a:t>
            </a:r>
            <a:r>
              <a:rPr lang="ru-RU" i="1" dirty="0" err="1"/>
              <a:t>name</a:t>
            </a:r>
            <a:r>
              <a:rPr lang="ru-RU" i="1" dirty="0"/>
              <a:t> (</a:t>
            </a:r>
            <a:r>
              <a:rPr lang="ru-RU" i="1" dirty="0" err="1"/>
              <a:t>e.g</a:t>
            </a:r>
            <a:r>
              <a:rPr lang="ru-RU" i="1" dirty="0"/>
              <a:t>., "Mr.", "</a:t>
            </a:r>
            <a:r>
              <a:rPr lang="ru-RU" i="1" dirty="0" err="1"/>
              <a:t>Mrs</a:t>
            </a:r>
            <a:r>
              <a:rPr lang="ru-RU" i="1" dirty="0"/>
              <a:t>.", "Dr.")</a:t>
            </a:r>
            <a:endParaRPr lang="ru-RU" dirty="0"/>
          </a:p>
          <a:p>
            <a:pPr latinLnBrk="1"/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Title</a:t>
            </a:r>
            <a:r>
              <a:rPr lang="ru-RU" dirty="0"/>
              <a:t>'] = </a:t>
            </a:r>
            <a:r>
              <a:rPr lang="ru-RU" dirty="0" err="1"/>
              <a:t>titanic_clean</a:t>
            </a:r>
            <a:r>
              <a:rPr lang="ru-RU" dirty="0"/>
              <a:t>['Name'].</a:t>
            </a:r>
            <a:r>
              <a:rPr lang="ru-RU" dirty="0" err="1"/>
              <a:t>str.extract</a:t>
            </a:r>
            <a:r>
              <a:rPr lang="ru-RU" dirty="0"/>
              <a:t>(' ([A-</a:t>
            </a:r>
            <a:r>
              <a:rPr lang="ru-RU" dirty="0" err="1"/>
              <a:t>Za</a:t>
            </a:r>
            <a:r>
              <a:rPr lang="ru-RU" dirty="0"/>
              <a:t>-z]+)\.', </a:t>
            </a:r>
            <a:r>
              <a:rPr lang="ru-RU" dirty="0" err="1"/>
              <a:t>expand</a:t>
            </a:r>
            <a:r>
              <a:rPr lang="ru-RU" dirty="0"/>
              <a:t>=</a:t>
            </a:r>
            <a:r>
              <a:rPr lang="ru-RU" dirty="0" err="1"/>
              <a:t>False</a:t>
            </a:r>
            <a:r>
              <a:rPr lang="ru-RU" dirty="0"/>
              <a:t>)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See</a:t>
            </a:r>
            <a:r>
              <a:rPr lang="ru-RU" i="1" dirty="0"/>
              <a:t> </a:t>
            </a:r>
            <a:r>
              <a:rPr lang="ru-RU" i="1" dirty="0" err="1"/>
              <a:t>most</a:t>
            </a:r>
            <a:r>
              <a:rPr lang="ru-RU" i="1" dirty="0"/>
              <a:t> </a:t>
            </a:r>
            <a:r>
              <a:rPr lang="ru-RU" i="1" dirty="0" err="1"/>
              <a:t>common</a:t>
            </a:r>
            <a:r>
              <a:rPr lang="ru-RU" i="1" dirty="0"/>
              <a:t> </a:t>
            </a:r>
            <a:r>
              <a:rPr lang="ru-RU" i="1" dirty="0" err="1"/>
              <a:t>titles</a:t>
            </a:r>
            <a:endParaRPr lang="ru-RU" dirty="0"/>
          </a:p>
          <a:p>
            <a:pPr latinLnBrk="1"/>
            <a:r>
              <a:rPr lang="ru-RU" dirty="0" err="1"/>
              <a:t>title_counts</a:t>
            </a:r>
            <a:r>
              <a:rPr lang="ru-RU" dirty="0"/>
              <a:t> = </a:t>
            </a:r>
            <a:r>
              <a:rPr lang="ru-RU" dirty="0" err="1"/>
              <a:t>titanic_clean</a:t>
            </a:r>
            <a:r>
              <a:rPr lang="ru-RU" dirty="0"/>
              <a:t>['</a:t>
            </a:r>
            <a:r>
              <a:rPr lang="ru-RU" dirty="0" err="1"/>
              <a:t>Title</a:t>
            </a:r>
            <a:r>
              <a:rPr lang="ru-RU" dirty="0"/>
              <a:t>'].</a:t>
            </a:r>
            <a:r>
              <a:rPr lang="ru-RU" dirty="0" err="1"/>
              <a:t>value_counts</a:t>
            </a:r>
            <a:r>
              <a:rPr lang="ru-RU" dirty="0"/>
              <a:t>()</a:t>
            </a:r>
          </a:p>
          <a:p>
            <a:pPr latinLnBrk="1"/>
            <a:r>
              <a:rPr lang="ru-RU" dirty="0" err="1"/>
              <a:t>print</a:t>
            </a:r>
            <a:r>
              <a:rPr lang="ru-RU" dirty="0"/>
              <a:t>("</a:t>
            </a:r>
            <a:r>
              <a:rPr lang="ru-RU" dirty="0" err="1"/>
              <a:t>Most</a:t>
            </a:r>
            <a:r>
              <a:rPr lang="ru-RU" dirty="0"/>
              <a:t> </a:t>
            </a:r>
            <a:r>
              <a:rPr lang="ru-RU" dirty="0" err="1"/>
              <a:t>common</a:t>
            </a:r>
            <a:r>
              <a:rPr lang="ru-RU" dirty="0"/>
              <a:t> </a:t>
            </a:r>
            <a:r>
              <a:rPr lang="ru-RU" dirty="0" err="1"/>
              <a:t>titles</a:t>
            </a:r>
            <a:r>
              <a:rPr lang="ru-RU" dirty="0"/>
              <a:t>:")</a:t>
            </a:r>
          </a:p>
          <a:p>
            <a:pPr latinLnBrk="1"/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title_counts.head</a:t>
            </a:r>
            <a:r>
              <a:rPr lang="ru-RU" dirty="0"/>
              <a:t>(10))</a:t>
            </a:r>
          </a:p>
          <a:p>
            <a:pPr lvl="1"/>
            <a:r>
              <a:rPr lang="ru-RU" b="1" dirty="0"/>
              <a:t>Common </a:t>
            </a:r>
            <a:r>
              <a:rPr lang="ru-RU" b="1" dirty="0" err="1"/>
              <a:t>Titles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Mr: 517</a:t>
            </a:r>
          </a:p>
          <a:p>
            <a:pPr lvl="1"/>
            <a:r>
              <a:rPr lang="ru-RU" dirty="0"/>
              <a:t>Miss: 182</a:t>
            </a:r>
          </a:p>
          <a:p>
            <a:pPr lvl="1"/>
            <a:r>
              <a:rPr lang="ru-RU" dirty="0" err="1"/>
              <a:t>Mrs</a:t>
            </a:r>
            <a:r>
              <a:rPr lang="ru-RU" dirty="0"/>
              <a:t>: 125</a:t>
            </a:r>
          </a:p>
          <a:p>
            <a:pPr lvl="1"/>
            <a:r>
              <a:rPr lang="ru-RU" dirty="0"/>
              <a:t>Master: 40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1653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7076D-A60A-E411-4B1B-9221FABA7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Survival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Title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1755B2-B823-1885-F140-BDCDF614A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10000"/>
          </a:bodyPr>
          <a:lstStyle/>
          <a:p>
            <a:r>
              <a:rPr lang="ru-RU" b="1" dirty="0"/>
              <a:t>Social </a:t>
            </a:r>
            <a:r>
              <a:rPr lang="ru-RU" b="1" dirty="0" err="1"/>
              <a:t>Status</a:t>
            </a:r>
            <a:r>
              <a:rPr lang="ru-RU" b="1" dirty="0"/>
              <a:t> </a:t>
            </a:r>
            <a:r>
              <a:rPr lang="ru-RU" b="1" dirty="0" err="1"/>
              <a:t>Matters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Calculate</a:t>
            </a:r>
            <a:r>
              <a:rPr lang="ru-RU" i="1" dirty="0"/>
              <a:t> </a:t>
            </a:r>
            <a:r>
              <a:rPr lang="ru-RU" i="1" dirty="0" err="1"/>
              <a:t>survival</a:t>
            </a:r>
            <a:r>
              <a:rPr lang="ru-RU" i="1" dirty="0"/>
              <a:t> </a:t>
            </a:r>
            <a:r>
              <a:rPr lang="ru-RU" i="1" dirty="0" err="1"/>
              <a:t>by</a:t>
            </a:r>
            <a:r>
              <a:rPr lang="ru-RU" i="1" dirty="0"/>
              <a:t> </a:t>
            </a:r>
            <a:r>
              <a:rPr lang="ru-RU" i="1" dirty="0" err="1"/>
              <a:t>title</a:t>
            </a:r>
            <a:endParaRPr lang="ru-RU" dirty="0"/>
          </a:p>
          <a:p>
            <a:pPr latinLnBrk="1"/>
            <a:r>
              <a:rPr lang="ru-RU" dirty="0" err="1"/>
              <a:t>survival_by_title</a:t>
            </a:r>
            <a:r>
              <a:rPr lang="ru-RU" dirty="0"/>
              <a:t> = </a:t>
            </a:r>
            <a:r>
              <a:rPr lang="ru-RU" dirty="0" err="1"/>
              <a:t>titanic_clean.groupby</a:t>
            </a:r>
            <a:r>
              <a:rPr lang="ru-RU" dirty="0"/>
              <a:t>('</a:t>
            </a:r>
            <a:r>
              <a:rPr lang="ru-RU" dirty="0" err="1"/>
              <a:t>Title</a:t>
            </a:r>
            <a:r>
              <a:rPr lang="ru-RU" dirty="0"/>
              <a:t>')['</a:t>
            </a:r>
            <a:r>
              <a:rPr lang="ru-RU" dirty="0" err="1"/>
              <a:t>Survived</a:t>
            </a:r>
            <a:r>
              <a:rPr lang="ru-RU" dirty="0"/>
              <a:t>'].</a:t>
            </a:r>
            <a:r>
              <a:rPr lang="ru-RU" dirty="0" err="1"/>
              <a:t>mean</a:t>
            </a:r>
            <a:r>
              <a:rPr lang="ru-RU" dirty="0"/>
              <a:t>().</a:t>
            </a:r>
            <a:r>
              <a:rPr lang="ru-RU" dirty="0" err="1"/>
              <a:t>sort_values</a:t>
            </a:r>
            <a:r>
              <a:rPr lang="ru-RU" dirty="0"/>
              <a:t>()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Plot</a:t>
            </a:r>
            <a:r>
              <a:rPr lang="ru-RU" i="1" dirty="0"/>
              <a:t> </a:t>
            </a:r>
            <a:r>
              <a:rPr lang="ru-RU" i="1" dirty="0" err="1"/>
              <a:t>top</a:t>
            </a:r>
            <a:r>
              <a:rPr lang="ru-RU" i="1" dirty="0"/>
              <a:t> 10</a:t>
            </a:r>
            <a:endParaRPr lang="ru-RU" dirty="0"/>
          </a:p>
          <a:p>
            <a:pPr latinLnBrk="1"/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=(12, 6))</a:t>
            </a:r>
          </a:p>
          <a:p>
            <a:pPr latinLnBrk="1"/>
            <a:r>
              <a:rPr lang="ru-RU" dirty="0" err="1"/>
              <a:t>survival_by_title.tail</a:t>
            </a:r>
            <a:r>
              <a:rPr lang="ru-RU" dirty="0"/>
              <a:t>(10).</a:t>
            </a:r>
            <a:r>
              <a:rPr lang="ru-RU" dirty="0" err="1"/>
              <a:t>plot</a:t>
            </a:r>
            <a:r>
              <a:rPr lang="ru-RU" dirty="0"/>
              <a:t>(</a:t>
            </a:r>
            <a:r>
              <a:rPr lang="ru-RU" dirty="0" err="1"/>
              <a:t>kind</a:t>
            </a:r>
            <a:r>
              <a:rPr lang="ru-RU" dirty="0"/>
              <a:t>='</a:t>
            </a:r>
            <a:r>
              <a:rPr lang="ru-RU" dirty="0" err="1"/>
              <a:t>barh</a:t>
            </a:r>
            <a:r>
              <a:rPr lang="ru-RU" dirty="0"/>
              <a:t>')</a:t>
            </a:r>
          </a:p>
          <a:p>
            <a:pPr latinLnBrk="1"/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Survival</a:t>
            </a:r>
            <a:r>
              <a:rPr lang="ru-RU" dirty="0"/>
              <a:t> Rate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(Top 10)')</a:t>
            </a:r>
          </a:p>
          <a:p>
            <a:pPr latinLnBrk="1"/>
            <a:r>
              <a:rPr lang="ru-RU" dirty="0" err="1"/>
              <a:t>plt.xlabel</a:t>
            </a:r>
            <a:r>
              <a:rPr lang="ru-RU" dirty="0"/>
              <a:t>('</a:t>
            </a:r>
            <a:r>
              <a:rPr lang="ru-RU" dirty="0" err="1"/>
              <a:t>Survival</a:t>
            </a:r>
            <a:r>
              <a:rPr lang="ru-RU" dirty="0"/>
              <a:t> Rate')</a:t>
            </a:r>
          </a:p>
          <a:p>
            <a:pPr latinLnBrk="1"/>
            <a:r>
              <a:rPr lang="ru-RU" dirty="0" err="1"/>
              <a:t>plt.xlim</a:t>
            </a:r>
            <a:r>
              <a:rPr lang="ru-RU" dirty="0"/>
              <a:t>(0, 1)</a:t>
            </a:r>
          </a:p>
          <a:p>
            <a:pPr latinLnBrk="1"/>
            <a:r>
              <a:rPr lang="ru-RU" dirty="0" err="1"/>
              <a:t>plt.grid</a:t>
            </a:r>
            <a:r>
              <a:rPr lang="ru-RU" dirty="0"/>
              <a:t>(True, </a:t>
            </a:r>
            <a:r>
              <a:rPr lang="ru-RU" dirty="0" err="1"/>
              <a:t>axis</a:t>
            </a:r>
            <a:r>
              <a:rPr lang="ru-RU" dirty="0"/>
              <a:t>='x', </a:t>
            </a:r>
            <a:r>
              <a:rPr lang="ru-RU" dirty="0" err="1"/>
              <a:t>alpha</a:t>
            </a:r>
            <a:r>
              <a:rPr lang="ru-RU" dirty="0"/>
              <a:t>=0.3)</a:t>
            </a:r>
          </a:p>
          <a:p>
            <a:pPr latinLnBrk="1"/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r>
              <a:rPr lang="ru-RU" b="1" dirty="0" err="1"/>
              <a:t>Insights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/>
              <a:t>"Master" (</a:t>
            </a:r>
            <a:r>
              <a:rPr lang="ru-RU" dirty="0" err="1"/>
              <a:t>boys</a:t>
            </a:r>
            <a:r>
              <a:rPr lang="ru-RU" dirty="0"/>
              <a:t>): 57% </a:t>
            </a:r>
            <a:r>
              <a:rPr lang="ru-RU" dirty="0" err="1"/>
              <a:t>survived</a:t>
            </a:r>
            <a:endParaRPr lang="ru-RU" dirty="0"/>
          </a:p>
          <a:p>
            <a:pPr lvl="0"/>
            <a:r>
              <a:rPr lang="ru-RU" dirty="0"/>
              <a:t>"Miss" (</a:t>
            </a:r>
            <a:r>
              <a:rPr lang="ru-RU" dirty="0" err="1"/>
              <a:t>unmarried</a:t>
            </a:r>
            <a:r>
              <a:rPr lang="ru-RU" dirty="0"/>
              <a:t> </a:t>
            </a:r>
            <a:r>
              <a:rPr lang="ru-RU" dirty="0" err="1"/>
              <a:t>women</a:t>
            </a:r>
            <a:r>
              <a:rPr lang="ru-RU" dirty="0"/>
              <a:t>): 70% </a:t>
            </a:r>
            <a:r>
              <a:rPr lang="ru-RU" dirty="0" err="1"/>
              <a:t>survived</a:t>
            </a:r>
            <a:endParaRPr lang="ru-RU" dirty="0"/>
          </a:p>
          <a:p>
            <a:pPr lvl="0"/>
            <a:r>
              <a:rPr lang="ru-RU" dirty="0"/>
              <a:t>"</a:t>
            </a:r>
            <a:r>
              <a:rPr lang="ru-RU" dirty="0" err="1"/>
              <a:t>Mrs</a:t>
            </a:r>
            <a:r>
              <a:rPr lang="ru-RU" dirty="0"/>
              <a:t>" (</a:t>
            </a:r>
            <a:r>
              <a:rPr lang="ru-RU" dirty="0" err="1"/>
              <a:t>married</a:t>
            </a:r>
            <a:r>
              <a:rPr lang="ru-RU" dirty="0"/>
              <a:t> </a:t>
            </a:r>
            <a:r>
              <a:rPr lang="ru-RU" dirty="0" err="1"/>
              <a:t>women</a:t>
            </a:r>
            <a:r>
              <a:rPr lang="ru-RU" dirty="0"/>
              <a:t>): 79% </a:t>
            </a:r>
            <a:r>
              <a:rPr lang="ru-RU" dirty="0" err="1"/>
              <a:t>survived</a:t>
            </a:r>
            <a:endParaRPr lang="ru-RU" dirty="0"/>
          </a:p>
          <a:p>
            <a:pPr lvl="0"/>
            <a:r>
              <a:rPr lang="ru-RU" dirty="0"/>
              <a:t>"Mr" (</a:t>
            </a:r>
            <a:r>
              <a:rPr lang="ru-RU" dirty="0" err="1"/>
              <a:t>men</a:t>
            </a:r>
            <a:r>
              <a:rPr lang="ru-RU" dirty="0"/>
              <a:t>): 16% </a:t>
            </a:r>
            <a:r>
              <a:rPr lang="ru-RU" dirty="0" err="1"/>
              <a:t>survived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06304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0E602D-6F48-29E9-C015-A8D26F0A7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Automated</a:t>
            </a:r>
            <a:r>
              <a:rPr lang="ru-RU" dirty="0"/>
              <a:t> EDA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pandas-profiling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6E50F4-F46D-0E60-0205-7A498751E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7500" lnSpcReduction="20000"/>
          </a:bodyPr>
          <a:lstStyle/>
          <a:p>
            <a:r>
              <a:rPr lang="ru-RU" b="1" dirty="0"/>
              <a:t>One-Click Analysis:</a:t>
            </a:r>
            <a:endParaRPr lang="ru-RU" dirty="0"/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Install</a:t>
            </a:r>
            <a:r>
              <a:rPr lang="ru-RU" i="1" dirty="0"/>
              <a:t>: !</a:t>
            </a:r>
            <a:r>
              <a:rPr lang="ru-RU" i="1" dirty="0" err="1"/>
              <a:t>pip</a:t>
            </a:r>
            <a:r>
              <a:rPr lang="ru-RU" i="1" dirty="0"/>
              <a:t> </a:t>
            </a:r>
            <a:r>
              <a:rPr lang="ru-RU" i="1" dirty="0" err="1"/>
              <a:t>install</a:t>
            </a:r>
            <a:r>
              <a:rPr lang="ru-RU" i="1" dirty="0"/>
              <a:t> </a:t>
            </a:r>
            <a:r>
              <a:rPr lang="ru-RU" i="1" dirty="0" err="1"/>
              <a:t>pandas-profiling</a:t>
            </a:r>
            <a:endParaRPr lang="ru-RU" dirty="0"/>
          </a:p>
          <a:p>
            <a:pPr latinLnBrk="1"/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pandas_profiling</a:t>
            </a:r>
            <a:r>
              <a:rPr lang="ru-RU" dirty="0"/>
              <a:t> </a:t>
            </a:r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ProfileReport</a:t>
            </a:r>
            <a:endParaRPr lang="ru-RU" dirty="0"/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Generate</a:t>
            </a:r>
            <a:r>
              <a:rPr lang="ru-RU" i="1" dirty="0"/>
              <a:t> </a:t>
            </a:r>
            <a:r>
              <a:rPr lang="ru-RU" i="1" dirty="0" err="1"/>
              <a:t>comprehensive</a:t>
            </a:r>
            <a:r>
              <a:rPr lang="ru-RU" i="1" dirty="0"/>
              <a:t> </a:t>
            </a:r>
            <a:r>
              <a:rPr lang="ru-RU" i="1" dirty="0" err="1"/>
              <a:t>report</a:t>
            </a:r>
            <a:endParaRPr lang="ru-RU" dirty="0"/>
          </a:p>
          <a:p>
            <a:pPr latinLnBrk="1"/>
            <a:r>
              <a:rPr lang="ru-RU" dirty="0" err="1"/>
              <a:t>profile</a:t>
            </a:r>
            <a:r>
              <a:rPr lang="ru-RU" dirty="0"/>
              <a:t> = </a:t>
            </a:r>
            <a:r>
              <a:rPr lang="ru-RU" dirty="0" err="1"/>
              <a:t>ProfileReport</a:t>
            </a:r>
            <a:r>
              <a:rPr lang="ru-RU" dirty="0"/>
              <a:t>(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titanic_clean</a:t>
            </a:r>
            <a:r>
              <a:rPr lang="ru-RU" dirty="0"/>
              <a:t>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title</a:t>
            </a:r>
            <a:r>
              <a:rPr lang="ru-RU" dirty="0"/>
              <a:t>="</a:t>
            </a:r>
            <a:r>
              <a:rPr lang="ru-RU" dirty="0" err="1"/>
              <a:t>Titanic</a:t>
            </a:r>
            <a:r>
              <a:rPr lang="ru-RU" dirty="0"/>
              <a:t> </a:t>
            </a:r>
            <a:r>
              <a:rPr lang="ru-RU" dirty="0" err="1"/>
              <a:t>Dataset</a:t>
            </a:r>
            <a:r>
              <a:rPr lang="ru-RU" dirty="0"/>
              <a:t> EDA Report",</a:t>
            </a:r>
          </a:p>
          <a:p>
            <a:pPr latinLnBrk="1"/>
            <a:r>
              <a:rPr lang="ru-RU" dirty="0"/>
              <a:t>    </a:t>
            </a:r>
            <a:r>
              <a:rPr lang="ru-RU" dirty="0" err="1"/>
              <a:t>explorative</a:t>
            </a:r>
            <a:r>
              <a:rPr lang="ru-RU" dirty="0"/>
              <a:t>=True</a:t>
            </a:r>
          </a:p>
          <a:p>
            <a:pPr latinLnBrk="1"/>
            <a:r>
              <a:rPr lang="ru-RU" dirty="0"/>
              <a:t>)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i="1" dirty="0"/>
              <a:t># Save </a:t>
            </a:r>
            <a:r>
              <a:rPr lang="ru-RU" i="1" dirty="0" err="1"/>
              <a:t>to</a:t>
            </a:r>
            <a:r>
              <a:rPr lang="ru-RU" i="1" dirty="0"/>
              <a:t> HTML</a:t>
            </a:r>
            <a:endParaRPr lang="ru-RU" dirty="0"/>
          </a:p>
          <a:p>
            <a:pPr latinLnBrk="1"/>
            <a:r>
              <a:rPr lang="ru-RU" dirty="0" err="1"/>
              <a:t>profile.to_file</a:t>
            </a:r>
            <a:r>
              <a:rPr lang="ru-RU" dirty="0"/>
              <a:t>("titanic_eda_report.html")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i="1" dirty="0"/>
              <a:t># Display </a:t>
            </a:r>
            <a:r>
              <a:rPr lang="ru-RU" i="1" dirty="0" err="1"/>
              <a:t>in</a:t>
            </a:r>
            <a:r>
              <a:rPr lang="ru-RU" i="1" dirty="0"/>
              <a:t> </a:t>
            </a:r>
            <a:r>
              <a:rPr lang="ru-RU" i="1" dirty="0" err="1"/>
              <a:t>notebook</a:t>
            </a:r>
            <a:endParaRPr lang="ru-RU" dirty="0"/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profile.to_notebook_iframe</a:t>
            </a:r>
            <a:r>
              <a:rPr lang="ru-RU" i="1" dirty="0"/>
              <a:t>()</a:t>
            </a:r>
            <a:endParaRPr lang="ru-RU" dirty="0"/>
          </a:p>
          <a:p>
            <a:r>
              <a:rPr lang="ru-RU" b="1" dirty="0" err="1"/>
              <a:t>Features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Automatic</a:t>
            </a:r>
            <a:r>
              <a:rPr lang="ru-RU" dirty="0"/>
              <a:t> </a:t>
            </a:r>
            <a:r>
              <a:rPr lang="ru-RU" dirty="0" err="1"/>
              <a:t>correlation</a:t>
            </a:r>
            <a:r>
              <a:rPr lang="ru-RU" dirty="0"/>
              <a:t> </a:t>
            </a:r>
            <a:r>
              <a:rPr lang="ru-RU" dirty="0" err="1"/>
              <a:t>detection</a:t>
            </a:r>
            <a:endParaRPr lang="ru-RU" dirty="0"/>
          </a:p>
          <a:p>
            <a:pPr lvl="0"/>
            <a:r>
              <a:rPr lang="ru-RU" dirty="0" err="1"/>
              <a:t>Missing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analysis</a:t>
            </a:r>
            <a:endParaRPr lang="ru-RU" dirty="0"/>
          </a:p>
          <a:p>
            <a:pPr lvl="0"/>
            <a:r>
              <a:rPr lang="ru-RU" dirty="0"/>
              <a:t>Distribution </a:t>
            </a:r>
            <a:r>
              <a:rPr lang="ru-RU" dirty="0" err="1"/>
              <a:t>plots</a:t>
            </a:r>
            <a:endParaRPr lang="ru-RU" dirty="0"/>
          </a:p>
          <a:p>
            <a:pPr lvl="0"/>
            <a:r>
              <a:rPr lang="ru-RU" dirty="0"/>
              <a:t>Data </a:t>
            </a:r>
            <a:r>
              <a:rPr lang="ru-RU" dirty="0" err="1"/>
              <a:t>type</a:t>
            </a:r>
            <a:r>
              <a:rPr lang="ru-RU" dirty="0"/>
              <a:t> </a:t>
            </a:r>
            <a:r>
              <a:rPr lang="ru-RU" dirty="0" err="1"/>
              <a:t>detection</a:t>
            </a:r>
            <a:endParaRPr lang="ru-RU" dirty="0"/>
          </a:p>
          <a:p>
            <a:r>
              <a:rPr lang="ru-RU" dirty="0" err="1"/>
              <a:t>Warnings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alerts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5917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DDBD8A-7B05-BD22-DB21-089E3B9D5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Interactive EDA </a:t>
            </a:r>
            <a:r>
              <a:rPr lang="ru-RU" dirty="0" err="1"/>
              <a:t>with</a:t>
            </a:r>
            <a:r>
              <a:rPr lang="ru-RU" dirty="0"/>
              <a:t> D-</a:t>
            </a:r>
            <a:r>
              <a:rPr lang="ru-RU" dirty="0" err="1"/>
              <a:t>Tale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493129-7F3D-2CBE-936B-B16B0FC41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 dirty="0" err="1"/>
              <a:t>Browser</a:t>
            </a:r>
            <a:r>
              <a:rPr lang="ru-RU" b="1" dirty="0"/>
              <a:t>-Based </a:t>
            </a:r>
            <a:r>
              <a:rPr lang="ru-RU" b="1" dirty="0" err="1"/>
              <a:t>Exploration</a:t>
            </a:r>
            <a:r>
              <a:rPr lang="ru-RU" b="1" dirty="0"/>
              <a:t>:</a:t>
            </a:r>
            <a:endParaRPr lang="ru-RU" dirty="0"/>
          </a:p>
          <a:p>
            <a:pPr latinLnBrk="1"/>
            <a:r>
              <a:rPr lang="ru-RU" i="1" dirty="0"/>
              <a:t># </a:t>
            </a:r>
            <a:r>
              <a:rPr lang="ru-RU" i="1" dirty="0" err="1"/>
              <a:t>Install</a:t>
            </a:r>
            <a:r>
              <a:rPr lang="ru-RU" i="1" dirty="0"/>
              <a:t>: !</a:t>
            </a:r>
            <a:r>
              <a:rPr lang="ru-RU" i="1" dirty="0" err="1"/>
              <a:t>pip</a:t>
            </a:r>
            <a:r>
              <a:rPr lang="ru-RU" i="1" dirty="0"/>
              <a:t> </a:t>
            </a:r>
            <a:r>
              <a:rPr lang="ru-RU" i="1" dirty="0" err="1"/>
              <a:t>install</a:t>
            </a:r>
            <a:r>
              <a:rPr lang="ru-RU" i="1" dirty="0"/>
              <a:t> </a:t>
            </a:r>
            <a:r>
              <a:rPr lang="ru-RU" i="1" dirty="0" err="1"/>
              <a:t>dtale</a:t>
            </a:r>
            <a:endParaRPr lang="ru-RU" dirty="0"/>
          </a:p>
          <a:p>
            <a:pPr latinLnBrk="1"/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dtale</a:t>
            </a:r>
            <a:endParaRPr lang="ru-RU" dirty="0"/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i="1" dirty="0"/>
              <a:t># Launch </a:t>
            </a:r>
            <a:r>
              <a:rPr lang="ru-RU" i="1" dirty="0" err="1"/>
              <a:t>interactive</a:t>
            </a:r>
            <a:r>
              <a:rPr lang="ru-RU" i="1" dirty="0"/>
              <a:t> </a:t>
            </a:r>
            <a:r>
              <a:rPr lang="ru-RU" i="1" dirty="0" err="1"/>
              <a:t>app</a:t>
            </a:r>
            <a:endParaRPr lang="ru-RU" dirty="0"/>
          </a:p>
          <a:p>
            <a:pPr latinLnBrk="1"/>
            <a:r>
              <a:rPr lang="ru-RU" dirty="0"/>
              <a:t>d = </a:t>
            </a:r>
            <a:r>
              <a:rPr lang="ru-RU" dirty="0" err="1"/>
              <a:t>dtale.show</a:t>
            </a:r>
            <a:r>
              <a:rPr lang="ru-RU" dirty="0"/>
              <a:t>(</a:t>
            </a:r>
            <a:r>
              <a:rPr lang="ru-RU" dirty="0" err="1"/>
              <a:t>titanic_clean</a:t>
            </a:r>
            <a:r>
              <a:rPr lang="ru-RU" dirty="0"/>
              <a:t>)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i="1" dirty="0"/>
              <a:t># Open </a:t>
            </a:r>
            <a:r>
              <a:rPr lang="ru-RU" i="1" dirty="0" err="1"/>
              <a:t>in</a:t>
            </a:r>
            <a:r>
              <a:rPr lang="ru-RU" i="1" dirty="0"/>
              <a:t> </a:t>
            </a:r>
            <a:r>
              <a:rPr lang="ru-RU" i="1" dirty="0" err="1"/>
              <a:t>browser</a:t>
            </a:r>
            <a:endParaRPr lang="ru-RU" dirty="0"/>
          </a:p>
          <a:p>
            <a:pPr latinLnBrk="1"/>
            <a:r>
              <a:rPr lang="ru-RU" dirty="0" err="1"/>
              <a:t>d.open_browser</a:t>
            </a:r>
            <a:r>
              <a:rPr lang="ru-RU" dirty="0"/>
              <a:t>()</a:t>
            </a:r>
          </a:p>
          <a:p>
            <a:r>
              <a:rPr lang="ru-RU" b="1" dirty="0" err="1"/>
              <a:t>Capabilities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/>
              <a:t>Filter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sort</a:t>
            </a:r>
            <a:r>
              <a:rPr lang="ru-RU" dirty="0"/>
              <a:t> </a:t>
            </a:r>
            <a:r>
              <a:rPr lang="ru-RU" dirty="0" err="1"/>
              <a:t>data</a:t>
            </a:r>
            <a:endParaRPr lang="ru-RU" dirty="0"/>
          </a:p>
          <a:p>
            <a:pPr lvl="0"/>
            <a:r>
              <a:rPr lang="ru-RU" dirty="0" err="1"/>
              <a:t>Create</a:t>
            </a:r>
            <a:r>
              <a:rPr lang="ru-RU" dirty="0"/>
              <a:t> </a:t>
            </a:r>
            <a:r>
              <a:rPr lang="ru-RU" dirty="0" err="1"/>
              <a:t>visualizations</a:t>
            </a:r>
            <a:endParaRPr lang="ru-RU" dirty="0"/>
          </a:p>
          <a:p>
            <a:pPr lvl="0"/>
            <a:r>
              <a:rPr lang="ru-RU" dirty="0"/>
              <a:t>Check </a:t>
            </a:r>
            <a:r>
              <a:rPr lang="ru-RU" dirty="0" err="1"/>
              <a:t>correlations</a:t>
            </a:r>
            <a:endParaRPr lang="ru-RU" dirty="0"/>
          </a:p>
          <a:p>
            <a:pPr lvl="0"/>
            <a:r>
              <a:rPr lang="ru-RU" dirty="0" err="1"/>
              <a:t>Export</a:t>
            </a:r>
            <a:r>
              <a:rPr lang="ru-RU" dirty="0"/>
              <a:t> </a:t>
            </a:r>
            <a:r>
              <a:rPr lang="ru-RU" dirty="0" err="1"/>
              <a:t>code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operations</a:t>
            </a:r>
            <a:endParaRPr lang="ru-RU" dirty="0"/>
          </a:p>
          <a:p>
            <a:r>
              <a:rPr lang="ru-RU" dirty="0" err="1"/>
              <a:t>Statistical</a:t>
            </a:r>
            <a:r>
              <a:rPr lang="ru-RU" dirty="0"/>
              <a:t> </a:t>
            </a:r>
            <a:r>
              <a:rPr lang="ru-RU" dirty="0" err="1"/>
              <a:t>summaries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14415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CA5D4A-BC9D-8BC4-B14C-DCD779FDE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EDA </a:t>
            </a:r>
            <a:r>
              <a:rPr lang="ru-RU" dirty="0" err="1"/>
              <a:t>Checklist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C39ED1-44DF-D8BD-6562-36A33D7E1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 dirty="0" err="1"/>
              <a:t>Before</a:t>
            </a:r>
            <a:r>
              <a:rPr lang="ru-RU" b="1" dirty="0"/>
              <a:t> You Start:</a:t>
            </a:r>
            <a:endParaRPr lang="ru-RU" dirty="0"/>
          </a:p>
          <a:p>
            <a:pPr lvl="0"/>
            <a:r>
              <a:rPr lang="ru-RU" dirty="0" err="1"/>
              <a:t>Understand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business</a:t>
            </a:r>
            <a:r>
              <a:rPr lang="ru-RU" dirty="0"/>
              <a:t> </a:t>
            </a:r>
            <a:r>
              <a:rPr lang="ru-RU" dirty="0" err="1"/>
              <a:t>question</a:t>
            </a:r>
            <a:endParaRPr lang="ru-RU" dirty="0"/>
          </a:p>
          <a:p>
            <a:pPr lvl="0"/>
            <a:r>
              <a:rPr lang="ru-RU" dirty="0"/>
              <a:t>Check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source</a:t>
            </a:r>
            <a:r>
              <a:rPr lang="ru-RU" dirty="0"/>
              <a:t> </a:t>
            </a:r>
            <a:r>
              <a:rPr lang="ru-RU" dirty="0" err="1"/>
              <a:t>credibility</a:t>
            </a:r>
            <a:endParaRPr lang="ru-RU" dirty="0"/>
          </a:p>
          <a:p>
            <a:pPr lvl="0"/>
            <a:r>
              <a:rPr lang="ru-RU" dirty="0" err="1"/>
              <a:t>Set</a:t>
            </a:r>
            <a:r>
              <a:rPr lang="ru-RU" dirty="0"/>
              <a:t> </a:t>
            </a:r>
            <a:r>
              <a:rPr lang="ru-RU" dirty="0" err="1"/>
              <a:t>up</a:t>
            </a:r>
            <a:r>
              <a:rPr lang="ru-RU" dirty="0"/>
              <a:t> </a:t>
            </a:r>
            <a:r>
              <a:rPr lang="ru-RU" dirty="0" err="1"/>
              <a:t>reproducible</a:t>
            </a:r>
            <a:r>
              <a:rPr lang="ru-RU" dirty="0"/>
              <a:t> </a:t>
            </a:r>
            <a:r>
              <a:rPr lang="ru-RU" dirty="0" err="1"/>
              <a:t>environment</a:t>
            </a:r>
            <a:endParaRPr lang="ru-RU" dirty="0"/>
          </a:p>
          <a:p>
            <a:r>
              <a:rPr lang="ru-RU" b="1" dirty="0" err="1"/>
              <a:t>During</a:t>
            </a:r>
            <a:r>
              <a:rPr lang="ru-RU" b="1" dirty="0"/>
              <a:t> EDA:</a:t>
            </a:r>
            <a:endParaRPr lang="ru-RU" dirty="0"/>
          </a:p>
          <a:p>
            <a:pPr lvl="0"/>
            <a:r>
              <a:rPr lang="ru-RU" dirty="0"/>
              <a:t>Document </a:t>
            </a:r>
            <a:r>
              <a:rPr lang="ru-RU" dirty="0" err="1"/>
              <a:t>every</a:t>
            </a:r>
            <a:r>
              <a:rPr lang="ru-RU" dirty="0"/>
              <a:t> </a:t>
            </a:r>
            <a:r>
              <a:rPr lang="ru-RU" dirty="0" err="1"/>
              <a:t>step</a:t>
            </a:r>
            <a:endParaRPr lang="ru-RU" dirty="0"/>
          </a:p>
          <a:p>
            <a:pPr lvl="0"/>
            <a:r>
              <a:rPr lang="ru-RU" dirty="0"/>
              <a:t>Save </a:t>
            </a:r>
            <a:r>
              <a:rPr lang="ru-RU" dirty="0" err="1"/>
              <a:t>cleaned</a:t>
            </a:r>
            <a:r>
              <a:rPr lang="ru-RU" dirty="0"/>
              <a:t> </a:t>
            </a:r>
            <a:r>
              <a:rPr lang="ru-RU" dirty="0" err="1"/>
              <a:t>versions</a:t>
            </a:r>
            <a:endParaRPr lang="ru-RU" dirty="0"/>
          </a:p>
          <a:p>
            <a:pPr lvl="0"/>
            <a:r>
              <a:rPr lang="ru-RU" dirty="0" err="1"/>
              <a:t>Create</a:t>
            </a:r>
            <a:r>
              <a:rPr lang="ru-RU" dirty="0"/>
              <a:t> </a:t>
            </a:r>
            <a:r>
              <a:rPr lang="ru-RU" dirty="0" err="1"/>
              <a:t>key</a:t>
            </a:r>
            <a:r>
              <a:rPr lang="ru-RU" dirty="0"/>
              <a:t> </a:t>
            </a:r>
            <a:r>
              <a:rPr lang="ru-RU" dirty="0" err="1"/>
              <a:t>visualizations</a:t>
            </a:r>
            <a:endParaRPr lang="ru-RU" dirty="0"/>
          </a:p>
          <a:p>
            <a:pPr lvl="0"/>
            <a:r>
              <a:rPr lang="ru-RU" dirty="0"/>
              <a:t>Note </a:t>
            </a:r>
            <a:r>
              <a:rPr lang="ru-RU" dirty="0" err="1"/>
              <a:t>questions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experts</a:t>
            </a:r>
            <a:endParaRPr lang="ru-RU" dirty="0"/>
          </a:p>
          <a:p>
            <a:r>
              <a:rPr lang="ru-RU" b="1" dirty="0" err="1"/>
              <a:t>After</a:t>
            </a:r>
            <a:r>
              <a:rPr lang="ru-RU" b="1" dirty="0"/>
              <a:t> EDA:</a:t>
            </a:r>
            <a:endParaRPr lang="ru-RU" dirty="0"/>
          </a:p>
          <a:p>
            <a:pPr lvl="0"/>
            <a:r>
              <a:rPr lang="ru-RU" dirty="0" err="1"/>
              <a:t>Summarize</a:t>
            </a:r>
            <a:r>
              <a:rPr lang="ru-RU" dirty="0"/>
              <a:t> </a:t>
            </a:r>
            <a:r>
              <a:rPr lang="ru-RU" dirty="0" err="1"/>
              <a:t>key</a:t>
            </a:r>
            <a:r>
              <a:rPr lang="ru-RU" dirty="0"/>
              <a:t> </a:t>
            </a:r>
            <a:r>
              <a:rPr lang="ru-RU" dirty="0" err="1"/>
              <a:t>findings</a:t>
            </a:r>
            <a:r>
              <a:rPr lang="ru-RU" dirty="0"/>
              <a:t> (≤5 </a:t>
            </a:r>
            <a:r>
              <a:rPr lang="ru-RU" dirty="0" err="1"/>
              <a:t>points</a:t>
            </a:r>
            <a:r>
              <a:rPr lang="ru-RU" dirty="0"/>
              <a:t>)</a:t>
            </a:r>
          </a:p>
          <a:p>
            <a:pPr lvl="0"/>
            <a:r>
              <a:rPr lang="ru-RU" dirty="0"/>
              <a:t>List </a:t>
            </a:r>
            <a:r>
              <a:rPr lang="ru-RU" dirty="0" err="1"/>
              <a:t>assumptions</a:t>
            </a:r>
            <a:r>
              <a:rPr lang="ru-RU" dirty="0"/>
              <a:t> </a:t>
            </a:r>
            <a:r>
              <a:rPr lang="ru-RU" dirty="0" err="1"/>
              <a:t>made</a:t>
            </a:r>
            <a:endParaRPr lang="ru-RU" dirty="0"/>
          </a:p>
          <a:p>
            <a:pPr lvl="0"/>
            <a:r>
              <a:rPr lang="ru-RU" dirty="0"/>
              <a:t>Document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limitations</a:t>
            </a:r>
            <a:endParaRPr lang="ru-RU" dirty="0"/>
          </a:p>
          <a:p>
            <a:r>
              <a:rPr lang="ru-RU" dirty="0" err="1"/>
              <a:t>Suggest</a:t>
            </a:r>
            <a:r>
              <a:rPr lang="ru-RU" dirty="0"/>
              <a:t> </a:t>
            </a:r>
            <a:r>
              <a:rPr lang="ru-RU" dirty="0" err="1"/>
              <a:t>next</a:t>
            </a:r>
            <a:r>
              <a:rPr lang="ru-RU" dirty="0"/>
              <a:t> </a:t>
            </a:r>
            <a:r>
              <a:rPr lang="ru-RU" dirty="0" err="1"/>
              <a:t>steps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28234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38906-7DDA-C525-5D7C-A73C2CC91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Key </a:t>
            </a:r>
            <a:r>
              <a:rPr lang="ru-RU" dirty="0" err="1"/>
              <a:t>Titanic</a:t>
            </a:r>
            <a:r>
              <a:rPr lang="ru-RU" dirty="0"/>
              <a:t> </a:t>
            </a:r>
            <a:r>
              <a:rPr lang="ru-RU" dirty="0" err="1"/>
              <a:t>Insights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C569AE-D503-A2DA-A6F7-627C8BF8C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Summary</a:t>
            </a:r>
            <a:r>
              <a:rPr lang="ru-RU" b="1" dirty="0"/>
              <a:t> </a:t>
            </a:r>
            <a:r>
              <a:rPr lang="ru-RU" b="1" dirty="0" err="1"/>
              <a:t>of</a:t>
            </a:r>
            <a:r>
              <a:rPr lang="ru-RU" b="1" dirty="0"/>
              <a:t> </a:t>
            </a:r>
            <a:r>
              <a:rPr lang="ru-RU" b="1" dirty="0" err="1"/>
              <a:t>Findings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 err="1"/>
              <a:t>Gender</a:t>
            </a:r>
            <a:r>
              <a:rPr lang="ru-RU" b="1" dirty="0"/>
              <a:t> Gap:</a:t>
            </a:r>
            <a:r>
              <a:rPr lang="ru-RU" dirty="0"/>
              <a:t> </a:t>
            </a:r>
            <a:r>
              <a:rPr lang="ru-RU" dirty="0" err="1"/>
              <a:t>Women</a:t>
            </a:r>
            <a:r>
              <a:rPr lang="ru-RU" dirty="0"/>
              <a:t> </a:t>
            </a:r>
            <a:r>
              <a:rPr lang="ru-RU" dirty="0" err="1"/>
              <a:t>survived</a:t>
            </a:r>
            <a:r>
              <a:rPr lang="ru-RU" dirty="0"/>
              <a:t> 3.9x </a:t>
            </a:r>
            <a:r>
              <a:rPr lang="ru-RU" dirty="0" err="1"/>
              <a:t>more</a:t>
            </a:r>
            <a:r>
              <a:rPr lang="ru-RU" dirty="0"/>
              <a:t> </a:t>
            </a:r>
            <a:r>
              <a:rPr lang="ru-RU" dirty="0" err="1"/>
              <a:t>than</a:t>
            </a:r>
            <a:r>
              <a:rPr lang="ru-RU" dirty="0"/>
              <a:t> </a:t>
            </a:r>
            <a:r>
              <a:rPr lang="ru-RU" dirty="0" err="1"/>
              <a:t>men</a:t>
            </a:r>
            <a:endParaRPr lang="ru-RU" dirty="0"/>
          </a:p>
          <a:p>
            <a:pPr lvl="0"/>
            <a:r>
              <a:rPr lang="ru-RU" b="1" dirty="0"/>
              <a:t>Class </a:t>
            </a:r>
            <a:r>
              <a:rPr lang="ru-RU" b="1" dirty="0" err="1"/>
              <a:t>Divide</a:t>
            </a:r>
            <a:r>
              <a:rPr lang="ru-RU" b="1" dirty="0"/>
              <a:t>:</a:t>
            </a:r>
            <a:r>
              <a:rPr lang="ru-RU" dirty="0"/>
              <a:t> 1st </a:t>
            </a:r>
            <a:r>
              <a:rPr lang="ru-RU" dirty="0" err="1"/>
              <a:t>class</a:t>
            </a:r>
            <a:r>
              <a:rPr lang="ru-RU" dirty="0"/>
              <a:t> </a:t>
            </a:r>
            <a:r>
              <a:rPr lang="ru-RU" dirty="0" err="1"/>
              <a:t>survived</a:t>
            </a:r>
            <a:r>
              <a:rPr lang="ru-RU" dirty="0"/>
              <a:t> 2.6x </a:t>
            </a:r>
            <a:r>
              <a:rPr lang="ru-RU" dirty="0" err="1"/>
              <a:t>more</a:t>
            </a:r>
            <a:r>
              <a:rPr lang="ru-RU" dirty="0"/>
              <a:t> </a:t>
            </a:r>
            <a:r>
              <a:rPr lang="ru-RU" dirty="0" err="1"/>
              <a:t>than</a:t>
            </a:r>
            <a:r>
              <a:rPr lang="ru-RU" dirty="0"/>
              <a:t> 3rd </a:t>
            </a:r>
            <a:r>
              <a:rPr lang="ru-RU" dirty="0" err="1"/>
              <a:t>class</a:t>
            </a:r>
            <a:endParaRPr lang="ru-RU" dirty="0"/>
          </a:p>
          <a:p>
            <a:pPr lvl="0"/>
            <a:r>
              <a:rPr lang="ru-RU" b="1" dirty="0" err="1"/>
              <a:t>Age</a:t>
            </a:r>
            <a:r>
              <a:rPr lang="ru-RU" b="1" dirty="0"/>
              <a:t> </a:t>
            </a:r>
            <a:r>
              <a:rPr lang="ru-RU" b="1" dirty="0" err="1"/>
              <a:t>Priority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Children</a:t>
            </a:r>
            <a:r>
              <a:rPr lang="ru-RU" dirty="0"/>
              <a:t> </a:t>
            </a:r>
            <a:r>
              <a:rPr lang="ru-RU" dirty="0" err="1"/>
              <a:t>had</a:t>
            </a:r>
            <a:r>
              <a:rPr lang="ru-RU" dirty="0"/>
              <a:t> </a:t>
            </a:r>
            <a:r>
              <a:rPr lang="ru-RU" dirty="0" err="1"/>
              <a:t>highest</a:t>
            </a:r>
            <a:r>
              <a:rPr lang="ru-RU" dirty="0"/>
              <a:t> </a:t>
            </a:r>
            <a:r>
              <a:rPr lang="ru-RU" dirty="0" err="1"/>
              <a:t>priority</a:t>
            </a:r>
            <a:endParaRPr lang="ru-RU" dirty="0"/>
          </a:p>
          <a:p>
            <a:pPr lvl="0"/>
            <a:r>
              <a:rPr lang="ru-RU" b="1" dirty="0"/>
              <a:t>Family </a:t>
            </a:r>
            <a:r>
              <a:rPr lang="ru-RU" b="1" dirty="0" err="1"/>
              <a:t>Effect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Medium</a:t>
            </a:r>
            <a:r>
              <a:rPr lang="ru-RU" dirty="0"/>
              <a:t> </a:t>
            </a:r>
            <a:r>
              <a:rPr lang="ru-RU" dirty="0" err="1"/>
              <a:t>families</a:t>
            </a:r>
            <a:r>
              <a:rPr lang="ru-RU" dirty="0"/>
              <a:t> (2-4) </a:t>
            </a:r>
            <a:r>
              <a:rPr lang="ru-RU" dirty="0" err="1"/>
              <a:t>survived</a:t>
            </a:r>
            <a:r>
              <a:rPr lang="ru-RU" dirty="0"/>
              <a:t> </a:t>
            </a:r>
            <a:r>
              <a:rPr lang="ru-RU" dirty="0" err="1"/>
              <a:t>most</a:t>
            </a:r>
            <a:endParaRPr lang="ru-RU" dirty="0"/>
          </a:p>
          <a:p>
            <a:r>
              <a:rPr lang="ru-RU" b="1" dirty="0"/>
              <a:t>Price </a:t>
            </a:r>
            <a:r>
              <a:rPr lang="ru-RU" b="1" dirty="0" err="1"/>
              <a:t>of</a:t>
            </a:r>
            <a:r>
              <a:rPr lang="ru-RU" b="1" dirty="0"/>
              <a:t> Safety:</a:t>
            </a:r>
            <a:r>
              <a:rPr lang="ru-RU" dirty="0"/>
              <a:t> </a:t>
            </a:r>
            <a:r>
              <a:rPr lang="ru-RU" dirty="0" err="1"/>
              <a:t>Higher</a:t>
            </a:r>
            <a:r>
              <a:rPr lang="ru-RU" dirty="0"/>
              <a:t> </a:t>
            </a:r>
            <a:r>
              <a:rPr lang="ru-RU" dirty="0" err="1"/>
              <a:t>fare</a:t>
            </a:r>
            <a:r>
              <a:rPr lang="ru-RU" dirty="0"/>
              <a:t> </a:t>
            </a:r>
            <a:r>
              <a:rPr lang="ru-RU" dirty="0" err="1"/>
              <a:t>correlated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survival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46470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172293-3F8F-9E11-C619-942A811FB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Common EDA </a:t>
            </a:r>
            <a:r>
              <a:rPr lang="ru-RU" dirty="0" err="1"/>
              <a:t>Mistakes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12238D-F408-70CE-3669-89BFAE362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Avoid</a:t>
            </a:r>
            <a:r>
              <a:rPr lang="ru-RU" b="1" dirty="0"/>
              <a:t> </a:t>
            </a:r>
            <a:r>
              <a:rPr lang="ru-RU" b="1" dirty="0" err="1"/>
              <a:t>These</a:t>
            </a:r>
            <a:r>
              <a:rPr lang="ru-RU" b="1" dirty="0"/>
              <a:t> </a:t>
            </a:r>
            <a:r>
              <a:rPr lang="ru-RU" b="1" dirty="0" err="1"/>
              <a:t>Pitfalls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 err="1"/>
              <a:t>Not</a:t>
            </a:r>
            <a:r>
              <a:rPr lang="ru-RU" b="1" dirty="0"/>
              <a:t> </a:t>
            </a:r>
            <a:r>
              <a:rPr lang="ru-RU" b="1" dirty="0" err="1"/>
              <a:t>checking</a:t>
            </a:r>
            <a:r>
              <a:rPr lang="ru-RU" b="1" dirty="0"/>
              <a:t> </a:t>
            </a:r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b="1" dirty="0" err="1"/>
              <a:t>types</a:t>
            </a:r>
            <a:r>
              <a:rPr lang="ru-RU" dirty="0"/>
              <a:t> → </a:t>
            </a:r>
            <a:r>
              <a:rPr lang="ru-RU" dirty="0" err="1"/>
              <a:t>Wrong</a:t>
            </a:r>
            <a:r>
              <a:rPr lang="ru-RU" dirty="0"/>
              <a:t> </a:t>
            </a:r>
            <a:r>
              <a:rPr lang="ru-RU" dirty="0" err="1"/>
              <a:t>analysis</a:t>
            </a:r>
            <a:endParaRPr lang="ru-RU" dirty="0"/>
          </a:p>
          <a:p>
            <a:pPr lvl="0"/>
            <a:r>
              <a:rPr lang="ru-RU" b="1" dirty="0" err="1"/>
              <a:t>Ignoring</a:t>
            </a:r>
            <a:r>
              <a:rPr lang="ru-RU" b="1" dirty="0"/>
              <a:t> </a:t>
            </a:r>
            <a:r>
              <a:rPr lang="ru-RU" b="1" dirty="0" err="1"/>
              <a:t>missing</a:t>
            </a:r>
            <a:r>
              <a:rPr lang="ru-RU" b="1" dirty="0"/>
              <a:t> </a:t>
            </a:r>
            <a:r>
              <a:rPr lang="ru-RU" b="1" dirty="0" err="1"/>
              <a:t>values</a:t>
            </a:r>
            <a:r>
              <a:rPr lang="ru-RU" dirty="0"/>
              <a:t> → </a:t>
            </a:r>
            <a:r>
              <a:rPr lang="ru-RU" dirty="0" err="1"/>
              <a:t>Biased</a:t>
            </a:r>
            <a:r>
              <a:rPr lang="ru-RU" dirty="0"/>
              <a:t> </a:t>
            </a:r>
            <a:r>
              <a:rPr lang="ru-RU" dirty="0" err="1"/>
              <a:t>results</a:t>
            </a:r>
            <a:endParaRPr lang="ru-RU" dirty="0"/>
          </a:p>
          <a:p>
            <a:pPr lvl="0"/>
            <a:r>
              <a:rPr lang="ru-RU" b="1" dirty="0" err="1"/>
              <a:t>Removing</a:t>
            </a:r>
            <a:r>
              <a:rPr lang="ru-RU" b="1" dirty="0"/>
              <a:t> </a:t>
            </a:r>
            <a:r>
              <a:rPr lang="ru-RU" b="1" dirty="0" err="1"/>
              <a:t>outliers</a:t>
            </a:r>
            <a:r>
              <a:rPr lang="ru-RU" b="1" dirty="0"/>
              <a:t> </a:t>
            </a:r>
            <a:r>
              <a:rPr lang="ru-RU" b="1" dirty="0" err="1"/>
              <a:t>blindly</a:t>
            </a:r>
            <a:r>
              <a:rPr lang="ru-RU" dirty="0"/>
              <a:t> → </a:t>
            </a:r>
            <a:r>
              <a:rPr lang="ru-RU" dirty="0" err="1"/>
              <a:t>Losing</a:t>
            </a:r>
            <a:r>
              <a:rPr lang="ru-RU" dirty="0"/>
              <a:t> </a:t>
            </a:r>
            <a:r>
              <a:rPr lang="ru-RU" dirty="0" err="1"/>
              <a:t>signal</a:t>
            </a:r>
            <a:endParaRPr lang="ru-RU" dirty="0"/>
          </a:p>
          <a:p>
            <a:pPr lvl="0"/>
            <a:r>
              <a:rPr lang="ru-RU" b="1" dirty="0" err="1"/>
              <a:t>Skipping</a:t>
            </a:r>
            <a:r>
              <a:rPr lang="ru-RU" b="1" dirty="0"/>
              <a:t> </a:t>
            </a:r>
            <a:r>
              <a:rPr lang="ru-RU" b="1" dirty="0" err="1"/>
              <a:t>univariate</a:t>
            </a:r>
            <a:r>
              <a:rPr lang="ru-RU" b="1" dirty="0"/>
              <a:t> </a:t>
            </a:r>
            <a:r>
              <a:rPr lang="ru-RU" b="1" dirty="0" err="1"/>
              <a:t>analysis</a:t>
            </a:r>
            <a:r>
              <a:rPr lang="ru-RU" dirty="0"/>
              <a:t> → </a:t>
            </a:r>
            <a:r>
              <a:rPr lang="ru-RU" dirty="0" err="1"/>
              <a:t>Missing</a:t>
            </a:r>
            <a:r>
              <a:rPr lang="ru-RU" dirty="0"/>
              <a:t> </a:t>
            </a:r>
            <a:r>
              <a:rPr lang="ru-RU" dirty="0" err="1"/>
              <a:t>basics</a:t>
            </a:r>
            <a:endParaRPr lang="ru-RU" dirty="0"/>
          </a:p>
          <a:p>
            <a:pPr lvl="0"/>
            <a:r>
              <a:rPr lang="ru-RU" b="1" dirty="0" err="1"/>
              <a:t>Not</a:t>
            </a:r>
            <a:r>
              <a:rPr lang="ru-RU" b="1" dirty="0"/>
              <a:t> </a:t>
            </a:r>
            <a:r>
              <a:rPr lang="ru-RU" b="1" dirty="0" err="1"/>
              <a:t>documenting</a:t>
            </a:r>
            <a:r>
              <a:rPr lang="ru-RU" dirty="0"/>
              <a:t> → </a:t>
            </a:r>
            <a:r>
              <a:rPr lang="ru-RU" dirty="0" err="1"/>
              <a:t>Can't</a:t>
            </a:r>
            <a:r>
              <a:rPr lang="ru-RU" dirty="0"/>
              <a:t> </a:t>
            </a:r>
            <a:r>
              <a:rPr lang="ru-RU" dirty="0" err="1"/>
              <a:t>reproduce</a:t>
            </a:r>
            <a:endParaRPr lang="ru-RU" dirty="0"/>
          </a:p>
          <a:p>
            <a:r>
              <a:rPr lang="ru-RU" b="1" dirty="0" err="1"/>
              <a:t>Over-plotting</a:t>
            </a:r>
            <a:r>
              <a:rPr lang="ru-RU" dirty="0"/>
              <a:t> → </a:t>
            </a:r>
            <a:r>
              <a:rPr lang="ru-RU" dirty="0" err="1"/>
              <a:t>Confusion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95137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05A6F6-C78F-2F1A-2092-B947E4286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Visualization</a:t>
            </a:r>
            <a:r>
              <a:rPr lang="ru-RU" dirty="0"/>
              <a:t> Best </a:t>
            </a:r>
            <a:r>
              <a:rPr lang="ru-RU" dirty="0" err="1"/>
              <a:t>Practices</a:t>
            </a:r>
            <a:endParaRPr lang="ru-RU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B492988D-F3BA-21B7-BA5C-2A5D4B6617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443307"/>
              </p:ext>
            </p:extLst>
          </p:nvPr>
        </p:nvGraphicFramePr>
        <p:xfrm>
          <a:off x="838200" y="2114184"/>
          <a:ext cx="7162800" cy="2240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905780502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4139332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Question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effectLst/>
                        </a:rPr>
                        <a:t>Best </a:t>
                      </a:r>
                      <a:r>
                        <a:rPr lang="ru-RU" sz="1200" dirty="0" err="1">
                          <a:effectLst/>
                        </a:rPr>
                        <a:t>Chart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412128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Distribution?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Histogram, Box plot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913431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Comparison?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Bar chart, Column chart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930312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Relationship?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Scatter plot, Heatmap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4161669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Composition?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Stacked bar, Pie chart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064156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Trend over time?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effectLst/>
                        </a:rPr>
                        <a:t>Line </a:t>
                      </a:r>
                      <a:r>
                        <a:rPr lang="ru-RU" sz="1200" dirty="0" err="1">
                          <a:effectLst/>
                        </a:rPr>
                        <a:t>chart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879699834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4BE82052-672E-C0CB-B27A-04F73319E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89250"/>
            <a:ext cx="397204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The 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Right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 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Chart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 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for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 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the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 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Right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 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Question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D18F97-3354-16A5-6903-1F7B77B957EA}"/>
              </a:ext>
            </a:extLst>
          </p:cNvPr>
          <p:cNvSpPr txBox="1"/>
          <p:nvPr/>
        </p:nvSpPr>
        <p:spPr>
          <a:xfrm>
            <a:off x="838200" y="4743816"/>
            <a:ext cx="580553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ru-RU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Always:</a:t>
            </a:r>
            <a:endParaRPr lang="ru-RU" dirty="0">
              <a:effectLst/>
              <a:latin typeface="Times New Roman" panose="02020603050405020304" pitchFamily="18" charset="0"/>
              <a:ea typeface="Aptos" panose="02110004020202020204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Label </a:t>
            </a:r>
            <a:r>
              <a:rPr lang="ru-RU" dirty="0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axes</a:t>
            </a:r>
            <a:r>
              <a:rPr lang="ru-RU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 </a:t>
            </a:r>
            <a:r>
              <a:rPr lang="ru-RU" dirty="0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clearly</a:t>
            </a:r>
            <a:endParaRPr lang="ru-RU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Aptos" panose="02110004020202020204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Add</a:t>
            </a:r>
            <a:r>
              <a:rPr lang="ru-RU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 </a:t>
            </a:r>
            <a:r>
              <a:rPr lang="ru-RU" dirty="0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informative</a:t>
            </a:r>
            <a:r>
              <a:rPr lang="ru-RU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 </a:t>
            </a:r>
            <a:r>
              <a:rPr lang="ru-RU" dirty="0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titles</a:t>
            </a:r>
            <a:endParaRPr lang="ru-RU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Aptos" panose="02110004020202020204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Use</a:t>
            </a:r>
            <a:r>
              <a:rPr lang="ru-RU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 </a:t>
            </a:r>
            <a:r>
              <a:rPr lang="ru-RU" dirty="0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consistent</a:t>
            </a:r>
            <a:r>
              <a:rPr lang="ru-RU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 </a:t>
            </a:r>
            <a:r>
              <a:rPr lang="ru-RU" dirty="0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colors</a:t>
            </a:r>
            <a:endParaRPr lang="ru-RU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Aptos" panose="02110004020202020204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Avoid</a:t>
            </a:r>
            <a:r>
              <a:rPr lang="ru-RU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 </a:t>
            </a:r>
            <a:r>
              <a:rPr lang="ru-RU" dirty="0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chart</a:t>
            </a:r>
            <a:r>
              <a:rPr lang="ru-RU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 </a:t>
            </a:r>
            <a:r>
              <a:rPr lang="ru-RU" dirty="0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junk</a:t>
            </a:r>
            <a:endParaRPr lang="ru-RU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241719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4492D-1118-52FF-8216-4CAC6D3B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773" y="2384048"/>
            <a:ext cx="10515600" cy="1325563"/>
          </a:xfrm>
        </p:spPr>
        <p:txBody>
          <a:bodyPr/>
          <a:lstStyle/>
          <a:p>
            <a:pPr algn="ctr"/>
            <a:r>
              <a:rPr lang="ru-RU" dirty="0" err="1"/>
              <a:t>Thank</a:t>
            </a:r>
            <a:r>
              <a:rPr lang="ru-RU" dirty="0"/>
              <a:t> You &amp; Good </a:t>
            </a:r>
            <a:r>
              <a:rPr lang="ru-RU" dirty="0" err="1"/>
              <a:t>Luck</a:t>
            </a:r>
            <a:r>
              <a:rPr lang="ru-RU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329009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3768</Words>
  <Application>Microsoft Office PowerPoint</Application>
  <PresentationFormat>Широкоэкранный</PresentationFormat>
  <Paragraphs>596</Paragraphs>
  <Slides>47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4" baseType="lpstr">
      <vt:lpstr>Aptos</vt:lpstr>
      <vt:lpstr>Aptos Display</vt:lpstr>
      <vt:lpstr>Arial</vt:lpstr>
      <vt:lpstr>Segoe UI</vt:lpstr>
      <vt:lpstr>Symbol</vt:lpstr>
      <vt:lpstr>Times New Roman</vt:lpstr>
      <vt:lpstr>Тема Office</vt:lpstr>
      <vt:lpstr>Exploratory Data Analysis (EDA) Data Cleaning &amp; Visualization </vt:lpstr>
      <vt:lpstr>What Exactly is EDA?</vt:lpstr>
      <vt:lpstr>The EDA Philosophy</vt:lpstr>
      <vt:lpstr>The Complete EDA Workflow</vt:lpstr>
      <vt:lpstr>Python's EDA Stack</vt:lpstr>
      <vt:lpstr>Meet Our Dataset: Titanic</vt:lpstr>
      <vt:lpstr>Loading Data in Python</vt:lpstr>
      <vt:lpstr>First Glance at Data</vt:lpstr>
      <vt:lpstr>Understanding Data Types</vt:lpstr>
      <vt:lpstr>Missing Data - The Reality Check</vt:lpstr>
      <vt:lpstr>Visualizing Missing Data</vt:lpstr>
      <vt:lpstr>Data Cleaning Strategy</vt:lpstr>
      <vt:lpstr>Step 1 - Drop Problematic Columns</vt:lpstr>
      <vt:lpstr>Step 2 - Impute Age Smartly</vt:lpstr>
      <vt:lpstr>Step 3 - Fix Remaining Issues</vt:lpstr>
      <vt:lpstr>Optimize Data Types</vt:lpstr>
      <vt:lpstr>Summary Statistics</vt:lpstr>
      <vt:lpstr>Univariate Analysis - What Is It?</vt:lpstr>
      <vt:lpstr>Analyzing Age Distribution</vt:lpstr>
      <vt:lpstr>Analyzing Fare Distribution</vt:lpstr>
      <vt:lpstr>Categorical Analysis: Passenger Class</vt:lpstr>
      <vt:lpstr>Categorical Analysis: Gender</vt:lpstr>
      <vt:lpstr>Bivariate Analysis - Understanding Relationships</vt:lpstr>
      <vt:lpstr>Survival by Gender</vt:lpstr>
      <vt:lpstr>Survival by Passenger Class</vt:lpstr>
      <vt:lpstr>Age vs Fare Scatter Plot</vt:lpstr>
      <vt:lpstr>Enhanced Scatter Plot</vt:lpstr>
      <vt:lpstr>Correlation Heatmap</vt:lpstr>
      <vt:lpstr>Creating Age Groups</vt:lpstr>
      <vt:lpstr>Survival by Age Group</vt:lpstr>
      <vt:lpstr>Family Size Analysis</vt:lpstr>
      <vt:lpstr>Survival by Family Size</vt:lpstr>
      <vt:lpstr>Advanced Visualization: Pair Plot</vt:lpstr>
      <vt:lpstr>Violin Plot - Age by Class &amp; Survival</vt:lpstr>
      <vt:lpstr>Facet Grid - Multi-dimensional View</vt:lpstr>
      <vt:lpstr>Outlier Detection</vt:lpstr>
      <vt:lpstr>Handling Outliers - Options</vt:lpstr>
      <vt:lpstr>Log Transformation</vt:lpstr>
      <vt:lpstr>Feature Engineering - Extract Titles</vt:lpstr>
      <vt:lpstr>Survival by Title</vt:lpstr>
      <vt:lpstr>Automated EDA with pandas-profiling</vt:lpstr>
      <vt:lpstr>Interactive EDA with D-Tale</vt:lpstr>
      <vt:lpstr>EDA Checklist</vt:lpstr>
      <vt:lpstr>Key Titanic Insights</vt:lpstr>
      <vt:lpstr>Common EDA Mistakes</vt:lpstr>
      <vt:lpstr>Visualization Best Practices</vt:lpstr>
      <vt:lpstr>Thank You &amp; Good Luck!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Нағметова Анар Айдарбекқызы</dc:creator>
  <cp:lastModifiedBy>Нағметова Анар Айдарбекқызы</cp:lastModifiedBy>
  <cp:revision>4</cp:revision>
  <dcterms:created xsi:type="dcterms:W3CDTF">2026-01-27T11:14:07Z</dcterms:created>
  <dcterms:modified xsi:type="dcterms:W3CDTF">2026-01-27T12:50:13Z</dcterms:modified>
</cp:coreProperties>
</file>