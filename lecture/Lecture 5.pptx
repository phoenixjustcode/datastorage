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5" r:id="rId21"/>
    <p:sldId id="276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7" r:id="rId40"/>
    <p:sldId id="298" r:id="rId4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6A28D66-110E-4867-81D9-7CE8BFCC5C2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6"/>
            <p14:sldId id="267"/>
          </p14:sldIdLst>
        </p14:section>
        <p14:section name="ERRORS &amp; SIGNIFICANCE" id="{E891262E-E498-4661-99B5-8353B1D45A54}">
          <p14:sldIdLst>
            <p14:sldId id="269"/>
            <p14:sldId id="270"/>
            <p14:sldId id="271"/>
            <p14:sldId id="272"/>
            <p14:sldId id="273"/>
            <p14:sldId id="275"/>
            <p14:sldId id="276"/>
          </p14:sldIdLst>
        </p14:section>
        <p14:section name="ONE-SAMPLE TESTS" id="{4A708976-32E5-45CE-92F0-A8A12AEF2C13}">
          <p14:sldIdLst>
            <p14:sldId id="278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TWO-SAMPLE TESTS" id="{A3146285-638D-4907-8D03-A9CAB7A3FFDE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7"/>
            <p14:sldId id="29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45A9A7-DDF5-1144-2C55-1164F1F73605}" v="1" dt="2026-03-13T05:13:03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zhas Duisenbay" userId="S::o_duisenbay@kbtu.kz::21d2b945-e56e-4b49-87df-8eee3012ad78" providerId="AD" clId="Web-{EA45A9A7-DDF5-1144-2C55-1164F1F73605}"/>
    <pc:docChg chg="sldOrd">
      <pc:chgData name="Olzhas Duisenbay" userId="S::o_duisenbay@kbtu.kz::21d2b945-e56e-4b49-87df-8eee3012ad78" providerId="AD" clId="Web-{EA45A9A7-DDF5-1144-2C55-1164F1F73605}" dt="2026-03-13T05:13:03.987" v="0"/>
      <pc:docMkLst>
        <pc:docMk/>
      </pc:docMkLst>
      <pc:sldChg chg="ord">
        <pc:chgData name="Olzhas Duisenbay" userId="S::o_duisenbay@kbtu.kz::21d2b945-e56e-4b49-87df-8eee3012ad78" providerId="AD" clId="Web-{EA45A9A7-DDF5-1144-2C55-1164F1F73605}" dt="2026-03-13T05:13:03.987" v="0"/>
        <pc:sldMkLst>
          <pc:docMk/>
          <pc:sldMk cId="943137647" sldId="267"/>
        </pc:sldMkLst>
      </pc:sldChg>
    </pc:docChg>
  </pc:docChgLst>
  <pc:docChgLst>
    <pc:chgData name="Magzhan Dautbekov" userId="S::m_dautbekov@kbtu.kz::f30a3a5d-f37c-467c-a663-caac41242176" providerId="AD" clId="Web-{F6676E24-A9A3-474E-D0FC-C4AEACB6CBA5}"/>
    <pc:docChg chg="sldOrd">
      <pc:chgData name="Magzhan Dautbekov" userId="S::m_dautbekov@kbtu.kz::f30a3a5d-f37c-467c-a663-caac41242176" providerId="AD" clId="Web-{F6676E24-A9A3-474E-D0FC-C4AEACB6CBA5}" dt="2026-02-26T17:09:12.957" v="1"/>
      <pc:docMkLst>
        <pc:docMk/>
      </pc:docMkLst>
      <pc:sldChg chg="ord">
        <pc:chgData name="Magzhan Dautbekov" userId="S::m_dautbekov@kbtu.kz::f30a3a5d-f37c-467c-a663-caac41242176" providerId="AD" clId="Web-{F6676E24-A9A3-474E-D0FC-C4AEACB6CBA5}" dt="2026-02-26T16:54:43.189" v="0"/>
        <pc:sldMkLst>
          <pc:docMk/>
          <pc:sldMk cId="1691848746" sldId="259"/>
        </pc:sldMkLst>
      </pc:sldChg>
      <pc:sldChg chg="ord">
        <pc:chgData name="Magzhan Dautbekov" userId="S::m_dautbekov@kbtu.kz::f30a3a5d-f37c-467c-a663-caac41242176" providerId="AD" clId="Web-{F6676E24-A9A3-474E-D0FC-C4AEACB6CBA5}" dt="2026-02-26T17:09:12.957" v="1"/>
        <pc:sldMkLst>
          <pc:docMk/>
          <pc:sldMk cId="3601768119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E3C43A-9E95-4295-951A-22A18721C22B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258DF-7204-4070-B47E-DA8E29865D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824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756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411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9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452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978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539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258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282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249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915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820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523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6275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326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868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252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934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2094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28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916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0434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5858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167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579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2729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8450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6412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0924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41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6838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394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126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2335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03502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C258DF-7204-4070-B47E-DA8E29865D1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53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403C6-6A61-F83F-32EC-80D30925F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31CBB0-A2EE-EC98-C2B5-698009C75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5E0502-AAD3-DA25-E02A-6D63112D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5CBF3F-CEAE-5C44-BD09-15B49E5D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CBCAAA-68E6-A4D6-6822-F59546A86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541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9E7F69-447E-DA38-6B88-8385F01C0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8649D4-67CD-0A11-20A4-F9F6DF0BB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03C30A-556A-C3A1-529B-5E1E010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848D68-BC50-C6FD-5A01-BF91CAB4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4B034-CF0E-5DF4-046C-B2BCFC47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55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9232AF-8783-7506-5A30-E41FE8FA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06541E-CD95-463E-EEAD-E83BF1015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44E2CE-4340-DBC8-A749-D4D2DF924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9652F0-A7FE-C603-B46C-E940B4AB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A3D9D2-5258-A60C-822C-68C4F5F8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59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21C70-3239-D9EF-AD38-0CB0D2A82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51DCE-FE27-533B-AD36-E90DF8148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F0A2229-6C23-4295-7076-BB5742004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F0DC3A-FC0A-5CF2-ADD9-7D4464B64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6529F1-65E3-AE83-D197-A588C3FC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EC24CC-6B8B-6E64-FEBB-4C863674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010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D1D83-F060-37AD-07F9-1611AF707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57FE33-95EE-7790-1A6C-F1EF3E1BE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0CCD06-D3AA-21ED-B738-EC82304EE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5230D2-0153-794E-2282-DD91469EA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F30B25-CD9C-1938-2B36-8545D2AB9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220A7D-B7DD-9842-09C7-D0F34052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429E17-7644-E52E-509C-39C20920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F5BAAAE-2F36-4BBF-4A31-C65BD72F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97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5EBDB4-5FA8-D1D3-6C15-2901B8282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3E3D8E-8FE3-6DB8-1988-62C4A3F6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ECA3AD-2A43-4DB5-4BED-5BB4FB33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D55726-800E-720F-A25A-2E3820589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22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7B5C6B-BD90-09F6-24DC-D736B5EF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2941280-FB8E-A383-EEEA-02F2D91F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D2C143-5310-0D29-DF68-77065968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667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25A9E-31B1-A737-CC6F-5AD530EDA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5E51AA-3DDC-CEBB-2070-D23D2375C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FB246F-B8C7-6797-27F9-62F4BA54C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047AE9-94FC-B064-D72F-DCF909755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AA9EC3-8F46-2AB5-D3BD-56894254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5695DD-2A5E-29A0-2C16-27723161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59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CCA76-B827-739F-92DE-1D7AAB381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45A95B-2DE8-E5D0-6D99-13AF6BFF2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B23072-65AA-E17A-8DED-579FA5F7B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B602FDD-DC67-8F14-EE76-979ADCE62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F71B6D0-812A-5FDF-058A-D36645F1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20BE41-9E36-5B02-A498-862D8DDC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05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6357B-D276-4BC1-2AD0-C7EA09667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07008E-593F-2683-227A-B5C5DE421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E0E8E9-65DD-0AA7-B7AA-690691D5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0E72DB-DBE5-A246-3495-B95713B9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4BCF36-D9DC-7DE9-DF31-55E942B9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22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E36EFC-9A23-414B-B81B-428ADB685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8A3002-530E-5CEE-5291-4B84E1CB6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C16337-627B-FD6E-97DB-F9AEA0C6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1C402E-C751-CCC4-8435-BFF9EE07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BB5343-F057-0BFE-2256-479778AE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76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D0D85-9E17-C7AB-C848-A55F6AC73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293BF0-900F-57D9-4635-1B4853F88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6205F3-7907-F9B2-B019-AD9795C29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D4BEE-6E98-4708-8DE2-E2DA79ECAFA9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E7295-EB99-A621-E70F-6D0B1470E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44805E-F399-1F68-DF3D-1ACC474D6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8028E-210B-45BF-9887-F80CFF7A6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98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411BE0-DD66-9042-663D-61DB59248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/>
              <a:t>INTRODUCTION TO HYPOTHESIS TESTING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82BC4A-9621-E436-4D73-70482955C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5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717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00E55BD-41ED-194F-F835-2032C3C4F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859"/>
            <a:ext cx="10515600" cy="4846104"/>
          </a:xfrm>
        </p:spPr>
        <p:txBody>
          <a:bodyPr/>
          <a:lstStyle/>
          <a:p>
            <a:pPr marL="0" indent="0" latinLnBrk="1">
              <a:buNone/>
            </a:pPr>
            <a:r>
              <a:rPr lang="ru-RU" err="1"/>
              <a:t>We've</a:t>
            </a:r>
            <a:r>
              <a:rPr lang="ru-RU"/>
              <a:t> </a:t>
            </a:r>
            <a:r>
              <a:rPr lang="ru-RU" err="1"/>
              <a:t>learned</a:t>
            </a:r>
            <a:r>
              <a:rPr lang="ru-RU"/>
              <a:t>:</a:t>
            </a:r>
          </a:p>
          <a:p>
            <a:pPr latinLnBrk="1"/>
            <a:r>
              <a:rPr lang="ru-RU" err="1"/>
              <a:t>Descriptive</a:t>
            </a:r>
            <a:r>
              <a:rPr lang="ru-RU"/>
              <a:t> </a:t>
            </a:r>
            <a:r>
              <a:rPr lang="ru-RU" err="1"/>
              <a:t>Stats</a:t>
            </a:r>
            <a:r>
              <a:rPr lang="ru-RU"/>
              <a:t> → </a:t>
            </a:r>
            <a:r>
              <a:rPr lang="ru-RU" err="1"/>
              <a:t>Summarize</a:t>
            </a:r>
            <a:r>
              <a:rPr lang="ru-RU"/>
              <a:t> </a:t>
            </a:r>
            <a:r>
              <a:rPr lang="ru-RU" err="1"/>
              <a:t>data</a:t>
            </a:r>
            <a:endParaRPr lang="ru-RU"/>
          </a:p>
          <a:p>
            <a:pPr latinLnBrk="1"/>
            <a:r>
              <a:rPr lang="ru-RU" err="1"/>
              <a:t>Probability</a:t>
            </a:r>
            <a:r>
              <a:rPr lang="ru-RU"/>
              <a:t> → </a:t>
            </a:r>
            <a:r>
              <a:rPr lang="ru-RU" err="1"/>
              <a:t>Quantify</a:t>
            </a:r>
            <a:r>
              <a:rPr lang="ru-RU"/>
              <a:t> </a:t>
            </a:r>
            <a:r>
              <a:rPr lang="ru-RU" err="1"/>
              <a:t>uncertaintyNOW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do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MAKE DECISIONS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?</a:t>
            </a:r>
          </a:p>
          <a:p>
            <a:pPr marL="0" indent="0" latinLnBrk="1">
              <a:buNone/>
            </a:pPr>
            <a:r>
              <a:rPr lang="ru-RU"/>
              <a:t> </a:t>
            </a:r>
            <a:endParaRPr lang="en-US"/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/>
              <a:t>"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result</a:t>
            </a:r>
            <a:r>
              <a:rPr lang="ru-RU"/>
              <a:t> REAL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just</a:t>
            </a:r>
            <a:r>
              <a:rPr lang="ru-RU"/>
              <a:t> RANDOM?"</a:t>
            </a:r>
          </a:p>
          <a:p>
            <a:pPr marL="0" indent="0" latinLnBrk="1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93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AAA3C-4C23-44E1-43A7-D65CC824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8039"/>
          </a:xfrm>
        </p:spPr>
        <p:txBody>
          <a:bodyPr/>
          <a:lstStyle/>
          <a:p>
            <a:r>
              <a:rPr lang="ru-RU" b="1"/>
              <a:t>What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Hypothesis</a:t>
            </a:r>
            <a:r>
              <a:rPr lang="ru-RU" b="1"/>
              <a:t> </a:t>
            </a:r>
            <a:r>
              <a:rPr lang="ru-RU" b="1" err="1"/>
              <a:t>Testing</a:t>
            </a:r>
            <a:r>
              <a:rPr lang="ru-RU" b="1"/>
              <a:t>?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0B27A9-5C5B-8593-1F32-CC0504E94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822"/>
            <a:ext cx="10515600" cy="4683141"/>
          </a:xfrm>
        </p:spPr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/>
              <a:t>A </a:t>
            </a:r>
            <a:r>
              <a:rPr lang="ru-RU" err="1"/>
              <a:t>formal</a:t>
            </a:r>
            <a:r>
              <a:rPr lang="ru-RU"/>
              <a:t> </a:t>
            </a:r>
            <a:r>
              <a:rPr lang="ru-RU" err="1"/>
              <a:t>process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decide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explanations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Nothing</a:t>
            </a:r>
            <a:r>
              <a:rPr lang="ru-RU"/>
              <a:t> </a:t>
            </a:r>
            <a:r>
              <a:rPr lang="ru-RU" err="1"/>
              <a:t>interesting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happening</a:t>
            </a:r>
            <a:r>
              <a:rPr lang="ru-RU"/>
              <a:t> (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chance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2. </a:t>
            </a:r>
            <a:r>
              <a:rPr lang="ru-RU" err="1"/>
              <a:t>Something</a:t>
            </a:r>
            <a:r>
              <a:rPr lang="ru-RU"/>
              <a:t> </a:t>
            </a:r>
            <a:r>
              <a:rPr lang="ru-RU" err="1"/>
              <a:t>interesting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happening</a:t>
            </a:r>
            <a:r>
              <a:rPr lang="ru-RU"/>
              <a:t> (</a:t>
            </a:r>
            <a:r>
              <a:rPr lang="ru-RU" err="1"/>
              <a:t>real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Simple </a:t>
            </a:r>
            <a:r>
              <a:rPr lang="ru-RU" err="1"/>
              <a:t>Analogy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 err="1"/>
              <a:t>Jury</a:t>
            </a:r>
            <a:r>
              <a:rPr lang="ru-RU"/>
              <a:t> </a:t>
            </a:r>
            <a:r>
              <a:rPr lang="ru-RU" err="1"/>
              <a:t>Trial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Presumed</a:t>
            </a:r>
            <a:r>
              <a:rPr lang="ru-RU"/>
              <a:t> </a:t>
            </a:r>
            <a:r>
              <a:rPr lang="ru-RU" err="1"/>
              <a:t>innocent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proven</a:t>
            </a:r>
            <a:r>
              <a:rPr lang="ru-RU"/>
              <a:t> </a:t>
            </a:r>
            <a:r>
              <a:rPr lang="ru-RU" err="1"/>
              <a:t>guilty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must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strong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convict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Hypothesis</a:t>
            </a:r>
            <a:r>
              <a:rPr lang="ru-RU"/>
              <a:t> Test: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Presume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proves</a:t>
            </a:r>
            <a:r>
              <a:rPr lang="ru-RU"/>
              <a:t> </a:t>
            </a:r>
            <a:r>
              <a:rPr lang="ru-RU" err="1"/>
              <a:t>otherwise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Data </a:t>
            </a:r>
            <a:r>
              <a:rPr lang="ru-RU" err="1"/>
              <a:t>must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extreme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conclude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exists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79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B7EEB-1C05-D8D4-09ED-3584E3664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291"/>
          </a:xfrm>
        </p:spPr>
        <p:txBody>
          <a:bodyPr/>
          <a:lstStyle/>
          <a:p>
            <a:r>
              <a:rPr lang="ru-RU" b="1"/>
              <a:t>Real-World </a:t>
            </a:r>
            <a:r>
              <a:rPr lang="ru-RU" b="1" err="1"/>
              <a:t>Examples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613083-CD30-E7E3-2756-CD88E2C4C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699"/>
            <a:ext cx="10515600" cy="4873264"/>
          </a:xfrm>
        </p:spPr>
        <p:txBody>
          <a:bodyPr numCol="2">
            <a:noAutofit/>
          </a:bodyPr>
          <a:lstStyle/>
          <a:p>
            <a:pPr marL="0" indent="0" latinLnBrk="1">
              <a:buNone/>
            </a:pPr>
            <a:r>
              <a:rPr lang="ru-RU" sz="1000" err="1"/>
              <a:t>Where</a:t>
            </a:r>
            <a:r>
              <a:rPr lang="ru-RU" sz="1000"/>
              <a:t> </a:t>
            </a:r>
            <a:r>
              <a:rPr lang="ru-RU" sz="1000" err="1"/>
              <a:t>hypothesis</a:t>
            </a:r>
            <a:r>
              <a:rPr lang="ru-RU" sz="1000"/>
              <a:t> </a:t>
            </a:r>
            <a:r>
              <a:rPr lang="ru-RU" sz="1000" err="1"/>
              <a:t>testing</a:t>
            </a:r>
            <a:r>
              <a:rPr lang="ru-RU" sz="1000"/>
              <a:t> </a:t>
            </a:r>
            <a:r>
              <a:rPr lang="ru-RU" sz="1000" err="1"/>
              <a:t>is</a:t>
            </a:r>
            <a:r>
              <a:rPr lang="ru-RU" sz="1000"/>
              <a:t> </a:t>
            </a:r>
            <a:r>
              <a:rPr lang="ru-RU" sz="1000" err="1"/>
              <a:t>used</a:t>
            </a:r>
            <a:r>
              <a:rPr lang="ru-RU" sz="1000"/>
              <a:t> EVERY DAY:</a:t>
            </a:r>
          </a:p>
          <a:p>
            <a:pPr marL="0" indent="0" latinLnBrk="1">
              <a:buNone/>
            </a:pPr>
            <a:r>
              <a:rPr lang="ru-RU" sz="1000" b="1"/>
              <a:t> MEDICINE:</a:t>
            </a:r>
          </a:p>
          <a:p>
            <a:pPr marL="0" indent="0" latinLnBrk="1">
              <a:buNone/>
            </a:pPr>
            <a:r>
              <a:rPr lang="ru-RU" sz="1000"/>
              <a:t>• "</a:t>
            </a:r>
            <a:r>
              <a:rPr lang="ru-RU" sz="1000" err="1"/>
              <a:t>Does</a:t>
            </a:r>
            <a:r>
              <a:rPr lang="ru-RU" sz="1000"/>
              <a:t> </a:t>
            </a:r>
            <a:r>
              <a:rPr lang="ru-RU" sz="1000" err="1"/>
              <a:t>this</a:t>
            </a:r>
            <a:r>
              <a:rPr lang="ru-RU" sz="1000"/>
              <a:t> </a:t>
            </a:r>
            <a:r>
              <a:rPr lang="ru-RU" sz="1000" err="1"/>
              <a:t>new</a:t>
            </a:r>
            <a:r>
              <a:rPr lang="ru-RU" sz="1000"/>
              <a:t> </a:t>
            </a:r>
            <a:r>
              <a:rPr lang="ru-RU" sz="1000" err="1"/>
              <a:t>drug</a:t>
            </a:r>
            <a:r>
              <a:rPr lang="ru-RU" sz="1000"/>
              <a:t> </a:t>
            </a:r>
            <a:r>
              <a:rPr lang="ru-RU" sz="1000" err="1"/>
              <a:t>lower</a:t>
            </a:r>
            <a:r>
              <a:rPr lang="ru-RU" sz="1000"/>
              <a:t> </a:t>
            </a:r>
            <a:r>
              <a:rPr lang="ru-RU" sz="1000" err="1"/>
              <a:t>blood</a:t>
            </a:r>
            <a:r>
              <a:rPr lang="ru-RU" sz="1000"/>
              <a:t> </a:t>
            </a:r>
            <a:r>
              <a:rPr lang="ru-RU" sz="1000" err="1"/>
              <a:t>pressure</a:t>
            </a:r>
            <a:r>
              <a:rPr lang="ru-RU" sz="1000"/>
              <a:t>?"</a:t>
            </a:r>
          </a:p>
          <a:p>
            <a:pPr marL="0" indent="0" latinLnBrk="1">
              <a:buNone/>
            </a:pPr>
            <a:r>
              <a:rPr lang="ru-RU" sz="1000"/>
              <a:t>• </a:t>
            </a:r>
            <a:r>
              <a:rPr lang="ru-RU" sz="1000" err="1"/>
              <a:t>Compare</a:t>
            </a:r>
            <a:r>
              <a:rPr lang="ru-RU" sz="1000"/>
              <a:t> </a:t>
            </a:r>
            <a:r>
              <a:rPr lang="ru-RU" sz="1000" err="1"/>
              <a:t>treatment</a:t>
            </a:r>
            <a:r>
              <a:rPr lang="ru-RU" sz="1000"/>
              <a:t> </a:t>
            </a:r>
            <a:r>
              <a:rPr lang="ru-RU" sz="1000" err="1"/>
              <a:t>vs</a:t>
            </a:r>
            <a:r>
              <a:rPr lang="ru-RU" sz="1000"/>
              <a:t> </a:t>
            </a:r>
            <a:r>
              <a:rPr lang="ru-RU" sz="1000" err="1"/>
              <a:t>placebo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 BUSINESS:</a:t>
            </a:r>
          </a:p>
          <a:p>
            <a:pPr marL="0" indent="0" latinLnBrk="1">
              <a:buNone/>
            </a:pPr>
            <a:r>
              <a:rPr lang="ru-RU" sz="1000"/>
              <a:t>• "</a:t>
            </a:r>
            <a:r>
              <a:rPr lang="ru-RU" sz="1000" err="1"/>
              <a:t>Does</a:t>
            </a:r>
            <a:r>
              <a:rPr lang="ru-RU" sz="1000"/>
              <a:t> </a:t>
            </a:r>
            <a:r>
              <a:rPr lang="ru-RU" sz="1000" err="1"/>
              <a:t>the</a:t>
            </a:r>
            <a:r>
              <a:rPr lang="ru-RU" sz="1000"/>
              <a:t> </a:t>
            </a:r>
            <a:r>
              <a:rPr lang="ru-RU" sz="1000" err="1"/>
              <a:t>new</a:t>
            </a:r>
            <a:r>
              <a:rPr lang="ru-RU" sz="1000"/>
              <a:t> </a:t>
            </a:r>
            <a:r>
              <a:rPr lang="ru-RU" sz="1000" err="1"/>
              <a:t>website</a:t>
            </a:r>
            <a:r>
              <a:rPr lang="ru-RU" sz="1000"/>
              <a:t> </a:t>
            </a:r>
            <a:r>
              <a:rPr lang="ru-RU" sz="1000" err="1"/>
              <a:t>design</a:t>
            </a:r>
            <a:r>
              <a:rPr lang="ru-RU" sz="1000"/>
              <a:t> </a:t>
            </a:r>
            <a:r>
              <a:rPr lang="ru-RU" sz="1000" err="1"/>
              <a:t>increase</a:t>
            </a:r>
            <a:r>
              <a:rPr lang="ru-RU" sz="1000"/>
              <a:t> </a:t>
            </a:r>
            <a:r>
              <a:rPr lang="ru-RU" sz="1000" err="1"/>
              <a:t>sales</a:t>
            </a:r>
            <a:r>
              <a:rPr lang="ru-RU" sz="1000"/>
              <a:t>?"</a:t>
            </a:r>
          </a:p>
          <a:p>
            <a:pPr marL="0" indent="0" latinLnBrk="1">
              <a:buNone/>
            </a:pPr>
            <a:r>
              <a:rPr lang="ru-RU" sz="1000"/>
              <a:t>• A/B </a:t>
            </a:r>
            <a:r>
              <a:rPr lang="ru-RU" sz="1000" err="1"/>
              <a:t>testing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 MANUFACTURING:</a:t>
            </a:r>
          </a:p>
          <a:p>
            <a:pPr marL="0" indent="0" latinLnBrk="1">
              <a:buNone/>
            </a:pPr>
            <a:r>
              <a:rPr lang="ru-RU" sz="1000"/>
              <a:t>• "</a:t>
            </a:r>
            <a:r>
              <a:rPr lang="ru-RU" sz="1000" err="1"/>
              <a:t>Is</a:t>
            </a:r>
            <a:r>
              <a:rPr lang="ru-RU" sz="1000"/>
              <a:t> </a:t>
            </a:r>
            <a:r>
              <a:rPr lang="ru-RU" sz="1000" err="1"/>
              <a:t>this</a:t>
            </a:r>
            <a:r>
              <a:rPr lang="ru-RU" sz="1000"/>
              <a:t> </a:t>
            </a:r>
            <a:r>
              <a:rPr lang="ru-RU" sz="1000" err="1"/>
              <a:t>batch</a:t>
            </a:r>
            <a:r>
              <a:rPr lang="ru-RU" sz="1000"/>
              <a:t> </a:t>
            </a:r>
            <a:r>
              <a:rPr lang="ru-RU" sz="1000" err="1"/>
              <a:t>defective</a:t>
            </a:r>
            <a:r>
              <a:rPr lang="ru-RU" sz="1000"/>
              <a:t>?"</a:t>
            </a:r>
          </a:p>
          <a:p>
            <a:pPr marL="0" indent="0" latinLnBrk="1">
              <a:buNone/>
            </a:pPr>
            <a:r>
              <a:rPr lang="ru-RU" sz="1000"/>
              <a:t>• Quality </a:t>
            </a:r>
            <a:r>
              <a:rPr lang="ru-RU" sz="1000" err="1"/>
              <a:t>control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 MARKETING:</a:t>
            </a:r>
          </a:p>
          <a:p>
            <a:pPr marL="0" indent="0" latinLnBrk="1">
              <a:buNone/>
            </a:pPr>
            <a:r>
              <a:rPr lang="ru-RU" sz="1000"/>
              <a:t>• "</a:t>
            </a:r>
            <a:r>
              <a:rPr lang="ru-RU" sz="1000" err="1"/>
              <a:t>Did</a:t>
            </a:r>
            <a:r>
              <a:rPr lang="ru-RU" sz="1000"/>
              <a:t> </a:t>
            </a:r>
            <a:r>
              <a:rPr lang="ru-RU" sz="1000" err="1"/>
              <a:t>the</a:t>
            </a:r>
            <a:r>
              <a:rPr lang="ru-RU" sz="1000"/>
              <a:t> </a:t>
            </a:r>
            <a:r>
              <a:rPr lang="ru-RU" sz="1000" err="1"/>
              <a:t>campaign</a:t>
            </a:r>
            <a:r>
              <a:rPr lang="ru-RU" sz="1000"/>
              <a:t> </a:t>
            </a:r>
            <a:r>
              <a:rPr lang="ru-RU" sz="1000" err="1"/>
              <a:t>increase</a:t>
            </a:r>
            <a:r>
              <a:rPr lang="ru-RU" sz="1000"/>
              <a:t> </a:t>
            </a:r>
            <a:r>
              <a:rPr lang="ru-RU" sz="1000" err="1"/>
              <a:t>brand</a:t>
            </a:r>
            <a:r>
              <a:rPr lang="ru-RU" sz="1000"/>
              <a:t> </a:t>
            </a:r>
            <a:r>
              <a:rPr lang="ru-RU" sz="1000" err="1"/>
              <a:t>awareness</a:t>
            </a:r>
            <a:r>
              <a:rPr lang="ru-RU" sz="1000"/>
              <a:t>?"</a:t>
            </a:r>
          </a:p>
          <a:p>
            <a:pPr marL="0" indent="0" latinLnBrk="1">
              <a:buNone/>
            </a:pPr>
            <a:r>
              <a:rPr lang="ru-RU" sz="1000"/>
              <a:t>• Survey </a:t>
            </a:r>
            <a:r>
              <a:rPr lang="ru-RU" sz="1000" err="1"/>
              <a:t>before</a:t>
            </a:r>
            <a:r>
              <a:rPr lang="ru-RU" sz="1000"/>
              <a:t>/</a:t>
            </a:r>
            <a:r>
              <a:rPr lang="ru-RU" sz="1000" err="1"/>
              <a:t>after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 TECHNOLOGY:</a:t>
            </a:r>
          </a:p>
          <a:p>
            <a:pPr marL="0" indent="0" latinLnBrk="1">
              <a:buNone/>
            </a:pPr>
            <a:r>
              <a:rPr lang="ru-RU" sz="1000"/>
              <a:t>• "</a:t>
            </a:r>
            <a:r>
              <a:rPr lang="ru-RU" sz="1000" err="1"/>
              <a:t>Is</a:t>
            </a:r>
            <a:r>
              <a:rPr lang="ru-RU" sz="1000"/>
              <a:t> </a:t>
            </a:r>
            <a:r>
              <a:rPr lang="ru-RU" sz="1000" err="1"/>
              <a:t>the</a:t>
            </a:r>
            <a:r>
              <a:rPr lang="ru-RU" sz="1000"/>
              <a:t> </a:t>
            </a:r>
            <a:r>
              <a:rPr lang="ru-RU" sz="1000" err="1"/>
              <a:t>new</a:t>
            </a:r>
            <a:r>
              <a:rPr lang="ru-RU" sz="1000"/>
              <a:t> </a:t>
            </a:r>
            <a:r>
              <a:rPr lang="ru-RU" sz="1000" err="1"/>
              <a:t>algorithm</a:t>
            </a:r>
            <a:r>
              <a:rPr lang="ru-RU" sz="1000"/>
              <a:t> </a:t>
            </a:r>
            <a:r>
              <a:rPr lang="ru-RU" sz="1000" err="1"/>
              <a:t>faster</a:t>
            </a:r>
            <a:r>
              <a:rPr lang="ru-RU" sz="1000"/>
              <a:t>?"</a:t>
            </a:r>
          </a:p>
          <a:p>
            <a:pPr marL="0" indent="0">
              <a:buNone/>
            </a:pPr>
            <a:r>
              <a:rPr lang="ru-RU" sz="1000"/>
              <a:t>• Performance </a:t>
            </a:r>
            <a:r>
              <a:rPr lang="ru-RU" sz="1000" err="1"/>
              <a:t>testing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69184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9C906-1823-8A19-AA6A-1FB34E56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ru-RU" b="1" err="1"/>
              <a:t>Two</a:t>
            </a:r>
            <a:r>
              <a:rPr lang="ru-RU" b="1"/>
              <a:t> </a:t>
            </a:r>
            <a:r>
              <a:rPr lang="ru-RU" b="1" err="1"/>
              <a:t>Competing</a:t>
            </a:r>
            <a:r>
              <a:rPr lang="ru-RU" b="1"/>
              <a:t> </a:t>
            </a:r>
            <a:r>
              <a:rPr lang="ru-RU" b="1" err="1"/>
              <a:t>Hypotheses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A6605E-0818-22FD-3EC5-984BB9C2C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1806"/>
            <a:ext cx="10515600" cy="4855157"/>
          </a:xfrm>
        </p:spPr>
        <p:txBody>
          <a:bodyPr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err="1"/>
              <a:t>Every</a:t>
            </a:r>
            <a:r>
              <a:rPr lang="ru-RU"/>
              <a:t> </a:t>
            </a:r>
            <a:r>
              <a:rPr lang="ru-RU" err="1"/>
              <a:t>hypothesis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statements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 1. NULL HYPOTHESIS (H₀)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Status</a:t>
            </a:r>
            <a:r>
              <a:rPr lang="ru-RU"/>
              <a:t> </a:t>
            </a:r>
            <a:r>
              <a:rPr lang="ru-RU" err="1"/>
              <a:t>quo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No </a:t>
            </a:r>
            <a:r>
              <a:rPr lang="ru-RU" err="1"/>
              <a:t>effect</a:t>
            </a:r>
            <a:r>
              <a:rPr lang="ru-RU"/>
              <a:t>,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difference</a:t>
            </a:r>
            <a:r>
              <a:rPr lang="ru-RU"/>
              <a:t>,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relationship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What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assume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true</a:t>
            </a:r>
            <a:r>
              <a:rPr lang="ru-RU"/>
              <a:t> </a:t>
            </a:r>
            <a:r>
              <a:rPr lang="ru-RU" err="1"/>
              <a:t>until</a:t>
            </a:r>
            <a:r>
              <a:rPr lang="ru-RU"/>
              <a:t> </a:t>
            </a:r>
            <a:r>
              <a:rPr lang="ru-RU" err="1"/>
              <a:t>proven</a:t>
            </a:r>
            <a:r>
              <a:rPr lang="ru-RU"/>
              <a:t> </a:t>
            </a:r>
            <a:r>
              <a:rPr lang="ru-RU" err="1"/>
              <a:t>otherwise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"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2. ALTERNATIVE HYPOTHESIS (H₁ </a:t>
            </a:r>
            <a:r>
              <a:rPr lang="ru-RU" err="1"/>
              <a:t>or</a:t>
            </a:r>
            <a:r>
              <a:rPr lang="ru-RU"/>
              <a:t> Hₐ)</a:t>
            </a:r>
          </a:p>
          <a:p>
            <a:pPr marL="0" indent="0" latinLnBrk="1">
              <a:buNone/>
            </a:pPr>
            <a:r>
              <a:rPr lang="ru-RU"/>
              <a:t>   • What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want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prove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There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, </a:t>
            </a:r>
            <a:r>
              <a:rPr lang="ru-RU" err="1"/>
              <a:t>difference</a:t>
            </a:r>
            <a:r>
              <a:rPr lang="ru-RU"/>
              <a:t>,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relationship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Requires</a:t>
            </a:r>
            <a:r>
              <a:rPr lang="ru-RU"/>
              <a:t> </a:t>
            </a:r>
            <a:r>
              <a:rPr lang="ru-RU" err="1"/>
              <a:t>strong</a:t>
            </a:r>
            <a:r>
              <a:rPr lang="ru-RU"/>
              <a:t> </a:t>
            </a:r>
            <a:r>
              <a:rPr lang="ru-RU" err="1"/>
              <a:t>evidence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"</a:t>
            </a:r>
            <a:r>
              <a:rPr lang="ru-RU" err="1"/>
              <a:t>Drug</a:t>
            </a:r>
            <a:r>
              <a:rPr lang="ru-RU"/>
              <a:t> DOES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KEY INSIGHT: We NEVER "</a:t>
            </a:r>
            <a:r>
              <a:rPr lang="ru-RU" err="1"/>
              <a:t>accept</a:t>
            </a:r>
            <a:r>
              <a:rPr lang="ru-RU"/>
              <a:t>" H₀ —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just</a:t>
            </a:r>
            <a:r>
              <a:rPr lang="ru-RU"/>
              <a:t> "</a:t>
            </a:r>
            <a:r>
              <a:rPr lang="ru-RU" err="1"/>
              <a:t>fail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" </a:t>
            </a:r>
            <a:r>
              <a:rPr lang="ru-RU" err="1"/>
              <a:t>it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12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15D93-9BF9-4E67-4DB1-262BB4B20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/>
          <a:lstStyle/>
          <a:p>
            <a:r>
              <a:rPr lang="ru-RU" b="1" err="1"/>
              <a:t>Null</a:t>
            </a:r>
            <a:r>
              <a:rPr lang="ru-RU" b="1"/>
              <a:t> </a:t>
            </a:r>
            <a:r>
              <a:rPr lang="ru-RU" b="1" err="1"/>
              <a:t>Hypothesis</a:t>
            </a:r>
            <a:r>
              <a:rPr lang="ru-RU" b="1"/>
              <a:t> - The </a:t>
            </a:r>
            <a:r>
              <a:rPr lang="ru-RU" b="1" err="1"/>
              <a:t>Devil's</a:t>
            </a:r>
            <a:r>
              <a:rPr lang="ru-RU" b="1"/>
              <a:t> </a:t>
            </a:r>
            <a:r>
              <a:rPr lang="ru-RU" b="1" err="1"/>
              <a:t>Advocate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7A668-40D3-3CB0-DA65-735CD52F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341"/>
            <a:ext cx="10515600" cy="4764622"/>
          </a:xfrm>
        </p:spPr>
        <p:txBody>
          <a:bodyPr>
            <a:normAutofit fontScale="92500" lnSpcReduction="10000"/>
          </a:bodyPr>
          <a:lstStyle/>
          <a:p>
            <a:pPr marL="0" indent="0" latinLnBrk="1">
              <a:buNone/>
            </a:pPr>
            <a:r>
              <a:rPr lang="ru-RU"/>
              <a:t>NULL HYPOTHESIS (H₀):</a:t>
            </a:r>
          </a:p>
          <a:p>
            <a:pPr marL="0" indent="0" latinLnBrk="1">
              <a:buNone/>
            </a:pPr>
            <a:r>
              <a:rPr lang="ru-RU"/>
              <a:t>• Always </a:t>
            </a:r>
            <a:r>
              <a:rPr lang="ru-RU" err="1"/>
              <a:t>contains</a:t>
            </a:r>
            <a:r>
              <a:rPr lang="ru-RU"/>
              <a:t> "=", "≤", </a:t>
            </a:r>
            <a:r>
              <a:rPr lang="ru-RU" err="1"/>
              <a:t>or</a:t>
            </a:r>
            <a:r>
              <a:rPr lang="ru-RU"/>
              <a:t> "≥"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Represents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change</a:t>
            </a:r>
            <a:r>
              <a:rPr lang="ru-RU"/>
              <a:t>,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difference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We </a:t>
            </a:r>
            <a:r>
              <a:rPr lang="ru-RU" err="1"/>
              <a:t>assume</a:t>
            </a:r>
            <a:r>
              <a:rPr lang="ru-RU"/>
              <a:t> </a:t>
            </a:r>
            <a:r>
              <a:rPr lang="ru-RU" err="1"/>
              <a:t>it's</a:t>
            </a:r>
            <a:r>
              <a:rPr lang="ru-RU"/>
              <a:t> TRUE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start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Think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H₀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skeptic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"You </a:t>
            </a:r>
            <a:r>
              <a:rPr lang="ru-RU" err="1"/>
              <a:t>think</a:t>
            </a:r>
            <a:r>
              <a:rPr lang="ru-RU"/>
              <a:t> </a:t>
            </a:r>
            <a:r>
              <a:rPr lang="ru-RU" err="1"/>
              <a:t>your</a:t>
            </a:r>
            <a:r>
              <a:rPr lang="ru-RU"/>
              <a:t> </a:t>
            </a:r>
            <a:r>
              <a:rPr lang="ru-RU" err="1"/>
              <a:t>website</a:t>
            </a:r>
            <a:r>
              <a:rPr lang="ru-RU"/>
              <a:t> </a:t>
            </a:r>
            <a:r>
              <a:rPr lang="ru-RU" err="1"/>
              <a:t>redesign</a:t>
            </a:r>
            <a:r>
              <a:rPr lang="ru-RU"/>
              <a:t> </a:t>
            </a:r>
            <a:r>
              <a:rPr lang="ru-RU" err="1"/>
              <a:t>increased</a:t>
            </a:r>
            <a:r>
              <a:rPr lang="ru-RU"/>
              <a:t> </a:t>
            </a:r>
            <a:r>
              <a:rPr lang="ru-RU" err="1"/>
              <a:t>sales</a:t>
            </a:r>
            <a:r>
              <a:rPr lang="ru-RU"/>
              <a:t>?</a:t>
            </a:r>
          </a:p>
          <a:p>
            <a:pPr marL="0" indent="0" latinLnBrk="1">
              <a:buNone/>
            </a:pPr>
            <a:r>
              <a:rPr lang="ru-RU" err="1"/>
              <a:t>Prove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. </a:t>
            </a:r>
            <a:r>
              <a:rPr lang="ru-RU" err="1"/>
              <a:t>I'll</a:t>
            </a:r>
            <a:r>
              <a:rPr lang="ru-RU"/>
              <a:t> </a:t>
            </a:r>
            <a:r>
              <a:rPr lang="ru-RU" err="1"/>
              <a:t>assume</a:t>
            </a:r>
            <a:r>
              <a:rPr lang="ru-RU"/>
              <a:t> </a:t>
            </a:r>
            <a:r>
              <a:rPr lang="ru-RU" err="1"/>
              <a:t>it</a:t>
            </a:r>
            <a:r>
              <a:rPr lang="ru-RU"/>
              <a:t> </a:t>
            </a:r>
            <a:r>
              <a:rPr lang="ru-RU" err="1"/>
              <a:t>made</a:t>
            </a:r>
            <a:r>
              <a:rPr lang="ru-RU"/>
              <a:t> NO </a:t>
            </a:r>
            <a:r>
              <a:rPr lang="ru-RU" err="1"/>
              <a:t>difference</a:t>
            </a:r>
            <a:r>
              <a:rPr lang="ru-RU"/>
              <a:t>."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Without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skeptic</a:t>
            </a:r>
            <a:r>
              <a:rPr lang="ru-RU"/>
              <a:t>, </a:t>
            </a:r>
            <a:r>
              <a:rPr lang="ru-RU" err="1"/>
              <a:t>you'd</a:t>
            </a:r>
            <a:r>
              <a:rPr lang="ru-RU"/>
              <a:t> </a:t>
            </a:r>
            <a:r>
              <a:rPr lang="ru-RU" err="1"/>
              <a:t>fool</a:t>
            </a:r>
            <a:r>
              <a:rPr lang="ru-RU"/>
              <a:t> </a:t>
            </a:r>
            <a:r>
              <a:rPr lang="ru-RU" err="1"/>
              <a:t>yourself</a:t>
            </a:r>
            <a:r>
              <a:rPr lang="ru-RU"/>
              <a:t> </a:t>
            </a:r>
            <a:r>
              <a:rPr lang="ru-RU" err="1"/>
              <a:t>every</a:t>
            </a:r>
            <a:r>
              <a:rPr lang="ru-RU"/>
              <a:t> </a:t>
            </a:r>
            <a:r>
              <a:rPr lang="ru-RU" err="1"/>
              <a:t>time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54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09B22-68ED-22C6-7535-5B1E37AB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398"/>
          </a:xfrm>
        </p:spPr>
        <p:txBody>
          <a:bodyPr/>
          <a:lstStyle/>
          <a:p>
            <a:r>
              <a:rPr lang="ru-RU" b="1" err="1"/>
              <a:t>Alternative</a:t>
            </a:r>
            <a:r>
              <a:rPr lang="ru-RU" b="1"/>
              <a:t> </a:t>
            </a:r>
            <a:r>
              <a:rPr lang="ru-RU" b="1" err="1"/>
              <a:t>Hypothesis</a:t>
            </a:r>
            <a:r>
              <a:rPr lang="ru-RU" b="1"/>
              <a:t> - What We </a:t>
            </a:r>
            <a:r>
              <a:rPr lang="ru-RU" b="1" err="1"/>
              <a:t>Suspect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51C88F-FBB4-A099-9236-9195A967B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448"/>
            <a:ext cx="10515600" cy="4746515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ALTERNATIVE HYPOTHESIS (H₁ </a:t>
            </a:r>
            <a:r>
              <a:rPr lang="ru-RU" err="1"/>
              <a:t>or</a:t>
            </a:r>
            <a:r>
              <a:rPr lang="ru-RU"/>
              <a:t> Hₐ):</a:t>
            </a:r>
          </a:p>
          <a:p>
            <a:pPr marL="0" indent="0" latinLnBrk="1">
              <a:buNone/>
            </a:pPr>
            <a:r>
              <a:rPr lang="ru-RU"/>
              <a:t>• Always </a:t>
            </a:r>
            <a:r>
              <a:rPr lang="ru-RU" err="1"/>
              <a:t>contains</a:t>
            </a:r>
            <a:r>
              <a:rPr lang="ru-RU"/>
              <a:t> "≠", "&gt;", </a:t>
            </a:r>
            <a:r>
              <a:rPr lang="ru-RU" err="1"/>
              <a:t>or</a:t>
            </a:r>
            <a:r>
              <a:rPr lang="ru-RU"/>
              <a:t> "&lt;"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Represents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claim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want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support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Requires</a:t>
            </a:r>
            <a:r>
              <a:rPr lang="ru-RU"/>
              <a:t>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accept</a:t>
            </a:r>
            <a:endParaRPr lang="en-US"/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/>
              <a:t> THREE TYPES:</a:t>
            </a:r>
          </a:p>
          <a:p>
            <a:pPr marL="0" indent="0" latinLnBrk="1">
              <a:buNone/>
            </a:pPr>
            <a:r>
              <a:rPr lang="ru-RU"/>
              <a:t> 1. TWO-TAILED: H₁: μ ≠ μ₀ (</a:t>
            </a:r>
            <a:r>
              <a:rPr lang="ru-RU" err="1"/>
              <a:t>different</a:t>
            </a:r>
            <a:r>
              <a:rPr lang="ru-RU"/>
              <a:t>, </a:t>
            </a:r>
            <a:r>
              <a:rPr lang="ru-RU" err="1"/>
              <a:t>could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higher</a:t>
            </a:r>
            <a:r>
              <a:rPr lang="ru-RU"/>
              <a:t> OR </a:t>
            </a:r>
            <a:r>
              <a:rPr lang="ru-RU" err="1"/>
              <a:t>lower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2. RIGHT-TAILED: H₁: μ &gt; μ₀ (</a:t>
            </a:r>
            <a:r>
              <a:rPr lang="ru-RU" err="1"/>
              <a:t>higher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3. LEFT-TAILED: H₁: μ &lt; μ₀ (</a:t>
            </a:r>
            <a:r>
              <a:rPr lang="ru-RU" err="1"/>
              <a:t>lower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Choose</a:t>
            </a:r>
            <a:r>
              <a:rPr lang="ru-RU"/>
              <a:t> BEFORE </a:t>
            </a:r>
            <a:r>
              <a:rPr lang="ru-RU" err="1"/>
              <a:t>looking</a:t>
            </a:r>
            <a:r>
              <a:rPr lang="ru-RU"/>
              <a:t> </a:t>
            </a:r>
            <a:r>
              <a:rPr lang="ru-RU" err="1"/>
              <a:t>at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208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FB31B-4F34-3044-B06A-220A6BB15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879"/>
          </a:xfrm>
        </p:spPr>
        <p:txBody>
          <a:bodyPr/>
          <a:lstStyle/>
          <a:p>
            <a:r>
              <a:rPr lang="ru-RU" b="1" err="1"/>
              <a:t>Writing</a:t>
            </a:r>
            <a:r>
              <a:rPr lang="ru-RU" b="1"/>
              <a:t> </a:t>
            </a:r>
            <a:r>
              <a:rPr lang="ru-RU" b="1" err="1"/>
              <a:t>Hypotheses</a:t>
            </a:r>
            <a:r>
              <a:rPr lang="ru-RU" b="1"/>
              <a:t> - </a:t>
            </a:r>
            <a:r>
              <a:rPr lang="ru-RU" b="1" err="1"/>
              <a:t>Examples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A56CAE-32AF-045D-8559-1742B47C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554"/>
            <a:ext cx="10515600" cy="4728409"/>
          </a:xfrm>
        </p:spPr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b="1"/>
              <a:t>EXAMPLE 1: </a:t>
            </a:r>
            <a:r>
              <a:rPr lang="ru-RU"/>
              <a:t>New </a:t>
            </a:r>
            <a:r>
              <a:rPr lang="ru-RU" err="1"/>
              <a:t>Drug</a:t>
            </a:r>
            <a:endParaRPr lang="ru-RU"/>
          </a:p>
          <a:p>
            <a:pPr marL="0" indent="0" latinLnBrk="1">
              <a:buNone/>
            </a:pPr>
            <a:r>
              <a:rPr lang="ru-RU"/>
              <a:t>H₀: μ = 120 </a:t>
            </a:r>
            <a:r>
              <a:rPr lang="ru-RU" err="1"/>
              <a:t>mmHg</a:t>
            </a:r>
            <a:r>
              <a:rPr lang="ru-RU"/>
              <a:t> (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 </a:t>
            </a:r>
            <a:r>
              <a:rPr lang="ru-RU" err="1"/>
              <a:t>blood</a:t>
            </a:r>
            <a:r>
              <a:rPr lang="ru-RU"/>
              <a:t> </a:t>
            </a:r>
            <a:r>
              <a:rPr lang="ru-RU" err="1"/>
              <a:t>pressure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H₁: μ ≠ 120 </a:t>
            </a:r>
            <a:r>
              <a:rPr lang="ru-RU" err="1"/>
              <a:t>mmHg</a:t>
            </a:r>
            <a:r>
              <a:rPr lang="ru-RU"/>
              <a:t> (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changes</a:t>
            </a:r>
            <a:r>
              <a:rPr lang="ru-RU"/>
              <a:t> </a:t>
            </a:r>
            <a:r>
              <a:rPr lang="ru-RU" err="1"/>
              <a:t>blood</a:t>
            </a:r>
            <a:r>
              <a:rPr lang="ru-RU"/>
              <a:t> </a:t>
            </a:r>
            <a:r>
              <a:rPr lang="ru-RU" err="1"/>
              <a:t>pressure</a:t>
            </a:r>
            <a:r>
              <a:rPr lang="ru-RU"/>
              <a:t> - </a:t>
            </a:r>
            <a:r>
              <a:rPr lang="ru-RU" err="1"/>
              <a:t>two-tailed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 2: </a:t>
            </a:r>
            <a:r>
              <a:rPr lang="ru-RU" err="1"/>
              <a:t>Website</a:t>
            </a:r>
            <a:r>
              <a:rPr lang="ru-RU"/>
              <a:t> </a:t>
            </a:r>
            <a:r>
              <a:rPr lang="ru-RU" err="1"/>
              <a:t>Redesign</a:t>
            </a:r>
            <a:endParaRPr lang="ru-RU"/>
          </a:p>
          <a:p>
            <a:pPr marL="0" indent="0" latinLnBrk="1">
              <a:buNone/>
            </a:pPr>
            <a:r>
              <a:rPr lang="ru-RU"/>
              <a:t>H₀: μ ≤ 5% (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design</a:t>
            </a:r>
            <a:r>
              <a:rPr lang="ru-RU"/>
              <a:t> </a:t>
            </a:r>
            <a:r>
              <a:rPr lang="ru-RU" err="1"/>
              <a:t>conversion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NOT </a:t>
            </a:r>
            <a:r>
              <a:rPr lang="ru-RU" err="1"/>
              <a:t>better</a:t>
            </a:r>
            <a:r>
              <a:rPr lang="ru-RU"/>
              <a:t> </a:t>
            </a:r>
            <a:r>
              <a:rPr lang="ru-RU" err="1"/>
              <a:t>than</a:t>
            </a:r>
            <a:r>
              <a:rPr lang="ru-RU"/>
              <a:t> 5%)</a:t>
            </a:r>
          </a:p>
          <a:p>
            <a:pPr marL="0" indent="0" latinLnBrk="1">
              <a:buNone/>
            </a:pPr>
            <a:r>
              <a:rPr lang="ru-RU"/>
              <a:t>H₁: μ &gt; 5% (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design</a:t>
            </a:r>
            <a:r>
              <a:rPr lang="ru-RU"/>
              <a:t> </a:t>
            </a:r>
            <a:r>
              <a:rPr lang="ru-RU" err="1"/>
              <a:t>conversion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 IS </a:t>
            </a:r>
            <a:r>
              <a:rPr lang="ru-RU" err="1"/>
              <a:t>better</a:t>
            </a:r>
            <a:r>
              <a:rPr lang="ru-RU"/>
              <a:t> </a:t>
            </a:r>
            <a:r>
              <a:rPr lang="ru-RU" err="1"/>
              <a:t>than</a:t>
            </a:r>
            <a:r>
              <a:rPr lang="ru-RU"/>
              <a:t> 5% - </a:t>
            </a:r>
            <a:r>
              <a:rPr lang="ru-RU" err="1"/>
              <a:t>right-tailed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 3: </a:t>
            </a:r>
            <a:r>
              <a:rPr lang="ru-RU"/>
              <a:t>Manufacturing</a:t>
            </a:r>
          </a:p>
          <a:p>
            <a:pPr marL="0" indent="0" latinLnBrk="1">
              <a:buNone/>
            </a:pPr>
            <a:r>
              <a:rPr lang="ru-RU"/>
              <a:t>H₀: μ ≥ 100g (</a:t>
            </a:r>
            <a:r>
              <a:rPr lang="ru-RU" err="1"/>
              <a:t>cereal</a:t>
            </a:r>
            <a:r>
              <a:rPr lang="ru-RU"/>
              <a:t> </a:t>
            </a:r>
            <a:r>
              <a:rPr lang="ru-RU" err="1"/>
              <a:t>boxes</a:t>
            </a:r>
            <a:r>
              <a:rPr lang="ru-RU"/>
              <a:t> </a:t>
            </a:r>
            <a:r>
              <a:rPr lang="ru-RU" err="1"/>
              <a:t>are</a:t>
            </a:r>
            <a:r>
              <a:rPr lang="ru-RU"/>
              <a:t> NOT </a:t>
            </a:r>
            <a:r>
              <a:rPr lang="ru-RU" err="1"/>
              <a:t>underfilled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H₁: μ &lt; 100g (</a:t>
            </a:r>
            <a:r>
              <a:rPr lang="ru-RU" err="1"/>
              <a:t>cereal</a:t>
            </a:r>
            <a:r>
              <a:rPr lang="ru-RU"/>
              <a:t> </a:t>
            </a:r>
            <a:r>
              <a:rPr lang="ru-RU" err="1"/>
              <a:t>boxes</a:t>
            </a:r>
            <a:r>
              <a:rPr lang="ru-RU"/>
              <a:t> ARE </a:t>
            </a:r>
            <a:r>
              <a:rPr lang="ru-RU" err="1"/>
              <a:t>underfilled</a:t>
            </a:r>
            <a:r>
              <a:rPr lang="ru-RU"/>
              <a:t> - </a:t>
            </a:r>
            <a:r>
              <a:rPr lang="ru-RU" err="1"/>
              <a:t>left-tailed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RULE: </a:t>
            </a:r>
            <a:r>
              <a:rPr lang="ru-RU"/>
              <a:t>H₀ </a:t>
            </a:r>
            <a:r>
              <a:rPr lang="ru-RU" err="1"/>
              <a:t>always</a:t>
            </a:r>
            <a:r>
              <a:rPr lang="ru-RU"/>
              <a:t> </a:t>
            </a:r>
            <a:r>
              <a:rPr lang="ru-RU" err="1"/>
              <a:t>gets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"</a:t>
            </a:r>
            <a:r>
              <a:rPr lang="ru-RU" err="1"/>
              <a:t>benefit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doubt</a:t>
            </a:r>
            <a:r>
              <a:rPr lang="ru-RU"/>
              <a:t>"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223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43F6D-5625-5F62-350B-7FEF37C3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4253"/>
          </a:xfrm>
        </p:spPr>
        <p:txBody>
          <a:bodyPr/>
          <a:lstStyle/>
          <a:p>
            <a:r>
              <a:rPr lang="ru-RU" b="1"/>
              <a:t>The Logic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Hypothesis</a:t>
            </a:r>
            <a:r>
              <a:rPr lang="ru-RU" b="1"/>
              <a:t> </a:t>
            </a:r>
            <a:r>
              <a:rPr lang="ru-RU" b="1" err="1"/>
              <a:t>Testing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DB5BBC-C8FD-6B13-9950-B27F28B8F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089"/>
            <a:ext cx="10515600" cy="4637874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STEP-BY-STEP REASONING:</a:t>
            </a:r>
          </a:p>
          <a:p>
            <a:pPr marL="0" indent="0" latinLnBrk="1">
              <a:buNone/>
            </a:pPr>
            <a:r>
              <a:rPr lang="ru-RU"/>
              <a:t> 1. </a:t>
            </a:r>
            <a:r>
              <a:rPr lang="ru-RU" err="1"/>
              <a:t>Assume</a:t>
            </a:r>
            <a:r>
              <a:rPr lang="ru-RU"/>
              <a:t> H₀ </a:t>
            </a:r>
            <a:r>
              <a:rPr lang="ru-RU" err="1"/>
              <a:t>is</a:t>
            </a:r>
            <a:r>
              <a:rPr lang="ru-RU"/>
              <a:t> TRUE (</a:t>
            </a:r>
            <a:r>
              <a:rPr lang="ru-RU" err="1"/>
              <a:t>nothing</a:t>
            </a:r>
            <a:r>
              <a:rPr lang="ru-RU"/>
              <a:t> </a:t>
            </a:r>
            <a:r>
              <a:rPr lang="ru-RU" err="1"/>
              <a:t>special</a:t>
            </a:r>
            <a:r>
              <a:rPr lang="ru-RU"/>
              <a:t> </a:t>
            </a:r>
            <a:r>
              <a:rPr lang="ru-RU" err="1"/>
              <a:t>happening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2. </a:t>
            </a:r>
            <a:r>
              <a:rPr lang="ru-RU" err="1"/>
              <a:t>Collect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calculate</a:t>
            </a:r>
            <a:r>
              <a:rPr lang="ru-RU"/>
              <a:t> a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statistic</a:t>
            </a:r>
            <a:endParaRPr lang="ru-RU"/>
          </a:p>
          <a:p>
            <a:pPr marL="0" indent="0" latinLnBrk="1">
              <a:buNone/>
            </a:pPr>
            <a:r>
              <a:rPr lang="ru-RU"/>
              <a:t> 3. </a:t>
            </a:r>
            <a:r>
              <a:rPr lang="ru-RU" err="1"/>
              <a:t>Ask</a:t>
            </a:r>
            <a:r>
              <a:rPr lang="ru-RU"/>
              <a:t>: "</a:t>
            </a:r>
            <a:r>
              <a:rPr lang="ru-RU" err="1"/>
              <a:t>How</a:t>
            </a:r>
            <a:r>
              <a:rPr lang="ru-RU"/>
              <a:t> </a:t>
            </a:r>
            <a:r>
              <a:rPr lang="ru-RU" err="1"/>
              <a:t>likely</a:t>
            </a:r>
            <a:r>
              <a:rPr lang="ru-RU"/>
              <a:t> </a:t>
            </a:r>
            <a:r>
              <a:rPr lang="ru-RU" err="1"/>
              <a:t>am</a:t>
            </a:r>
            <a:r>
              <a:rPr lang="ru-RU"/>
              <a:t> I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see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extreme</a:t>
            </a:r>
            <a:r>
              <a:rPr lang="ru-RU"/>
              <a:t> </a:t>
            </a:r>
          </a:p>
          <a:p>
            <a:pPr marL="0" indent="0" latinLnBrk="1">
              <a:buNone/>
            </a:pPr>
            <a:r>
              <a:rPr lang="ru-RU"/>
              <a:t>   </a:t>
            </a:r>
            <a:r>
              <a:rPr lang="ru-RU" err="1"/>
              <a:t>if</a:t>
            </a:r>
            <a:r>
              <a:rPr lang="ru-RU"/>
              <a:t> H₀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actually</a:t>
            </a:r>
            <a:r>
              <a:rPr lang="ru-RU"/>
              <a:t> </a:t>
            </a:r>
            <a:r>
              <a:rPr lang="ru-RU" err="1"/>
              <a:t>true</a:t>
            </a:r>
            <a:r>
              <a:rPr lang="ru-RU"/>
              <a:t>?"</a:t>
            </a:r>
          </a:p>
          <a:p>
            <a:pPr marL="0" indent="0" latinLnBrk="1">
              <a:buNone/>
            </a:pPr>
            <a:r>
              <a:rPr lang="ru-RU"/>
              <a:t> 4.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it's</a:t>
            </a:r>
            <a:r>
              <a:rPr lang="ru-RU"/>
              <a:t> VERY </a:t>
            </a:r>
            <a:r>
              <a:rPr lang="ru-RU" err="1"/>
              <a:t>unlikely</a:t>
            </a:r>
            <a:r>
              <a:rPr lang="ru-RU"/>
              <a:t> (p &lt; 0.05) → REJECT H₀</a:t>
            </a:r>
          </a:p>
          <a:p>
            <a:pPr marL="0" indent="0" latinLnBrk="1">
              <a:buNone/>
            </a:pPr>
            <a:r>
              <a:rPr lang="ru-RU"/>
              <a:t>   "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probably</a:t>
            </a:r>
            <a:r>
              <a:rPr lang="ru-RU"/>
              <a:t> </a:t>
            </a:r>
            <a:r>
              <a:rPr lang="ru-RU" err="1"/>
              <a:t>isn't</a:t>
            </a:r>
            <a:r>
              <a:rPr lang="ru-RU"/>
              <a:t> </a:t>
            </a:r>
            <a:r>
              <a:rPr lang="ru-RU" err="1"/>
              <a:t>just</a:t>
            </a:r>
            <a:r>
              <a:rPr lang="ru-RU"/>
              <a:t> 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chance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5.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it's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unlikely</a:t>
            </a:r>
            <a:r>
              <a:rPr lang="ru-RU"/>
              <a:t> (p ≥ 0.05) → FAIL TO REJECT H₀</a:t>
            </a:r>
          </a:p>
          <a:p>
            <a:pPr marL="0" indent="0" latinLnBrk="1">
              <a:buNone/>
            </a:pPr>
            <a:r>
              <a:rPr lang="ru-RU"/>
              <a:t>   "</a:t>
            </a:r>
            <a:r>
              <a:rPr lang="ru-RU" err="1"/>
              <a:t>Could</a:t>
            </a:r>
            <a:r>
              <a:rPr lang="ru-RU"/>
              <a:t> </a:t>
            </a:r>
            <a:r>
              <a:rPr lang="ru-RU" err="1"/>
              <a:t>easily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chance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MEMORIZE THIS FLOW!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81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6272C6-8D9C-A879-1C2D-43E7EB7E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612"/>
          </a:xfrm>
        </p:spPr>
        <p:txBody>
          <a:bodyPr>
            <a:normAutofit fontScale="90000"/>
          </a:bodyPr>
          <a:lstStyle/>
          <a:p>
            <a:r>
              <a:rPr lang="ru-RU" b="1"/>
              <a:t>Step-</a:t>
            </a:r>
            <a:r>
              <a:rPr lang="ru-RU" b="1" err="1"/>
              <a:t>by</a:t>
            </a:r>
            <a:r>
              <a:rPr lang="ru-RU" b="1"/>
              <a:t>-Step </a:t>
            </a:r>
            <a:r>
              <a:rPr lang="ru-RU" b="1" err="1"/>
              <a:t>Hypothesis</a:t>
            </a:r>
            <a:r>
              <a:rPr lang="ru-RU" b="1"/>
              <a:t> </a:t>
            </a:r>
            <a:r>
              <a:rPr lang="ru-RU" b="1" err="1"/>
              <a:t>Testing</a:t>
            </a:r>
            <a:r>
              <a:rPr lang="ru-RU" b="1"/>
              <a:t> Framework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B570AF-ABEE-9BE5-B093-792E23CFD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234"/>
            <a:ext cx="10515600" cy="4782729"/>
          </a:xfrm>
        </p:spPr>
        <p:txBody>
          <a:bodyPr>
            <a:normAutofit fontScale="92500" lnSpcReduction="20000"/>
          </a:bodyPr>
          <a:lstStyle/>
          <a:p>
            <a:pPr marL="0" indent="0" latinLnBrk="1">
              <a:buNone/>
            </a:pPr>
            <a:r>
              <a:rPr lang="ru-RU"/>
              <a:t>THE 7-STEP PROCESS: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STEP 1: State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null</a:t>
            </a:r>
            <a:r>
              <a:rPr lang="ru-RU"/>
              <a:t> </a:t>
            </a:r>
            <a:r>
              <a:rPr lang="ru-RU" err="1"/>
              <a:t>hypothesis</a:t>
            </a:r>
            <a:r>
              <a:rPr lang="ru-RU"/>
              <a:t> (H₀)</a:t>
            </a:r>
          </a:p>
          <a:p>
            <a:pPr marL="0" indent="0" latinLnBrk="1">
              <a:buNone/>
            </a:pPr>
            <a:r>
              <a:rPr lang="ru-RU"/>
              <a:t>STEP 2: State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alternative</a:t>
            </a:r>
            <a:r>
              <a:rPr lang="ru-RU"/>
              <a:t> </a:t>
            </a:r>
            <a:r>
              <a:rPr lang="ru-RU" err="1"/>
              <a:t>hypothesis</a:t>
            </a:r>
            <a:r>
              <a:rPr lang="ru-RU"/>
              <a:t> (H₁)</a:t>
            </a:r>
          </a:p>
          <a:p>
            <a:pPr marL="0" indent="0" latinLnBrk="1">
              <a:buNone/>
            </a:pPr>
            <a:r>
              <a:rPr lang="ru-RU"/>
              <a:t>STEP 3: </a:t>
            </a:r>
            <a:r>
              <a:rPr lang="ru-RU" err="1"/>
              <a:t>Choose</a:t>
            </a:r>
            <a:r>
              <a:rPr lang="ru-RU"/>
              <a:t> </a:t>
            </a:r>
            <a:r>
              <a:rPr lang="ru-RU" err="1"/>
              <a:t>significance</a:t>
            </a:r>
            <a:r>
              <a:rPr lang="ru-RU"/>
              <a:t> </a:t>
            </a:r>
            <a:r>
              <a:rPr lang="ru-RU" err="1"/>
              <a:t>level</a:t>
            </a:r>
            <a:r>
              <a:rPr lang="ru-RU"/>
              <a:t> (α) - </a:t>
            </a:r>
            <a:r>
              <a:rPr lang="ru-RU" err="1"/>
              <a:t>usually</a:t>
            </a:r>
            <a:r>
              <a:rPr lang="ru-RU"/>
              <a:t> 0.05</a:t>
            </a:r>
          </a:p>
          <a:p>
            <a:pPr marL="0" indent="0" latinLnBrk="1">
              <a:buNone/>
            </a:pPr>
            <a:r>
              <a:rPr lang="ru-RU"/>
              <a:t>STEP 4: </a:t>
            </a:r>
            <a:r>
              <a:rPr lang="ru-RU" err="1"/>
              <a:t>Calculate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statistic</a:t>
            </a:r>
            <a:endParaRPr lang="ru-RU"/>
          </a:p>
          <a:p>
            <a:pPr marL="0" indent="0" latinLnBrk="1">
              <a:buNone/>
            </a:pPr>
            <a:r>
              <a:rPr lang="ru-RU"/>
              <a:t>STEP 5: </a:t>
            </a:r>
            <a:r>
              <a:rPr lang="ru-RU" err="1"/>
              <a:t>Find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p-</a:t>
            </a:r>
            <a:r>
              <a:rPr lang="ru-RU" err="1"/>
              <a:t>value</a:t>
            </a:r>
            <a:endParaRPr lang="ru-RU"/>
          </a:p>
          <a:p>
            <a:pPr marL="0" indent="0" latinLnBrk="1">
              <a:buNone/>
            </a:pPr>
            <a:r>
              <a:rPr lang="ru-RU"/>
              <a:t>STEP 6: </a:t>
            </a:r>
            <a:r>
              <a:rPr lang="ru-RU" err="1"/>
              <a:t>Compare</a:t>
            </a:r>
            <a:r>
              <a:rPr lang="ru-RU"/>
              <a:t> p-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α</a:t>
            </a:r>
          </a:p>
          <a:p>
            <a:pPr marL="0" indent="0" latinLnBrk="1">
              <a:buNone/>
            </a:pPr>
            <a:r>
              <a:rPr lang="ru-RU"/>
              <a:t>STEP 7: </a:t>
            </a:r>
            <a:r>
              <a:rPr lang="ru-RU" err="1"/>
              <a:t>Draw</a:t>
            </a:r>
            <a:r>
              <a:rPr lang="ru-RU"/>
              <a:t> </a:t>
            </a:r>
            <a:r>
              <a:rPr lang="ru-RU" err="1"/>
              <a:t>conclusion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err="1"/>
              <a:t>We'll</a:t>
            </a:r>
            <a:r>
              <a:rPr lang="ru-RU"/>
              <a:t>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framework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EVERY </a:t>
            </a:r>
            <a:r>
              <a:rPr lang="ru-RU" err="1"/>
              <a:t>test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316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758F5-F8DF-AD84-B6E3-8B48945D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3307"/>
          </a:xfrm>
        </p:spPr>
        <p:txBody>
          <a:bodyPr/>
          <a:lstStyle/>
          <a:p>
            <a:r>
              <a:rPr lang="ru-RU" b="1"/>
              <a:t>Quick Check - </a:t>
            </a:r>
            <a:r>
              <a:rPr lang="ru-RU" b="1" err="1"/>
              <a:t>Understanding</a:t>
            </a:r>
            <a:r>
              <a:rPr lang="ru-RU" b="1"/>
              <a:t> </a:t>
            </a:r>
            <a:r>
              <a:rPr lang="ru-RU" b="1" err="1"/>
              <a:t>Hypotheses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DA8A85-13E0-0404-3EDF-5E4F997A9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929"/>
            <a:ext cx="10515600" cy="4665034"/>
          </a:xfrm>
        </p:spPr>
        <p:txBody>
          <a:bodyPr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err="1"/>
              <a:t>Identify</a:t>
            </a:r>
            <a:r>
              <a:rPr lang="ru-RU"/>
              <a:t> H₀ </a:t>
            </a:r>
            <a:r>
              <a:rPr lang="ru-RU" err="1"/>
              <a:t>and</a:t>
            </a:r>
            <a:r>
              <a:rPr lang="ru-RU"/>
              <a:t> H₁:</a:t>
            </a:r>
          </a:p>
          <a:p>
            <a:pPr marL="0" indent="0" latinLnBrk="1">
              <a:buNone/>
            </a:pPr>
            <a:r>
              <a:rPr lang="ru-RU"/>
              <a:t> 1. A </a:t>
            </a:r>
            <a:r>
              <a:rPr lang="ru-RU" err="1"/>
              <a:t>coffee</a:t>
            </a:r>
            <a:r>
              <a:rPr lang="ru-RU"/>
              <a:t> </a:t>
            </a:r>
            <a:r>
              <a:rPr lang="ru-RU" err="1"/>
              <a:t>shop</a:t>
            </a:r>
            <a:r>
              <a:rPr lang="ru-RU"/>
              <a:t> </a:t>
            </a:r>
            <a:r>
              <a:rPr lang="ru-RU" err="1"/>
              <a:t>claims</a:t>
            </a:r>
            <a:r>
              <a:rPr lang="ru-RU"/>
              <a:t> </a:t>
            </a:r>
            <a:r>
              <a:rPr lang="ru-RU" err="1"/>
              <a:t>their</a:t>
            </a:r>
            <a:r>
              <a:rPr lang="ru-RU"/>
              <a:t> 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blend</a:t>
            </a:r>
            <a:r>
              <a:rPr lang="ru-RU"/>
              <a:t> </a:t>
            </a:r>
            <a:r>
              <a:rPr lang="ru-RU" err="1"/>
              <a:t>has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caffeine</a:t>
            </a:r>
            <a:endParaRPr lang="ru-RU"/>
          </a:p>
          <a:p>
            <a:pPr marL="0" indent="0" latinLnBrk="1">
              <a:buNone/>
            </a:pPr>
            <a:r>
              <a:rPr lang="ru-RU"/>
              <a:t>   H₀: μ ≤ </a:t>
            </a:r>
            <a:r>
              <a:rPr lang="ru-RU" err="1"/>
              <a:t>old_caffeine</a:t>
            </a:r>
            <a:endParaRPr lang="ru-RU"/>
          </a:p>
          <a:p>
            <a:pPr marL="0" indent="0" latinLnBrk="1">
              <a:buNone/>
            </a:pPr>
            <a:r>
              <a:rPr lang="ru-RU"/>
              <a:t>   H₁: μ &gt; </a:t>
            </a:r>
            <a:r>
              <a:rPr lang="ru-RU" err="1"/>
              <a:t>old_caffeine</a:t>
            </a:r>
            <a:endParaRPr lang="ru-RU"/>
          </a:p>
          <a:p>
            <a:pPr marL="0" indent="0" latinLnBrk="1">
              <a:buNone/>
            </a:pPr>
            <a:r>
              <a:rPr lang="ru-RU"/>
              <a:t> 2. A </a:t>
            </a:r>
            <a:r>
              <a:rPr lang="ru-RU" err="1"/>
              <a:t>school</a:t>
            </a:r>
            <a:r>
              <a:rPr lang="ru-RU"/>
              <a:t> </a:t>
            </a:r>
            <a:r>
              <a:rPr lang="ru-RU" err="1"/>
              <a:t>tests</a:t>
            </a:r>
            <a:r>
              <a:rPr lang="ru-RU"/>
              <a:t>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scores</a:t>
            </a:r>
            <a:r>
              <a:rPr lang="ru-RU"/>
              <a:t> </a:t>
            </a:r>
            <a:r>
              <a:rPr lang="ru-RU" err="1"/>
              <a:t>changed</a:t>
            </a:r>
            <a:r>
              <a:rPr lang="ru-RU"/>
              <a:t> </a:t>
            </a:r>
            <a:r>
              <a:rPr lang="ru-RU" err="1"/>
              <a:t>after</a:t>
            </a:r>
            <a:r>
              <a:rPr lang="ru-RU"/>
              <a:t> 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curriculum</a:t>
            </a:r>
            <a:endParaRPr lang="ru-RU"/>
          </a:p>
          <a:p>
            <a:pPr marL="0" indent="0" latinLnBrk="1">
              <a:buNone/>
            </a:pPr>
            <a:r>
              <a:rPr lang="ru-RU"/>
              <a:t>   H₀: μ = 75</a:t>
            </a:r>
          </a:p>
          <a:p>
            <a:pPr marL="0" indent="0" latinLnBrk="1">
              <a:buNone/>
            </a:pPr>
            <a:r>
              <a:rPr lang="ru-RU"/>
              <a:t>   H₁: μ ≠ 75</a:t>
            </a:r>
          </a:p>
          <a:p>
            <a:pPr marL="0" indent="0" latinLnBrk="1">
              <a:buNone/>
            </a:pPr>
            <a:r>
              <a:rPr lang="ru-RU"/>
              <a:t> 3. A </a:t>
            </a:r>
            <a:r>
              <a:rPr lang="ru-RU" err="1"/>
              <a:t>factory</a:t>
            </a:r>
            <a:r>
              <a:rPr lang="ru-RU"/>
              <a:t> </a:t>
            </a:r>
            <a:r>
              <a:rPr lang="ru-RU" err="1"/>
              <a:t>wants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prove</a:t>
            </a:r>
            <a:r>
              <a:rPr lang="ru-RU"/>
              <a:t> </a:t>
            </a:r>
            <a:r>
              <a:rPr lang="ru-RU" err="1"/>
              <a:t>their</a:t>
            </a:r>
            <a:r>
              <a:rPr lang="ru-RU"/>
              <a:t> </a:t>
            </a:r>
            <a:r>
              <a:rPr lang="ru-RU" err="1"/>
              <a:t>defect</a:t>
            </a:r>
            <a:r>
              <a:rPr lang="ru-RU"/>
              <a:t> </a:t>
            </a:r>
            <a:r>
              <a:rPr lang="ru-RU" err="1"/>
              <a:t>rate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below</a:t>
            </a:r>
            <a:r>
              <a:rPr lang="ru-RU"/>
              <a:t> 2%</a:t>
            </a:r>
          </a:p>
          <a:p>
            <a:pPr marL="0" indent="0" latinLnBrk="1">
              <a:buNone/>
            </a:pPr>
            <a:r>
              <a:rPr lang="ru-RU"/>
              <a:t>   H₀: μ ≥ 0.02</a:t>
            </a:r>
          </a:p>
          <a:p>
            <a:pPr marL="0" indent="0" latinLnBrk="1">
              <a:buNone/>
            </a:pPr>
            <a:r>
              <a:rPr lang="ru-RU"/>
              <a:t>   H₁: μ &lt; 0.02</a:t>
            </a:r>
          </a:p>
          <a:p>
            <a:pPr marL="0" indent="0" latinLnBrk="1">
              <a:buNone/>
            </a:pPr>
            <a:r>
              <a:rPr lang="ru-RU"/>
              <a:t> 4. </a:t>
            </a:r>
            <a:r>
              <a:rPr lang="ru-RU" err="1"/>
              <a:t>An</a:t>
            </a:r>
            <a:r>
              <a:rPr lang="ru-RU"/>
              <a:t> A/B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checks</a:t>
            </a:r>
            <a:r>
              <a:rPr lang="ru-RU"/>
              <a:t>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Variant</a:t>
            </a:r>
            <a:r>
              <a:rPr lang="ru-RU"/>
              <a:t> B </a:t>
            </a:r>
            <a:r>
              <a:rPr lang="ru-RU" err="1"/>
              <a:t>converts</a:t>
            </a:r>
            <a:r>
              <a:rPr lang="ru-RU"/>
              <a:t> </a:t>
            </a:r>
            <a:r>
              <a:rPr lang="ru-RU" err="1"/>
              <a:t>better</a:t>
            </a:r>
            <a:endParaRPr lang="ru-RU"/>
          </a:p>
          <a:p>
            <a:pPr marL="0" indent="0" latinLnBrk="1">
              <a:buNone/>
            </a:pPr>
            <a:r>
              <a:rPr lang="ru-RU"/>
              <a:t>   H₀: </a:t>
            </a:r>
            <a:r>
              <a:rPr lang="ru-RU" err="1"/>
              <a:t>μ_B</a:t>
            </a:r>
            <a:r>
              <a:rPr lang="ru-RU"/>
              <a:t> ≤ </a:t>
            </a:r>
            <a:r>
              <a:rPr lang="ru-RU" err="1"/>
              <a:t>μ_A</a:t>
            </a:r>
            <a:endParaRPr lang="ru-RU"/>
          </a:p>
          <a:p>
            <a:pPr marL="0" indent="0">
              <a:buNone/>
            </a:pPr>
            <a:r>
              <a:rPr lang="ru-RU"/>
              <a:t>   H₁: </a:t>
            </a:r>
            <a:r>
              <a:rPr lang="ru-RU" err="1"/>
              <a:t>μ_B</a:t>
            </a:r>
            <a:r>
              <a:rPr lang="ru-RU"/>
              <a:t> &gt; </a:t>
            </a:r>
            <a:r>
              <a:rPr lang="ru-RU" err="1"/>
              <a:t>μ_A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137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1C275-0B01-7C81-5F78-817D970E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665"/>
          </a:xfrm>
        </p:spPr>
        <p:txBody>
          <a:bodyPr/>
          <a:lstStyle/>
          <a:p>
            <a:r>
              <a:rPr lang="ru-RU" b="1"/>
              <a:t>Type I </a:t>
            </a:r>
            <a:r>
              <a:rPr lang="ru-RU" b="1" err="1"/>
              <a:t>Error</a:t>
            </a:r>
            <a:r>
              <a:rPr lang="ru-RU" b="1"/>
              <a:t> - </a:t>
            </a:r>
            <a:r>
              <a:rPr lang="ru-RU" b="1" err="1"/>
              <a:t>False</a:t>
            </a:r>
            <a:r>
              <a:rPr lang="ru-RU" b="1"/>
              <a:t> </a:t>
            </a:r>
            <a:r>
              <a:rPr lang="ru-RU" b="1" err="1"/>
              <a:t>Alarm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D1749-BE08-8304-0D8E-F0E63401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073"/>
            <a:ext cx="10515600" cy="4809890"/>
          </a:xfrm>
        </p:spPr>
        <p:txBody>
          <a:bodyPr>
            <a:normAutofit fontScale="77500" lnSpcReduction="20000"/>
          </a:bodyPr>
          <a:lstStyle/>
          <a:p>
            <a:pPr marL="0" indent="0" latinLnBrk="1">
              <a:buNone/>
            </a:pPr>
            <a:r>
              <a:rPr lang="ru-RU" b="1"/>
              <a:t>TYPE I ERROR (α):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Rejecting</a:t>
            </a:r>
            <a:r>
              <a:rPr lang="ru-RU"/>
              <a:t> H₀ </a:t>
            </a:r>
            <a:r>
              <a:rPr lang="ru-RU" err="1"/>
              <a:t>when</a:t>
            </a:r>
            <a:r>
              <a:rPr lang="ru-RU"/>
              <a:t> H₀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actually</a:t>
            </a:r>
            <a:r>
              <a:rPr lang="ru-RU"/>
              <a:t> TRUE</a:t>
            </a:r>
          </a:p>
          <a:p>
            <a:pPr marL="0" indent="0" latinLnBrk="1">
              <a:buNone/>
            </a:pPr>
            <a:r>
              <a:rPr lang="ru-RU"/>
              <a:t>• "</a:t>
            </a:r>
            <a:r>
              <a:rPr lang="ru-RU" err="1"/>
              <a:t>Crying</a:t>
            </a:r>
            <a:r>
              <a:rPr lang="ru-RU"/>
              <a:t> </a:t>
            </a:r>
            <a:r>
              <a:rPr lang="ru-RU" err="1"/>
              <a:t>wolf</a:t>
            </a:r>
            <a:r>
              <a:rPr lang="ru-RU"/>
              <a:t>" - </a:t>
            </a:r>
            <a:r>
              <a:rPr lang="ru-RU" err="1"/>
              <a:t>seeing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isn't</a:t>
            </a:r>
            <a:r>
              <a:rPr lang="ru-RU"/>
              <a:t> </a:t>
            </a:r>
            <a:r>
              <a:rPr lang="ru-RU" err="1"/>
              <a:t>real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False</a:t>
            </a:r>
            <a:r>
              <a:rPr lang="ru-RU"/>
              <a:t> </a:t>
            </a:r>
            <a:r>
              <a:rPr lang="ru-RU" err="1"/>
              <a:t>positive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approved</a:t>
            </a:r>
            <a:r>
              <a:rPr lang="ru-RU"/>
              <a:t>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actually</a:t>
            </a:r>
            <a:r>
              <a:rPr lang="ru-RU"/>
              <a:t> </a:t>
            </a:r>
            <a:r>
              <a:rPr lang="ru-RU" err="1"/>
              <a:t>doesn't</a:t>
            </a:r>
            <a:r>
              <a:rPr lang="ru-RU"/>
              <a:t> </a:t>
            </a:r>
            <a:r>
              <a:rPr lang="ru-RU" err="1"/>
              <a:t>work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Innocent</a:t>
            </a:r>
            <a:r>
              <a:rPr lang="ru-RU"/>
              <a:t> </a:t>
            </a:r>
            <a:r>
              <a:rPr lang="ru-RU" err="1"/>
              <a:t>person</a:t>
            </a:r>
            <a:r>
              <a:rPr lang="ru-RU"/>
              <a:t> </a:t>
            </a:r>
            <a:r>
              <a:rPr lang="ru-RU" err="1"/>
              <a:t>convicted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Email</a:t>
            </a:r>
            <a:r>
              <a:rPr lang="ru-RU"/>
              <a:t> </a:t>
            </a:r>
            <a:r>
              <a:rPr lang="ru-RU" err="1"/>
              <a:t>marked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spam</a:t>
            </a:r>
            <a:r>
              <a:rPr lang="ru-RU"/>
              <a:t>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it's</a:t>
            </a:r>
            <a:r>
              <a:rPr lang="ru-RU"/>
              <a:t> </a:t>
            </a:r>
            <a:r>
              <a:rPr lang="ru-RU" err="1"/>
              <a:t>not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PROBABILITY</a:t>
            </a:r>
            <a:r>
              <a:rPr lang="ru-RU"/>
              <a:t> = α (</a:t>
            </a:r>
            <a:r>
              <a:rPr lang="ru-RU" err="1"/>
              <a:t>significance</a:t>
            </a:r>
            <a:r>
              <a:rPr lang="ru-RU"/>
              <a:t> </a:t>
            </a:r>
            <a:r>
              <a:rPr lang="ru-RU" err="1"/>
              <a:t>level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We CONTROL </a:t>
            </a:r>
            <a:r>
              <a:rPr lang="ru-RU" err="1"/>
              <a:t>this</a:t>
            </a:r>
            <a:r>
              <a:rPr lang="ru-RU"/>
              <a:t>: </a:t>
            </a:r>
            <a:r>
              <a:rPr lang="ru-RU" err="1"/>
              <a:t>usually</a:t>
            </a:r>
            <a:r>
              <a:rPr lang="ru-RU"/>
              <a:t> </a:t>
            </a:r>
            <a:r>
              <a:rPr lang="ru-RU" err="1"/>
              <a:t>set</a:t>
            </a:r>
            <a:r>
              <a:rPr lang="ru-RU"/>
              <a:t> α = 0.05</a:t>
            </a:r>
          </a:p>
          <a:p>
            <a:pPr marL="0" indent="0" latinLnBrk="1">
              <a:buNone/>
            </a:pPr>
            <a:r>
              <a:rPr lang="ru-RU" err="1"/>
              <a:t>Means</a:t>
            </a:r>
            <a:r>
              <a:rPr lang="ru-RU"/>
              <a:t>: 5% </a:t>
            </a:r>
            <a:r>
              <a:rPr lang="ru-RU" err="1"/>
              <a:t>chance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false</a:t>
            </a:r>
            <a:r>
              <a:rPr lang="ru-RU"/>
              <a:t> </a:t>
            </a:r>
            <a:r>
              <a:rPr lang="ru-RU" err="1"/>
              <a:t>alarm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769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D8E66-5D8D-9A87-BAA5-57B3DAE3B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879"/>
          </a:xfrm>
        </p:spPr>
        <p:txBody>
          <a:bodyPr/>
          <a:lstStyle/>
          <a:p>
            <a:r>
              <a:rPr lang="ru-RU" b="1"/>
              <a:t>Type II </a:t>
            </a:r>
            <a:r>
              <a:rPr lang="ru-RU" b="1" err="1"/>
              <a:t>Error</a:t>
            </a:r>
            <a:r>
              <a:rPr lang="ru-RU" b="1"/>
              <a:t> - </a:t>
            </a:r>
            <a:r>
              <a:rPr lang="ru-RU" b="1" err="1"/>
              <a:t>Missed</a:t>
            </a:r>
            <a:r>
              <a:rPr lang="ru-RU" b="1"/>
              <a:t> </a:t>
            </a:r>
            <a:r>
              <a:rPr lang="ru-RU" b="1" err="1"/>
              <a:t>Opportunity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B909CC-F95E-CDB1-E64C-4B0635FA6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341"/>
            <a:ext cx="10515600" cy="4764622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b="1"/>
              <a:t>TYPE II ERROR (β):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Failing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 H₀ </a:t>
            </a:r>
            <a:r>
              <a:rPr lang="ru-RU" err="1"/>
              <a:t>when</a:t>
            </a:r>
            <a:r>
              <a:rPr lang="ru-RU"/>
              <a:t> H₀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actually</a:t>
            </a:r>
            <a:r>
              <a:rPr lang="ru-RU"/>
              <a:t> FALSE</a:t>
            </a:r>
          </a:p>
          <a:p>
            <a:pPr marL="0" indent="0" latinLnBrk="1">
              <a:buNone/>
            </a:pPr>
            <a:r>
              <a:rPr lang="ru-RU"/>
              <a:t>• "</a:t>
            </a:r>
            <a:r>
              <a:rPr lang="ru-RU" err="1"/>
              <a:t>Missing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signal</a:t>
            </a:r>
            <a:r>
              <a:rPr lang="ru-RU"/>
              <a:t>" -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seeing</a:t>
            </a:r>
            <a:r>
              <a:rPr lang="ru-RU"/>
              <a:t> a </a:t>
            </a:r>
            <a:r>
              <a:rPr lang="ru-RU" err="1"/>
              <a:t>real</a:t>
            </a:r>
            <a:r>
              <a:rPr lang="ru-RU"/>
              <a:t> </a:t>
            </a:r>
            <a:r>
              <a:rPr lang="ru-RU" err="1"/>
              <a:t>effect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False</a:t>
            </a:r>
            <a:r>
              <a:rPr lang="ru-RU"/>
              <a:t> </a:t>
            </a:r>
            <a:r>
              <a:rPr lang="ru-RU" err="1"/>
              <a:t>negative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  <a:endParaRPr lang="en-US"/>
          </a:p>
          <a:p>
            <a:pPr marL="0" indent="0" latinLnBrk="1">
              <a:buNone/>
            </a:pPr>
            <a:r>
              <a:rPr lang="ru-RU" b="1"/>
              <a:t>EXAMPLES: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Effective</a:t>
            </a:r>
            <a:r>
              <a:rPr lang="ru-RU"/>
              <a:t> 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approved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Guilty</a:t>
            </a:r>
            <a:r>
              <a:rPr lang="ru-RU"/>
              <a:t> </a:t>
            </a:r>
            <a:r>
              <a:rPr lang="ru-RU" err="1"/>
              <a:t>person</a:t>
            </a:r>
            <a:r>
              <a:rPr lang="ru-RU"/>
              <a:t> </a:t>
            </a:r>
            <a:r>
              <a:rPr lang="ru-RU" err="1"/>
              <a:t>acquitted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Spam</a:t>
            </a:r>
            <a:r>
              <a:rPr lang="ru-RU"/>
              <a:t> </a:t>
            </a:r>
            <a:r>
              <a:rPr lang="ru-RU" err="1"/>
              <a:t>email</a:t>
            </a:r>
            <a:r>
              <a:rPr lang="ru-RU"/>
              <a:t> </a:t>
            </a:r>
            <a:r>
              <a:rPr lang="ru-RU" err="1"/>
              <a:t>lands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inbox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PROBABILITY = β</a:t>
            </a:r>
          </a:p>
          <a:p>
            <a:pPr marL="0" indent="0" latinLnBrk="1">
              <a:buNone/>
            </a:pPr>
            <a:r>
              <a:rPr lang="ru-RU"/>
              <a:t>We DON'T </a:t>
            </a:r>
            <a:r>
              <a:rPr lang="ru-RU" err="1"/>
              <a:t>directly</a:t>
            </a:r>
            <a:r>
              <a:rPr lang="ru-RU"/>
              <a:t> </a:t>
            </a:r>
            <a:r>
              <a:rPr lang="ru-RU" err="1"/>
              <a:t>control</a:t>
            </a:r>
            <a:r>
              <a:rPr lang="ru-RU"/>
              <a:t> </a:t>
            </a:r>
            <a:r>
              <a:rPr lang="ru-RU" err="1"/>
              <a:t>this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Depends</a:t>
            </a:r>
            <a:r>
              <a:rPr lang="ru-RU"/>
              <a:t> </a:t>
            </a:r>
            <a:r>
              <a:rPr lang="ru-RU" err="1"/>
              <a:t>on</a:t>
            </a:r>
            <a:r>
              <a:rPr lang="ru-RU"/>
              <a:t>: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,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, α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POWER</a:t>
            </a:r>
            <a:r>
              <a:rPr lang="ru-RU"/>
              <a:t> = 1 - β (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detecting</a:t>
            </a:r>
            <a:r>
              <a:rPr lang="ru-RU"/>
              <a:t> a </a:t>
            </a:r>
            <a:r>
              <a:rPr lang="ru-RU" err="1"/>
              <a:t>real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76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9C4A5-5199-935A-E111-D56BE2C2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077"/>
          </a:xfrm>
        </p:spPr>
        <p:txBody>
          <a:bodyPr>
            <a:normAutofit fontScale="90000"/>
          </a:bodyPr>
          <a:lstStyle/>
          <a:p>
            <a:r>
              <a:rPr lang="ru-RU" b="1" err="1"/>
              <a:t>Error</a:t>
            </a:r>
            <a:r>
              <a:rPr lang="ru-RU" b="1"/>
              <a:t> </a:t>
            </a:r>
            <a:r>
              <a:rPr lang="ru-RU" b="1" err="1"/>
              <a:t>Analogy</a:t>
            </a:r>
            <a:r>
              <a:rPr lang="ru-RU" b="1"/>
              <a:t> - Fire </a:t>
            </a:r>
            <a:r>
              <a:rPr lang="ru-RU" b="1" err="1"/>
              <a:t>Alarm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7BBA72-0DB8-26C6-0BC7-971A25453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0448"/>
            <a:ext cx="10515600" cy="4746515"/>
          </a:xfrm>
        </p:spPr>
        <p:txBody>
          <a:bodyPr>
            <a:noAutofit/>
          </a:bodyPr>
          <a:lstStyle/>
          <a:p>
            <a:pPr marL="0" indent="0" latinLnBrk="1">
              <a:buNone/>
            </a:pPr>
            <a:r>
              <a:rPr lang="ru-RU" sz="1400" err="1"/>
              <a:t>Think</a:t>
            </a:r>
            <a:r>
              <a:rPr lang="ru-RU" sz="1400"/>
              <a:t> </a:t>
            </a:r>
            <a:r>
              <a:rPr lang="ru-RU" sz="1400" err="1"/>
              <a:t>of</a:t>
            </a:r>
            <a:r>
              <a:rPr lang="ru-RU" sz="1400"/>
              <a:t> a </a:t>
            </a:r>
            <a:r>
              <a:rPr lang="ru-RU" sz="1400" err="1"/>
              <a:t>fire</a:t>
            </a:r>
            <a:r>
              <a:rPr lang="ru-RU" sz="1400"/>
              <a:t> </a:t>
            </a:r>
            <a:r>
              <a:rPr lang="ru-RU" sz="1400" err="1"/>
              <a:t>alarm</a:t>
            </a:r>
            <a:r>
              <a:rPr lang="ru-RU" sz="1400"/>
              <a:t> </a:t>
            </a:r>
            <a:r>
              <a:rPr lang="ru-RU" sz="1400" err="1"/>
              <a:t>system</a:t>
            </a:r>
            <a:r>
              <a:rPr lang="ru-RU" sz="1400"/>
              <a:t>:</a:t>
            </a:r>
          </a:p>
          <a:p>
            <a:pPr marL="0" indent="0" latinLnBrk="1">
              <a:buNone/>
            </a:pPr>
            <a:r>
              <a:rPr lang="ru-RU" sz="1400"/>
              <a:t>TYPE I ERROR: </a:t>
            </a:r>
            <a:r>
              <a:rPr lang="ru-RU" sz="1400" err="1"/>
              <a:t>Alarm</a:t>
            </a:r>
            <a:r>
              <a:rPr lang="ru-RU" sz="1400"/>
              <a:t> </a:t>
            </a:r>
            <a:r>
              <a:rPr lang="ru-RU" sz="1400" err="1"/>
              <a:t>goes</a:t>
            </a:r>
            <a:r>
              <a:rPr lang="ru-RU" sz="1400"/>
              <a:t> </a:t>
            </a:r>
            <a:r>
              <a:rPr lang="ru-RU" sz="1400" err="1"/>
              <a:t>off</a:t>
            </a:r>
            <a:r>
              <a:rPr lang="ru-RU" sz="1400"/>
              <a:t> </a:t>
            </a:r>
            <a:r>
              <a:rPr lang="ru-RU" sz="1400" err="1"/>
              <a:t>when</a:t>
            </a:r>
            <a:r>
              <a:rPr lang="ru-RU" sz="1400"/>
              <a:t> NO </a:t>
            </a:r>
            <a:r>
              <a:rPr lang="ru-RU" sz="1400" err="1"/>
              <a:t>fire</a:t>
            </a:r>
            <a:r>
              <a:rPr lang="ru-RU" sz="1400"/>
              <a:t> </a:t>
            </a:r>
          </a:p>
          <a:p>
            <a:pPr latinLnBrk="1"/>
            <a:r>
              <a:rPr lang="ru-RU" sz="1400" err="1"/>
              <a:t>Annoying</a:t>
            </a:r>
            <a:r>
              <a:rPr lang="ru-RU" sz="1400"/>
              <a:t>  </a:t>
            </a:r>
            <a:endParaRPr lang="en-US" sz="1400"/>
          </a:p>
          <a:p>
            <a:pPr latinLnBrk="1"/>
            <a:r>
              <a:rPr lang="ru-RU" sz="1400"/>
              <a:t>People </a:t>
            </a:r>
            <a:r>
              <a:rPr lang="ru-RU" sz="1400" err="1"/>
              <a:t>ignore</a:t>
            </a:r>
            <a:r>
              <a:rPr lang="ru-RU" sz="1400"/>
              <a:t> </a:t>
            </a:r>
            <a:r>
              <a:rPr lang="ru-RU" sz="1400" err="1"/>
              <a:t>future</a:t>
            </a:r>
            <a:r>
              <a:rPr lang="ru-RU" sz="1400"/>
              <a:t> </a:t>
            </a:r>
            <a:r>
              <a:rPr lang="ru-RU" sz="1400" err="1"/>
              <a:t>alarms</a:t>
            </a:r>
            <a:r>
              <a:rPr lang="ru-RU" sz="1400"/>
              <a:t> </a:t>
            </a:r>
            <a:endParaRPr lang="en-US" sz="1400"/>
          </a:p>
          <a:p>
            <a:pPr latinLnBrk="1"/>
            <a:r>
              <a:rPr lang="ru-RU" sz="1400"/>
              <a:t>Cost: </a:t>
            </a:r>
            <a:r>
              <a:rPr lang="ru-RU" sz="1400" err="1"/>
              <a:t>wasted</a:t>
            </a:r>
            <a:r>
              <a:rPr lang="ru-RU" sz="1400"/>
              <a:t> </a:t>
            </a:r>
            <a:r>
              <a:rPr lang="ru-RU" sz="1400" err="1"/>
              <a:t>time</a:t>
            </a:r>
            <a:r>
              <a:rPr lang="ru-RU" sz="1400"/>
              <a:t>/</a:t>
            </a:r>
            <a:r>
              <a:rPr lang="ru-RU" sz="1400" err="1"/>
              <a:t>resources</a:t>
            </a:r>
            <a:r>
              <a:rPr lang="ru-RU" sz="1400"/>
              <a:t>  </a:t>
            </a:r>
            <a:endParaRPr lang="en-US" sz="1400"/>
          </a:p>
          <a:p>
            <a:pPr marL="0" indent="0" latinLnBrk="1">
              <a:buNone/>
            </a:pPr>
            <a:r>
              <a:rPr lang="ru-RU" sz="1400"/>
              <a:t>TYPE II ERROR: </a:t>
            </a:r>
            <a:r>
              <a:rPr lang="ru-RU" sz="1400" err="1"/>
              <a:t>Alarm</a:t>
            </a:r>
            <a:r>
              <a:rPr lang="ru-RU" sz="1400"/>
              <a:t> DOESN'T </a:t>
            </a:r>
            <a:r>
              <a:rPr lang="ru-RU" sz="1400" err="1"/>
              <a:t>go</a:t>
            </a:r>
            <a:r>
              <a:rPr lang="ru-RU" sz="1400"/>
              <a:t> </a:t>
            </a:r>
            <a:r>
              <a:rPr lang="ru-RU" sz="1400" err="1"/>
              <a:t>off</a:t>
            </a:r>
            <a:r>
              <a:rPr lang="ru-RU" sz="1400"/>
              <a:t> </a:t>
            </a:r>
            <a:r>
              <a:rPr lang="ru-RU" sz="1400" err="1"/>
              <a:t>when</a:t>
            </a:r>
            <a:r>
              <a:rPr lang="ru-RU" sz="1400"/>
              <a:t>  </a:t>
            </a:r>
          </a:p>
          <a:p>
            <a:pPr marL="0" indent="0" latinLnBrk="1">
              <a:buNone/>
            </a:pPr>
            <a:r>
              <a:rPr lang="en-US" sz="1400"/>
              <a:t>	</a:t>
            </a:r>
            <a:r>
              <a:rPr lang="ru-RU" sz="1400" err="1"/>
              <a:t>there</a:t>
            </a:r>
            <a:r>
              <a:rPr lang="ru-RU" sz="1400"/>
              <a:t> IS a </a:t>
            </a:r>
            <a:r>
              <a:rPr lang="ru-RU" sz="1400" err="1"/>
              <a:t>fire</a:t>
            </a:r>
            <a:r>
              <a:rPr lang="ru-RU" sz="1400"/>
              <a:t> </a:t>
            </a:r>
            <a:endParaRPr lang="en-US" sz="1400"/>
          </a:p>
          <a:p>
            <a:pPr latinLnBrk="1"/>
            <a:r>
              <a:rPr lang="ru-RU" sz="1400" err="1"/>
              <a:t>Dangerous</a:t>
            </a:r>
            <a:r>
              <a:rPr lang="ru-RU" sz="1400"/>
              <a:t>  </a:t>
            </a:r>
            <a:endParaRPr lang="en-US" sz="1400"/>
          </a:p>
          <a:p>
            <a:pPr latinLnBrk="1"/>
            <a:r>
              <a:rPr lang="ru-RU" sz="1400"/>
              <a:t>Building </a:t>
            </a:r>
            <a:r>
              <a:rPr lang="ru-RU" sz="1400" err="1"/>
              <a:t>burns</a:t>
            </a:r>
            <a:r>
              <a:rPr lang="ru-RU" sz="1400"/>
              <a:t> </a:t>
            </a:r>
            <a:r>
              <a:rPr lang="ru-RU" sz="1400" err="1"/>
              <a:t>down</a:t>
            </a:r>
            <a:r>
              <a:rPr lang="ru-RU" sz="1400"/>
              <a:t>     </a:t>
            </a:r>
            <a:endParaRPr lang="en-US" sz="1400"/>
          </a:p>
          <a:p>
            <a:pPr latinLnBrk="1"/>
            <a:r>
              <a:rPr lang="ru-RU" sz="1400"/>
              <a:t>Cost: </a:t>
            </a:r>
            <a:r>
              <a:rPr lang="ru-RU" sz="1400" err="1"/>
              <a:t>catastrophic</a:t>
            </a:r>
            <a:r>
              <a:rPr lang="ru-RU" sz="1400"/>
              <a:t>  </a:t>
            </a:r>
            <a:endParaRPr lang="en-US" sz="1400"/>
          </a:p>
          <a:p>
            <a:pPr marL="0" indent="0" latinLnBrk="1">
              <a:buNone/>
            </a:pPr>
            <a:r>
              <a:rPr lang="ru-RU" sz="1400"/>
              <a:t>TRADE-OFF: </a:t>
            </a:r>
            <a:r>
              <a:rPr lang="ru-RU" sz="1400" err="1"/>
              <a:t>Making</a:t>
            </a:r>
            <a:r>
              <a:rPr lang="ru-RU" sz="1400"/>
              <a:t> </a:t>
            </a:r>
            <a:r>
              <a:rPr lang="ru-RU" sz="1400" err="1"/>
              <a:t>alarm</a:t>
            </a:r>
            <a:r>
              <a:rPr lang="ru-RU" sz="1400"/>
              <a:t> MORE </a:t>
            </a:r>
            <a:r>
              <a:rPr lang="ru-RU" sz="1400" err="1"/>
              <a:t>sensitive</a:t>
            </a:r>
            <a:r>
              <a:rPr lang="ru-RU" sz="1400"/>
              <a:t> </a:t>
            </a:r>
            <a:endParaRPr lang="en-US" sz="1400"/>
          </a:p>
          <a:p>
            <a:pPr marL="0" indent="0" latinLnBrk="1">
              <a:buNone/>
            </a:pPr>
            <a:r>
              <a:rPr lang="ru-RU" sz="1400" err="1"/>
              <a:t>reduces</a:t>
            </a:r>
            <a:r>
              <a:rPr lang="ru-RU" sz="1400"/>
              <a:t> Type II </a:t>
            </a:r>
            <a:r>
              <a:rPr lang="ru-RU" sz="1400" err="1"/>
              <a:t>but</a:t>
            </a:r>
            <a:r>
              <a:rPr lang="ru-RU" sz="1400"/>
              <a:t> INCREASES Type</a:t>
            </a:r>
          </a:p>
        </p:txBody>
      </p:sp>
    </p:spTree>
    <p:extLst>
      <p:ext uri="{BB962C8B-B14F-4D97-AF65-F5344CB8AC3E}">
        <p14:creationId xmlns:p14="http://schemas.microsoft.com/office/powerpoint/2010/main" val="2975407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01B057-E39B-1DAC-1AFC-6594DB535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8451"/>
          </a:xfrm>
        </p:spPr>
        <p:txBody>
          <a:bodyPr/>
          <a:lstStyle/>
          <a:p>
            <a:r>
              <a:rPr lang="ru-RU" b="1" err="1"/>
              <a:t>Significance</a:t>
            </a:r>
            <a:r>
              <a:rPr lang="ru-RU" b="1"/>
              <a:t> Level (α) - The Standard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76356-70D2-0D0C-3897-5F1A70F5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234"/>
            <a:ext cx="10515600" cy="4782729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/>
              <a:t>SIGNIFICANCE LEVEL (α):</a:t>
            </a:r>
          </a:p>
          <a:p>
            <a:pPr marL="0" indent="0" latinLnBrk="1">
              <a:buNone/>
            </a:pPr>
            <a:r>
              <a:rPr lang="ru-RU"/>
              <a:t>• The </a:t>
            </a:r>
            <a:r>
              <a:rPr lang="ru-RU" err="1"/>
              <a:t>threshold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"</a:t>
            </a:r>
            <a:r>
              <a:rPr lang="ru-RU" err="1"/>
              <a:t>good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" </a:t>
            </a:r>
            <a:r>
              <a:rPr lang="ru-RU" err="1"/>
              <a:t>evidence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Type I </a:t>
            </a:r>
            <a:r>
              <a:rPr lang="ru-RU" err="1"/>
              <a:t>error</a:t>
            </a:r>
            <a:r>
              <a:rPr lang="ru-RU"/>
              <a:t> </a:t>
            </a:r>
            <a:r>
              <a:rPr lang="ru-RU" err="1"/>
              <a:t>we're</a:t>
            </a:r>
            <a:r>
              <a:rPr lang="ru-RU"/>
              <a:t> </a:t>
            </a:r>
            <a:r>
              <a:rPr lang="ru-RU" err="1"/>
              <a:t>willing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accept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Usually</a:t>
            </a:r>
            <a:r>
              <a:rPr lang="ru-RU"/>
              <a:t> </a:t>
            </a:r>
            <a:r>
              <a:rPr lang="ru-RU" err="1"/>
              <a:t>set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0.05 (5%)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WHERE 0.05 COMES FROM: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Ronald</a:t>
            </a:r>
            <a:r>
              <a:rPr lang="ru-RU"/>
              <a:t> </a:t>
            </a:r>
            <a:r>
              <a:rPr lang="ru-RU" err="1"/>
              <a:t>Fisher</a:t>
            </a:r>
            <a:r>
              <a:rPr lang="ru-RU"/>
              <a:t> (1920s) - </a:t>
            </a:r>
            <a:r>
              <a:rPr lang="ru-RU" err="1"/>
              <a:t>arbitrary</a:t>
            </a:r>
            <a:r>
              <a:rPr lang="ru-RU"/>
              <a:t>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convenient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1 </a:t>
            </a:r>
            <a:r>
              <a:rPr lang="ru-RU" err="1"/>
              <a:t>in</a:t>
            </a:r>
            <a:r>
              <a:rPr lang="ru-RU"/>
              <a:t> 20 </a:t>
            </a:r>
            <a:r>
              <a:rPr lang="ru-RU" err="1"/>
              <a:t>chance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false</a:t>
            </a:r>
            <a:r>
              <a:rPr lang="ru-RU"/>
              <a:t> </a:t>
            </a:r>
            <a:r>
              <a:rPr lang="ru-RU" err="1"/>
              <a:t>positive</a:t>
            </a:r>
            <a:endParaRPr lang="ru-RU"/>
          </a:p>
          <a:p>
            <a:pPr marL="0" indent="0" latinLnBrk="1">
              <a:buNone/>
            </a:pPr>
            <a:r>
              <a:rPr lang="ru-RU"/>
              <a:t>• Industry </a:t>
            </a:r>
            <a:r>
              <a:rPr lang="ru-RU" err="1"/>
              <a:t>standard</a:t>
            </a:r>
            <a:r>
              <a:rPr lang="ru-RU"/>
              <a:t> (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magical</a:t>
            </a:r>
            <a:r>
              <a:rPr lang="ru-RU"/>
              <a:t>!)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OTHER COMMON LEVELS:</a:t>
            </a:r>
          </a:p>
          <a:p>
            <a:pPr marL="0" indent="0" latinLnBrk="1">
              <a:buNone/>
            </a:pPr>
            <a:r>
              <a:rPr lang="ru-RU"/>
              <a:t>• 0.10 (10%) - </a:t>
            </a:r>
            <a:r>
              <a:rPr lang="ru-RU" err="1"/>
              <a:t>exploratory</a:t>
            </a:r>
            <a:r>
              <a:rPr lang="ru-RU"/>
              <a:t> </a:t>
            </a:r>
            <a:r>
              <a:rPr lang="ru-RU" err="1"/>
              <a:t>research</a:t>
            </a:r>
            <a:endParaRPr lang="ru-RU"/>
          </a:p>
          <a:p>
            <a:pPr marL="0" indent="0" latinLnBrk="1">
              <a:buNone/>
            </a:pPr>
            <a:r>
              <a:rPr lang="ru-RU"/>
              <a:t>• 0.05 (5%)  - </a:t>
            </a:r>
            <a:r>
              <a:rPr lang="ru-RU" err="1"/>
              <a:t>standard</a:t>
            </a:r>
            <a:endParaRPr lang="ru-RU"/>
          </a:p>
          <a:p>
            <a:pPr marL="0" indent="0" latinLnBrk="1">
              <a:buNone/>
            </a:pPr>
            <a:r>
              <a:rPr lang="ru-RU"/>
              <a:t>• 0.01 (1%)  - </a:t>
            </a:r>
            <a:r>
              <a:rPr lang="ru-RU" err="1"/>
              <a:t>high</a:t>
            </a:r>
            <a:r>
              <a:rPr lang="ru-RU"/>
              <a:t> </a:t>
            </a:r>
            <a:r>
              <a:rPr lang="ru-RU" err="1"/>
              <a:t>stakes</a:t>
            </a:r>
            <a:r>
              <a:rPr lang="ru-RU"/>
              <a:t> (FDA 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approval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• 0.001 (0.1%) - </a:t>
            </a:r>
            <a:r>
              <a:rPr lang="ru-RU" err="1"/>
              <a:t>particle</a:t>
            </a:r>
            <a:r>
              <a:rPr lang="ru-RU"/>
              <a:t> </a:t>
            </a:r>
            <a:r>
              <a:rPr lang="ru-RU" err="1"/>
              <a:t>physics</a:t>
            </a:r>
            <a:r>
              <a:rPr lang="ru-RU"/>
              <a:t> (</a:t>
            </a:r>
            <a:r>
              <a:rPr lang="ru-RU" err="1"/>
              <a:t>Higgs</a:t>
            </a:r>
            <a:r>
              <a:rPr lang="ru-RU"/>
              <a:t> </a:t>
            </a:r>
            <a:r>
              <a:rPr lang="ru-RU" err="1"/>
              <a:t>boson</a:t>
            </a:r>
            <a:r>
              <a:rPr lang="ru-RU"/>
              <a:t>!)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CHOOSE BEFORE </a:t>
            </a:r>
            <a:r>
              <a:rPr lang="ru-RU" err="1"/>
              <a:t>analyzing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!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45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CFCA0-2F45-09DE-0EC7-EEFD6F08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6970"/>
          </a:xfrm>
        </p:spPr>
        <p:txBody>
          <a:bodyPr>
            <a:normAutofit fontScale="90000"/>
          </a:bodyPr>
          <a:lstStyle/>
          <a:p>
            <a:r>
              <a:rPr lang="ru-RU" b="1"/>
              <a:t>P-</a:t>
            </a:r>
            <a:r>
              <a:rPr lang="ru-RU" b="1" err="1"/>
              <a:t>value</a:t>
            </a:r>
            <a:r>
              <a:rPr lang="ru-RU" b="1"/>
              <a:t> - The </a:t>
            </a:r>
            <a:r>
              <a:rPr lang="ru-RU" b="1" err="1"/>
              <a:t>Probability</a:t>
            </a:r>
            <a:r>
              <a:rPr lang="ru-RU" b="1"/>
              <a:t> </a:t>
            </a:r>
            <a:r>
              <a:rPr lang="ru-RU" b="1" err="1"/>
              <a:t>of</a:t>
            </a:r>
            <a:r>
              <a:rPr lang="ru-RU" b="1"/>
              <a:t> </a:t>
            </a:r>
            <a:r>
              <a:rPr lang="ru-RU" b="1" err="1"/>
              <a:t>Evidence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5670D1-4FFE-55FE-1DAA-69107EFA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966"/>
            <a:ext cx="10515600" cy="4827997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/>
              <a:t>P-VALUE:</a:t>
            </a:r>
          </a:p>
          <a:p>
            <a:pPr marL="0" indent="0" latinLnBrk="1">
              <a:buNone/>
            </a:pPr>
            <a:r>
              <a:rPr lang="ru-RU"/>
              <a:t>The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observing</a:t>
            </a:r>
            <a:r>
              <a:rPr lang="ru-RU"/>
              <a:t> </a:t>
            </a:r>
            <a:r>
              <a:rPr lang="ru-RU" err="1"/>
              <a:t>data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extreme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ours</a:t>
            </a:r>
            <a:endParaRPr lang="ru-RU"/>
          </a:p>
          <a:p>
            <a:pPr marL="0" indent="0" latinLnBrk="1">
              <a:buNone/>
            </a:pPr>
            <a:r>
              <a:rPr lang="ru-RU"/>
              <a:t>(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more</a:t>
            </a:r>
            <a:r>
              <a:rPr lang="ru-RU"/>
              <a:t> </a:t>
            </a:r>
            <a:r>
              <a:rPr lang="ru-RU" err="1"/>
              <a:t>extreme</a:t>
            </a:r>
            <a:r>
              <a:rPr lang="ru-RU"/>
              <a:t>) IF H₀ </a:t>
            </a:r>
            <a:r>
              <a:rPr lang="ru-RU" err="1"/>
              <a:t>is</a:t>
            </a:r>
            <a:r>
              <a:rPr lang="ru-RU"/>
              <a:t> TRUE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INTERPRETATION:</a:t>
            </a:r>
          </a:p>
          <a:p>
            <a:pPr marL="0" indent="0" latinLnBrk="1">
              <a:buNone/>
            </a:pPr>
            <a:r>
              <a:rPr lang="ru-RU"/>
              <a:t>• Small p-</a:t>
            </a:r>
            <a:r>
              <a:rPr lang="ru-RU" err="1"/>
              <a:t>value</a:t>
            </a:r>
            <a:r>
              <a:rPr lang="ru-RU"/>
              <a:t> → Data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unlikely</a:t>
            </a:r>
            <a:r>
              <a:rPr lang="ru-RU"/>
              <a:t> </a:t>
            </a:r>
            <a:r>
              <a:rPr lang="ru-RU" err="1"/>
              <a:t>under</a:t>
            </a:r>
            <a:r>
              <a:rPr lang="ru-RU"/>
              <a:t> H₀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Large</a:t>
            </a:r>
            <a:r>
              <a:rPr lang="ru-RU"/>
              <a:t> p-</a:t>
            </a:r>
            <a:r>
              <a:rPr lang="ru-RU" err="1"/>
              <a:t>value</a:t>
            </a:r>
            <a:r>
              <a:rPr lang="ru-RU"/>
              <a:t> → Data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plausible</a:t>
            </a:r>
            <a:r>
              <a:rPr lang="ru-RU"/>
              <a:t> </a:t>
            </a:r>
            <a:r>
              <a:rPr lang="ru-RU" err="1"/>
              <a:t>under</a:t>
            </a:r>
            <a:r>
              <a:rPr lang="ru-RU"/>
              <a:t> H₀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COMMON MISUNDERSTANDING:</a:t>
            </a:r>
          </a:p>
          <a:p>
            <a:pPr marL="0" indent="0" latinLnBrk="1">
              <a:buNone/>
            </a:pPr>
            <a:r>
              <a:rPr lang="ru-RU"/>
              <a:t>"p-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H₀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true</a:t>
            </a:r>
            <a:r>
              <a:rPr lang="ru-RU"/>
              <a:t>"  </a:t>
            </a:r>
            <a:r>
              <a:rPr lang="en-US"/>
              <a:t>- is not correct</a:t>
            </a:r>
            <a:endParaRPr lang="ru-RU"/>
          </a:p>
          <a:p>
            <a:pPr marL="0" indent="0" latinLnBrk="1">
              <a:buNone/>
            </a:pPr>
            <a:r>
              <a:rPr lang="ru-RU"/>
              <a:t>"p-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the</a:t>
            </a:r>
            <a:r>
              <a:rPr lang="ru-RU"/>
              <a:t> </a:t>
            </a:r>
            <a:r>
              <a:rPr lang="ru-RU" err="1"/>
              <a:t>probability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seeing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data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if</a:t>
            </a:r>
            <a:r>
              <a:rPr lang="ru-RU"/>
              <a:t> H₀ </a:t>
            </a:r>
            <a:r>
              <a:rPr lang="ru-RU" err="1"/>
              <a:t>were</a:t>
            </a:r>
            <a:r>
              <a:rPr lang="ru-RU"/>
              <a:t> </a:t>
            </a:r>
            <a:r>
              <a:rPr lang="ru-RU" err="1"/>
              <a:t>true</a:t>
            </a:r>
            <a:r>
              <a:rPr lang="ru-RU"/>
              <a:t>"</a:t>
            </a:r>
            <a:r>
              <a:rPr lang="en-US"/>
              <a:t>     - is correct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CRITICAL: p-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NOT P(H₀|</a:t>
            </a:r>
            <a:r>
              <a:rPr lang="ru-RU" err="1"/>
              <a:t>data</a:t>
            </a:r>
            <a:r>
              <a:rPr lang="ru-RU"/>
              <a:t>)!</a:t>
            </a:r>
          </a:p>
          <a:p>
            <a:pPr marL="0" indent="0">
              <a:buNone/>
            </a:pPr>
            <a:r>
              <a:rPr lang="ru-RU" err="1"/>
              <a:t>It's</a:t>
            </a:r>
            <a:r>
              <a:rPr lang="ru-RU"/>
              <a:t> P(</a:t>
            </a:r>
            <a:r>
              <a:rPr lang="ru-RU" err="1"/>
              <a:t>data|H</a:t>
            </a:r>
            <a:r>
              <a:rPr lang="ru-RU"/>
              <a:t>₀)</a:t>
            </a:r>
          </a:p>
        </p:txBody>
      </p:sp>
    </p:spTree>
    <p:extLst>
      <p:ext uri="{BB962C8B-B14F-4D97-AF65-F5344CB8AC3E}">
        <p14:creationId xmlns:p14="http://schemas.microsoft.com/office/powerpoint/2010/main" val="1612961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F41D1-D265-B677-13BE-1AB141F20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146"/>
          </a:xfrm>
        </p:spPr>
        <p:txBody>
          <a:bodyPr/>
          <a:lstStyle/>
          <a:p>
            <a:r>
              <a:rPr lang="ru-RU" b="1" err="1"/>
              <a:t>Decision</a:t>
            </a:r>
            <a:r>
              <a:rPr lang="ru-RU" b="1"/>
              <a:t> </a:t>
            </a:r>
            <a:r>
              <a:rPr lang="ru-RU" b="1" err="1"/>
              <a:t>Rule</a:t>
            </a:r>
            <a:r>
              <a:rPr lang="ru-RU" b="1"/>
              <a:t> - </a:t>
            </a:r>
            <a:r>
              <a:rPr lang="ru-RU" b="1" err="1"/>
              <a:t>Reject</a:t>
            </a:r>
            <a:r>
              <a:rPr lang="ru-RU" b="1"/>
              <a:t> </a:t>
            </a:r>
            <a:r>
              <a:rPr lang="ru-RU" b="1" err="1"/>
              <a:t>or</a:t>
            </a:r>
            <a:r>
              <a:rPr lang="ru-RU" b="1"/>
              <a:t> </a:t>
            </a:r>
            <a:r>
              <a:rPr lang="ru-RU" b="1" err="1"/>
              <a:t>Not</a:t>
            </a:r>
            <a:r>
              <a:rPr lang="ru-RU" b="1"/>
              <a:t>?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D7D01B-D26B-94DB-1A38-B6CADD05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661"/>
            <a:ext cx="10515600" cy="4710302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/>
              <a:t>THE GOLDEN RULE: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If</a:t>
            </a:r>
            <a:r>
              <a:rPr lang="ru-RU"/>
              <a:t> p-</a:t>
            </a:r>
            <a:r>
              <a:rPr lang="ru-RU" err="1"/>
              <a:t>value</a:t>
            </a:r>
            <a:r>
              <a:rPr lang="ru-RU"/>
              <a:t> &lt; α: REJECT H₀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Statistically</a:t>
            </a:r>
            <a:r>
              <a:rPr lang="ru-RU"/>
              <a:t> </a:t>
            </a:r>
            <a:r>
              <a:rPr lang="ru-RU" err="1"/>
              <a:t>significant</a:t>
            </a:r>
            <a:r>
              <a:rPr lang="ru-RU"/>
              <a:t> </a:t>
            </a:r>
            <a:r>
              <a:rPr lang="ru-RU" err="1"/>
              <a:t>result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strong</a:t>
            </a:r>
            <a:r>
              <a:rPr lang="ru-RU"/>
              <a:t> </a:t>
            </a:r>
            <a:r>
              <a:rPr lang="ru-RU" err="1"/>
              <a:t>enough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"</a:t>
            </a:r>
            <a:r>
              <a:rPr lang="ru-RU" err="1"/>
              <a:t>Something</a:t>
            </a:r>
            <a:r>
              <a:rPr lang="ru-RU"/>
              <a:t> </a:t>
            </a:r>
            <a:r>
              <a:rPr lang="ru-RU" err="1"/>
              <a:t>interesting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happening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If</a:t>
            </a:r>
            <a:r>
              <a:rPr lang="ru-RU"/>
              <a:t> p-</a:t>
            </a:r>
            <a:r>
              <a:rPr lang="ru-RU" err="1"/>
              <a:t>value</a:t>
            </a:r>
            <a:r>
              <a:rPr lang="ru-RU"/>
              <a:t> ≥ α: FAIL TO REJECT H₀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statistically</a:t>
            </a:r>
            <a:r>
              <a:rPr lang="ru-RU"/>
              <a:t> </a:t>
            </a:r>
            <a:r>
              <a:rPr lang="ru-RU" err="1"/>
              <a:t>significant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too</a:t>
            </a:r>
            <a:r>
              <a:rPr lang="ru-RU"/>
              <a:t> </a:t>
            </a:r>
            <a:r>
              <a:rPr lang="ru-RU" err="1"/>
              <a:t>weak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"</a:t>
            </a:r>
            <a:r>
              <a:rPr lang="ru-RU" err="1"/>
              <a:t>Could</a:t>
            </a:r>
            <a:r>
              <a:rPr lang="ru-RU"/>
              <a:t> </a:t>
            </a:r>
            <a:r>
              <a:rPr lang="ru-RU" err="1"/>
              <a:t>be</a:t>
            </a:r>
            <a:r>
              <a:rPr lang="ru-RU"/>
              <a:t> </a:t>
            </a:r>
            <a:r>
              <a:rPr lang="ru-RU" err="1"/>
              <a:t>random</a:t>
            </a:r>
            <a:r>
              <a:rPr lang="ru-RU"/>
              <a:t> </a:t>
            </a:r>
            <a:r>
              <a:rPr lang="ru-RU" err="1"/>
              <a:t>chance</a:t>
            </a:r>
            <a:r>
              <a:rPr lang="ru-RU"/>
              <a:t>"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NEVER </a:t>
            </a:r>
            <a:r>
              <a:rPr lang="ru-RU" err="1"/>
              <a:t>say</a:t>
            </a:r>
            <a:r>
              <a:rPr lang="ru-RU"/>
              <a:t> "</a:t>
            </a:r>
            <a:r>
              <a:rPr lang="ru-RU" err="1"/>
              <a:t>accept</a:t>
            </a:r>
            <a:r>
              <a:rPr lang="ru-RU"/>
              <a:t> H₀"!</a:t>
            </a:r>
          </a:p>
          <a:p>
            <a:pPr marL="0" indent="0" latinLnBrk="1">
              <a:buNone/>
            </a:pPr>
            <a:r>
              <a:rPr lang="ru-RU" err="1"/>
              <a:t>Absence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evidence</a:t>
            </a:r>
            <a:r>
              <a:rPr lang="ru-RU"/>
              <a:t> ≠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absence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977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D7EB3F-660E-8719-D375-266286CB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2685"/>
            <a:ext cx="10515600" cy="1009651"/>
          </a:xfrm>
        </p:spPr>
        <p:txBody>
          <a:bodyPr/>
          <a:lstStyle/>
          <a:p>
            <a:r>
              <a:rPr lang="ru-RU" b="1" err="1"/>
              <a:t>Statistical</a:t>
            </a:r>
            <a:r>
              <a:rPr lang="ru-RU" b="1"/>
              <a:t> </a:t>
            </a:r>
            <a:r>
              <a:rPr lang="ru-RU" b="1" err="1"/>
              <a:t>vs</a:t>
            </a:r>
            <a:r>
              <a:rPr lang="ru-RU" b="1"/>
              <a:t> </a:t>
            </a:r>
            <a:r>
              <a:rPr lang="ru-RU" b="1" err="1"/>
              <a:t>Practical</a:t>
            </a:r>
            <a:r>
              <a:rPr lang="ru-RU" b="1"/>
              <a:t> </a:t>
            </a:r>
            <a:r>
              <a:rPr lang="ru-RU" b="1" err="1"/>
              <a:t>Significance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98FC24-A791-022E-E951-0FAC6E6B4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661"/>
            <a:ext cx="10515600" cy="4710302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JUST BECAUSE IT'S SIGNIFICANT DOESN'T MEAN IT MATTERS!</a:t>
            </a:r>
          </a:p>
          <a:p>
            <a:pPr marL="0" indent="0" latinLnBrk="1">
              <a:buNone/>
            </a:pPr>
            <a:r>
              <a:rPr lang="ru-RU"/>
              <a:t> </a:t>
            </a:r>
            <a:r>
              <a:rPr lang="ru-RU" b="1"/>
              <a:t>STATISTICAL SIGNIFICANCE:</a:t>
            </a:r>
          </a:p>
          <a:p>
            <a:pPr marL="0" indent="0" latinLnBrk="1">
              <a:buNone/>
            </a:pPr>
            <a:r>
              <a:rPr lang="ru-RU"/>
              <a:t>• p &lt; 0.05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probably</a:t>
            </a:r>
            <a:r>
              <a:rPr lang="ru-RU"/>
              <a:t> REAL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Question</a:t>
            </a:r>
            <a:r>
              <a:rPr lang="ru-RU"/>
              <a:t>: "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there</a:t>
            </a:r>
            <a:r>
              <a:rPr lang="ru-RU"/>
              <a:t>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?"</a:t>
            </a:r>
          </a:p>
          <a:p>
            <a:pPr marL="0" indent="0" latinLnBrk="1">
              <a:buNone/>
            </a:pPr>
            <a:r>
              <a:rPr lang="ru-RU"/>
              <a:t> </a:t>
            </a:r>
            <a:r>
              <a:rPr lang="ru-RU" b="1"/>
              <a:t>PRACTICAL SIGNIFICANCE: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care</a:t>
            </a:r>
            <a:r>
              <a:rPr lang="ru-RU"/>
              <a:t> </a:t>
            </a:r>
            <a:r>
              <a:rPr lang="ru-RU" err="1"/>
              <a:t>about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Question</a:t>
            </a:r>
            <a:r>
              <a:rPr lang="ru-RU"/>
              <a:t>: "</a:t>
            </a:r>
            <a:r>
              <a:rPr lang="ru-RU" err="1"/>
              <a:t>Does</a:t>
            </a:r>
            <a:r>
              <a:rPr lang="ru-RU"/>
              <a:t> </a:t>
            </a:r>
            <a:r>
              <a:rPr lang="ru-RU" err="1"/>
              <a:t>this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MATTER?"</a:t>
            </a:r>
          </a:p>
          <a:p>
            <a:pPr marL="0" indent="0" latinLnBrk="1">
              <a:buNone/>
            </a:pPr>
            <a:r>
              <a:rPr lang="ru-RU"/>
              <a:t> </a:t>
            </a:r>
            <a:r>
              <a:rPr lang="ru-RU" b="1"/>
              <a:t>EXAMPLE: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Blood</a:t>
            </a:r>
            <a:r>
              <a:rPr lang="ru-RU"/>
              <a:t> </a:t>
            </a:r>
            <a:r>
              <a:rPr lang="ru-RU" err="1"/>
              <a:t>pressure</a:t>
            </a:r>
            <a:r>
              <a:rPr lang="ru-RU"/>
              <a:t> </a:t>
            </a:r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lowers</a:t>
            </a:r>
            <a:r>
              <a:rPr lang="ru-RU"/>
              <a:t> BP </a:t>
            </a:r>
            <a:r>
              <a:rPr lang="ru-RU" err="1"/>
              <a:t>by</a:t>
            </a:r>
            <a:r>
              <a:rPr lang="ru-RU"/>
              <a:t> 0.1 </a:t>
            </a:r>
            <a:r>
              <a:rPr lang="ru-RU" err="1"/>
              <a:t>mmHg</a:t>
            </a:r>
            <a:endParaRPr lang="ru-RU"/>
          </a:p>
          <a:p>
            <a:pPr marL="0" indent="0" latinLnBrk="1">
              <a:buNone/>
            </a:pPr>
            <a:r>
              <a:rPr lang="ru-RU"/>
              <a:t>• n = 10,000 </a:t>
            </a:r>
            <a:r>
              <a:rPr lang="ru-RU" err="1"/>
              <a:t>patients</a:t>
            </a:r>
            <a:r>
              <a:rPr lang="ru-RU"/>
              <a:t> → p = 0.001 (</a:t>
            </a:r>
            <a:r>
              <a:rPr lang="ru-RU" err="1"/>
              <a:t>significant</a:t>
            </a:r>
            <a:r>
              <a:rPr lang="ru-RU"/>
              <a:t>!)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But</a:t>
            </a:r>
            <a:r>
              <a:rPr lang="ru-RU"/>
              <a:t> 0.1 </a:t>
            </a:r>
            <a:r>
              <a:rPr lang="ru-RU" err="1"/>
              <a:t>mmHg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clinically</a:t>
            </a:r>
            <a:r>
              <a:rPr lang="ru-RU"/>
              <a:t> </a:t>
            </a:r>
            <a:r>
              <a:rPr lang="ru-RU" err="1"/>
              <a:t>meaningless</a:t>
            </a:r>
            <a:endParaRPr lang="ru-RU"/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Statistically</a:t>
            </a:r>
            <a:r>
              <a:rPr lang="ru-RU"/>
              <a:t> </a:t>
            </a:r>
            <a:r>
              <a:rPr lang="ru-RU" err="1"/>
              <a:t>significant</a:t>
            </a:r>
            <a:r>
              <a:rPr lang="ru-RU"/>
              <a:t>, </a:t>
            </a:r>
            <a:r>
              <a:rPr lang="ru-RU" err="1"/>
              <a:t>practically</a:t>
            </a:r>
            <a:r>
              <a:rPr lang="ru-RU"/>
              <a:t> </a:t>
            </a:r>
            <a:r>
              <a:rPr lang="ru-RU" err="1"/>
              <a:t>irrelevant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  <a:endParaRPr lang="en-US"/>
          </a:p>
          <a:p>
            <a:pPr marL="0" indent="0" latinLnBrk="1">
              <a:buNone/>
            </a:pPr>
            <a:r>
              <a:rPr lang="ru-RU" b="1"/>
              <a:t>ALWAYS</a:t>
            </a:r>
            <a:r>
              <a:rPr lang="ru-RU"/>
              <a:t> </a:t>
            </a:r>
            <a:r>
              <a:rPr lang="ru-RU" err="1"/>
              <a:t>check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,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just</a:t>
            </a:r>
            <a:r>
              <a:rPr lang="ru-RU"/>
              <a:t> p-</a:t>
            </a:r>
            <a:r>
              <a:rPr lang="ru-RU" err="1"/>
              <a:t>value</a:t>
            </a:r>
            <a:r>
              <a:rPr lang="ru-RU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89092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472D1-3D91-35FF-A13D-88A2139A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4542"/>
          </a:xfrm>
        </p:spPr>
        <p:txBody>
          <a:bodyPr>
            <a:normAutofit fontScale="90000"/>
          </a:bodyPr>
          <a:lstStyle/>
          <a:p>
            <a:r>
              <a:rPr lang="ru-RU" b="1"/>
              <a:t>One-</a:t>
            </a:r>
            <a:r>
              <a:rPr lang="ru-RU" b="1" err="1"/>
              <a:t>Sample</a:t>
            </a:r>
            <a:r>
              <a:rPr lang="ru-RU" b="1"/>
              <a:t> </a:t>
            </a:r>
            <a:r>
              <a:rPr lang="ru-RU" b="1" err="1"/>
              <a:t>Tests</a:t>
            </a:r>
            <a:r>
              <a:rPr lang="ru-RU" b="1"/>
              <a:t> - </a:t>
            </a:r>
            <a:r>
              <a:rPr lang="ru-RU" b="1" err="1"/>
              <a:t>Overview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FE00F6-F80B-7444-8D90-24B887487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073"/>
            <a:ext cx="10515600" cy="4809890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 err="1"/>
              <a:t>When</a:t>
            </a:r>
            <a:r>
              <a:rPr lang="ru-RU" b="1"/>
              <a:t> </a:t>
            </a:r>
            <a:r>
              <a:rPr lang="ru-RU" b="1" err="1"/>
              <a:t>we</a:t>
            </a:r>
            <a:r>
              <a:rPr lang="ru-RU" b="1"/>
              <a:t> </a:t>
            </a:r>
            <a:r>
              <a:rPr lang="ru-RU" b="1" err="1"/>
              <a:t>have</a:t>
            </a:r>
            <a:r>
              <a:rPr lang="ru-RU" b="1"/>
              <a:t> ONE </a:t>
            </a:r>
            <a:r>
              <a:rPr lang="ru-RU" b="1" err="1"/>
              <a:t>group</a:t>
            </a:r>
            <a:r>
              <a:rPr lang="ru-RU" b="1"/>
              <a:t> </a:t>
            </a:r>
            <a:r>
              <a:rPr lang="ru-RU" b="1" err="1"/>
              <a:t>and</a:t>
            </a:r>
            <a:r>
              <a:rPr lang="ru-RU" b="1"/>
              <a:t> </a:t>
            </a:r>
            <a:r>
              <a:rPr lang="ru-RU" b="1" err="1"/>
              <a:t>compare</a:t>
            </a:r>
            <a:r>
              <a:rPr lang="ru-RU" b="1"/>
              <a:t> </a:t>
            </a:r>
            <a:r>
              <a:rPr lang="ru-RU" b="1" err="1"/>
              <a:t>to</a:t>
            </a:r>
            <a:r>
              <a:rPr lang="ru-RU" b="1"/>
              <a:t> a </a:t>
            </a:r>
            <a:r>
              <a:rPr lang="ru-RU" b="1" err="1"/>
              <a:t>known</a:t>
            </a:r>
            <a:r>
              <a:rPr lang="ru-RU" b="1"/>
              <a:t> </a:t>
            </a:r>
            <a:r>
              <a:rPr lang="ru-RU" b="1" err="1"/>
              <a:t>value</a:t>
            </a:r>
            <a:endParaRPr lang="ru-RU" b="1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THREE MAIN TESTS: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1. ONE-SAMPLE Z-TEST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σ </a:t>
            </a:r>
            <a:r>
              <a:rPr lang="ru-RU" err="1"/>
              <a:t>is</a:t>
            </a:r>
            <a:r>
              <a:rPr lang="ru-RU"/>
              <a:t> KNOWN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Rare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practice</a:t>
            </a:r>
            <a:r>
              <a:rPr lang="ru-RU"/>
              <a:t> (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rarely</a:t>
            </a:r>
            <a:r>
              <a:rPr lang="ru-RU"/>
              <a:t> </a:t>
            </a:r>
            <a:r>
              <a:rPr lang="ru-RU" err="1"/>
              <a:t>know</a:t>
            </a:r>
            <a:r>
              <a:rPr lang="ru-RU"/>
              <a:t> σ)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samples</a:t>
            </a:r>
            <a:r>
              <a:rPr lang="ru-RU"/>
              <a:t> (n ≥ 30)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2. ONE-SAMPLE T-TEST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σ </a:t>
            </a:r>
            <a:r>
              <a:rPr lang="ru-RU" err="1"/>
              <a:t>is</a:t>
            </a:r>
            <a:r>
              <a:rPr lang="ru-RU"/>
              <a:t> UNKNOWN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Estimated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SD (s)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Most</a:t>
            </a:r>
            <a:r>
              <a:rPr lang="ru-RU"/>
              <a:t> </a:t>
            </a:r>
            <a:r>
              <a:rPr lang="ru-RU" err="1"/>
              <a:t>common</a:t>
            </a:r>
            <a:r>
              <a:rPr lang="ru-RU"/>
              <a:t> </a:t>
            </a:r>
            <a:r>
              <a:rPr lang="ru-RU" err="1"/>
              <a:t>scenario</a:t>
            </a:r>
            <a:r>
              <a:rPr lang="ru-RU"/>
              <a:t>!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3. ONE-SAMPLE PROPORTION TEST</a:t>
            </a:r>
          </a:p>
          <a:p>
            <a:pPr marL="0" indent="0" latinLnBrk="1">
              <a:buNone/>
            </a:pPr>
            <a:r>
              <a:rPr lang="ru-RU"/>
              <a:t>   • For </a:t>
            </a:r>
            <a:r>
              <a:rPr lang="ru-RU" err="1"/>
              <a:t>binary</a:t>
            </a:r>
            <a:r>
              <a:rPr lang="ru-RU"/>
              <a:t>/</a:t>
            </a:r>
            <a:r>
              <a:rPr lang="ru-RU" err="1"/>
              <a:t>categorical</a:t>
            </a:r>
            <a:r>
              <a:rPr lang="ru-RU"/>
              <a:t> </a:t>
            </a:r>
            <a:r>
              <a:rPr lang="ru-RU" err="1"/>
              <a:t>outcomes</a:t>
            </a:r>
            <a:endParaRPr lang="ru-RU"/>
          </a:p>
          <a:p>
            <a:pPr marL="0" indent="0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%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who</a:t>
            </a:r>
            <a:r>
              <a:rPr lang="ru-RU"/>
              <a:t> </a:t>
            </a:r>
            <a:r>
              <a:rPr lang="ru-RU" err="1"/>
              <a:t>churn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360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99A1D3-EB1F-6360-F897-86F47AEF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>
            <a:normAutofit fontScale="90000"/>
          </a:bodyPr>
          <a:lstStyle/>
          <a:p>
            <a:r>
              <a:rPr lang="ru-RU" b="1"/>
              <a:t>One-</a:t>
            </a:r>
            <a:r>
              <a:rPr lang="ru-RU" b="1" err="1"/>
              <a:t>Sample</a:t>
            </a:r>
            <a:r>
              <a:rPr lang="ru-RU" b="1"/>
              <a:t> T-Test - </a:t>
            </a:r>
            <a:r>
              <a:rPr lang="ru-RU" b="1" err="1"/>
              <a:t>When</a:t>
            </a:r>
            <a:r>
              <a:rPr lang="ru-RU" b="1"/>
              <a:t> You </a:t>
            </a:r>
            <a:r>
              <a:rPr lang="ru-RU" b="1" err="1"/>
              <a:t>Don't</a:t>
            </a:r>
            <a:r>
              <a:rPr lang="ru-RU" b="1"/>
              <a:t> </a:t>
            </a:r>
            <a:r>
              <a:rPr lang="ru-RU" b="1" err="1"/>
              <a:t>Know</a:t>
            </a:r>
            <a:r>
              <a:rPr lang="ru-RU" b="1"/>
              <a:t> σ</a:t>
            </a:r>
            <a:br>
              <a:rPr lang="ru-RU"/>
            </a:b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217A0C-624F-E331-C241-E98E14069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5099601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/>
              <a:t>REALITY: </a:t>
            </a:r>
            <a:r>
              <a:rPr lang="ru-RU"/>
              <a:t>We </a:t>
            </a:r>
            <a:r>
              <a:rPr lang="ru-RU" err="1"/>
              <a:t>almost</a:t>
            </a:r>
            <a:r>
              <a:rPr lang="ru-RU"/>
              <a:t> NEVER </a:t>
            </a:r>
            <a:r>
              <a:rPr lang="ru-RU" err="1"/>
              <a:t>know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ONE-SAMPLE T-TEST:</a:t>
            </a:r>
          </a:p>
          <a:p>
            <a:pPr latinLnBrk="1"/>
            <a:r>
              <a:rPr lang="ru-RU" err="1"/>
              <a:t>Compare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hypothesized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</a:t>
            </a:r>
            <a:r>
              <a:rPr lang="ru-RU" err="1"/>
              <a:t>mean</a:t>
            </a:r>
            <a:endParaRPr lang="ru-RU"/>
          </a:p>
          <a:p>
            <a:pPr latinLnBrk="1"/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</a:t>
            </a:r>
            <a:r>
              <a:rPr lang="ru-RU"/>
              <a:t> (s)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estimate</a:t>
            </a:r>
            <a:r>
              <a:rPr lang="ru-RU"/>
              <a:t> σ</a:t>
            </a:r>
          </a:p>
          <a:p>
            <a:pPr latinLnBrk="1"/>
            <a:r>
              <a:rPr lang="ru-RU" err="1"/>
              <a:t>Accounts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extra</a:t>
            </a:r>
            <a:r>
              <a:rPr lang="ru-RU"/>
              <a:t> </a:t>
            </a:r>
            <a:r>
              <a:rPr lang="ru-RU" err="1"/>
              <a:t>uncertainty</a:t>
            </a:r>
            <a:r>
              <a:rPr lang="ru-RU"/>
              <a:t> </a:t>
            </a:r>
            <a:r>
              <a:rPr lang="ru-RU" err="1"/>
              <a:t>with</a:t>
            </a:r>
            <a:r>
              <a:rPr lang="ru-RU"/>
              <a:t> t-</a:t>
            </a:r>
            <a:r>
              <a:rPr lang="ru-RU" err="1"/>
              <a:t>distribution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T-STATISTIC FORMULA: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        x̄ - μ₀</a:t>
            </a:r>
          </a:p>
          <a:p>
            <a:pPr marL="0" indent="0" latinLnBrk="1">
              <a:buNone/>
            </a:pPr>
            <a:r>
              <a:rPr lang="ru-RU"/>
              <a:t>t = ─────────────</a:t>
            </a:r>
          </a:p>
          <a:p>
            <a:pPr marL="0" indent="0" latinLnBrk="1">
              <a:buNone/>
            </a:pPr>
            <a:r>
              <a:rPr lang="ru-RU"/>
              <a:t>        s / √n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WHERE:</a:t>
            </a:r>
          </a:p>
          <a:p>
            <a:pPr latinLnBrk="1"/>
            <a:r>
              <a:rPr lang="ru-RU"/>
              <a:t>x̄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mean</a:t>
            </a:r>
            <a:endParaRPr lang="ru-RU"/>
          </a:p>
          <a:p>
            <a:pPr latinLnBrk="1"/>
            <a:r>
              <a:rPr lang="ru-RU"/>
              <a:t>μ₀ = </a:t>
            </a:r>
            <a:r>
              <a:rPr lang="ru-RU" err="1"/>
              <a:t>hypothesized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 (</a:t>
            </a:r>
            <a:r>
              <a:rPr lang="ru-RU" err="1"/>
              <a:t>from</a:t>
            </a:r>
            <a:r>
              <a:rPr lang="ru-RU"/>
              <a:t> H₀)</a:t>
            </a:r>
          </a:p>
          <a:p>
            <a:pPr latinLnBrk="1"/>
            <a:r>
              <a:rPr lang="ru-RU"/>
              <a:t>s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</a:t>
            </a:r>
            <a:endParaRPr lang="ru-RU"/>
          </a:p>
          <a:p>
            <a:pPr latinLnBrk="1"/>
            <a:r>
              <a:rPr lang="ru-RU"/>
              <a:t>n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size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525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E489E6-A2F5-CA35-6CBC-3DF266BD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483"/>
            <a:ext cx="10515600" cy="902361"/>
          </a:xfrm>
        </p:spPr>
        <p:txBody>
          <a:bodyPr/>
          <a:lstStyle/>
          <a:p>
            <a:r>
              <a:rPr lang="ru-RU" b="1"/>
              <a:t>One-</a:t>
            </a:r>
            <a:r>
              <a:rPr lang="ru-RU" b="1" err="1"/>
              <a:t>Sample</a:t>
            </a:r>
            <a:r>
              <a:rPr lang="ru-RU" b="1"/>
              <a:t> T-Test - </a:t>
            </a:r>
            <a:r>
              <a:rPr lang="ru-RU" b="1" err="1"/>
              <a:t>Complete</a:t>
            </a:r>
            <a:r>
              <a:rPr lang="ru-RU" b="1"/>
              <a:t> </a:t>
            </a:r>
            <a:r>
              <a:rPr lang="ru-RU" b="1" err="1"/>
              <a:t>Example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B58164-0A33-8F54-BC15-F440E91D5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752"/>
            <a:ext cx="10515600" cy="4864211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b="1"/>
              <a:t>PROBLEM: </a:t>
            </a:r>
            <a:r>
              <a:rPr lang="ru-RU" err="1"/>
              <a:t>Historical</a:t>
            </a:r>
            <a:r>
              <a:rPr lang="ru-RU"/>
              <a:t> </a:t>
            </a:r>
            <a:r>
              <a:rPr lang="ru-RU" err="1"/>
              <a:t>average</a:t>
            </a:r>
            <a:r>
              <a:rPr lang="ru-RU"/>
              <a:t> </a:t>
            </a:r>
            <a:r>
              <a:rPr lang="ru-RU" err="1"/>
              <a:t>customer</a:t>
            </a:r>
            <a:r>
              <a:rPr lang="ru-RU"/>
              <a:t> </a:t>
            </a:r>
            <a:r>
              <a:rPr lang="ru-RU" err="1"/>
              <a:t>satisfaction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7.5/10</a:t>
            </a:r>
          </a:p>
          <a:p>
            <a:pPr marL="0" indent="0" latinLnBrk="1">
              <a:buNone/>
            </a:pPr>
            <a:r>
              <a:rPr lang="ru-RU"/>
              <a:t>         New </a:t>
            </a:r>
            <a:r>
              <a:rPr lang="ru-RU" err="1"/>
              <a:t>process</a:t>
            </a:r>
            <a:r>
              <a:rPr lang="ru-RU"/>
              <a:t> </a:t>
            </a:r>
            <a:r>
              <a:rPr lang="ru-RU" err="1"/>
              <a:t>implemented</a:t>
            </a:r>
            <a:r>
              <a:rPr lang="ru-RU"/>
              <a:t>. </a:t>
            </a:r>
            <a:r>
              <a:rPr lang="ru-RU" err="1"/>
              <a:t>Sample</a:t>
            </a:r>
            <a:r>
              <a:rPr lang="ru-RU"/>
              <a:t>: 20 </a:t>
            </a:r>
            <a:r>
              <a:rPr lang="ru-RU" err="1"/>
              <a:t>customers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Data: </a:t>
            </a:r>
            <a:r>
              <a:rPr lang="ru-RU"/>
              <a:t>[6.8, 7.2, 8.1, 7.9, 6.5, 8.3, 7.7, 7.1, 8.0, 7.4,</a:t>
            </a:r>
          </a:p>
          <a:p>
            <a:pPr marL="0" indent="0" latinLnBrk="1">
              <a:buNone/>
            </a:pPr>
            <a:r>
              <a:rPr lang="ru-RU"/>
              <a:t>        7.6, 6.9, 8.2, 7.3, 7.8, 6.7, 8.4, 7.0, 7.5, 8.5]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STEP 1: </a:t>
            </a:r>
            <a:r>
              <a:rPr lang="ru-RU"/>
              <a:t>H₀: μ = 7.5 (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change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STEP 2: </a:t>
            </a:r>
            <a:r>
              <a:rPr lang="ru-RU"/>
              <a:t>H₁: μ ≠ 7.5 (</a:t>
            </a:r>
            <a:r>
              <a:rPr lang="ru-RU" err="1"/>
              <a:t>two-tailed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STEP 3: </a:t>
            </a:r>
            <a:r>
              <a:rPr lang="ru-RU"/>
              <a:t>α = 0.05</a:t>
            </a:r>
          </a:p>
          <a:p>
            <a:pPr marL="0" indent="0" latinLnBrk="1">
              <a:buNone/>
            </a:pPr>
            <a:r>
              <a:rPr lang="ru-RU" b="1"/>
              <a:t>STEP 4: </a:t>
            </a:r>
            <a:r>
              <a:rPr lang="ru-RU" err="1"/>
              <a:t>Calculate</a:t>
            </a:r>
            <a:r>
              <a:rPr lang="ru-RU"/>
              <a:t> 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statistic</a:t>
            </a:r>
            <a:endParaRPr lang="ru-RU"/>
          </a:p>
          <a:p>
            <a:pPr marL="0" indent="0" latinLnBrk="1">
              <a:buNone/>
            </a:pPr>
            <a:r>
              <a:rPr lang="ru-RU"/>
              <a:t>        x̄ = 7.55, s = 0.58, n = 20</a:t>
            </a:r>
          </a:p>
          <a:p>
            <a:pPr marL="0" indent="0" latinLnBrk="1">
              <a:buNone/>
            </a:pPr>
            <a:r>
              <a:rPr lang="ru-RU"/>
              <a:t>        t = (7.55 - 7.5) / (0.58 / √20) = 0.05 / 0.13 = 0.385</a:t>
            </a:r>
          </a:p>
          <a:p>
            <a:pPr marL="0" indent="0" latinLnBrk="1">
              <a:buNone/>
            </a:pPr>
            <a:r>
              <a:rPr lang="ru-RU" b="1"/>
              <a:t>STEP 5: </a:t>
            </a:r>
            <a:r>
              <a:rPr lang="ru-RU" err="1"/>
              <a:t>df</a:t>
            </a:r>
            <a:r>
              <a:rPr lang="ru-RU"/>
              <a:t> = 19, p-</a:t>
            </a:r>
            <a:r>
              <a:rPr lang="ru-RU" err="1"/>
              <a:t>value</a:t>
            </a:r>
            <a:r>
              <a:rPr lang="ru-RU"/>
              <a:t> = 0.704 (</a:t>
            </a:r>
            <a:r>
              <a:rPr lang="ru-RU" err="1"/>
              <a:t>from</a:t>
            </a:r>
            <a:r>
              <a:rPr lang="ru-RU"/>
              <a:t> t-</a:t>
            </a:r>
            <a:r>
              <a:rPr lang="ru-RU" err="1"/>
              <a:t>table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software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STEP 6: </a:t>
            </a:r>
            <a:r>
              <a:rPr lang="ru-RU"/>
              <a:t>p = 0.704 &gt; α = 0.05 → FAIL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 H₀</a:t>
            </a:r>
          </a:p>
          <a:p>
            <a:pPr marL="0" indent="0" latinLnBrk="1">
              <a:buNone/>
            </a:pPr>
            <a:r>
              <a:rPr lang="ru-RU" b="1"/>
              <a:t>STEP 7: </a:t>
            </a:r>
            <a:r>
              <a:rPr lang="ru-RU" err="1"/>
              <a:t>Conclusion</a:t>
            </a:r>
            <a:r>
              <a:rPr lang="ru-RU"/>
              <a:t>: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enough</a:t>
            </a:r>
            <a:r>
              <a:rPr lang="ru-RU"/>
              <a:t> </a:t>
            </a:r>
            <a:r>
              <a:rPr lang="ru-RU" err="1"/>
              <a:t>evidence</a:t>
            </a:r>
            <a:r>
              <a:rPr lang="ru-RU"/>
              <a:t> </a:t>
            </a:r>
            <a:r>
              <a:rPr lang="ru-RU" err="1"/>
              <a:t>that</a:t>
            </a:r>
            <a:r>
              <a:rPr lang="ru-RU"/>
              <a:t> </a:t>
            </a:r>
            <a:r>
              <a:rPr lang="ru-RU" err="1"/>
              <a:t>satisfaction</a:t>
            </a:r>
            <a:r>
              <a:rPr lang="ru-RU"/>
              <a:t> </a:t>
            </a:r>
            <a:r>
              <a:rPr lang="ru-RU" err="1"/>
              <a:t>changed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 b="1"/>
              <a:t>INTERPRETATION: </a:t>
            </a:r>
            <a:r>
              <a:rPr lang="ru-RU"/>
              <a:t>The </a:t>
            </a:r>
            <a:r>
              <a:rPr lang="ru-RU" err="1"/>
              <a:t>small</a:t>
            </a:r>
            <a:r>
              <a:rPr lang="ru-RU"/>
              <a:t> </a:t>
            </a:r>
            <a:r>
              <a:rPr lang="ru-RU" err="1"/>
              <a:t>difference</a:t>
            </a:r>
            <a:r>
              <a:rPr lang="ru-RU"/>
              <a:t> (0.05)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easily</a:t>
            </a:r>
            <a:r>
              <a:rPr lang="ru-RU"/>
              <a:t> </a:t>
            </a:r>
            <a:r>
              <a:rPr lang="ru-RU" err="1"/>
              <a:t>explained</a:t>
            </a:r>
            <a:r>
              <a:rPr lang="ru-RU"/>
              <a:t> </a:t>
            </a:r>
            <a:r>
              <a:rPr lang="ru-RU" err="1"/>
              <a:t>by</a:t>
            </a:r>
            <a:r>
              <a:rPr lang="ru-RU"/>
              <a:t> </a:t>
            </a:r>
            <a:r>
              <a:rPr lang="ru-RU" err="1"/>
              <a:t>chance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242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CDC95-6A13-0CB6-AC01-7FA20EC90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90"/>
            <a:ext cx="10515600" cy="866147"/>
          </a:xfrm>
        </p:spPr>
        <p:txBody>
          <a:bodyPr/>
          <a:lstStyle/>
          <a:p>
            <a:r>
              <a:rPr lang="ru-RU" b="1"/>
              <a:t>Python - One-</a:t>
            </a:r>
            <a:r>
              <a:rPr lang="ru-RU" b="1" err="1"/>
              <a:t>Sample</a:t>
            </a:r>
            <a:r>
              <a:rPr lang="ru-RU" b="1"/>
              <a:t> T-Test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AE5F3-6E4F-4272-42E2-DD3556750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539"/>
            <a:ext cx="10515600" cy="5169528"/>
          </a:xfrm>
        </p:spPr>
        <p:txBody>
          <a:bodyPr numCol="2"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numpy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np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Sample</a:t>
            </a:r>
            <a:r>
              <a:rPr lang="ru-RU" i="1"/>
              <a:t> </a:t>
            </a:r>
            <a:r>
              <a:rPr lang="ru-RU" i="1" err="1"/>
              <a:t>data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scores</a:t>
            </a:r>
            <a:r>
              <a:rPr lang="ru-RU"/>
              <a:t> = </a:t>
            </a:r>
            <a:r>
              <a:rPr lang="ru-RU" err="1"/>
              <a:t>np.array</a:t>
            </a:r>
            <a:r>
              <a:rPr lang="ru-RU"/>
              <a:t>([6.8, 7.2, 8.1, 7.9, 6.5, 8.3, 7.7, 7.1, 8.0, 7.4,</a:t>
            </a:r>
          </a:p>
          <a:p>
            <a:pPr marL="0" indent="0" latinLnBrk="1">
              <a:buNone/>
            </a:pPr>
            <a:r>
              <a:rPr lang="ru-RU"/>
              <a:t>                   7.6, 6.9, 8.2, 7.3, 7.8, 6.7, 8.4, 7.0, 7.5, 8.5])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Hypothesized</a:t>
            </a:r>
            <a:r>
              <a:rPr lang="ru-RU" i="1"/>
              <a:t> </a:t>
            </a:r>
            <a:r>
              <a:rPr lang="ru-RU" i="1" err="1"/>
              <a:t>population</a:t>
            </a:r>
            <a:r>
              <a:rPr lang="ru-RU" i="1"/>
              <a:t> </a:t>
            </a:r>
            <a:r>
              <a:rPr lang="ru-RU" i="1" err="1"/>
              <a:t>mean</a:t>
            </a:r>
            <a:endParaRPr lang="ru-RU"/>
          </a:p>
          <a:p>
            <a:pPr marL="0" indent="0" latinLnBrk="1">
              <a:buNone/>
            </a:pPr>
            <a:r>
              <a:rPr lang="ru-RU"/>
              <a:t>mu_0 = 7.5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t-</a:t>
            </a:r>
            <a:r>
              <a:rPr lang="ru-RU" i="1" err="1"/>
              <a:t>statistic</a:t>
            </a:r>
            <a:r>
              <a:rPr lang="ru-RU" i="1"/>
              <a:t> </a:t>
            </a:r>
            <a:r>
              <a:rPr lang="ru-RU" i="1" err="1"/>
              <a:t>and</a:t>
            </a:r>
            <a:r>
              <a:rPr lang="ru-RU" i="1"/>
              <a:t> p-</a:t>
            </a:r>
            <a:r>
              <a:rPr lang="ru-RU" i="1" err="1"/>
              <a:t>value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t_stat</a:t>
            </a:r>
            <a:r>
              <a:rPr lang="ru-RU"/>
              <a:t>, </a:t>
            </a:r>
            <a:r>
              <a:rPr lang="ru-RU" err="1"/>
              <a:t>p_value</a:t>
            </a:r>
            <a:r>
              <a:rPr lang="ru-RU"/>
              <a:t> = stats.ttest_1samp(</a:t>
            </a:r>
            <a:r>
              <a:rPr lang="ru-RU" err="1"/>
              <a:t>scores</a:t>
            </a:r>
            <a:r>
              <a:rPr lang="ru-RU"/>
              <a:t>, mu_0)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f"Sample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: {</a:t>
            </a:r>
            <a:r>
              <a:rPr lang="ru-RU" err="1"/>
              <a:t>len</a:t>
            </a:r>
            <a:r>
              <a:rPr lang="ru-RU"/>
              <a:t>(</a:t>
            </a:r>
            <a:r>
              <a:rPr lang="ru-RU" err="1"/>
              <a:t>scores</a:t>
            </a:r>
            <a:r>
              <a:rPr lang="ru-RU"/>
              <a:t>)}")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f"Sample</a:t>
            </a:r>
            <a:r>
              <a:rPr lang="ru-RU"/>
              <a:t> </a:t>
            </a:r>
            <a:r>
              <a:rPr lang="ru-RU" err="1"/>
              <a:t>mean</a:t>
            </a:r>
            <a:r>
              <a:rPr lang="ru-RU"/>
              <a:t>: {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scores</a:t>
            </a:r>
            <a:r>
              <a:rPr lang="ru-RU"/>
              <a:t>):.3f}")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f"Sample</a:t>
            </a:r>
            <a:r>
              <a:rPr lang="ru-RU"/>
              <a:t> </a:t>
            </a:r>
            <a:r>
              <a:rPr lang="ru-RU" err="1"/>
              <a:t>std</a:t>
            </a:r>
            <a:r>
              <a:rPr lang="ru-RU"/>
              <a:t>: {</a:t>
            </a:r>
            <a:r>
              <a:rPr lang="ru-RU" err="1"/>
              <a:t>np.std</a:t>
            </a:r>
            <a:r>
              <a:rPr lang="ru-RU"/>
              <a:t>(</a:t>
            </a:r>
            <a:r>
              <a:rPr lang="ru-RU" err="1"/>
              <a:t>scores</a:t>
            </a:r>
            <a:r>
              <a:rPr lang="ru-RU"/>
              <a:t>, </a:t>
            </a:r>
            <a:r>
              <a:rPr lang="ru-RU" err="1"/>
              <a:t>ddof</a:t>
            </a:r>
            <a:r>
              <a:rPr lang="ru-RU"/>
              <a:t>=1):.3f}")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f"t-statistic</a:t>
            </a:r>
            <a:r>
              <a:rPr lang="ru-RU"/>
              <a:t>: {t_stat:.3f}")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f"p-value</a:t>
            </a:r>
            <a:r>
              <a:rPr lang="ru-RU"/>
              <a:t>: {p_value:.3f}")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Decision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alpha</a:t>
            </a:r>
            <a:r>
              <a:rPr lang="ru-RU"/>
              <a:t> = 0.05</a:t>
            </a:r>
          </a:p>
          <a:p>
            <a:pPr marL="0" indent="0" latinLnBrk="1">
              <a:buNone/>
            </a:pP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p_value</a:t>
            </a:r>
            <a:r>
              <a:rPr lang="ru-RU"/>
              <a:t> &lt; </a:t>
            </a:r>
            <a:r>
              <a:rPr lang="ru-RU" err="1"/>
              <a:t>alpha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print</a:t>
            </a:r>
            <a:r>
              <a:rPr lang="ru-RU"/>
              <a:t>("</a:t>
            </a:r>
            <a:r>
              <a:rPr lang="ru-RU" err="1"/>
              <a:t>Reject</a:t>
            </a:r>
            <a:r>
              <a:rPr lang="ru-RU"/>
              <a:t> H₀ - </a:t>
            </a:r>
            <a:r>
              <a:rPr lang="ru-RU" err="1"/>
              <a:t>Significant</a:t>
            </a:r>
            <a:r>
              <a:rPr lang="ru-RU"/>
              <a:t> </a:t>
            </a:r>
            <a:r>
              <a:rPr lang="ru-RU" err="1"/>
              <a:t>difference</a:t>
            </a:r>
            <a:r>
              <a:rPr lang="ru-RU"/>
              <a:t>")</a:t>
            </a:r>
          </a:p>
          <a:p>
            <a:pPr marL="0" indent="0" latinLnBrk="1">
              <a:buNone/>
            </a:pPr>
            <a:r>
              <a:rPr lang="ru-RU" err="1"/>
              <a:t>else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print</a:t>
            </a:r>
            <a:r>
              <a:rPr lang="ru-RU"/>
              <a:t>("</a:t>
            </a:r>
            <a:r>
              <a:rPr lang="ru-RU" err="1"/>
              <a:t>Fail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 H₀ -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significant</a:t>
            </a:r>
            <a:r>
              <a:rPr lang="ru-RU"/>
              <a:t>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5904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BD08B-4E01-51D9-3621-3702C7D24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2115"/>
          </a:xfrm>
        </p:spPr>
        <p:txBody>
          <a:bodyPr>
            <a:normAutofit fontScale="90000"/>
          </a:bodyPr>
          <a:lstStyle/>
          <a:p>
            <a:r>
              <a:rPr lang="ru-RU" b="1"/>
              <a:t>One-</a:t>
            </a:r>
            <a:r>
              <a:rPr lang="ru-RU" b="1" err="1"/>
              <a:t>Sample</a:t>
            </a:r>
            <a:r>
              <a:rPr lang="ru-RU" b="1"/>
              <a:t> Z-Test - </a:t>
            </a:r>
            <a:r>
              <a:rPr lang="ru-RU" b="1" err="1"/>
              <a:t>When</a:t>
            </a:r>
            <a:r>
              <a:rPr lang="ru-RU" b="1"/>
              <a:t> σ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Known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50085-1BB5-94DF-8DD9-FE1D64C3B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844"/>
            <a:ext cx="10515600" cy="5018119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/>
              <a:t>RARE </a:t>
            </a:r>
            <a:r>
              <a:rPr lang="ru-RU" err="1"/>
              <a:t>but</a:t>
            </a:r>
            <a:r>
              <a:rPr lang="ru-RU"/>
              <a:t> </a:t>
            </a:r>
            <a:r>
              <a:rPr lang="ru-RU" err="1"/>
              <a:t>useful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teaching</a:t>
            </a:r>
            <a:endParaRPr lang="ru-RU"/>
          </a:p>
          <a:p>
            <a:pPr marL="0" indent="0" latinLnBrk="1">
              <a:buNone/>
            </a:pPr>
            <a:r>
              <a:rPr lang="ru-RU" b="1"/>
              <a:t> FORMULA:</a:t>
            </a:r>
          </a:p>
          <a:p>
            <a:pPr marL="0" indent="0" latinLnBrk="1">
              <a:buNone/>
            </a:pPr>
            <a:r>
              <a:rPr lang="ru-RU"/>
              <a:t>         x̄ - μ₀</a:t>
            </a:r>
          </a:p>
          <a:p>
            <a:pPr marL="0" indent="0" latinLnBrk="1">
              <a:buNone/>
            </a:pPr>
            <a:r>
              <a:rPr lang="ru-RU"/>
              <a:t>z = ─────────────</a:t>
            </a:r>
          </a:p>
          <a:p>
            <a:pPr marL="0" indent="0" latinLnBrk="1">
              <a:buNone/>
            </a:pPr>
            <a:r>
              <a:rPr lang="ru-RU"/>
              <a:t>        σ / √n</a:t>
            </a:r>
          </a:p>
          <a:p>
            <a:pPr marL="0" indent="0" latinLnBrk="1">
              <a:buNone/>
            </a:pPr>
            <a:r>
              <a:rPr lang="ru-RU" b="1"/>
              <a:t> EXAMPLE:</a:t>
            </a:r>
          </a:p>
          <a:p>
            <a:pPr latinLnBrk="1"/>
            <a:r>
              <a:rPr lang="ru-RU"/>
              <a:t>IQ </a:t>
            </a:r>
            <a:r>
              <a:rPr lang="ru-RU" err="1"/>
              <a:t>scores</a:t>
            </a:r>
            <a:r>
              <a:rPr lang="ru-RU"/>
              <a:t>: </a:t>
            </a:r>
            <a:r>
              <a:rPr lang="ru-RU" err="1"/>
              <a:t>population</a:t>
            </a:r>
            <a:r>
              <a:rPr lang="ru-RU"/>
              <a:t> σ = 15</a:t>
            </a:r>
          </a:p>
          <a:p>
            <a:pPr latinLnBrk="1"/>
            <a:r>
              <a:rPr lang="ru-RU" err="1"/>
              <a:t>Sample</a:t>
            </a:r>
            <a:r>
              <a:rPr lang="ru-RU"/>
              <a:t>: 30 </a:t>
            </a:r>
            <a:r>
              <a:rPr lang="ru-RU" err="1"/>
              <a:t>students</a:t>
            </a:r>
            <a:r>
              <a:rPr lang="ru-RU"/>
              <a:t>, x̄ = 108</a:t>
            </a:r>
          </a:p>
          <a:p>
            <a:pPr latinLnBrk="1"/>
            <a:r>
              <a:rPr lang="ru-RU"/>
              <a:t>Test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μ = 100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z = (108 - 100) / (15 / √30) = 8 / 2.74 = 2.92</a:t>
            </a:r>
          </a:p>
          <a:p>
            <a:pPr marL="0" indent="0" latinLnBrk="1">
              <a:buNone/>
            </a:pPr>
            <a:r>
              <a:rPr lang="ru-RU"/>
              <a:t>p-</a:t>
            </a:r>
            <a:r>
              <a:rPr lang="ru-RU" err="1"/>
              <a:t>value</a:t>
            </a:r>
            <a:r>
              <a:rPr lang="ru-RU"/>
              <a:t> = 0.0035 (</a:t>
            </a:r>
            <a:r>
              <a:rPr lang="ru-RU" err="1"/>
              <a:t>two-tailed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err="1"/>
              <a:t>Conclusion</a:t>
            </a:r>
            <a:r>
              <a:rPr lang="ru-RU"/>
              <a:t>: </a:t>
            </a:r>
            <a:r>
              <a:rPr lang="ru-RU" err="1"/>
              <a:t>Reject</a:t>
            </a:r>
            <a:r>
              <a:rPr lang="ru-RU"/>
              <a:t> H₀ - </a:t>
            </a:r>
            <a:r>
              <a:rPr lang="ru-RU" err="1"/>
              <a:t>students</a:t>
            </a:r>
            <a:r>
              <a:rPr lang="ru-RU"/>
              <a:t> </a:t>
            </a:r>
            <a:r>
              <a:rPr lang="ru-RU" err="1"/>
              <a:t>have</a:t>
            </a:r>
            <a:r>
              <a:rPr lang="ru-RU"/>
              <a:t> </a:t>
            </a:r>
            <a:r>
              <a:rPr lang="ru-RU" err="1"/>
              <a:t>different</a:t>
            </a:r>
            <a:r>
              <a:rPr lang="ru-RU"/>
              <a:t> IQ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PYTHON:</a:t>
            </a:r>
          </a:p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z_stat</a:t>
            </a:r>
            <a:r>
              <a:rPr lang="ru-RU"/>
              <a:t> = 2.92</a:t>
            </a:r>
          </a:p>
          <a:p>
            <a:pPr marL="0" indent="0" latinLnBrk="1">
              <a:buNone/>
            </a:pPr>
            <a:r>
              <a:rPr lang="ru-RU" err="1"/>
              <a:t>p_value</a:t>
            </a:r>
            <a:r>
              <a:rPr lang="ru-RU"/>
              <a:t> = 2 * (1 - </a:t>
            </a:r>
            <a:r>
              <a:rPr lang="ru-RU" err="1"/>
              <a:t>stats.norm.cdf</a:t>
            </a:r>
            <a:r>
              <a:rPr lang="ru-RU"/>
              <a:t>(</a:t>
            </a:r>
            <a:r>
              <a:rPr lang="ru-RU" err="1"/>
              <a:t>abs</a:t>
            </a:r>
            <a:r>
              <a:rPr lang="ru-RU"/>
              <a:t>(</a:t>
            </a:r>
            <a:r>
              <a:rPr lang="ru-RU" err="1"/>
              <a:t>z_stat</a:t>
            </a:r>
            <a:r>
              <a:rPr lang="ru-RU"/>
              <a:t>)))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257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221E9-A81E-4AB5-9564-04E23AC2B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612"/>
          </a:xfrm>
        </p:spPr>
        <p:txBody>
          <a:bodyPr/>
          <a:lstStyle/>
          <a:p>
            <a:r>
              <a:rPr lang="ru-RU" b="1"/>
              <a:t>One-</a:t>
            </a:r>
            <a:r>
              <a:rPr lang="ru-RU" b="1" err="1"/>
              <a:t>Sample</a:t>
            </a:r>
            <a:r>
              <a:rPr lang="ru-RU" b="1"/>
              <a:t> </a:t>
            </a:r>
            <a:r>
              <a:rPr lang="ru-RU" b="1" err="1"/>
              <a:t>Proportion</a:t>
            </a:r>
            <a:r>
              <a:rPr lang="ru-RU" b="1"/>
              <a:t> 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FB2F9-3754-F408-D449-E553A8644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646"/>
            <a:ext cx="10515600" cy="4882317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/>
              <a:t>For BINARY </a:t>
            </a:r>
            <a:r>
              <a:rPr lang="ru-RU" err="1"/>
              <a:t>outcomes</a:t>
            </a:r>
            <a:r>
              <a:rPr lang="ru-RU"/>
              <a:t> (</a:t>
            </a:r>
            <a:r>
              <a:rPr lang="ru-RU" err="1"/>
              <a:t>yes</a:t>
            </a:r>
            <a:r>
              <a:rPr lang="ru-RU"/>
              <a:t>/</a:t>
            </a:r>
            <a:r>
              <a:rPr lang="ru-RU" err="1"/>
              <a:t>no</a:t>
            </a:r>
            <a:r>
              <a:rPr lang="ru-RU"/>
              <a:t>, </a:t>
            </a:r>
            <a:r>
              <a:rPr lang="ru-RU" err="1"/>
              <a:t>success</a:t>
            </a:r>
            <a:r>
              <a:rPr lang="ru-RU"/>
              <a:t>/</a:t>
            </a:r>
            <a:r>
              <a:rPr lang="ru-RU" err="1"/>
              <a:t>failure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 FORMULA:</a:t>
            </a:r>
          </a:p>
          <a:p>
            <a:pPr marL="0" indent="0" latinLnBrk="1">
              <a:buNone/>
            </a:pPr>
            <a:r>
              <a:rPr lang="ru-RU"/>
              <a:t>         p̂ - p₀</a:t>
            </a:r>
          </a:p>
          <a:p>
            <a:pPr marL="0" indent="0" latinLnBrk="1">
              <a:buNone/>
            </a:pPr>
            <a:r>
              <a:rPr lang="ru-RU"/>
              <a:t>z = ───────────────</a:t>
            </a:r>
          </a:p>
          <a:p>
            <a:pPr marL="0" indent="0" latinLnBrk="1">
              <a:buNone/>
            </a:pPr>
            <a:r>
              <a:rPr lang="ru-RU"/>
              <a:t>     √[p₀(1-p₀)/n]</a:t>
            </a:r>
          </a:p>
          <a:p>
            <a:pPr marL="0" indent="0" latinLnBrk="1">
              <a:buNone/>
            </a:pPr>
            <a:r>
              <a:rPr lang="ru-RU" b="1"/>
              <a:t> WHERE:</a:t>
            </a:r>
          </a:p>
          <a:p>
            <a:pPr latinLnBrk="1"/>
            <a:r>
              <a:rPr lang="ru-RU"/>
              <a:t>p̂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proportion</a:t>
            </a:r>
            <a:endParaRPr lang="ru-RU"/>
          </a:p>
          <a:p>
            <a:pPr latinLnBrk="1"/>
            <a:r>
              <a:rPr lang="ru-RU"/>
              <a:t>p₀ = </a:t>
            </a:r>
            <a:r>
              <a:rPr lang="ru-RU" err="1"/>
              <a:t>hypothesized</a:t>
            </a:r>
            <a:r>
              <a:rPr lang="ru-RU"/>
              <a:t> </a:t>
            </a:r>
            <a:r>
              <a:rPr lang="ru-RU" err="1"/>
              <a:t>proportion</a:t>
            </a:r>
            <a:endParaRPr lang="ru-RU"/>
          </a:p>
          <a:p>
            <a:pPr latinLnBrk="1"/>
            <a:r>
              <a:rPr lang="ru-RU"/>
              <a:t>n =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size</a:t>
            </a:r>
            <a:endParaRPr lang="ru-RU"/>
          </a:p>
          <a:p>
            <a:pPr marL="0" indent="0" latinLnBrk="1">
              <a:buNone/>
            </a:pPr>
            <a:r>
              <a:rPr lang="ru-RU" b="1"/>
              <a:t> EXAMPLE:</a:t>
            </a:r>
          </a:p>
          <a:p>
            <a:pPr latinLnBrk="1"/>
            <a:r>
              <a:rPr lang="ru-RU" err="1"/>
              <a:t>Claim</a:t>
            </a:r>
            <a:r>
              <a:rPr lang="ru-RU"/>
              <a:t>: 60%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customers</a:t>
            </a:r>
            <a:r>
              <a:rPr lang="ru-RU"/>
              <a:t> </a:t>
            </a:r>
            <a:r>
              <a:rPr lang="ru-RU" err="1"/>
              <a:t>prefer</a:t>
            </a:r>
            <a:r>
              <a:rPr lang="ru-RU"/>
              <a:t> 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logo</a:t>
            </a:r>
            <a:endParaRPr lang="ru-RU"/>
          </a:p>
          <a:p>
            <a:pPr latinLnBrk="1"/>
            <a:r>
              <a:rPr lang="ru-RU"/>
              <a:t>Survey: 80/150 = 53.3% </a:t>
            </a:r>
            <a:r>
              <a:rPr lang="ru-RU" err="1"/>
              <a:t>prefer</a:t>
            </a:r>
            <a:endParaRPr lang="ru-RU"/>
          </a:p>
          <a:p>
            <a:pPr latinLnBrk="1"/>
            <a:r>
              <a:rPr lang="ru-RU"/>
              <a:t>Test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claim</a:t>
            </a:r>
            <a:r>
              <a:rPr lang="ru-RU"/>
              <a:t> </a:t>
            </a:r>
            <a:r>
              <a:rPr lang="ru-RU" err="1"/>
              <a:t>is</a:t>
            </a:r>
            <a:r>
              <a:rPr lang="ru-RU"/>
              <a:t> </a:t>
            </a:r>
            <a:r>
              <a:rPr lang="ru-RU" err="1"/>
              <a:t>true</a:t>
            </a:r>
            <a:endParaRPr lang="ru-RU"/>
          </a:p>
          <a:p>
            <a:pPr marL="0" indent="0" latinLnBrk="1">
              <a:buNone/>
            </a:pPr>
            <a:r>
              <a:rPr lang="ru-RU"/>
              <a:t> H₀: p = 0.60</a:t>
            </a:r>
          </a:p>
          <a:p>
            <a:pPr marL="0" indent="0" latinLnBrk="1">
              <a:buNone/>
            </a:pPr>
            <a:r>
              <a:rPr lang="ru-RU"/>
              <a:t>H₁: p ≠ 0.60</a:t>
            </a:r>
          </a:p>
          <a:p>
            <a:pPr marL="0" indent="0" latinLnBrk="1">
              <a:buNone/>
            </a:pPr>
            <a:r>
              <a:rPr lang="ru-RU"/>
              <a:t> z = (0.533 - 0.60) / √[0.60×0.40/150] = -0.067 / 0.04 = -1.675</a:t>
            </a:r>
          </a:p>
          <a:p>
            <a:pPr marL="0" indent="0">
              <a:buNone/>
            </a:pPr>
            <a:r>
              <a:rPr lang="ru-RU"/>
              <a:t>p-</a:t>
            </a:r>
            <a:r>
              <a:rPr lang="ru-RU" err="1"/>
              <a:t>value</a:t>
            </a:r>
            <a:r>
              <a:rPr lang="ru-RU"/>
              <a:t> = 0.094 &gt; 0.05 → </a:t>
            </a:r>
            <a:r>
              <a:rPr lang="ru-RU" err="1"/>
              <a:t>Fail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 H₀</a:t>
            </a:r>
          </a:p>
        </p:txBody>
      </p:sp>
    </p:spTree>
    <p:extLst>
      <p:ext uri="{BB962C8B-B14F-4D97-AF65-F5344CB8AC3E}">
        <p14:creationId xmlns:p14="http://schemas.microsoft.com/office/powerpoint/2010/main" val="22843942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DA4F2-023B-EEAF-22F9-456CBA1C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537"/>
            <a:ext cx="10515600" cy="848040"/>
          </a:xfrm>
        </p:spPr>
        <p:txBody>
          <a:bodyPr/>
          <a:lstStyle/>
          <a:p>
            <a:r>
              <a:rPr lang="ru-RU" b="1"/>
              <a:t>Python - One-</a:t>
            </a:r>
            <a:r>
              <a:rPr lang="ru-RU" b="1" err="1"/>
              <a:t>Sample</a:t>
            </a:r>
            <a:r>
              <a:rPr lang="ru-RU" b="1"/>
              <a:t> </a:t>
            </a:r>
            <a:r>
              <a:rPr lang="ru-RU" b="1" err="1"/>
              <a:t>Proportion</a:t>
            </a:r>
            <a:r>
              <a:rPr lang="ru-RU" b="1"/>
              <a:t> 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81C33-040E-5B1C-0243-D04EEECC5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752"/>
            <a:ext cx="10515600" cy="4864211"/>
          </a:xfrm>
        </p:spPr>
        <p:txBody>
          <a:bodyPr numCol="2"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numpy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np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def</a:t>
            </a:r>
            <a:r>
              <a:rPr lang="ru-RU"/>
              <a:t> </a:t>
            </a:r>
            <a:r>
              <a:rPr lang="ru-RU" err="1"/>
              <a:t>prop_test_onesample</a:t>
            </a:r>
            <a:r>
              <a:rPr lang="ru-RU"/>
              <a:t>(</a:t>
            </a:r>
            <a:r>
              <a:rPr lang="ru-RU" err="1"/>
              <a:t>count</a:t>
            </a:r>
            <a:r>
              <a:rPr lang="ru-RU"/>
              <a:t>, </a:t>
            </a:r>
            <a:r>
              <a:rPr lang="ru-RU" err="1"/>
              <a:t>nobs</a:t>
            </a:r>
            <a:r>
              <a:rPr lang="ru-RU"/>
              <a:t>, p0, </a:t>
            </a:r>
            <a:r>
              <a:rPr lang="ru-RU" err="1"/>
              <a:t>alternative</a:t>
            </a:r>
            <a:r>
              <a:rPr lang="ru-RU"/>
              <a:t>='</a:t>
            </a:r>
            <a:r>
              <a:rPr lang="ru-RU" err="1"/>
              <a:t>two-sided</a:t>
            </a:r>
            <a:r>
              <a:rPr lang="ru-RU"/>
              <a:t>'):</a:t>
            </a:r>
          </a:p>
          <a:p>
            <a:pPr marL="0" indent="0" latinLnBrk="1">
              <a:buNone/>
            </a:pPr>
            <a:r>
              <a:rPr lang="ru-RU"/>
              <a:t>    """</a:t>
            </a:r>
          </a:p>
          <a:p>
            <a:pPr marL="0" indent="0" latinLnBrk="1">
              <a:buNone/>
            </a:pPr>
            <a:r>
              <a:rPr lang="ru-RU"/>
              <a:t>    One-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proportion</a:t>
            </a:r>
            <a:r>
              <a:rPr lang="ru-RU"/>
              <a:t> </a:t>
            </a:r>
            <a:r>
              <a:rPr lang="ru-RU" err="1"/>
              <a:t>test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Parameters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count</a:t>
            </a:r>
            <a:r>
              <a:rPr lang="ru-RU"/>
              <a:t>: </a:t>
            </a:r>
            <a:r>
              <a:rPr lang="ru-RU" err="1"/>
              <a:t>number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successes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nobs</a:t>
            </a:r>
            <a:r>
              <a:rPr lang="ru-RU"/>
              <a:t>: </a:t>
            </a:r>
            <a:r>
              <a:rPr lang="ru-RU" err="1"/>
              <a:t>sample</a:t>
            </a:r>
            <a:r>
              <a:rPr lang="ru-RU"/>
              <a:t> </a:t>
            </a:r>
            <a:r>
              <a:rPr lang="ru-RU" err="1"/>
              <a:t>size</a:t>
            </a:r>
            <a:endParaRPr lang="ru-RU"/>
          </a:p>
          <a:p>
            <a:pPr marL="0" indent="0" latinLnBrk="1">
              <a:buNone/>
            </a:pPr>
            <a:r>
              <a:rPr lang="ru-RU"/>
              <a:t>    p0: </a:t>
            </a:r>
            <a:r>
              <a:rPr lang="ru-RU" err="1"/>
              <a:t>hypothesized</a:t>
            </a:r>
            <a:r>
              <a:rPr lang="ru-RU"/>
              <a:t> </a:t>
            </a:r>
            <a:r>
              <a:rPr lang="ru-RU" err="1"/>
              <a:t>proportion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alternative</a:t>
            </a:r>
            <a:r>
              <a:rPr lang="ru-RU"/>
              <a:t>: '</a:t>
            </a:r>
            <a:r>
              <a:rPr lang="ru-RU" err="1"/>
              <a:t>two-sided</a:t>
            </a:r>
            <a:r>
              <a:rPr lang="ru-RU"/>
              <a:t>', '</a:t>
            </a:r>
            <a:r>
              <a:rPr lang="ru-RU" err="1"/>
              <a:t>larger</a:t>
            </a:r>
            <a:r>
              <a:rPr lang="ru-RU"/>
              <a:t>', '</a:t>
            </a:r>
            <a:r>
              <a:rPr lang="ru-RU" err="1"/>
              <a:t>smaller</a:t>
            </a:r>
            <a:r>
              <a:rPr lang="ru-RU"/>
              <a:t>'</a:t>
            </a:r>
          </a:p>
          <a:p>
            <a:pPr marL="0" indent="0" latinLnBrk="1">
              <a:buNone/>
            </a:pPr>
            <a:r>
              <a:rPr lang="ru-RU"/>
              <a:t>    """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p_hat</a:t>
            </a:r>
            <a:r>
              <a:rPr lang="ru-RU"/>
              <a:t> = </a:t>
            </a:r>
            <a:r>
              <a:rPr lang="ru-RU" err="1"/>
              <a:t>count</a:t>
            </a:r>
            <a:r>
              <a:rPr lang="ru-RU"/>
              <a:t> / </a:t>
            </a:r>
            <a:r>
              <a:rPr lang="ru-RU" err="1"/>
              <a:t>nobs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se</a:t>
            </a:r>
            <a:r>
              <a:rPr lang="ru-RU"/>
              <a:t> = </a:t>
            </a:r>
            <a:r>
              <a:rPr lang="ru-RU" err="1"/>
              <a:t>np.sqrt</a:t>
            </a:r>
            <a:r>
              <a:rPr lang="ru-RU"/>
              <a:t>(p0 * (1 - p0) / </a:t>
            </a:r>
            <a:r>
              <a:rPr lang="ru-RU" err="1"/>
              <a:t>nobs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z_stat</a:t>
            </a:r>
            <a:r>
              <a:rPr lang="ru-RU"/>
              <a:t> = (</a:t>
            </a:r>
            <a:r>
              <a:rPr lang="ru-RU" err="1"/>
              <a:t>p_hat</a:t>
            </a:r>
            <a:r>
              <a:rPr lang="ru-RU"/>
              <a:t> - p0) / </a:t>
            </a:r>
            <a:r>
              <a:rPr lang="ru-RU" err="1"/>
              <a:t>se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alternative</a:t>
            </a:r>
            <a:r>
              <a:rPr lang="ru-RU"/>
              <a:t> == '</a:t>
            </a:r>
            <a:r>
              <a:rPr lang="ru-RU" err="1"/>
              <a:t>two-sided</a:t>
            </a:r>
            <a:r>
              <a:rPr lang="ru-RU"/>
              <a:t>':</a:t>
            </a:r>
          </a:p>
          <a:p>
            <a:pPr marL="0" indent="0" latinLnBrk="1">
              <a:buNone/>
            </a:pPr>
            <a:r>
              <a:rPr lang="ru-RU"/>
              <a:t>        </a:t>
            </a:r>
            <a:r>
              <a:rPr lang="ru-RU" err="1"/>
              <a:t>p_value</a:t>
            </a:r>
            <a:r>
              <a:rPr lang="ru-RU"/>
              <a:t> = 2 * (1 - </a:t>
            </a:r>
            <a:r>
              <a:rPr lang="ru-RU" err="1"/>
              <a:t>stats.norm.cdf</a:t>
            </a:r>
            <a:r>
              <a:rPr lang="ru-RU"/>
              <a:t>(</a:t>
            </a:r>
            <a:r>
              <a:rPr lang="ru-RU" err="1"/>
              <a:t>abs</a:t>
            </a:r>
            <a:r>
              <a:rPr lang="ru-RU"/>
              <a:t>(</a:t>
            </a:r>
            <a:r>
              <a:rPr lang="ru-RU" err="1"/>
              <a:t>z_stat</a:t>
            </a:r>
            <a:r>
              <a:rPr lang="ru-RU"/>
              <a:t>)))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elif</a:t>
            </a:r>
            <a:r>
              <a:rPr lang="ru-RU"/>
              <a:t> </a:t>
            </a:r>
            <a:r>
              <a:rPr lang="ru-RU" err="1"/>
              <a:t>alternative</a:t>
            </a:r>
            <a:r>
              <a:rPr lang="ru-RU"/>
              <a:t> == '</a:t>
            </a:r>
            <a:r>
              <a:rPr lang="ru-RU" err="1"/>
              <a:t>larger</a:t>
            </a:r>
            <a:r>
              <a:rPr lang="ru-RU"/>
              <a:t>':</a:t>
            </a:r>
          </a:p>
          <a:p>
            <a:pPr marL="0" indent="0" latinLnBrk="1">
              <a:buNone/>
            </a:pPr>
            <a:r>
              <a:rPr lang="ru-RU"/>
              <a:t>        </a:t>
            </a:r>
            <a:r>
              <a:rPr lang="ru-RU" err="1"/>
              <a:t>p_value</a:t>
            </a:r>
            <a:r>
              <a:rPr lang="ru-RU"/>
              <a:t> = 1 - </a:t>
            </a:r>
            <a:r>
              <a:rPr lang="ru-RU" err="1"/>
              <a:t>stats.norm.cdf</a:t>
            </a:r>
            <a:r>
              <a:rPr lang="ru-RU"/>
              <a:t>(</a:t>
            </a:r>
            <a:r>
              <a:rPr lang="ru-RU" err="1"/>
              <a:t>z_stat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elif</a:t>
            </a:r>
            <a:r>
              <a:rPr lang="ru-RU"/>
              <a:t> </a:t>
            </a:r>
            <a:r>
              <a:rPr lang="ru-RU" err="1"/>
              <a:t>alternative</a:t>
            </a:r>
            <a:r>
              <a:rPr lang="ru-RU"/>
              <a:t> == '</a:t>
            </a:r>
            <a:r>
              <a:rPr lang="ru-RU" err="1"/>
              <a:t>smaller</a:t>
            </a:r>
            <a:r>
              <a:rPr lang="ru-RU"/>
              <a:t>':</a:t>
            </a:r>
          </a:p>
          <a:p>
            <a:pPr marL="0" indent="0" latinLnBrk="1">
              <a:buNone/>
            </a:pPr>
            <a:r>
              <a:rPr lang="ru-RU"/>
              <a:t>        </a:t>
            </a:r>
            <a:r>
              <a:rPr lang="ru-RU" err="1"/>
              <a:t>p_value</a:t>
            </a:r>
            <a:r>
              <a:rPr lang="ru-RU"/>
              <a:t> = </a:t>
            </a:r>
            <a:r>
              <a:rPr lang="ru-RU" err="1"/>
              <a:t>stats.norm.cdf</a:t>
            </a:r>
            <a:r>
              <a:rPr lang="ru-RU"/>
              <a:t>(</a:t>
            </a:r>
            <a:r>
              <a:rPr lang="ru-RU" err="1"/>
              <a:t>z_stat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return</a:t>
            </a:r>
            <a:r>
              <a:rPr lang="ru-RU"/>
              <a:t> </a:t>
            </a:r>
            <a:r>
              <a:rPr lang="ru-RU" err="1"/>
              <a:t>z_stat</a:t>
            </a:r>
            <a:r>
              <a:rPr lang="ru-RU"/>
              <a:t>, </a:t>
            </a:r>
            <a:r>
              <a:rPr lang="ru-RU" err="1"/>
              <a:t>p_value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 i="1"/>
              <a:t># </a:t>
            </a:r>
            <a:r>
              <a:rPr lang="ru-RU" b="1" i="1" err="1"/>
              <a:t>Example</a:t>
            </a:r>
            <a:endParaRPr lang="ru-RU" b="1"/>
          </a:p>
          <a:p>
            <a:pPr marL="0" indent="0" latinLnBrk="1">
              <a:buNone/>
            </a:pPr>
            <a:r>
              <a:rPr lang="ru-RU"/>
              <a:t>z, p = </a:t>
            </a:r>
            <a:r>
              <a:rPr lang="ru-RU" err="1"/>
              <a:t>prop_test_onesample</a:t>
            </a:r>
            <a:r>
              <a:rPr lang="ru-RU"/>
              <a:t>(</a:t>
            </a:r>
            <a:r>
              <a:rPr lang="ru-RU" err="1"/>
              <a:t>count</a:t>
            </a:r>
            <a:r>
              <a:rPr lang="ru-RU"/>
              <a:t>=80, </a:t>
            </a:r>
            <a:r>
              <a:rPr lang="ru-RU" err="1"/>
              <a:t>nobs</a:t>
            </a:r>
            <a:r>
              <a:rPr lang="ru-RU"/>
              <a:t>=150, p0=0.60)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f"z-statistic</a:t>
            </a:r>
            <a:r>
              <a:rPr lang="ru-RU"/>
              <a:t>: {z:.3f}")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f"p-value</a:t>
            </a:r>
            <a:r>
              <a:rPr lang="ru-RU"/>
              <a:t>: {p:.3f}")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152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F87F9-D673-D2E6-116E-7FB083FD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5330"/>
            <a:ext cx="10515600" cy="911414"/>
          </a:xfrm>
        </p:spPr>
        <p:txBody>
          <a:bodyPr>
            <a:normAutofit fontScale="90000"/>
          </a:bodyPr>
          <a:lstStyle/>
          <a:p>
            <a:r>
              <a:rPr lang="ru-RU" b="1" err="1"/>
              <a:t>Confidence</a:t>
            </a:r>
            <a:r>
              <a:rPr lang="ru-RU" b="1"/>
              <a:t> </a:t>
            </a:r>
            <a:r>
              <a:rPr lang="ru-RU" b="1" err="1"/>
              <a:t>Intervals</a:t>
            </a:r>
            <a:br>
              <a:rPr lang="en-US" b="1"/>
            </a:b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471460-2075-9C7F-5AED-26BBFC10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020"/>
            <a:ext cx="10515600" cy="4818943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/>
              <a:t>CONFIDENCE INTERVAL:</a:t>
            </a:r>
          </a:p>
          <a:p>
            <a:pPr marL="0" indent="0" latinLnBrk="1">
              <a:buNone/>
            </a:pPr>
            <a:r>
              <a:rPr lang="ru-RU"/>
              <a:t>Range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plausible</a:t>
            </a:r>
            <a:r>
              <a:rPr lang="ru-RU"/>
              <a:t> </a:t>
            </a:r>
            <a:r>
              <a:rPr lang="ru-RU" err="1"/>
              <a:t>values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population</a:t>
            </a:r>
            <a:r>
              <a:rPr lang="ru-RU"/>
              <a:t> </a:t>
            </a:r>
            <a:r>
              <a:rPr lang="ru-RU" err="1"/>
              <a:t>parameter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RELATIONSHIP: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If</a:t>
            </a:r>
            <a:r>
              <a:rPr lang="ru-RU"/>
              <a:t> 95% CI </a:t>
            </a:r>
            <a:r>
              <a:rPr lang="ru-RU" err="1"/>
              <a:t>does</a:t>
            </a:r>
            <a:r>
              <a:rPr lang="ru-RU"/>
              <a:t> NOT </a:t>
            </a:r>
            <a:r>
              <a:rPr lang="ru-RU" err="1"/>
              <a:t>contain</a:t>
            </a:r>
            <a:r>
              <a:rPr lang="ru-RU"/>
              <a:t> H₀ </a:t>
            </a:r>
            <a:r>
              <a:rPr lang="ru-RU" err="1"/>
              <a:t>value</a:t>
            </a:r>
            <a:r>
              <a:rPr lang="ru-RU"/>
              <a:t> → </a:t>
            </a:r>
            <a:r>
              <a:rPr lang="ru-RU" err="1"/>
              <a:t>Reject</a:t>
            </a:r>
            <a:r>
              <a:rPr lang="ru-RU"/>
              <a:t> H₀ </a:t>
            </a:r>
            <a:r>
              <a:rPr lang="ru-RU" err="1"/>
              <a:t>at</a:t>
            </a:r>
            <a:r>
              <a:rPr lang="ru-RU"/>
              <a:t> α = 0.05</a:t>
            </a:r>
          </a:p>
          <a:p>
            <a:pPr marL="0" indent="0" latinLnBrk="1">
              <a:buNone/>
            </a:pPr>
            <a:r>
              <a:rPr lang="ru-RU"/>
              <a:t>• </a:t>
            </a:r>
            <a:r>
              <a:rPr lang="ru-RU" err="1"/>
              <a:t>If</a:t>
            </a:r>
            <a:r>
              <a:rPr lang="ru-RU"/>
              <a:t> 95% CI DOES </a:t>
            </a:r>
            <a:r>
              <a:rPr lang="ru-RU" err="1"/>
              <a:t>contain</a:t>
            </a:r>
            <a:r>
              <a:rPr lang="ru-RU"/>
              <a:t> H₀ </a:t>
            </a:r>
            <a:r>
              <a:rPr lang="ru-RU" err="1"/>
              <a:t>value</a:t>
            </a:r>
            <a:r>
              <a:rPr lang="ru-RU"/>
              <a:t> → </a:t>
            </a:r>
            <a:r>
              <a:rPr lang="ru-RU" err="1"/>
              <a:t>Fail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 H₀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FORMULA (</a:t>
            </a:r>
            <a:r>
              <a:rPr lang="ru-RU" b="1" err="1"/>
              <a:t>one-sample</a:t>
            </a:r>
            <a:r>
              <a:rPr lang="ru-RU" b="1"/>
              <a:t> t):</a:t>
            </a:r>
          </a:p>
          <a:p>
            <a:pPr marL="0" indent="0" latinLnBrk="1">
              <a:buNone/>
            </a:pPr>
            <a:r>
              <a:rPr lang="ru-RU"/>
              <a:t>CI = x̄ ± t_{</a:t>
            </a:r>
            <a:r>
              <a:rPr lang="ru-RU" err="1"/>
              <a:t>critical</a:t>
            </a:r>
            <a:r>
              <a:rPr lang="ru-RU"/>
              <a:t>} × (s / √n)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 FROM BEFORE:</a:t>
            </a:r>
          </a:p>
          <a:p>
            <a:pPr marL="0" indent="0" latinLnBrk="1">
              <a:buNone/>
            </a:pPr>
            <a:r>
              <a:rPr lang="ru-RU"/>
              <a:t>x̄ = 7.55, s = 0.58, n = 20, </a:t>
            </a:r>
            <a:r>
              <a:rPr lang="ru-RU" err="1"/>
              <a:t>df</a:t>
            </a:r>
            <a:r>
              <a:rPr lang="ru-RU"/>
              <a:t> = 19</a:t>
            </a:r>
          </a:p>
          <a:p>
            <a:pPr marL="0" indent="0" latinLnBrk="1">
              <a:buNone/>
            </a:pPr>
            <a:r>
              <a:rPr lang="ru-RU" err="1"/>
              <a:t>t_critical</a:t>
            </a:r>
            <a:r>
              <a:rPr lang="ru-RU"/>
              <a:t> = 2.093 (</a:t>
            </a:r>
            <a:r>
              <a:rPr lang="ru-RU" err="1"/>
              <a:t>from</a:t>
            </a:r>
            <a:r>
              <a:rPr lang="ru-RU"/>
              <a:t> t-</a:t>
            </a:r>
            <a:r>
              <a:rPr lang="ru-RU" err="1"/>
              <a:t>table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CI = 7.55 ± 2.093 × (0.58/√20)</a:t>
            </a:r>
          </a:p>
          <a:p>
            <a:pPr marL="0" indent="0" latinLnBrk="1">
              <a:buNone/>
            </a:pPr>
            <a:r>
              <a:rPr lang="ru-RU"/>
              <a:t>CI = 7.55 ± 0.27 → [7.28, 7.82]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H₀ </a:t>
            </a:r>
            <a:r>
              <a:rPr lang="ru-RU" err="1"/>
              <a:t>value</a:t>
            </a:r>
            <a:r>
              <a:rPr lang="ru-RU"/>
              <a:t> (7.5) IS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interval</a:t>
            </a:r>
            <a:r>
              <a:rPr lang="ru-RU"/>
              <a:t> → </a:t>
            </a:r>
            <a:r>
              <a:rPr lang="ru-RU" err="1"/>
              <a:t>Fail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reject</a:t>
            </a:r>
            <a:r>
              <a:rPr lang="ru-RU"/>
              <a:t> H₀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648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D64E3-5D54-8471-56F4-20BDB7DC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665" y="165950"/>
            <a:ext cx="10515600" cy="766558"/>
          </a:xfrm>
        </p:spPr>
        <p:txBody>
          <a:bodyPr/>
          <a:lstStyle/>
          <a:p>
            <a:r>
              <a:rPr lang="ru-RU" b="1" err="1"/>
              <a:t>Effect</a:t>
            </a:r>
            <a:r>
              <a:rPr lang="ru-RU" b="1"/>
              <a:t> </a:t>
            </a:r>
            <a:r>
              <a:rPr lang="ru-RU" b="1" err="1"/>
              <a:t>Size</a:t>
            </a:r>
            <a:r>
              <a:rPr lang="ru-RU" b="1"/>
              <a:t> - </a:t>
            </a:r>
            <a:r>
              <a:rPr lang="ru-RU" b="1" err="1"/>
              <a:t>How</a:t>
            </a:r>
            <a:r>
              <a:rPr lang="ru-RU" b="1"/>
              <a:t> Big </a:t>
            </a:r>
            <a:r>
              <a:rPr lang="ru-RU" b="1" err="1"/>
              <a:t>Is</a:t>
            </a:r>
            <a:r>
              <a:rPr lang="ru-RU" b="1"/>
              <a:t> </a:t>
            </a:r>
            <a:r>
              <a:rPr lang="ru-RU" b="1" err="1"/>
              <a:t>the</a:t>
            </a:r>
            <a:r>
              <a:rPr lang="ru-RU" b="1"/>
              <a:t> </a:t>
            </a:r>
            <a:r>
              <a:rPr lang="ru-RU" b="1" err="1"/>
              <a:t>Difference</a:t>
            </a:r>
            <a:r>
              <a:rPr lang="ru-RU" b="1"/>
              <a:t>?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A7F1A5-F061-706E-3DD6-7F1596C22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3164"/>
            <a:ext cx="10515600" cy="4963799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/>
              <a:t>P-</a:t>
            </a:r>
            <a:r>
              <a:rPr lang="ru-RU" err="1"/>
              <a:t>value</a:t>
            </a:r>
            <a:r>
              <a:rPr lang="ru-RU"/>
              <a:t> </a:t>
            </a:r>
            <a:r>
              <a:rPr lang="ru-RU" err="1"/>
              <a:t>tells</a:t>
            </a:r>
            <a:r>
              <a:rPr lang="ru-RU"/>
              <a:t> </a:t>
            </a:r>
            <a:r>
              <a:rPr lang="ru-RU" err="1"/>
              <a:t>us</a:t>
            </a:r>
            <a:r>
              <a:rPr lang="ru-RU"/>
              <a:t> IF </a:t>
            </a:r>
            <a:r>
              <a:rPr lang="ru-RU" err="1"/>
              <a:t>an</a:t>
            </a:r>
            <a:r>
              <a:rPr lang="ru-RU"/>
              <a:t> </a:t>
            </a: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exists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Effect</a:t>
            </a:r>
            <a:r>
              <a:rPr lang="ru-RU"/>
              <a:t> </a:t>
            </a:r>
            <a:r>
              <a:rPr lang="ru-RU" err="1"/>
              <a:t>size</a:t>
            </a:r>
            <a:r>
              <a:rPr lang="ru-RU"/>
              <a:t> </a:t>
            </a:r>
            <a:r>
              <a:rPr lang="ru-RU" err="1"/>
              <a:t>tells</a:t>
            </a:r>
            <a:r>
              <a:rPr lang="ru-RU"/>
              <a:t> </a:t>
            </a:r>
            <a:r>
              <a:rPr lang="ru-RU" err="1"/>
              <a:t>us</a:t>
            </a:r>
            <a:r>
              <a:rPr lang="ru-RU"/>
              <a:t> HOW BIG </a:t>
            </a:r>
            <a:r>
              <a:rPr lang="ru-RU" err="1"/>
              <a:t>it</a:t>
            </a:r>
            <a:r>
              <a:rPr lang="ru-RU"/>
              <a:t> </a:t>
            </a:r>
            <a:r>
              <a:rPr lang="ru-RU" err="1"/>
              <a:t>is</a:t>
            </a:r>
            <a:endParaRPr lang="ru-RU"/>
          </a:p>
          <a:p>
            <a:pPr marL="0" indent="0" latinLnBrk="1">
              <a:buNone/>
            </a:pPr>
            <a:endParaRPr lang="ru-RU"/>
          </a:p>
          <a:p>
            <a:pPr marL="0" indent="0" latinLnBrk="1">
              <a:buNone/>
            </a:pPr>
            <a:r>
              <a:rPr lang="ru-RU"/>
              <a:t>COHEN'S d (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one-sample</a:t>
            </a:r>
            <a:r>
              <a:rPr lang="ru-RU"/>
              <a:t> t-</a:t>
            </a:r>
            <a:r>
              <a:rPr lang="ru-RU" err="1"/>
              <a:t>test</a:t>
            </a:r>
            <a:r>
              <a:rPr lang="ru-RU"/>
              <a:t>):</a:t>
            </a:r>
          </a:p>
          <a:p>
            <a:pPr marL="0" indent="0" latinLnBrk="1">
              <a:buNone/>
            </a:pPr>
            <a:r>
              <a:rPr lang="ru-RU"/>
              <a:t>        |x̄ - μ₀|</a:t>
            </a:r>
          </a:p>
          <a:p>
            <a:pPr marL="0" indent="0" latinLnBrk="1">
              <a:buNone/>
            </a:pPr>
            <a:r>
              <a:rPr lang="ru-RU"/>
              <a:t>d = ─────────────</a:t>
            </a:r>
          </a:p>
          <a:p>
            <a:pPr marL="0" indent="0" latinLnBrk="1">
              <a:buNone/>
            </a:pPr>
            <a:r>
              <a:rPr lang="ru-RU"/>
              <a:t>          s</a:t>
            </a:r>
          </a:p>
          <a:p>
            <a:pPr marL="0" indent="0" latinLnBrk="1">
              <a:buNone/>
            </a:pPr>
            <a:r>
              <a:rPr lang="ru-RU" b="1"/>
              <a:t>GUIDELINES (</a:t>
            </a:r>
            <a:r>
              <a:rPr lang="ru-RU" b="1" err="1"/>
              <a:t>Cohen</a:t>
            </a:r>
            <a:r>
              <a:rPr lang="ru-RU" b="1"/>
              <a:t>, 1988):</a:t>
            </a:r>
          </a:p>
          <a:p>
            <a:pPr marL="0" indent="0" latinLnBrk="1">
              <a:buNone/>
            </a:pPr>
            <a:r>
              <a:rPr lang="ru-RU"/>
              <a:t>• d = 0.2 → Small </a:t>
            </a:r>
            <a:r>
              <a:rPr lang="ru-RU" err="1"/>
              <a:t>effect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d = 0.5 → </a:t>
            </a:r>
            <a:r>
              <a:rPr lang="ru-RU" err="1"/>
              <a:t>Medium</a:t>
            </a:r>
            <a:r>
              <a:rPr lang="ru-RU"/>
              <a:t> </a:t>
            </a:r>
            <a:r>
              <a:rPr lang="ru-RU" err="1"/>
              <a:t>effect</a:t>
            </a:r>
            <a:endParaRPr lang="ru-RU"/>
          </a:p>
          <a:p>
            <a:pPr marL="0" indent="0" latinLnBrk="1">
              <a:buNone/>
            </a:pPr>
            <a:r>
              <a:rPr lang="ru-RU"/>
              <a:t>• d = 0.8 → </a:t>
            </a:r>
            <a:r>
              <a:rPr lang="ru-RU" err="1"/>
              <a:t>Large</a:t>
            </a:r>
            <a:r>
              <a:rPr lang="ru-RU"/>
              <a:t> </a:t>
            </a:r>
            <a:r>
              <a:rPr lang="ru-RU" err="1"/>
              <a:t>effect</a:t>
            </a:r>
            <a:endParaRPr lang="ru-RU"/>
          </a:p>
          <a:p>
            <a:pPr marL="0" indent="0" latinLnBrk="1">
              <a:buNone/>
            </a:pPr>
            <a:r>
              <a:rPr lang="ru-RU" b="1"/>
              <a:t>EXAMPLE:</a:t>
            </a:r>
          </a:p>
          <a:p>
            <a:pPr marL="0" indent="0" latinLnBrk="1">
              <a:buNone/>
            </a:pPr>
            <a:r>
              <a:rPr lang="ru-RU"/>
              <a:t>d = |7.55 - 7.5| / 0.58 = 0.05 / 0.58 = 0.086 (VERY </a:t>
            </a:r>
            <a:r>
              <a:rPr lang="ru-RU" err="1"/>
              <a:t>small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PYTHON:</a:t>
            </a:r>
          </a:p>
          <a:p>
            <a:pPr marL="0" indent="0" latinLnBrk="1">
              <a:buNone/>
            </a:pPr>
            <a:r>
              <a:rPr lang="ru-RU" err="1"/>
              <a:t>def</a:t>
            </a:r>
            <a:r>
              <a:rPr lang="ru-RU"/>
              <a:t> </a:t>
            </a:r>
            <a:r>
              <a:rPr lang="ru-RU" err="1"/>
              <a:t>cohens_d</a:t>
            </a:r>
            <a:r>
              <a:rPr lang="ru-RU"/>
              <a:t>(</a:t>
            </a:r>
            <a:r>
              <a:rPr lang="ru-RU" err="1"/>
              <a:t>sample</a:t>
            </a:r>
            <a:r>
              <a:rPr lang="ru-RU"/>
              <a:t>, mu_0):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return</a:t>
            </a:r>
            <a:r>
              <a:rPr lang="ru-RU"/>
              <a:t> </a:t>
            </a:r>
            <a:r>
              <a:rPr lang="ru-RU" err="1"/>
              <a:t>abs</a:t>
            </a:r>
            <a:r>
              <a:rPr lang="ru-RU"/>
              <a:t>(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sample</a:t>
            </a:r>
            <a:r>
              <a:rPr lang="ru-RU"/>
              <a:t>) - mu_0) / </a:t>
            </a:r>
            <a:r>
              <a:rPr lang="ru-RU" err="1"/>
              <a:t>np.std</a:t>
            </a:r>
            <a:r>
              <a:rPr lang="ru-RU"/>
              <a:t>(</a:t>
            </a:r>
            <a:r>
              <a:rPr lang="ru-RU" err="1"/>
              <a:t>sample</a:t>
            </a:r>
            <a:r>
              <a:rPr lang="ru-RU"/>
              <a:t>, </a:t>
            </a:r>
            <a:r>
              <a:rPr lang="ru-RU" err="1"/>
              <a:t>ddof</a:t>
            </a:r>
            <a:r>
              <a:rPr lang="ru-RU"/>
              <a:t>=1)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7256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D3207-43E8-8C3B-5702-BFE064865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90"/>
            <a:ext cx="10515600" cy="784665"/>
          </a:xfrm>
        </p:spPr>
        <p:txBody>
          <a:bodyPr/>
          <a:lstStyle/>
          <a:p>
            <a:r>
              <a:rPr lang="ru-RU" b="1" err="1"/>
              <a:t>Two-Sample</a:t>
            </a:r>
            <a:r>
              <a:rPr lang="ru-RU" b="1"/>
              <a:t> </a:t>
            </a:r>
            <a:r>
              <a:rPr lang="ru-RU" b="1" err="1"/>
              <a:t>Tests</a:t>
            </a:r>
            <a:r>
              <a:rPr lang="ru-RU" b="1"/>
              <a:t> - </a:t>
            </a:r>
            <a:r>
              <a:rPr lang="ru-RU" b="1" err="1"/>
              <a:t>Comparing</a:t>
            </a:r>
            <a:r>
              <a:rPr lang="ru-RU" b="1"/>
              <a:t> </a:t>
            </a:r>
            <a:r>
              <a:rPr lang="ru-RU" b="1" err="1"/>
              <a:t>Groups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889321-8DF1-1FA1-1B75-C4A709C5F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699"/>
            <a:ext cx="10515600" cy="4873264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err="1"/>
              <a:t>When</a:t>
            </a:r>
            <a:r>
              <a:rPr lang="ru-RU"/>
              <a:t> </a:t>
            </a:r>
            <a:r>
              <a:rPr lang="ru-RU" err="1"/>
              <a:t>we</a:t>
            </a:r>
            <a:r>
              <a:rPr lang="ru-RU"/>
              <a:t> </a:t>
            </a:r>
            <a:r>
              <a:rPr lang="ru-RU" err="1"/>
              <a:t>have</a:t>
            </a:r>
            <a:r>
              <a:rPr lang="ru-RU"/>
              <a:t> TWO </a:t>
            </a:r>
            <a:r>
              <a:rPr lang="ru-RU" err="1"/>
              <a:t>groups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want</a:t>
            </a:r>
            <a:r>
              <a:rPr lang="ru-RU"/>
              <a:t> </a:t>
            </a:r>
            <a:r>
              <a:rPr lang="ru-RU" err="1"/>
              <a:t>to</a:t>
            </a:r>
            <a:r>
              <a:rPr lang="ru-RU"/>
              <a:t> </a:t>
            </a:r>
            <a:r>
              <a:rPr lang="ru-RU" err="1"/>
              <a:t>compare</a:t>
            </a:r>
            <a:r>
              <a:rPr lang="ru-RU"/>
              <a:t> </a:t>
            </a:r>
            <a:r>
              <a:rPr lang="ru-RU" err="1"/>
              <a:t>them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THREE MAIN SCENARIOS: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1. INDEPENDENT SAMPLES T-TEST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subjects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</a:t>
            </a: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group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Treatment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Control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2. PAIRED T-TEST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Same</a:t>
            </a:r>
            <a:r>
              <a:rPr lang="ru-RU"/>
              <a:t> </a:t>
            </a:r>
            <a:r>
              <a:rPr lang="ru-RU" err="1"/>
              <a:t>subjects</a:t>
            </a:r>
            <a:r>
              <a:rPr lang="ru-RU"/>
              <a:t> </a:t>
            </a:r>
            <a:r>
              <a:rPr lang="ru-RU" err="1"/>
              <a:t>measured</a:t>
            </a:r>
            <a:r>
              <a:rPr lang="ru-RU"/>
              <a:t> </a:t>
            </a:r>
            <a:r>
              <a:rPr lang="ru-RU" err="1"/>
              <a:t>twice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Before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After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3. TWO-SAMPLE PROPORTION TEST</a:t>
            </a:r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Compare</a:t>
            </a:r>
            <a:r>
              <a:rPr lang="ru-RU"/>
              <a:t> </a:t>
            </a:r>
            <a:r>
              <a:rPr lang="ru-RU" err="1"/>
              <a:t>proportions</a:t>
            </a:r>
            <a:r>
              <a:rPr lang="ru-RU"/>
              <a:t> </a:t>
            </a:r>
            <a:r>
              <a:rPr lang="ru-RU" err="1"/>
              <a:t>across</a:t>
            </a:r>
            <a:r>
              <a:rPr lang="ru-RU"/>
              <a:t> </a:t>
            </a:r>
            <a:r>
              <a:rPr lang="ru-RU" err="1"/>
              <a:t>groups</a:t>
            </a:r>
            <a:endParaRPr lang="ru-RU"/>
          </a:p>
          <a:p>
            <a:pPr marL="0" indent="0" latinLnBrk="1">
              <a:buNone/>
            </a:pPr>
            <a:r>
              <a:rPr lang="ru-RU"/>
              <a:t>   • </a:t>
            </a:r>
            <a:r>
              <a:rPr lang="ru-RU" err="1"/>
              <a:t>Example</a:t>
            </a:r>
            <a:r>
              <a:rPr lang="ru-RU"/>
              <a:t>: </a:t>
            </a:r>
            <a:r>
              <a:rPr lang="ru-RU" err="1"/>
              <a:t>Conversion</a:t>
            </a:r>
            <a:r>
              <a:rPr lang="ru-RU"/>
              <a:t> </a:t>
            </a:r>
            <a:r>
              <a:rPr lang="ru-RU" err="1"/>
              <a:t>rates</a:t>
            </a:r>
            <a:r>
              <a:rPr lang="ru-RU"/>
              <a:t> </a:t>
            </a:r>
            <a:r>
              <a:rPr lang="ru-RU" err="1"/>
              <a:t>in</a:t>
            </a:r>
            <a:r>
              <a:rPr lang="ru-RU"/>
              <a:t> A/B </a:t>
            </a:r>
            <a:r>
              <a:rPr lang="ru-RU" err="1"/>
              <a:t>test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721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D6F823-C0FC-6702-8882-0AA8C283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216"/>
            <a:ext cx="10515600" cy="929521"/>
          </a:xfrm>
        </p:spPr>
        <p:txBody>
          <a:bodyPr/>
          <a:lstStyle/>
          <a:p>
            <a:r>
              <a:rPr lang="ru-RU" b="1"/>
              <a:t>Independent </a:t>
            </a:r>
            <a:r>
              <a:rPr lang="ru-RU" b="1" err="1"/>
              <a:t>Samples</a:t>
            </a:r>
            <a:r>
              <a:rPr lang="ru-RU" b="1"/>
              <a:t> T-Test - Design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3C180F-B70D-0AE2-74D4-ACCB4889B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432"/>
            <a:ext cx="10515600" cy="4918531"/>
          </a:xfrm>
        </p:spPr>
        <p:txBody>
          <a:bodyPr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b="1"/>
              <a:t>INDEPENDENT SAMPLES:</a:t>
            </a:r>
          </a:p>
          <a:p>
            <a:pPr latinLnBrk="1"/>
            <a:r>
              <a:rPr lang="ru-RU" err="1"/>
              <a:t>Two</a:t>
            </a:r>
            <a:r>
              <a:rPr lang="ru-RU"/>
              <a:t> </a:t>
            </a:r>
            <a:r>
              <a:rPr lang="ru-RU" err="1"/>
              <a:t>separate</a:t>
            </a:r>
            <a:r>
              <a:rPr lang="ru-RU"/>
              <a:t>, </a:t>
            </a:r>
            <a:r>
              <a:rPr lang="ru-RU" err="1"/>
              <a:t>unrelated</a:t>
            </a:r>
            <a:r>
              <a:rPr lang="ru-RU"/>
              <a:t> </a:t>
            </a:r>
            <a:r>
              <a:rPr lang="ru-RU" err="1"/>
              <a:t>groups</a:t>
            </a:r>
            <a:endParaRPr lang="ru-RU"/>
          </a:p>
          <a:p>
            <a:pPr latinLnBrk="1"/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participants</a:t>
            </a:r>
            <a:endParaRPr lang="ru-RU"/>
          </a:p>
          <a:p>
            <a:pPr latinLnBrk="1"/>
            <a:r>
              <a:rPr lang="ru-RU"/>
              <a:t>No </a:t>
            </a:r>
            <a:r>
              <a:rPr lang="ru-RU" err="1"/>
              <a:t>natural</a:t>
            </a:r>
            <a:r>
              <a:rPr lang="ru-RU"/>
              <a:t> </a:t>
            </a:r>
            <a:r>
              <a:rPr lang="ru-RU" err="1"/>
              <a:t>pairing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EXAMPLES:</a:t>
            </a:r>
          </a:p>
          <a:p>
            <a:pPr latinLnBrk="1"/>
            <a:r>
              <a:rPr lang="ru-RU" err="1"/>
              <a:t>Drug</a:t>
            </a:r>
            <a:r>
              <a:rPr lang="ru-RU"/>
              <a:t> </a:t>
            </a:r>
            <a:r>
              <a:rPr lang="ru-RU" err="1"/>
              <a:t>group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Placebo</a:t>
            </a:r>
            <a:r>
              <a:rPr lang="ru-RU"/>
              <a:t> </a:t>
            </a:r>
            <a:r>
              <a:rPr lang="ru-RU" err="1"/>
              <a:t>group</a:t>
            </a:r>
            <a:r>
              <a:rPr lang="ru-RU"/>
              <a:t> (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people</a:t>
            </a:r>
            <a:r>
              <a:rPr lang="ru-RU"/>
              <a:t>)</a:t>
            </a:r>
          </a:p>
          <a:p>
            <a:pPr latinLnBrk="1"/>
            <a:r>
              <a:rPr lang="ru-RU" err="1"/>
              <a:t>Men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Women</a:t>
            </a:r>
            <a:endParaRPr lang="ru-RU"/>
          </a:p>
          <a:p>
            <a:pPr latinLnBrk="1"/>
            <a:r>
              <a:rPr lang="ru-RU"/>
              <a:t>New </a:t>
            </a:r>
            <a:r>
              <a:rPr lang="ru-RU" err="1"/>
              <a:t>website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Old </a:t>
            </a:r>
            <a:r>
              <a:rPr lang="ru-RU" err="1"/>
              <a:t>website</a:t>
            </a:r>
            <a:r>
              <a:rPr lang="ru-RU"/>
              <a:t> (</a:t>
            </a:r>
            <a:r>
              <a:rPr lang="ru-RU" err="1"/>
              <a:t>different</a:t>
            </a:r>
            <a:r>
              <a:rPr lang="ru-RU"/>
              <a:t> </a:t>
            </a:r>
            <a:r>
              <a:rPr lang="ru-RU" err="1"/>
              <a:t>users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ASSUMPTIONS:</a:t>
            </a:r>
          </a:p>
          <a:p>
            <a:pPr marL="0" indent="0" latinLnBrk="1">
              <a:buNone/>
            </a:pPr>
            <a:r>
              <a:rPr lang="ru-RU"/>
              <a:t>1. </a:t>
            </a:r>
            <a:r>
              <a:rPr lang="ru-RU" err="1"/>
              <a:t>Independence</a:t>
            </a:r>
            <a:r>
              <a:rPr lang="ru-RU"/>
              <a:t> </a:t>
            </a:r>
            <a:r>
              <a:rPr lang="ru-RU" err="1"/>
              <a:t>within</a:t>
            </a:r>
            <a:r>
              <a:rPr lang="ru-RU"/>
              <a:t> </a:t>
            </a:r>
            <a:r>
              <a:rPr lang="ru-RU" err="1"/>
              <a:t>and</a:t>
            </a:r>
            <a:r>
              <a:rPr lang="ru-RU"/>
              <a:t> </a:t>
            </a:r>
            <a:r>
              <a:rPr lang="ru-RU" err="1"/>
              <a:t>between</a:t>
            </a:r>
            <a:r>
              <a:rPr lang="ru-RU"/>
              <a:t> </a:t>
            </a:r>
            <a:r>
              <a:rPr lang="ru-RU" err="1"/>
              <a:t>groups</a:t>
            </a:r>
            <a:endParaRPr lang="ru-RU"/>
          </a:p>
          <a:p>
            <a:pPr marL="0" indent="0" latinLnBrk="1">
              <a:buNone/>
            </a:pPr>
            <a:r>
              <a:rPr lang="ru-RU"/>
              <a:t>2. </a:t>
            </a:r>
            <a:r>
              <a:rPr lang="ru-RU" err="1"/>
              <a:t>Normality</a:t>
            </a:r>
            <a:r>
              <a:rPr lang="ru-RU"/>
              <a:t> (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large</a:t>
            </a:r>
            <a:r>
              <a:rPr lang="ru-RU"/>
              <a:t> n)</a:t>
            </a:r>
          </a:p>
          <a:p>
            <a:pPr marL="0" indent="0" latinLnBrk="1">
              <a:buNone/>
            </a:pPr>
            <a:r>
              <a:rPr lang="ru-RU"/>
              <a:t>3. </a:t>
            </a:r>
            <a:r>
              <a:rPr lang="ru-RU" err="1"/>
              <a:t>Equal</a:t>
            </a:r>
            <a:r>
              <a:rPr lang="ru-RU"/>
              <a:t> </a:t>
            </a:r>
            <a:r>
              <a:rPr lang="ru-RU" err="1"/>
              <a:t>variances</a:t>
            </a:r>
            <a:r>
              <a:rPr lang="ru-RU"/>
              <a:t> (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use</a:t>
            </a:r>
            <a:r>
              <a:rPr lang="ru-RU"/>
              <a:t> </a:t>
            </a:r>
            <a:r>
              <a:rPr lang="ru-RU" err="1"/>
              <a:t>Welch's</a:t>
            </a:r>
            <a:r>
              <a:rPr lang="ru-RU"/>
              <a:t> </a:t>
            </a:r>
            <a:r>
              <a:rPr lang="ru-RU" err="1"/>
              <a:t>correction</a:t>
            </a:r>
            <a:r>
              <a:rPr lang="ru-RU"/>
              <a:t>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034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A329-92A7-8285-E890-E381A560E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483"/>
            <a:ext cx="10515600" cy="866147"/>
          </a:xfrm>
        </p:spPr>
        <p:txBody>
          <a:bodyPr/>
          <a:lstStyle/>
          <a:p>
            <a:r>
              <a:rPr lang="ru-RU" b="1"/>
              <a:t>Independent </a:t>
            </a:r>
            <a:r>
              <a:rPr lang="ru-RU" b="1" err="1"/>
              <a:t>Samples</a:t>
            </a:r>
            <a:r>
              <a:rPr lang="ru-RU" b="1"/>
              <a:t> T-Test - </a:t>
            </a:r>
            <a:r>
              <a:rPr lang="ru-RU" b="1" err="1"/>
              <a:t>Formulas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B558D7-E9C4-B695-0D1E-E3207FB3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2630"/>
            <a:ext cx="10515600" cy="5054333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/>
              <a:t>STANDARD INDEPENDENT T-TEST (</a:t>
            </a:r>
            <a:r>
              <a:rPr lang="ru-RU" b="1" err="1"/>
              <a:t>equal</a:t>
            </a:r>
            <a:r>
              <a:rPr lang="ru-RU" b="1"/>
              <a:t> </a:t>
            </a:r>
            <a:r>
              <a:rPr lang="ru-RU" b="1" err="1"/>
              <a:t>variances</a:t>
            </a:r>
            <a:r>
              <a:rPr lang="ru-RU" b="1"/>
              <a:t>):</a:t>
            </a:r>
          </a:p>
          <a:p>
            <a:pPr marL="0" indent="0" latinLnBrk="1">
              <a:buNone/>
            </a:pPr>
            <a:r>
              <a:rPr lang="ru-RU"/>
              <a:t>         x̄₁ - x̄₂</a:t>
            </a:r>
          </a:p>
          <a:p>
            <a:pPr marL="0" indent="0" latinLnBrk="1">
              <a:buNone/>
            </a:pPr>
            <a:r>
              <a:rPr lang="ru-RU"/>
              <a:t>t = ─────────────────</a:t>
            </a:r>
          </a:p>
          <a:p>
            <a:pPr marL="0" indent="0" latinLnBrk="1">
              <a:buNone/>
            </a:pPr>
            <a:r>
              <a:rPr lang="ru-RU"/>
              <a:t>     </a:t>
            </a:r>
            <a:r>
              <a:rPr lang="ru-RU" err="1"/>
              <a:t>s_p</a:t>
            </a:r>
            <a:r>
              <a:rPr lang="ru-RU"/>
              <a:t> × √(1/n₁ + 1/n₂)</a:t>
            </a:r>
          </a:p>
          <a:p>
            <a:pPr marL="0" indent="0" latinLnBrk="1">
              <a:buNone/>
            </a:pPr>
            <a:r>
              <a:rPr lang="ru-RU" b="1"/>
              <a:t>WHERE:</a:t>
            </a:r>
          </a:p>
          <a:p>
            <a:pPr marL="0" indent="0" latinLnBrk="1">
              <a:buNone/>
            </a:pPr>
            <a:r>
              <a:rPr lang="ru-RU"/>
              <a:t>s_p² = [(n₁-1)s₁² + (n₂-1)s₂²] / (n₁ + n₂ - 2)</a:t>
            </a:r>
          </a:p>
          <a:p>
            <a:pPr marL="0" indent="0" latinLnBrk="1">
              <a:buNone/>
            </a:pPr>
            <a:r>
              <a:rPr lang="ru-RU" err="1"/>
              <a:t>s_p</a:t>
            </a:r>
            <a:r>
              <a:rPr lang="ru-RU"/>
              <a:t> = √s_p² (</a:t>
            </a:r>
            <a:r>
              <a:rPr lang="ru-RU" err="1"/>
              <a:t>pooled</a:t>
            </a:r>
            <a:r>
              <a:rPr lang="ru-RU"/>
              <a:t> </a:t>
            </a:r>
            <a:r>
              <a:rPr lang="ru-RU" err="1"/>
              <a:t>standard</a:t>
            </a:r>
            <a:r>
              <a:rPr lang="ru-RU"/>
              <a:t> </a:t>
            </a:r>
            <a:r>
              <a:rPr lang="ru-RU" err="1"/>
              <a:t>deviation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df</a:t>
            </a:r>
            <a:r>
              <a:rPr lang="ru-RU"/>
              <a:t> = n₁ + n₂ - 2</a:t>
            </a:r>
          </a:p>
          <a:p>
            <a:pPr marL="0" indent="0" latinLnBrk="1">
              <a:buNone/>
            </a:pPr>
            <a:r>
              <a:rPr lang="ru-RU" b="1"/>
              <a:t>WELCH'S T-TEST (</a:t>
            </a:r>
            <a:r>
              <a:rPr lang="ru-RU" b="1" err="1"/>
              <a:t>unequal</a:t>
            </a:r>
            <a:r>
              <a:rPr lang="ru-RU" b="1"/>
              <a:t> </a:t>
            </a:r>
            <a:r>
              <a:rPr lang="ru-RU" b="1" err="1"/>
              <a:t>variances</a:t>
            </a:r>
            <a:r>
              <a:rPr lang="ru-RU" b="1"/>
              <a:t> - RECOMMENDED):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        x̄₁ - x̄₂</a:t>
            </a:r>
          </a:p>
          <a:p>
            <a:pPr marL="0" indent="0" latinLnBrk="1">
              <a:buNone/>
            </a:pPr>
            <a:r>
              <a:rPr lang="ru-RU"/>
              <a:t>t = ───────────────────</a:t>
            </a:r>
          </a:p>
          <a:p>
            <a:pPr marL="0" indent="0" latinLnBrk="1">
              <a:buNone/>
            </a:pPr>
            <a:r>
              <a:rPr lang="ru-RU"/>
              <a:t>     √(s₁²/n₁ + s₂²/n₂)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df</a:t>
            </a:r>
            <a:r>
              <a:rPr lang="ru-RU"/>
              <a:t> = (s₁²/n₁ + s₂²/n₂)² / [ (s₁²/n₁)²/(n₁-1) + (s₂²/n₂)²/(n₂-1) ]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>
              <a:buNone/>
            </a:pPr>
            <a:r>
              <a:rPr lang="ru-RU"/>
              <a:t>USE WELCH'S BY DEFAULT! It </a:t>
            </a:r>
            <a:r>
              <a:rPr lang="ru-RU" err="1"/>
              <a:t>works</a:t>
            </a:r>
            <a:r>
              <a:rPr lang="ru-RU"/>
              <a:t> </a:t>
            </a:r>
            <a:r>
              <a:rPr lang="ru-RU" err="1"/>
              <a:t>whether</a:t>
            </a:r>
            <a:r>
              <a:rPr lang="ru-RU"/>
              <a:t> </a:t>
            </a:r>
            <a:r>
              <a:rPr lang="ru-RU" err="1"/>
              <a:t>variances</a:t>
            </a:r>
            <a:r>
              <a:rPr lang="ru-RU"/>
              <a:t> </a:t>
            </a:r>
            <a:r>
              <a:rPr lang="ru-RU" err="1"/>
              <a:t>equal</a:t>
            </a:r>
            <a:r>
              <a:rPr lang="ru-RU"/>
              <a:t> </a:t>
            </a:r>
            <a:r>
              <a:rPr lang="ru-RU" err="1"/>
              <a:t>or</a:t>
            </a:r>
            <a:r>
              <a:rPr lang="ru-RU"/>
              <a:t> </a:t>
            </a:r>
            <a:r>
              <a:rPr lang="ru-RU" err="1"/>
              <a:t>not</a:t>
            </a:r>
            <a:r>
              <a:rPr lang="ru-RU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4606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CF8954-2E5C-AD46-AFA0-117F87001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629"/>
            <a:ext cx="10515600" cy="802772"/>
          </a:xfrm>
        </p:spPr>
        <p:txBody>
          <a:bodyPr/>
          <a:lstStyle/>
          <a:p>
            <a:r>
              <a:rPr lang="ru-RU" b="1"/>
              <a:t>Independent </a:t>
            </a:r>
            <a:r>
              <a:rPr lang="ru-RU" b="1" err="1"/>
              <a:t>Samples</a:t>
            </a:r>
            <a:r>
              <a:rPr lang="ru-RU" b="1"/>
              <a:t> T-Test - </a:t>
            </a:r>
            <a:r>
              <a:rPr lang="ru-RU" b="1" err="1"/>
              <a:t>Example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AED802-12C4-8F41-8D45-E8E7A1AE3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523"/>
            <a:ext cx="10515600" cy="5072440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b="1"/>
              <a:t>PROBLEM: </a:t>
            </a:r>
            <a:r>
              <a:rPr lang="ru-RU" err="1"/>
              <a:t>Does</a:t>
            </a:r>
            <a:r>
              <a:rPr lang="ru-RU"/>
              <a:t> a 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website</a:t>
            </a:r>
            <a:r>
              <a:rPr lang="ru-RU"/>
              <a:t> </a:t>
            </a:r>
            <a:r>
              <a:rPr lang="ru-RU" err="1"/>
              <a:t>design</a:t>
            </a:r>
            <a:r>
              <a:rPr lang="ru-RU"/>
              <a:t> </a:t>
            </a:r>
            <a:r>
              <a:rPr lang="ru-RU" err="1"/>
              <a:t>increase</a:t>
            </a:r>
            <a:r>
              <a:rPr lang="ru-RU"/>
              <a:t> </a:t>
            </a:r>
            <a:r>
              <a:rPr lang="ru-RU" err="1"/>
              <a:t>time</a:t>
            </a:r>
            <a:r>
              <a:rPr lang="ru-RU"/>
              <a:t> </a:t>
            </a:r>
            <a:r>
              <a:rPr lang="ru-RU" err="1"/>
              <a:t>spent</a:t>
            </a:r>
            <a:r>
              <a:rPr lang="ru-RU"/>
              <a:t>?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Group A (Old): n₁ = 30, x̄₁ = 120s, s₁ = 15s</a:t>
            </a:r>
          </a:p>
          <a:p>
            <a:pPr marL="0" indent="0" latinLnBrk="1">
              <a:buNone/>
            </a:pPr>
            <a:r>
              <a:rPr lang="ru-RU"/>
              <a:t>Group B (New): n₂ = 35, x̄₂ = 135s, s₂ = 18s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STEP 1: </a:t>
            </a:r>
            <a:r>
              <a:rPr lang="ru-RU"/>
              <a:t>H₀: μ₁ = μ₂ (</a:t>
            </a:r>
            <a:r>
              <a:rPr lang="ru-RU" err="1"/>
              <a:t>no</a:t>
            </a:r>
            <a:r>
              <a:rPr lang="ru-RU"/>
              <a:t> </a:t>
            </a:r>
            <a:r>
              <a:rPr lang="ru-RU" err="1"/>
              <a:t>difference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STEP 2: </a:t>
            </a:r>
            <a:r>
              <a:rPr lang="ru-RU"/>
              <a:t>H₁: μ₁ &lt; μ₂ (</a:t>
            </a:r>
            <a:r>
              <a:rPr lang="ru-RU" err="1"/>
              <a:t>new</a:t>
            </a:r>
            <a:r>
              <a:rPr lang="ru-RU"/>
              <a:t> </a:t>
            </a:r>
            <a:r>
              <a:rPr lang="ru-RU" err="1"/>
              <a:t>design</a:t>
            </a:r>
            <a:r>
              <a:rPr lang="ru-RU"/>
              <a:t> </a:t>
            </a:r>
            <a:r>
              <a:rPr lang="ru-RU" err="1"/>
              <a:t>increases</a:t>
            </a:r>
            <a:r>
              <a:rPr lang="ru-RU"/>
              <a:t> </a:t>
            </a:r>
            <a:r>
              <a:rPr lang="ru-RU" err="1"/>
              <a:t>time</a:t>
            </a:r>
            <a:r>
              <a:rPr lang="ru-RU"/>
              <a:t> - </a:t>
            </a:r>
            <a:r>
              <a:rPr lang="ru-RU" err="1"/>
              <a:t>right-tailed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STEP 3: </a:t>
            </a:r>
            <a:r>
              <a:rPr lang="ru-RU"/>
              <a:t>α = 0.05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STEP 4: </a:t>
            </a:r>
            <a:r>
              <a:rPr lang="ru-RU" err="1"/>
              <a:t>Calculate</a:t>
            </a:r>
            <a:r>
              <a:rPr lang="ru-RU"/>
              <a:t> t-</a:t>
            </a:r>
            <a:r>
              <a:rPr lang="ru-RU" err="1"/>
              <a:t>statistic</a:t>
            </a:r>
            <a:r>
              <a:rPr lang="ru-RU"/>
              <a:t> (</a:t>
            </a:r>
            <a:r>
              <a:rPr lang="ru-RU" err="1"/>
              <a:t>Welch's</a:t>
            </a:r>
            <a:r>
              <a:rPr lang="ru-RU"/>
              <a:t>):</a:t>
            </a:r>
          </a:p>
          <a:p>
            <a:pPr marL="0" indent="0" latinLnBrk="1">
              <a:buNone/>
            </a:pPr>
            <a:r>
              <a:rPr lang="ru-RU"/>
              <a:t>t = (120 - 135) / √(15²/30 + 18²/35)</a:t>
            </a:r>
          </a:p>
          <a:p>
            <a:pPr marL="0" indent="0" latinLnBrk="1">
              <a:buNone/>
            </a:pPr>
            <a:r>
              <a:rPr lang="ru-RU"/>
              <a:t>t = -15 / √(7.5 + 9.26) = -15 / √16.76 = -15 / 4.09 = -3.67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STEP 5: </a:t>
            </a:r>
            <a:r>
              <a:rPr lang="ru-RU" err="1"/>
              <a:t>df</a:t>
            </a:r>
            <a:r>
              <a:rPr lang="ru-RU"/>
              <a:t> ≈ 62, p-</a:t>
            </a:r>
            <a:r>
              <a:rPr lang="ru-RU" err="1"/>
              <a:t>value</a:t>
            </a:r>
            <a:r>
              <a:rPr lang="ru-RU"/>
              <a:t> = 0.00025 (</a:t>
            </a:r>
            <a:r>
              <a:rPr lang="ru-RU" err="1"/>
              <a:t>one-tailed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b="1"/>
              <a:t>STEP 6: </a:t>
            </a:r>
            <a:r>
              <a:rPr lang="ru-RU"/>
              <a:t>p &lt; 0.05 → REJECT H₀</a:t>
            </a:r>
          </a:p>
          <a:p>
            <a:pPr marL="0" indent="0" latinLnBrk="1">
              <a:buNone/>
            </a:pPr>
            <a:r>
              <a:rPr lang="ru-RU" b="1"/>
              <a:t>STEP 7: </a:t>
            </a:r>
            <a:r>
              <a:rPr lang="ru-RU"/>
              <a:t>New </a:t>
            </a:r>
            <a:r>
              <a:rPr lang="ru-RU" err="1"/>
              <a:t>design</a:t>
            </a:r>
            <a:r>
              <a:rPr lang="ru-RU"/>
              <a:t> </a:t>
            </a:r>
            <a:r>
              <a:rPr lang="ru-RU" err="1"/>
              <a:t>significantly</a:t>
            </a:r>
            <a:r>
              <a:rPr lang="ru-RU"/>
              <a:t> </a:t>
            </a:r>
            <a:r>
              <a:rPr lang="ru-RU" err="1"/>
              <a:t>increases</a:t>
            </a:r>
            <a:r>
              <a:rPr lang="ru-RU"/>
              <a:t> </a:t>
            </a:r>
            <a:r>
              <a:rPr lang="ru-RU" err="1"/>
              <a:t>time</a:t>
            </a:r>
            <a:r>
              <a:rPr lang="ru-RU"/>
              <a:t> </a:t>
            </a:r>
            <a:r>
              <a:rPr lang="ru-RU" err="1"/>
              <a:t>spent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6581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DC562-8A61-FBB5-ED69-2C2AAA28D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719"/>
          </a:xfrm>
        </p:spPr>
        <p:txBody>
          <a:bodyPr/>
          <a:lstStyle/>
          <a:p>
            <a:r>
              <a:rPr lang="ru-RU" b="1"/>
              <a:t>Python - Independent </a:t>
            </a:r>
            <a:r>
              <a:rPr lang="ru-RU" b="1" err="1"/>
              <a:t>Samples</a:t>
            </a:r>
            <a:r>
              <a:rPr lang="ru-RU" b="1"/>
              <a:t> T-Test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AF675-11BA-1D21-15CA-126E70BB6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844"/>
            <a:ext cx="10515600" cy="5018119"/>
          </a:xfrm>
        </p:spPr>
        <p:txBody>
          <a:bodyPr numCol="2"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numpy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np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Generate</a:t>
            </a:r>
            <a:r>
              <a:rPr lang="ru-RU" i="1"/>
              <a:t> </a:t>
            </a:r>
            <a:r>
              <a:rPr lang="ru-RU" i="1" err="1"/>
              <a:t>sample</a:t>
            </a:r>
            <a:r>
              <a:rPr lang="ru-RU" i="1"/>
              <a:t> </a:t>
            </a:r>
            <a:r>
              <a:rPr lang="ru-RU" i="1" err="1"/>
              <a:t>data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np.random.seed</a:t>
            </a:r>
            <a:r>
              <a:rPr lang="ru-RU"/>
              <a:t>(42)</a:t>
            </a:r>
          </a:p>
          <a:p>
            <a:pPr marL="0" indent="0" latinLnBrk="1">
              <a:buNone/>
            </a:pPr>
            <a:r>
              <a:rPr lang="ru-RU" err="1"/>
              <a:t>group_old</a:t>
            </a:r>
            <a:r>
              <a:rPr lang="ru-RU"/>
              <a:t> = </a:t>
            </a:r>
            <a:r>
              <a:rPr lang="ru-RU" err="1"/>
              <a:t>np.random.normal</a:t>
            </a:r>
            <a:r>
              <a:rPr lang="ru-RU"/>
              <a:t>(120, 15, 30)</a:t>
            </a:r>
          </a:p>
          <a:p>
            <a:pPr marL="0" indent="0" latinLnBrk="1">
              <a:buNone/>
            </a:pPr>
            <a:r>
              <a:rPr lang="ru-RU" err="1"/>
              <a:t>group_new</a:t>
            </a:r>
            <a:r>
              <a:rPr lang="ru-RU"/>
              <a:t> = </a:t>
            </a:r>
            <a:r>
              <a:rPr lang="ru-RU" err="1"/>
              <a:t>np.random.normal</a:t>
            </a:r>
            <a:r>
              <a:rPr lang="ru-RU"/>
              <a:t>(135, 18, 35)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Independent t-</a:t>
            </a:r>
            <a:r>
              <a:rPr lang="ru-RU" i="1" err="1"/>
              <a:t>test</a:t>
            </a:r>
            <a:r>
              <a:rPr lang="ru-RU" i="1"/>
              <a:t> (</a:t>
            </a:r>
            <a:r>
              <a:rPr lang="ru-RU" i="1" err="1"/>
              <a:t>Welch's</a:t>
            </a:r>
            <a:r>
              <a:rPr lang="ru-RU" i="1"/>
              <a:t> = </a:t>
            </a:r>
            <a:r>
              <a:rPr lang="ru-RU" i="1" err="1"/>
              <a:t>equal_var</a:t>
            </a:r>
            <a:r>
              <a:rPr lang="ru-RU" i="1"/>
              <a:t>=</a:t>
            </a:r>
            <a:r>
              <a:rPr lang="ru-RU" i="1" err="1"/>
              <a:t>False</a:t>
            </a:r>
            <a:r>
              <a:rPr lang="ru-RU" i="1"/>
              <a:t>)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t_stat</a:t>
            </a:r>
            <a:r>
              <a:rPr lang="ru-RU"/>
              <a:t>, </a:t>
            </a:r>
            <a:r>
              <a:rPr lang="ru-RU" err="1"/>
              <a:t>p_value</a:t>
            </a:r>
            <a:r>
              <a:rPr lang="ru-RU"/>
              <a:t> = </a:t>
            </a:r>
            <a:r>
              <a:rPr lang="ru-RU" err="1"/>
              <a:t>stats.ttest_ind</a:t>
            </a:r>
            <a:r>
              <a:rPr lang="ru-RU"/>
              <a:t>(</a:t>
            </a:r>
            <a:r>
              <a:rPr lang="ru-RU" err="1"/>
              <a:t>group_new</a:t>
            </a:r>
            <a:r>
              <a:rPr lang="ru-RU"/>
              <a:t>, </a:t>
            </a:r>
            <a:r>
              <a:rPr lang="ru-RU" err="1"/>
              <a:t>group_old</a:t>
            </a:r>
            <a:r>
              <a:rPr lang="ru-RU"/>
              <a:t>, </a:t>
            </a:r>
            <a:r>
              <a:rPr lang="ru-RU" err="1"/>
              <a:t>equal_var</a:t>
            </a:r>
            <a:r>
              <a:rPr lang="ru-RU"/>
              <a:t>=</a:t>
            </a:r>
            <a:r>
              <a:rPr lang="ru-RU" err="1"/>
              <a:t>False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f"Group</a:t>
            </a:r>
            <a:r>
              <a:rPr lang="ru-RU"/>
              <a:t> Old - </a:t>
            </a:r>
            <a:r>
              <a:rPr lang="ru-RU" err="1"/>
              <a:t>Mean</a:t>
            </a:r>
            <a:r>
              <a:rPr lang="ru-RU"/>
              <a:t>: {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group_old</a:t>
            </a:r>
            <a:r>
              <a:rPr lang="ru-RU"/>
              <a:t>):.1f}, SD: {</a:t>
            </a:r>
            <a:r>
              <a:rPr lang="ru-RU" err="1"/>
              <a:t>np.std</a:t>
            </a:r>
            <a:r>
              <a:rPr lang="ru-RU"/>
              <a:t>(</a:t>
            </a:r>
            <a:r>
              <a:rPr lang="ru-RU" err="1"/>
              <a:t>group_old</a:t>
            </a:r>
            <a:r>
              <a:rPr lang="ru-RU"/>
              <a:t>, </a:t>
            </a:r>
            <a:r>
              <a:rPr lang="ru-RU" err="1"/>
              <a:t>ddof</a:t>
            </a:r>
            <a:r>
              <a:rPr lang="ru-RU"/>
              <a:t>=1):.1f}")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f"Group</a:t>
            </a:r>
            <a:r>
              <a:rPr lang="ru-RU"/>
              <a:t> New - </a:t>
            </a:r>
            <a:r>
              <a:rPr lang="ru-RU" err="1"/>
              <a:t>Mean</a:t>
            </a:r>
            <a:r>
              <a:rPr lang="ru-RU"/>
              <a:t>: {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group_new</a:t>
            </a:r>
            <a:r>
              <a:rPr lang="ru-RU"/>
              <a:t>):.1f}, SD: {</a:t>
            </a:r>
            <a:r>
              <a:rPr lang="ru-RU" err="1"/>
              <a:t>np.std</a:t>
            </a:r>
            <a:r>
              <a:rPr lang="ru-RU"/>
              <a:t>(</a:t>
            </a:r>
            <a:r>
              <a:rPr lang="ru-RU" err="1"/>
              <a:t>group_new</a:t>
            </a:r>
            <a:r>
              <a:rPr lang="ru-RU"/>
              <a:t>, </a:t>
            </a:r>
            <a:r>
              <a:rPr lang="ru-RU" err="1"/>
              <a:t>ddof</a:t>
            </a:r>
            <a:r>
              <a:rPr lang="ru-RU"/>
              <a:t>=1):.1f}")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f"Difference</a:t>
            </a:r>
            <a:r>
              <a:rPr lang="ru-RU"/>
              <a:t>: {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group_new</a:t>
            </a:r>
            <a:r>
              <a:rPr lang="ru-RU"/>
              <a:t>) - 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group_old</a:t>
            </a:r>
            <a:r>
              <a:rPr lang="ru-RU"/>
              <a:t>):.1f}")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f"t-statistic</a:t>
            </a:r>
            <a:r>
              <a:rPr lang="ru-RU"/>
              <a:t>: {t_stat:.3f}")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f"p-value</a:t>
            </a:r>
            <a:r>
              <a:rPr lang="ru-RU"/>
              <a:t> (</a:t>
            </a:r>
            <a:r>
              <a:rPr lang="ru-RU" err="1"/>
              <a:t>two-tailed</a:t>
            </a:r>
            <a:r>
              <a:rPr lang="ru-RU"/>
              <a:t>): {p_value:.4f}")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For </a:t>
            </a:r>
            <a:r>
              <a:rPr lang="ru-RU" i="1" err="1"/>
              <a:t>one-tailed</a:t>
            </a:r>
            <a:r>
              <a:rPr lang="ru-RU" i="1"/>
              <a:t> </a:t>
            </a:r>
            <a:r>
              <a:rPr lang="ru-RU" i="1" err="1"/>
              <a:t>test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if</a:t>
            </a:r>
            <a:r>
              <a:rPr lang="ru-RU"/>
              <a:t> </a:t>
            </a:r>
            <a:r>
              <a:rPr lang="ru-RU" err="1"/>
              <a:t>t_stat</a:t>
            </a:r>
            <a:r>
              <a:rPr lang="ru-RU"/>
              <a:t> &gt; 0: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p_one_tailed</a:t>
            </a:r>
            <a:r>
              <a:rPr lang="ru-RU"/>
              <a:t> = </a:t>
            </a:r>
            <a:r>
              <a:rPr lang="ru-RU" err="1"/>
              <a:t>p_value</a:t>
            </a:r>
            <a:r>
              <a:rPr lang="ru-RU"/>
              <a:t> / 2</a:t>
            </a:r>
          </a:p>
          <a:p>
            <a:pPr marL="0" indent="0" latinLnBrk="1">
              <a:buNone/>
            </a:pPr>
            <a:r>
              <a:rPr lang="ru-RU" err="1"/>
              <a:t>else</a:t>
            </a:r>
            <a:r>
              <a:rPr lang="ru-RU"/>
              <a:t>: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p_one_tailed</a:t>
            </a:r>
            <a:r>
              <a:rPr lang="ru-RU"/>
              <a:t> = 1 - (</a:t>
            </a:r>
            <a:r>
              <a:rPr lang="ru-RU" err="1"/>
              <a:t>p_value</a:t>
            </a:r>
            <a:r>
              <a:rPr lang="ru-RU"/>
              <a:t> / 2)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f"p-value</a:t>
            </a:r>
            <a:r>
              <a:rPr lang="ru-RU"/>
              <a:t> (</a:t>
            </a:r>
            <a:r>
              <a:rPr lang="ru-RU" err="1"/>
              <a:t>one-tailed</a:t>
            </a:r>
            <a:r>
              <a:rPr lang="ru-RU"/>
              <a:t>, </a:t>
            </a:r>
            <a:r>
              <a:rPr lang="ru-RU" err="1"/>
              <a:t>new</a:t>
            </a:r>
            <a:r>
              <a:rPr lang="ru-RU"/>
              <a:t> &gt; </a:t>
            </a:r>
            <a:r>
              <a:rPr lang="ru-RU" err="1"/>
              <a:t>old</a:t>
            </a:r>
            <a:r>
              <a:rPr lang="ru-RU"/>
              <a:t>): {p_one_tailed:.4f}")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5085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5C125-F3A4-D6F7-8BA4-DB3937C9D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9398"/>
          </a:xfrm>
        </p:spPr>
        <p:txBody>
          <a:bodyPr/>
          <a:lstStyle/>
          <a:p>
            <a:r>
              <a:rPr lang="ru-RU" b="1" err="1"/>
              <a:t>Paired</a:t>
            </a:r>
            <a:r>
              <a:rPr lang="ru-RU" b="1"/>
              <a:t> T-Test - </a:t>
            </a:r>
            <a:r>
              <a:rPr lang="ru-RU" b="1" err="1"/>
              <a:t>Before</a:t>
            </a:r>
            <a:r>
              <a:rPr lang="ru-RU" b="1"/>
              <a:t> &amp; </a:t>
            </a:r>
            <a:r>
              <a:rPr lang="ru-RU" b="1" err="1"/>
              <a:t>After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4B4FB8-200B-DD37-84F2-7F6C4ABFF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394"/>
            <a:ext cx="10515600" cy="4755569"/>
          </a:xfrm>
        </p:spPr>
        <p:txBody>
          <a:bodyPr>
            <a:normAutofit fontScale="62500" lnSpcReduction="20000"/>
          </a:bodyPr>
          <a:lstStyle/>
          <a:p>
            <a:pPr marL="0" indent="0" latinLnBrk="1">
              <a:buNone/>
            </a:pPr>
            <a:r>
              <a:rPr lang="ru-RU" b="1"/>
              <a:t>PAIRED DESIGNS:</a:t>
            </a:r>
          </a:p>
          <a:p>
            <a:pPr latinLnBrk="1"/>
            <a:r>
              <a:rPr lang="ru-RU" err="1"/>
              <a:t>Same</a:t>
            </a:r>
            <a:r>
              <a:rPr lang="ru-RU"/>
              <a:t> </a:t>
            </a:r>
            <a:r>
              <a:rPr lang="ru-RU" err="1"/>
              <a:t>subjects</a:t>
            </a:r>
            <a:r>
              <a:rPr lang="ru-RU"/>
              <a:t> </a:t>
            </a:r>
            <a:r>
              <a:rPr lang="ru-RU" err="1"/>
              <a:t>measured</a:t>
            </a:r>
            <a:r>
              <a:rPr lang="ru-RU"/>
              <a:t> </a:t>
            </a:r>
            <a:r>
              <a:rPr lang="ru-RU" err="1"/>
              <a:t>twice</a:t>
            </a:r>
            <a:endParaRPr lang="ru-RU"/>
          </a:p>
          <a:p>
            <a:pPr latinLnBrk="1"/>
            <a:r>
              <a:rPr lang="ru-RU"/>
              <a:t>Natural </a:t>
            </a:r>
            <a:r>
              <a:rPr lang="ru-RU" err="1"/>
              <a:t>pairs</a:t>
            </a:r>
            <a:r>
              <a:rPr lang="ru-RU"/>
              <a:t> (</a:t>
            </a:r>
            <a:r>
              <a:rPr lang="ru-RU" err="1"/>
              <a:t>twins</a:t>
            </a:r>
            <a:r>
              <a:rPr lang="ru-RU"/>
              <a:t>, </a:t>
            </a:r>
            <a:r>
              <a:rPr lang="ru-RU" err="1"/>
              <a:t>matched</a:t>
            </a:r>
            <a:r>
              <a:rPr lang="ru-RU"/>
              <a:t> </a:t>
            </a:r>
            <a:r>
              <a:rPr lang="ru-RU" err="1"/>
              <a:t>patients</a:t>
            </a:r>
            <a:r>
              <a:rPr lang="ru-RU"/>
              <a:t>)</a:t>
            </a:r>
          </a:p>
          <a:p>
            <a:pPr latinLnBrk="1"/>
            <a:r>
              <a:rPr lang="ru-RU" err="1"/>
              <a:t>Controls</a:t>
            </a:r>
            <a:r>
              <a:rPr lang="ru-RU"/>
              <a:t> </a:t>
            </a:r>
            <a:r>
              <a:rPr lang="ru-RU" err="1"/>
              <a:t>for</a:t>
            </a:r>
            <a:r>
              <a:rPr lang="ru-RU"/>
              <a:t> </a:t>
            </a:r>
            <a:r>
              <a:rPr lang="ru-RU" err="1"/>
              <a:t>individual</a:t>
            </a:r>
            <a:r>
              <a:rPr lang="ru-RU"/>
              <a:t> </a:t>
            </a:r>
            <a:r>
              <a:rPr lang="ru-RU" err="1"/>
              <a:t>differences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EXAMPLES:</a:t>
            </a:r>
          </a:p>
          <a:p>
            <a:pPr marL="0" indent="0" latinLnBrk="1">
              <a:buNone/>
            </a:pPr>
            <a:r>
              <a:rPr lang="ru-RU" err="1"/>
              <a:t>Pre-test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Post-</a:t>
            </a:r>
            <a:r>
              <a:rPr lang="ru-RU" err="1"/>
              <a:t>test</a:t>
            </a:r>
            <a:endParaRPr lang="ru-RU"/>
          </a:p>
          <a:p>
            <a:pPr latinLnBrk="1"/>
            <a:r>
              <a:rPr lang="ru-RU" err="1"/>
              <a:t>Left</a:t>
            </a:r>
            <a:r>
              <a:rPr lang="ru-RU"/>
              <a:t> </a:t>
            </a:r>
            <a:r>
              <a:rPr lang="ru-RU" err="1"/>
              <a:t>hand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Right</a:t>
            </a:r>
            <a:r>
              <a:rPr lang="ru-RU"/>
              <a:t> </a:t>
            </a:r>
            <a:r>
              <a:rPr lang="ru-RU" err="1"/>
              <a:t>hand</a:t>
            </a:r>
            <a:endParaRPr lang="ru-RU"/>
          </a:p>
          <a:p>
            <a:pPr latinLnBrk="1"/>
            <a:r>
              <a:rPr lang="ru-RU" err="1"/>
              <a:t>Husband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Wife</a:t>
            </a:r>
            <a:endParaRPr lang="ru-RU"/>
          </a:p>
          <a:p>
            <a:pPr latinLnBrk="1"/>
            <a:r>
              <a:rPr lang="ru-RU" err="1"/>
              <a:t>Before</a:t>
            </a:r>
            <a:r>
              <a:rPr lang="ru-RU"/>
              <a:t> </a:t>
            </a:r>
            <a:r>
              <a:rPr lang="ru-RU" err="1"/>
              <a:t>treatment</a:t>
            </a:r>
            <a:r>
              <a:rPr lang="ru-RU"/>
              <a:t> </a:t>
            </a:r>
            <a:r>
              <a:rPr lang="ru-RU" err="1"/>
              <a:t>vs</a:t>
            </a:r>
            <a:r>
              <a:rPr lang="ru-RU"/>
              <a:t> </a:t>
            </a:r>
            <a:r>
              <a:rPr lang="ru-RU" err="1"/>
              <a:t>After</a:t>
            </a:r>
            <a:r>
              <a:rPr lang="ru-RU"/>
              <a:t> </a:t>
            </a:r>
            <a:r>
              <a:rPr lang="ru-RU" err="1"/>
              <a:t>treatment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ADVANTAGE:</a:t>
            </a:r>
          </a:p>
          <a:p>
            <a:pPr marL="0" indent="0" latinLnBrk="1">
              <a:buNone/>
            </a:pPr>
            <a:r>
              <a:rPr lang="ru-RU" err="1"/>
              <a:t>Each</a:t>
            </a:r>
            <a:r>
              <a:rPr lang="ru-RU"/>
              <a:t> </a:t>
            </a:r>
            <a:r>
              <a:rPr lang="ru-RU" err="1"/>
              <a:t>subject</a:t>
            </a:r>
            <a:r>
              <a:rPr lang="ru-RU"/>
              <a:t> </a:t>
            </a:r>
            <a:r>
              <a:rPr lang="ru-RU" err="1"/>
              <a:t>serves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their</a:t>
            </a:r>
            <a:r>
              <a:rPr lang="ru-RU"/>
              <a:t> </a:t>
            </a:r>
            <a:r>
              <a:rPr lang="ru-RU" err="1"/>
              <a:t>own</a:t>
            </a:r>
            <a:r>
              <a:rPr lang="ru-RU"/>
              <a:t> </a:t>
            </a:r>
            <a:r>
              <a:rPr lang="ru-RU" err="1"/>
              <a:t>control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Removes</a:t>
            </a:r>
            <a:r>
              <a:rPr lang="ru-RU"/>
              <a:t> </a:t>
            </a:r>
            <a:r>
              <a:rPr lang="ru-RU" err="1"/>
              <a:t>between-subject</a:t>
            </a:r>
            <a:r>
              <a:rPr lang="ru-RU"/>
              <a:t> </a:t>
            </a:r>
            <a:r>
              <a:rPr lang="ru-RU" err="1"/>
              <a:t>variability</a:t>
            </a:r>
            <a:endParaRPr lang="ru-RU"/>
          </a:p>
          <a:p>
            <a:pPr marL="0" indent="0" latinLnBrk="1">
              <a:buNone/>
            </a:pPr>
            <a:r>
              <a:rPr lang="ru-RU"/>
              <a:t>More </a:t>
            </a:r>
            <a:r>
              <a:rPr lang="ru-RU" err="1"/>
              <a:t>powerful</a:t>
            </a:r>
            <a:r>
              <a:rPr lang="ru-RU"/>
              <a:t> </a:t>
            </a:r>
            <a:r>
              <a:rPr lang="ru-RU" err="1"/>
              <a:t>than</a:t>
            </a:r>
            <a:r>
              <a:rPr lang="ru-RU"/>
              <a:t> </a:t>
            </a:r>
            <a:r>
              <a:rPr lang="ru-RU" err="1"/>
              <a:t>independent</a:t>
            </a:r>
            <a:r>
              <a:rPr lang="ru-RU"/>
              <a:t> t-</a:t>
            </a:r>
            <a:r>
              <a:rPr lang="ru-RU" err="1"/>
              <a:t>test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540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8C28E-335F-2BE8-8CB8-67B069514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344"/>
          </a:xfrm>
        </p:spPr>
        <p:txBody>
          <a:bodyPr/>
          <a:lstStyle/>
          <a:p>
            <a:r>
              <a:rPr lang="ru-RU" b="1" err="1"/>
              <a:t>Paired</a:t>
            </a:r>
            <a:r>
              <a:rPr lang="ru-RU" b="1"/>
              <a:t> T-Test - Formula &amp; </a:t>
            </a:r>
            <a:r>
              <a:rPr lang="ru-RU" b="1" err="1"/>
              <a:t>Example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29DECC-D805-8485-FF5A-406743AC5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470"/>
            <a:ext cx="10515600" cy="5081493"/>
          </a:xfrm>
        </p:spPr>
        <p:txBody>
          <a:bodyPr numCol="2">
            <a:noAutofit/>
          </a:bodyPr>
          <a:lstStyle/>
          <a:p>
            <a:pPr marL="0" indent="0" latinLnBrk="1">
              <a:buNone/>
            </a:pPr>
            <a:r>
              <a:rPr lang="ru-RU" sz="1000" b="1"/>
              <a:t>PAIRED T-TEST = ONE-SAMPLE T-TEST ON DIFFERENCES</a:t>
            </a:r>
          </a:p>
          <a:p>
            <a:pPr marL="0" indent="0" latinLnBrk="1">
              <a:buNone/>
            </a:pPr>
            <a:r>
              <a:rPr lang="ru-RU" sz="1000" b="1"/>
              <a:t>STEP 1: </a:t>
            </a:r>
            <a:r>
              <a:rPr lang="ru-RU" sz="1000" err="1"/>
              <a:t>Calculate</a:t>
            </a:r>
            <a:r>
              <a:rPr lang="ru-RU" sz="1000"/>
              <a:t> </a:t>
            </a:r>
            <a:r>
              <a:rPr lang="ru-RU" sz="1000" err="1"/>
              <a:t>difference</a:t>
            </a:r>
            <a:r>
              <a:rPr lang="ru-RU" sz="1000"/>
              <a:t> d = </a:t>
            </a:r>
            <a:r>
              <a:rPr lang="ru-RU" sz="1000" err="1"/>
              <a:t>after</a:t>
            </a:r>
            <a:r>
              <a:rPr lang="ru-RU" sz="1000"/>
              <a:t> - </a:t>
            </a:r>
            <a:r>
              <a:rPr lang="ru-RU" sz="1000" err="1"/>
              <a:t>before</a:t>
            </a:r>
            <a:r>
              <a:rPr lang="ru-RU" sz="1000"/>
              <a:t> </a:t>
            </a:r>
            <a:r>
              <a:rPr lang="ru-RU" sz="1000" err="1"/>
              <a:t>for</a:t>
            </a:r>
            <a:r>
              <a:rPr lang="ru-RU" sz="1000"/>
              <a:t> </a:t>
            </a:r>
            <a:r>
              <a:rPr lang="ru-RU" sz="1000" err="1"/>
              <a:t>each</a:t>
            </a:r>
            <a:r>
              <a:rPr lang="ru-RU" sz="1000"/>
              <a:t> </a:t>
            </a:r>
            <a:r>
              <a:rPr lang="ru-RU" sz="1000" err="1"/>
              <a:t>pair</a:t>
            </a:r>
            <a:endParaRPr lang="ru-RU" sz="1000"/>
          </a:p>
          <a:p>
            <a:pPr marL="0" indent="0" latinLnBrk="1">
              <a:buNone/>
            </a:pPr>
            <a:r>
              <a:rPr lang="ru-RU" sz="1000" b="1"/>
              <a:t>STEP 2: </a:t>
            </a:r>
            <a:r>
              <a:rPr lang="ru-RU" sz="1000"/>
              <a:t>Test </a:t>
            </a:r>
            <a:r>
              <a:rPr lang="ru-RU" sz="1000" err="1"/>
              <a:t>if</a:t>
            </a:r>
            <a:r>
              <a:rPr lang="ru-RU" sz="1000"/>
              <a:t> </a:t>
            </a:r>
            <a:r>
              <a:rPr lang="ru-RU" sz="1000" err="1"/>
              <a:t>mean</a:t>
            </a:r>
            <a:r>
              <a:rPr lang="ru-RU" sz="1000"/>
              <a:t> </a:t>
            </a:r>
            <a:r>
              <a:rPr lang="ru-RU" sz="1000" err="1"/>
              <a:t>difference</a:t>
            </a:r>
            <a:r>
              <a:rPr lang="ru-RU" sz="1000"/>
              <a:t> = 0</a:t>
            </a:r>
          </a:p>
          <a:p>
            <a:pPr marL="0" indent="0" latinLnBrk="1">
              <a:buNone/>
            </a:pPr>
            <a:r>
              <a:rPr lang="ru-RU" sz="1000" b="1"/>
              <a:t> FORMULA:</a:t>
            </a:r>
          </a:p>
          <a:p>
            <a:pPr marL="0" indent="0" latinLnBrk="1">
              <a:buNone/>
            </a:pPr>
            <a:r>
              <a:rPr lang="ru-RU" sz="1000"/>
              <a:t>         d̄</a:t>
            </a:r>
          </a:p>
          <a:p>
            <a:pPr marL="0" indent="0" latinLnBrk="1">
              <a:buNone/>
            </a:pPr>
            <a:r>
              <a:rPr lang="ru-RU" sz="1000"/>
              <a:t>t = ─────────</a:t>
            </a:r>
          </a:p>
          <a:p>
            <a:pPr marL="0" indent="0" latinLnBrk="1">
              <a:buNone/>
            </a:pPr>
            <a:r>
              <a:rPr lang="ru-RU" sz="1000"/>
              <a:t>     </a:t>
            </a:r>
            <a:r>
              <a:rPr lang="ru-RU" sz="1000" err="1"/>
              <a:t>s_d</a:t>
            </a:r>
            <a:r>
              <a:rPr lang="ru-RU" sz="1000"/>
              <a:t> / √n</a:t>
            </a:r>
          </a:p>
          <a:p>
            <a:pPr marL="0" indent="0" latinLnBrk="1">
              <a:buNone/>
            </a:pPr>
            <a:r>
              <a:rPr lang="ru-RU" sz="1000" b="1"/>
              <a:t> WHERE:</a:t>
            </a:r>
          </a:p>
          <a:p>
            <a:pPr marL="0" indent="0" latinLnBrk="1">
              <a:buNone/>
            </a:pPr>
            <a:r>
              <a:rPr lang="ru-RU" sz="1000"/>
              <a:t>• d̄ = </a:t>
            </a:r>
            <a:r>
              <a:rPr lang="ru-RU" sz="1000" err="1"/>
              <a:t>mean</a:t>
            </a:r>
            <a:r>
              <a:rPr lang="ru-RU" sz="1000"/>
              <a:t> </a:t>
            </a:r>
            <a:r>
              <a:rPr lang="ru-RU" sz="1000" err="1"/>
              <a:t>of</a:t>
            </a:r>
            <a:r>
              <a:rPr lang="ru-RU" sz="1000"/>
              <a:t> </a:t>
            </a:r>
            <a:r>
              <a:rPr lang="ru-RU" sz="1000" err="1"/>
              <a:t>differences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• </a:t>
            </a:r>
            <a:r>
              <a:rPr lang="ru-RU" sz="1000" err="1"/>
              <a:t>s_d</a:t>
            </a:r>
            <a:r>
              <a:rPr lang="ru-RU" sz="1000"/>
              <a:t> = </a:t>
            </a:r>
            <a:r>
              <a:rPr lang="ru-RU" sz="1000" err="1"/>
              <a:t>standard</a:t>
            </a:r>
            <a:r>
              <a:rPr lang="ru-RU" sz="1000"/>
              <a:t> </a:t>
            </a:r>
            <a:r>
              <a:rPr lang="ru-RU" sz="1000" err="1"/>
              <a:t>deviation</a:t>
            </a:r>
            <a:r>
              <a:rPr lang="ru-RU" sz="1000"/>
              <a:t> </a:t>
            </a:r>
            <a:r>
              <a:rPr lang="ru-RU" sz="1000" err="1"/>
              <a:t>of</a:t>
            </a:r>
            <a:r>
              <a:rPr lang="ru-RU" sz="1000"/>
              <a:t> </a:t>
            </a:r>
            <a:r>
              <a:rPr lang="ru-RU" sz="1000" err="1"/>
              <a:t>differences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• n = </a:t>
            </a:r>
            <a:r>
              <a:rPr lang="ru-RU" sz="1000" err="1"/>
              <a:t>number</a:t>
            </a:r>
            <a:r>
              <a:rPr lang="ru-RU" sz="1000"/>
              <a:t> </a:t>
            </a:r>
            <a:r>
              <a:rPr lang="ru-RU" sz="1000" err="1"/>
              <a:t>of</a:t>
            </a:r>
            <a:r>
              <a:rPr lang="ru-RU" sz="1000"/>
              <a:t> </a:t>
            </a:r>
            <a:r>
              <a:rPr lang="ru-RU" sz="1000" err="1"/>
              <a:t>pairs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• </a:t>
            </a:r>
            <a:r>
              <a:rPr lang="ru-RU" sz="1000" err="1"/>
              <a:t>df</a:t>
            </a:r>
            <a:r>
              <a:rPr lang="ru-RU" sz="1000"/>
              <a:t> = n - 1</a:t>
            </a:r>
          </a:p>
          <a:p>
            <a:pPr marL="0" indent="0" latinLnBrk="1">
              <a:buNone/>
            </a:pPr>
            <a:r>
              <a:rPr lang="ru-RU" sz="1000" b="1"/>
              <a:t> EXAMPLE: </a:t>
            </a:r>
            <a:r>
              <a:rPr lang="ru-RU" sz="1000" err="1"/>
              <a:t>Weight</a:t>
            </a:r>
            <a:r>
              <a:rPr lang="ru-RU" sz="1000"/>
              <a:t> </a:t>
            </a:r>
            <a:r>
              <a:rPr lang="ru-RU" sz="1000" err="1"/>
              <a:t>loss</a:t>
            </a:r>
            <a:r>
              <a:rPr lang="ru-RU" sz="1000"/>
              <a:t> </a:t>
            </a:r>
            <a:r>
              <a:rPr lang="ru-RU" sz="1000" err="1"/>
              <a:t>program</a:t>
            </a:r>
            <a:endParaRPr lang="ru-RU" sz="1000"/>
          </a:p>
          <a:p>
            <a:pPr marL="0" indent="0" latinLnBrk="1">
              <a:buNone/>
            </a:pPr>
            <a:r>
              <a:rPr lang="ru-RU" sz="1000"/>
              <a:t> </a:t>
            </a:r>
            <a:r>
              <a:rPr lang="ru-RU" sz="1000" err="1"/>
              <a:t>Person</a:t>
            </a:r>
            <a:r>
              <a:rPr lang="ru-RU" sz="1000"/>
              <a:t>:   1    2    3    4    5</a:t>
            </a:r>
          </a:p>
          <a:p>
            <a:pPr marL="0" indent="0" latinLnBrk="1">
              <a:buNone/>
            </a:pPr>
            <a:r>
              <a:rPr lang="ru-RU" sz="1000" err="1"/>
              <a:t>Before</a:t>
            </a:r>
            <a:r>
              <a:rPr lang="ru-RU" sz="1000"/>
              <a:t>:  80   95   70  110   85</a:t>
            </a:r>
          </a:p>
          <a:p>
            <a:pPr marL="0" indent="0" latinLnBrk="1">
              <a:buNone/>
            </a:pPr>
            <a:r>
              <a:rPr lang="ru-RU" sz="1000" err="1"/>
              <a:t>After</a:t>
            </a:r>
            <a:r>
              <a:rPr lang="ru-RU" sz="1000"/>
              <a:t>:   75   90   68  105   82</a:t>
            </a:r>
          </a:p>
          <a:p>
            <a:pPr marL="0" indent="0" latinLnBrk="1">
              <a:buNone/>
            </a:pPr>
            <a:r>
              <a:rPr lang="ru-RU" sz="1000" err="1"/>
              <a:t>Diff</a:t>
            </a:r>
            <a:r>
              <a:rPr lang="ru-RU" sz="1000"/>
              <a:t>:    -5   -5   -2   -5   -3</a:t>
            </a:r>
          </a:p>
          <a:p>
            <a:pPr marL="0" indent="0" latinLnBrk="1">
              <a:buNone/>
            </a:pPr>
            <a:r>
              <a:rPr lang="ru-RU" sz="1000"/>
              <a:t> </a:t>
            </a:r>
          </a:p>
          <a:p>
            <a:pPr marL="0" indent="0" latinLnBrk="1">
              <a:buNone/>
            </a:pPr>
            <a:r>
              <a:rPr lang="ru-RU" sz="1000"/>
              <a:t>d̄ = -4.0, </a:t>
            </a:r>
            <a:r>
              <a:rPr lang="ru-RU" sz="1000" err="1"/>
              <a:t>s_d</a:t>
            </a:r>
            <a:r>
              <a:rPr lang="ru-RU" sz="1000"/>
              <a:t> = 1.41, n = 5</a:t>
            </a:r>
          </a:p>
          <a:p>
            <a:pPr marL="0" indent="0" latinLnBrk="1">
              <a:buNone/>
            </a:pPr>
            <a:r>
              <a:rPr lang="ru-RU" sz="1000"/>
              <a:t>t = -4.0 / (1.41/√5) = -4.0 / 0.63 = -6.35</a:t>
            </a:r>
          </a:p>
          <a:p>
            <a:pPr marL="0" indent="0" latinLnBrk="1">
              <a:buNone/>
            </a:pPr>
            <a:r>
              <a:rPr lang="ru-RU" sz="1000" err="1"/>
              <a:t>df</a:t>
            </a:r>
            <a:r>
              <a:rPr lang="ru-RU" sz="1000"/>
              <a:t> = 4, p = 0.003</a:t>
            </a:r>
          </a:p>
          <a:p>
            <a:pPr marL="0" indent="0" latinLnBrk="1">
              <a:buNone/>
            </a:pPr>
            <a:r>
              <a:rPr lang="ru-RU" sz="1000"/>
              <a:t> </a:t>
            </a:r>
          </a:p>
          <a:p>
            <a:pPr marL="0" indent="0" latinLnBrk="1">
              <a:buNone/>
            </a:pPr>
            <a:r>
              <a:rPr lang="ru-RU" sz="1000" err="1"/>
              <a:t>Conclusion</a:t>
            </a:r>
            <a:r>
              <a:rPr lang="ru-RU" sz="1000"/>
              <a:t>: </a:t>
            </a:r>
            <a:r>
              <a:rPr lang="ru-RU" sz="1000" err="1"/>
              <a:t>Significant</a:t>
            </a:r>
            <a:r>
              <a:rPr lang="ru-RU" sz="1000"/>
              <a:t> </a:t>
            </a:r>
            <a:r>
              <a:rPr lang="ru-RU" sz="1000" err="1"/>
              <a:t>weight</a:t>
            </a:r>
            <a:r>
              <a:rPr lang="ru-RU" sz="1000"/>
              <a:t> </a:t>
            </a:r>
            <a:r>
              <a:rPr lang="ru-RU" sz="1000" err="1"/>
              <a:t>loss</a:t>
            </a:r>
            <a:r>
              <a:rPr lang="ru-RU" sz="1000"/>
              <a:t>!</a:t>
            </a:r>
          </a:p>
          <a:p>
            <a:pPr marL="0" indent="0">
              <a:buNone/>
            </a:pP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990664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CF001-8FF3-B2F9-9068-1AAF911C0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3184"/>
          </a:xfrm>
        </p:spPr>
        <p:txBody>
          <a:bodyPr/>
          <a:lstStyle/>
          <a:p>
            <a:r>
              <a:rPr lang="ru-RU" b="1"/>
              <a:t>Python - </a:t>
            </a:r>
            <a:r>
              <a:rPr lang="ru-RU" b="1" err="1"/>
              <a:t>Paired</a:t>
            </a:r>
            <a:r>
              <a:rPr lang="ru-RU" b="1"/>
              <a:t> T-Test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C5E8E5-C0A0-9D3F-4B5C-F4E6A2152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4646"/>
            <a:ext cx="10515600" cy="4882317"/>
          </a:xfrm>
        </p:spPr>
        <p:txBody>
          <a:bodyPr numCol="2"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numpy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np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Before</a:t>
            </a:r>
            <a:r>
              <a:rPr lang="ru-RU" i="1"/>
              <a:t> </a:t>
            </a:r>
            <a:r>
              <a:rPr lang="ru-RU" i="1" err="1"/>
              <a:t>and</a:t>
            </a:r>
            <a:r>
              <a:rPr lang="ru-RU" i="1"/>
              <a:t> </a:t>
            </a:r>
            <a:r>
              <a:rPr lang="ru-RU" i="1" err="1"/>
              <a:t>after</a:t>
            </a:r>
            <a:r>
              <a:rPr lang="ru-RU" i="1"/>
              <a:t> </a:t>
            </a:r>
            <a:r>
              <a:rPr lang="ru-RU" i="1" err="1"/>
              <a:t>data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before</a:t>
            </a:r>
            <a:r>
              <a:rPr lang="ru-RU"/>
              <a:t> = </a:t>
            </a:r>
            <a:r>
              <a:rPr lang="ru-RU" err="1"/>
              <a:t>np.array</a:t>
            </a:r>
            <a:r>
              <a:rPr lang="ru-RU"/>
              <a:t>([80, 95, 70, 110, 85])</a:t>
            </a:r>
          </a:p>
          <a:p>
            <a:pPr marL="0" indent="0" latinLnBrk="1">
              <a:buNone/>
            </a:pPr>
            <a:r>
              <a:rPr lang="ru-RU" err="1"/>
              <a:t>after</a:t>
            </a:r>
            <a:r>
              <a:rPr lang="ru-RU"/>
              <a:t> = </a:t>
            </a:r>
            <a:r>
              <a:rPr lang="ru-RU" err="1"/>
              <a:t>np.array</a:t>
            </a:r>
            <a:r>
              <a:rPr lang="ru-RU"/>
              <a:t>([75, 90, 68, 105, 82])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Calculate</a:t>
            </a:r>
            <a:r>
              <a:rPr lang="ru-RU" i="1"/>
              <a:t> </a:t>
            </a:r>
            <a:r>
              <a:rPr lang="ru-RU" i="1" err="1"/>
              <a:t>differences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differences</a:t>
            </a:r>
            <a:r>
              <a:rPr lang="ru-RU"/>
              <a:t> = </a:t>
            </a:r>
            <a:r>
              <a:rPr lang="ru-RU" err="1"/>
              <a:t>after</a:t>
            </a:r>
            <a:r>
              <a:rPr lang="ru-RU"/>
              <a:t> - </a:t>
            </a:r>
            <a:r>
              <a:rPr lang="ru-RU" err="1"/>
              <a:t>before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f"Differences</a:t>
            </a:r>
            <a:r>
              <a:rPr lang="ru-RU"/>
              <a:t>: {</a:t>
            </a:r>
            <a:r>
              <a:rPr lang="ru-RU" err="1"/>
              <a:t>differences</a:t>
            </a:r>
            <a:r>
              <a:rPr lang="ru-RU"/>
              <a:t>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f"Mean</a:t>
            </a:r>
            <a:r>
              <a:rPr lang="ru-RU"/>
              <a:t> </a:t>
            </a:r>
            <a:r>
              <a:rPr lang="ru-RU" err="1"/>
              <a:t>difference</a:t>
            </a:r>
            <a:r>
              <a:rPr lang="ru-RU"/>
              <a:t>: {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differences</a:t>
            </a:r>
            <a:r>
              <a:rPr lang="ru-RU"/>
              <a:t>):.2f}")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f"SD</a:t>
            </a:r>
            <a:r>
              <a:rPr lang="ru-RU"/>
              <a:t> </a:t>
            </a:r>
            <a:r>
              <a:rPr lang="ru-RU" err="1"/>
              <a:t>of</a:t>
            </a:r>
            <a:r>
              <a:rPr lang="ru-RU"/>
              <a:t> </a:t>
            </a:r>
            <a:r>
              <a:rPr lang="ru-RU" err="1"/>
              <a:t>differences</a:t>
            </a:r>
            <a:r>
              <a:rPr lang="ru-RU"/>
              <a:t>: {</a:t>
            </a:r>
            <a:r>
              <a:rPr lang="ru-RU" err="1"/>
              <a:t>np.std</a:t>
            </a:r>
            <a:r>
              <a:rPr lang="ru-RU"/>
              <a:t>(</a:t>
            </a:r>
            <a:r>
              <a:rPr lang="ru-RU" err="1"/>
              <a:t>differences</a:t>
            </a:r>
            <a:r>
              <a:rPr lang="ru-RU"/>
              <a:t>, </a:t>
            </a:r>
            <a:r>
              <a:rPr lang="ru-RU" err="1"/>
              <a:t>ddof</a:t>
            </a:r>
            <a:r>
              <a:rPr lang="ru-RU"/>
              <a:t>=1):.2f}")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Paired</a:t>
            </a:r>
            <a:r>
              <a:rPr lang="ru-RU" i="1"/>
              <a:t> t-</a:t>
            </a:r>
            <a:r>
              <a:rPr lang="ru-RU" i="1" err="1"/>
              <a:t>test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t_stat</a:t>
            </a:r>
            <a:r>
              <a:rPr lang="ru-RU"/>
              <a:t>, </a:t>
            </a:r>
            <a:r>
              <a:rPr lang="ru-RU" err="1"/>
              <a:t>p_value</a:t>
            </a:r>
            <a:r>
              <a:rPr lang="ru-RU"/>
              <a:t> = </a:t>
            </a:r>
            <a:r>
              <a:rPr lang="ru-RU" err="1"/>
              <a:t>stats.ttest_rel</a:t>
            </a:r>
            <a:r>
              <a:rPr lang="ru-RU"/>
              <a:t>(</a:t>
            </a:r>
            <a:r>
              <a:rPr lang="ru-RU" err="1"/>
              <a:t>before</a:t>
            </a:r>
            <a:r>
              <a:rPr lang="ru-RU"/>
              <a:t>, </a:t>
            </a:r>
            <a:r>
              <a:rPr lang="ru-RU" err="1"/>
              <a:t>after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Alternative</a:t>
            </a:r>
            <a:r>
              <a:rPr lang="ru-RU" i="1"/>
              <a:t>: </a:t>
            </a:r>
            <a:r>
              <a:rPr lang="ru-RU" i="1" err="1"/>
              <a:t>t_stat</a:t>
            </a:r>
            <a:r>
              <a:rPr lang="ru-RU" i="1"/>
              <a:t>, </a:t>
            </a:r>
            <a:r>
              <a:rPr lang="ru-RU" i="1" err="1"/>
              <a:t>p_value</a:t>
            </a:r>
            <a:r>
              <a:rPr lang="ru-RU" i="1"/>
              <a:t> = stats.ttest_1samp(</a:t>
            </a:r>
            <a:r>
              <a:rPr lang="ru-RU" i="1" err="1"/>
              <a:t>differences</a:t>
            </a:r>
            <a:r>
              <a:rPr lang="ru-RU" i="1"/>
              <a:t>, 0)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(f"\</a:t>
            </a:r>
            <a:r>
              <a:rPr lang="ru-RU" err="1"/>
              <a:t>nPaired</a:t>
            </a:r>
            <a:r>
              <a:rPr lang="ru-RU"/>
              <a:t> t-</a:t>
            </a:r>
            <a:r>
              <a:rPr lang="ru-RU" err="1"/>
              <a:t>test</a:t>
            </a:r>
            <a:r>
              <a:rPr lang="ru-RU"/>
              <a:t> </a:t>
            </a:r>
            <a:r>
              <a:rPr lang="ru-RU" err="1"/>
              <a:t>results</a:t>
            </a:r>
            <a:r>
              <a:rPr lang="ru-RU"/>
              <a:t>:")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f"t-statistic</a:t>
            </a:r>
            <a:r>
              <a:rPr lang="ru-RU"/>
              <a:t>: {t_stat:.3f}")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f"p-value</a:t>
            </a:r>
            <a:r>
              <a:rPr lang="ru-RU"/>
              <a:t>: {p_value:.4f}")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</a:t>
            </a:r>
            <a:r>
              <a:rPr lang="ru-RU" i="1" err="1"/>
              <a:t>Effect</a:t>
            </a:r>
            <a:r>
              <a:rPr lang="ru-RU" i="1"/>
              <a:t> </a:t>
            </a:r>
            <a:r>
              <a:rPr lang="ru-RU" i="1" err="1"/>
              <a:t>size</a:t>
            </a:r>
            <a:r>
              <a:rPr lang="ru-RU" i="1"/>
              <a:t> </a:t>
            </a:r>
            <a:r>
              <a:rPr lang="ru-RU" i="1" err="1"/>
              <a:t>for</a:t>
            </a:r>
            <a:r>
              <a:rPr lang="ru-RU" i="1"/>
              <a:t> </a:t>
            </a:r>
            <a:r>
              <a:rPr lang="ru-RU" i="1" err="1"/>
              <a:t>paired</a:t>
            </a:r>
            <a:r>
              <a:rPr lang="ru-RU" i="1"/>
              <a:t> </a:t>
            </a:r>
            <a:r>
              <a:rPr lang="ru-RU" i="1" err="1"/>
              <a:t>design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d_cohen</a:t>
            </a:r>
            <a:r>
              <a:rPr lang="ru-RU"/>
              <a:t> = </a:t>
            </a:r>
            <a:r>
              <a:rPr lang="ru-RU" err="1"/>
              <a:t>abs</a:t>
            </a:r>
            <a:r>
              <a:rPr lang="ru-RU"/>
              <a:t>(</a:t>
            </a:r>
            <a:r>
              <a:rPr lang="ru-RU" err="1"/>
              <a:t>np.mean</a:t>
            </a:r>
            <a:r>
              <a:rPr lang="ru-RU"/>
              <a:t>(</a:t>
            </a:r>
            <a:r>
              <a:rPr lang="ru-RU" err="1"/>
              <a:t>differences</a:t>
            </a:r>
            <a:r>
              <a:rPr lang="ru-RU"/>
              <a:t>)) / </a:t>
            </a:r>
            <a:r>
              <a:rPr lang="ru-RU" err="1"/>
              <a:t>np.std</a:t>
            </a:r>
            <a:r>
              <a:rPr lang="ru-RU"/>
              <a:t>(</a:t>
            </a:r>
            <a:r>
              <a:rPr lang="ru-RU" err="1"/>
              <a:t>differences</a:t>
            </a:r>
            <a:r>
              <a:rPr lang="ru-RU"/>
              <a:t>, </a:t>
            </a:r>
            <a:r>
              <a:rPr lang="ru-RU" err="1"/>
              <a:t>ddof</a:t>
            </a:r>
            <a:r>
              <a:rPr lang="ru-RU"/>
              <a:t>=1)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f"Cohen's</a:t>
            </a:r>
            <a:r>
              <a:rPr lang="ru-RU"/>
              <a:t> d: {d_cohen:.3f}")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5620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E8874-2BD9-D21F-A046-9E072E44A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435"/>
          </a:xfrm>
        </p:spPr>
        <p:txBody>
          <a:bodyPr>
            <a:normAutofit fontScale="90000"/>
          </a:bodyPr>
          <a:lstStyle/>
          <a:p>
            <a:r>
              <a:rPr lang="ru-RU" b="1" err="1"/>
              <a:t>Two-Sample</a:t>
            </a:r>
            <a:r>
              <a:rPr lang="ru-RU" b="1"/>
              <a:t> </a:t>
            </a:r>
            <a:r>
              <a:rPr lang="ru-RU" b="1" err="1"/>
              <a:t>Proportion</a:t>
            </a:r>
            <a:r>
              <a:rPr lang="ru-RU" b="1"/>
              <a:t> Test - A/B </a:t>
            </a:r>
            <a:r>
              <a:rPr lang="ru-RU" b="1" err="1"/>
              <a:t>Testing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A10319-EA93-9E7F-8E0B-0705BEC9F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271"/>
            <a:ext cx="10515600" cy="4945692"/>
          </a:xfrm>
        </p:spPr>
        <p:txBody>
          <a:bodyPr>
            <a:normAutofit fontScale="47500" lnSpcReduction="20000"/>
          </a:bodyPr>
          <a:lstStyle/>
          <a:p>
            <a:pPr marL="0" indent="0" latinLnBrk="1">
              <a:buNone/>
            </a:pPr>
            <a:r>
              <a:rPr lang="ru-RU" b="1"/>
              <a:t>COMPARING TWO PROPORTIONS:</a:t>
            </a:r>
          </a:p>
          <a:p>
            <a:pPr marL="0" indent="0" latinLnBrk="1">
              <a:buNone/>
            </a:pPr>
            <a:r>
              <a:rPr lang="ru-RU"/>
              <a:t>         p̂₁ - p̂₂</a:t>
            </a:r>
          </a:p>
          <a:p>
            <a:pPr marL="0" indent="0" latinLnBrk="1">
              <a:buNone/>
            </a:pPr>
            <a:r>
              <a:rPr lang="ru-RU"/>
              <a:t>z = ─────────────────</a:t>
            </a:r>
          </a:p>
          <a:p>
            <a:pPr marL="0" indent="0" latinLnBrk="1">
              <a:buNone/>
            </a:pPr>
            <a:r>
              <a:rPr lang="ru-RU"/>
              <a:t>     √[p̂(1-p̂)(1/n₁ + 1/n₂)]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WHERE:</a:t>
            </a:r>
          </a:p>
          <a:p>
            <a:pPr marL="0" indent="0" latinLnBrk="1">
              <a:buNone/>
            </a:pPr>
            <a:r>
              <a:rPr lang="ru-RU"/>
              <a:t>p̂ = (x₁ + x₂) / (n₁ + n₂)  # </a:t>
            </a:r>
            <a:r>
              <a:rPr lang="ru-RU" err="1"/>
              <a:t>Pooled</a:t>
            </a:r>
            <a:r>
              <a:rPr lang="ru-RU"/>
              <a:t> </a:t>
            </a:r>
            <a:r>
              <a:rPr lang="ru-RU" err="1"/>
              <a:t>proportion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b="1"/>
              <a:t>EXAMPLE: A/B Test</a:t>
            </a:r>
          </a:p>
          <a:p>
            <a:pPr marL="0" indent="0" latinLnBrk="1">
              <a:buNone/>
            </a:pPr>
            <a:r>
              <a:rPr lang="ru-RU" b="1" err="1"/>
              <a:t>Version</a:t>
            </a:r>
            <a:r>
              <a:rPr lang="ru-RU" b="1"/>
              <a:t> A: </a:t>
            </a:r>
            <a:r>
              <a:rPr lang="ru-RU"/>
              <a:t>50 </a:t>
            </a:r>
            <a:r>
              <a:rPr lang="ru-RU" err="1"/>
              <a:t>conversions</a:t>
            </a:r>
            <a:r>
              <a:rPr lang="ru-RU"/>
              <a:t> / 1000 </a:t>
            </a:r>
            <a:r>
              <a:rPr lang="ru-RU" err="1"/>
              <a:t>visitors</a:t>
            </a:r>
            <a:r>
              <a:rPr lang="ru-RU"/>
              <a:t> → 5.0%</a:t>
            </a:r>
          </a:p>
          <a:p>
            <a:pPr marL="0" indent="0" latinLnBrk="1">
              <a:buNone/>
            </a:pPr>
            <a:r>
              <a:rPr lang="ru-RU" b="1" err="1"/>
              <a:t>Version</a:t>
            </a:r>
            <a:r>
              <a:rPr lang="ru-RU" b="1"/>
              <a:t> B: </a:t>
            </a:r>
            <a:r>
              <a:rPr lang="ru-RU"/>
              <a:t>65 </a:t>
            </a:r>
            <a:r>
              <a:rPr lang="ru-RU" err="1"/>
              <a:t>conversions</a:t>
            </a:r>
            <a:r>
              <a:rPr lang="ru-RU"/>
              <a:t> / 1000 </a:t>
            </a:r>
            <a:r>
              <a:rPr lang="ru-RU" err="1"/>
              <a:t>visitors</a:t>
            </a:r>
            <a:r>
              <a:rPr lang="ru-RU"/>
              <a:t> → 6.5%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/>
              <a:t>p̂ = (50 + 65) / (1000 + 1000) = 115/2000 = 0.0575</a:t>
            </a:r>
          </a:p>
          <a:p>
            <a:pPr marL="0" indent="0" latinLnBrk="1">
              <a:buNone/>
            </a:pPr>
            <a:r>
              <a:rPr lang="ru-RU"/>
              <a:t>SE = √[0.0575×0.9425×(1/1000 + 1/1000)] = √[0.0542×0.002] = √0.0001084 = 0.0104</a:t>
            </a:r>
          </a:p>
          <a:p>
            <a:pPr marL="0" indent="0" latinLnBrk="1">
              <a:buNone/>
            </a:pPr>
            <a:r>
              <a:rPr lang="ru-RU"/>
              <a:t>z = (0.065 - 0.05) / 0.0104 = 0.015 / 0.0104 = 1.44</a:t>
            </a:r>
          </a:p>
          <a:p>
            <a:pPr marL="0" indent="0" latinLnBrk="1">
              <a:buNone/>
            </a:pPr>
            <a:r>
              <a:rPr lang="ru-RU"/>
              <a:t>p = 0.15 (</a:t>
            </a:r>
            <a:r>
              <a:rPr lang="ru-RU" err="1"/>
              <a:t>two-tailed</a:t>
            </a:r>
            <a:r>
              <a:rPr lang="ru-RU"/>
              <a:t>)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Conclusion</a:t>
            </a:r>
            <a:r>
              <a:rPr lang="ru-RU"/>
              <a:t>: </a:t>
            </a:r>
            <a:r>
              <a:rPr lang="ru-RU" err="1"/>
              <a:t>Not</a:t>
            </a:r>
            <a:r>
              <a:rPr lang="ru-RU"/>
              <a:t> </a:t>
            </a:r>
            <a:r>
              <a:rPr lang="ru-RU" err="1"/>
              <a:t>statistically</a:t>
            </a:r>
            <a:r>
              <a:rPr lang="ru-RU"/>
              <a:t> </a:t>
            </a:r>
            <a:r>
              <a:rPr lang="ru-RU" err="1"/>
              <a:t>significant</a:t>
            </a:r>
            <a:endParaRPr lang="ru-RU"/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0375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C3C0F-EAA5-72A9-5A8B-7D4F6392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0756"/>
          </a:xfrm>
        </p:spPr>
        <p:txBody>
          <a:bodyPr>
            <a:normAutofit fontScale="90000"/>
          </a:bodyPr>
          <a:lstStyle/>
          <a:p>
            <a:r>
              <a:rPr lang="ru-RU" b="1"/>
              <a:t>Python - </a:t>
            </a:r>
            <a:r>
              <a:rPr lang="ru-RU" b="1" err="1"/>
              <a:t>Two-Sample</a:t>
            </a:r>
            <a:r>
              <a:rPr lang="ru-RU" b="1"/>
              <a:t> </a:t>
            </a:r>
            <a:r>
              <a:rPr lang="ru-RU" b="1" err="1"/>
              <a:t>Proportion</a:t>
            </a:r>
            <a:r>
              <a:rPr lang="ru-RU" b="1"/>
              <a:t> Test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34A8FD-1827-516F-EE39-E29737952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432"/>
            <a:ext cx="10515600" cy="4918531"/>
          </a:xfrm>
        </p:spPr>
        <p:txBody>
          <a:bodyPr numCol="2"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numpy</a:t>
            </a:r>
            <a:r>
              <a:rPr lang="ru-RU"/>
              <a:t> </a:t>
            </a:r>
            <a:r>
              <a:rPr lang="ru-RU" err="1"/>
              <a:t>as</a:t>
            </a:r>
            <a:r>
              <a:rPr lang="ru-RU"/>
              <a:t> </a:t>
            </a:r>
            <a:r>
              <a:rPr lang="ru-RU" err="1"/>
              <a:t>np</a:t>
            </a:r>
            <a:endParaRPr lang="ru-RU"/>
          </a:p>
          <a:p>
            <a:pPr marL="0" indent="0" latinLnBrk="1">
              <a:buNone/>
            </a:pPr>
            <a:r>
              <a:rPr lang="ru-RU" err="1"/>
              <a:t>from</a:t>
            </a:r>
            <a:r>
              <a:rPr lang="ru-RU"/>
              <a:t> </a:t>
            </a:r>
            <a:r>
              <a:rPr lang="ru-RU" err="1"/>
              <a:t>scipy</a:t>
            </a:r>
            <a:r>
              <a:rPr lang="ru-RU"/>
              <a:t> </a:t>
            </a:r>
            <a:r>
              <a:rPr lang="ru-RU" err="1"/>
              <a:t>import</a:t>
            </a:r>
            <a:r>
              <a:rPr lang="ru-RU"/>
              <a:t> </a:t>
            </a:r>
            <a:r>
              <a:rPr lang="ru-RU" err="1"/>
              <a:t>stats</a:t>
            </a:r>
            <a:endParaRPr lang="ru-RU"/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err="1"/>
              <a:t>def</a:t>
            </a:r>
            <a:r>
              <a:rPr lang="ru-RU"/>
              <a:t> prop_test_2sample(count1, nobs1, count2, nobs2):</a:t>
            </a:r>
          </a:p>
          <a:p>
            <a:pPr marL="0" indent="0" latinLnBrk="1">
              <a:buNone/>
            </a:pPr>
            <a:r>
              <a:rPr lang="ru-RU"/>
              <a:t>    """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Two-sample</a:t>
            </a:r>
            <a:r>
              <a:rPr lang="ru-RU"/>
              <a:t> </a:t>
            </a:r>
            <a:r>
              <a:rPr lang="ru-RU" err="1"/>
              <a:t>proportion</a:t>
            </a:r>
            <a:r>
              <a:rPr lang="ru-RU"/>
              <a:t> </a:t>
            </a:r>
            <a:r>
              <a:rPr lang="ru-RU" err="1"/>
              <a:t>test</a:t>
            </a:r>
            <a:endParaRPr lang="ru-RU"/>
          </a:p>
          <a:p>
            <a:pPr marL="0" indent="0" latinLnBrk="1">
              <a:buNone/>
            </a:pPr>
            <a:r>
              <a:rPr lang="ru-RU"/>
              <a:t>    """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Sample</a:t>
            </a:r>
            <a:r>
              <a:rPr lang="ru-RU" i="1"/>
              <a:t> </a:t>
            </a:r>
            <a:r>
              <a:rPr lang="ru-RU" i="1" err="1"/>
              <a:t>proportions</a:t>
            </a:r>
            <a:endParaRPr lang="ru-RU"/>
          </a:p>
          <a:p>
            <a:pPr marL="0" indent="0" latinLnBrk="1">
              <a:buNone/>
            </a:pPr>
            <a:r>
              <a:rPr lang="ru-RU"/>
              <a:t>    p1 = count1 / nobs1</a:t>
            </a:r>
          </a:p>
          <a:p>
            <a:pPr marL="0" indent="0" latinLnBrk="1">
              <a:buNone/>
            </a:pPr>
            <a:r>
              <a:rPr lang="ru-RU"/>
              <a:t>    p2 = count2 / nobs2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Pooled</a:t>
            </a:r>
            <a:r>
              <a:rPr lang="ru-RU" i="1"/>
              <a:t> </a:t>
            </a:r>
            <a:r>
              <a:rPr lang="ru-RU" i="1" err="1"/>
              <a:t>proportion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p_pool</a:t>
            </a:r>
            <a:r>
              <a:rPr lang="ru-RU"/>
              <a:t> = (count1 + count2) / (nobs1 + nobs2)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Standard </a:t>
            </a:r>
            <a:r>
              <a:rPr lang="ru-RU" i="1" err="1"/>
              <a:t>error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se</a:t>
            </a:r>
            <a:r>
              <a:rPr lang="ru-RU"/>
              <a:t> = </a:t>
            </a:r>
            <a:r>
              <a:rPr lang="ru-RU" err="1"/>
              <a:t>np.sqrt</a:t>
            </a:r>
            <a:r>
              <a:rPr lang="ru-RU"/>
              <a:t>(</a:t>
            </a:r>
            <a:r>
              <a:rPr lang="ru-RU" err="1"/>
              <a:t>p_pool</a:t>
            </a:r>
            <a:r>
              <a:rPr lang="ru-RU"/>
              <a:t> * (1 - </a:t>
            </a:r>
            <a:r>
              <a:rPr lang="ru-RU" err="1"/>
              <a:t>p_pool</a:t>
            </a:r>
            <a:r>
              <a:rPr lang="ru-RU"/>
              <a:t>) * (1/nobs1 + 1/nobs2))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Z-</a:t>
            </a:r>
            <a:r>
              <a:rPr lang="ru-RU" i="1" err="1"/>
              <a:t>statistic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z_stat</a:t>
            </a:r>
            <a:r>
              <a:rPr lang="ru-RU"/>
              <a:t> = (p1 - p2) / </a:t>
            </a:r>
            <a:r>
              <a:rPr lang="ru-RU" err="1"/>
              <a:t>se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i="1"/>
              <a:t># </a:t>
            </a:r>
            <a:r>
              <a:rPr lang="ru-RU" i="1" err="1"/>
              <a:t>Two-tailed</a:t>
            </a:r>
            <a:r>
              <a:rPr lang="ru-RU" i="1"/>
              <a:t> p-</a:t>
            </a:r>
            <a:r>
              <a:rPr lang="ru-RU" i="1" err="1"/>
              <a:t>value</a:t>
            </a:r>
            <a:endParaRPr lang="ru-RU"/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p_value</a:t>
            </a:r>
            <a:r>
              <a:rPr lang="ru-RU"/>
              <a:t> = 2 * (1 - </a:t>
            </a:r>
            <a:r>
              <a:rPr lang="ru-RU" err="1"/>
              <a:t>stats.norm.cdf</a:t>
            </a:r>
            <a:r>
              <a:rPr lang="ru-RU"/>
              <a:t>(</a:t>
            </a:r>
            <a:r>
              <a:rPr lang="ru-RU" err="1"/>
              <a:t>abs</a:t>
            </a:r>
            <a:r>
              <a:rPr lang="ru-RU"/>
              <a:t>(</a:t>
            </a:r>
            <a:r>
              <a:rPr lang="ru-RU" err="1"/>
              <a:t>z_stat</a:t>
            </a:r>
            <a:r>
              <a:rPr lang="ru-RU"/>
              <a:t>)))</a:t>
            </a:r>
          </a:p>
          <a:p>
            <a:pPr marL="0" indent="0" latinLnBrk="1">
              <a:buNone/>
            </a:pPr>
            <a:r>
              <a:rPr lang="ru-RU"/>
              <a:t>    </a:t>
            </a:r>
          </a:p>
          <a:p>
            <a:pPr marL="0" indent="0" latinLnBrk="1">
              <a:buNone/>
            </a:pPr>
            <a:r>
              <a:rPr lang="ru-RU"/>
              <a:t>    </a:t>
            </a:r>
            <a:r>
              <a:rPr lang="ru-RU" err="1"/>
              <a:t>return</a:t>
            </a:r>
            <a:r>
              <a:rPr lang="ru-RU"/>
              <a:t> </a:t>
            </a:r>
            <a:r>
              <a:rPr lang="ru-RU" err="1"/>
              <a:t>z_stat</a:t>
            </a:r>
            <a:r>
              <a:rPr lang="ru-RU"/>
              <a:t>, </a:t>
            </a:r>
            <a:r>
              <a:rPr lang="ru-RU" err="1"/>
              <a:t>p_value</a:t>
            </a:r>
            <a:r>
              <a:rPr lang="ru-RU"/>
              <a:t>, p1, p2</a:t>
            </a:r>
          </a:p>
          <a:p>
            <a:pPr marL="0" indent="0" latinLnBrk="1">
              <a:buNone/>
            </a:pPr>
            <a:r>
              <a:rPr lang="ru-RU"/>
              <a:t> </a:t>
            </a:r>
          </a:p>
          <a:p>
            <a:pPr marL="0" indent="0" latinLnBrk="1">
              <a:buNone/>
            </a:pPr>
            <a:r>
              <a:rPr lang="ru-RU" i="1"/>
              <a:t># A/B </a:t>
            </a:r>
            <a:r>
              <a:rPr lang="ru-RU" i="1" err="1"/>
              <a:t>test</a:t>
            </a:r>
            <a:r>
              <a:rPr lang="ru-RU" i="1"/>
              <a:t> </a:t>
            </a:r>
            <a:r>
              <a:rPr lang="ru-RU" i="1" err="1"/>
              <a:t>example</a:t>
            </a:r>
            <a:endParaRPr lang="ru-RU"/>
          </a:p>
          <a:p>
            <a:pPr marL="0" indent="0" latinLnBrk="1">
              <a:buNone/>
            </a:pPr>
            <a:r>
              <a:rPr lang="ru-RU"/>
              <a:t>z, p, </a:t>
            </a:r>
            <a:r>
              <a:rPr lang="ru-RU" err="1"/>
              <a:t>pA</a:t>
            </a:r>
            <a:r>
              <a:rPr lang="ru-RU"/>
              <a:t>, </a:t>
            </a:r>
            <a:r>
              <a:rPr lang="ru-RU" err="1"/>
              <a:t>pB</a:t>
            </a:r>
            <a:r>
              <a:rPr lang="ru-RU"/>
              <a:t> = prop_test_2sample(50, 1000, 65, 1000)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f"Version</a:t>
            </a:r>
            <a:r>
              <a:rPr lang="ru-RU"/>
              <a:t> A </a:t>
            </a:r>
            <a:r>
              <a:rPr lang="ru-RU" err="1"/>
              <a:t>conversion</a:t>
            </a:r>
            <a:r>
              <a:rPr lang="ru-RU"/>
              <a:t>: {pA:.1%}")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f"Version</a:t>
            </a:r>
            <a:r>
              <a:rPr lang="ru-RU"/>
              <a:t> B </a:t>
            </a:r>
            <a:r>
              <a:rPr lang="ru-RU" err="1"/>
              <a:t>conversion</a:t>
            </a:r>
            <a:r>
              <a:rPr lang="ru-RU"/>
              <a:t>: {pB:.1%}")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f"Difference</a:t>
            </a:r>
            <a:r>
              <a:rPr lang="ru-RU"/>
              <a:t>: {pB-pA:.1%}")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f"z-statistic</a:t>
            </a:r>
            <a:r>
              <a:rPr lang="ru-RU"/>
              <a:t>: {z:.3f}")</a:t>
            </a:r>
          </a:p>
          <a:p>
            <a:pPr marL="0" indent="0" latinLnBrk="1">
              <a:buNone/>
            </a:pPr>
            <a:r>
              <a:rPr lang="ru-RU" err="1"/>
              <a:t>print</a:t>
            </a:r>
            <a:r>
              <a:rPr lang="ru-RU"/>
              <a:t>(</a:t>
            </a:r>
            <a:r>
              <a:rPr lang="ru-RU" err="1"/>
              <a:t>f"p-value</a:t>
            </a:r>
            <a:r>
              <a:rPr lang="ru-RU"/>
              <a:t>: {p:.3f}")</a:t>
            </a:r>
          </a:p>
          <a:p>
            <a:pPr marL="0" indent="0">
              <a:buNone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9909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3" ma:contentTypeDescription="Создание документа." ma:contentTypeScope="" ma:versionID="42e10639191b7e3b63d24bcf897b384e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5776f9c6e434ed901ab2dac168f69dd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A4DF40-38AF-4CD2-9A3B-ACE3BCE99F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FD4B1F-C0DC-4725-897A-2F87151C97D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116C373-374B-4145-9A47-40E74A84F24E}">
  <ds:schemaRefs>
    <ds:schemaRef ds:uri="97039dda-64f8-41f1-b3d6-f92ff14c109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35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Тема Office</vt:lpstr>
      <vt:lpstr>INTRODUCTION TO HYPOTHESIS TESTING</vt:lpstr>
      <vt:lpstr>PowerPoint Presentation</vt:lpstr>
      <vt:lpstr>What is Hypothesis Testing?</vt:lpstr>
      <vt:lpstr>Real-World Examples</vt:lpstr>
      <vt:lpstr>Two Competing Hypotheses</vt:lpstr>
      <vt:lpstr>Null Hypothesis - The Devil's Advocate</vt:lpstr>
      <vt:lpstr>Alternative Hypothesis - What We Suspect</vt:lpstr>
      <vt:lpstr>Writing Hypotheses - Examples</vt:lpstr>
      <vt:lpstr>The Logic of Hypothesis Testing</vt:lpstr>
      <vt:lpstr>Step-by-Step Hypothesis Testing Framework</vt:lpstr>
      <vt:lpstr>Quick Check - Understanding Hypotheses</vt:lpstr>
      <vt:lpstr>Type I Error - False Alarm</vt:lpstr>
      <vt:lpstr>Type II Error - Missed Opportunity</vt:lpstr>
      <vt:lpstr>Error Analogy - Fire Alarm</vt:lpstr>
      <vt:lpstr>Significance Level (α) - The Standard</vt:lpstr>
      <vt:lpstr>P-value - The Probability of Evidence</vt:lpstr>
      <vt:lpstr>Decision Rule - Reject or Not?</vt:lpstr>
      <vt:lpstr>Statistical vs Practical Significance</vt:lpstr>
      <vt:lpstr>One-Sample Tests - Overview</vt:lpstr>
      <vt:lpstr>One-Sample T-Test - When You Don't Know σ </vt:lpstr>
      <vt:lpstr>One-Sample T-Test - Complete Example</vt:lpstr>
      <vt:lpstr>Python - One-Sample T-Test</vt:lpstr>
      <vt:lpstr>One-Sample Z-Test - When σ is Known</vt:lpstr>
      <vt:lpstr>One-Sample Proportion Test</vt:lpstr>
      <vt:lpstr>Python - One-Sample Proportion Test</vt:lpstr>
      <vt:lpstr>Confidence Intervals </vt:lpstr>
      <vt:lpstr>Effect Size - How Big Is the Difference?</vt:lpstr>
      <vt:lpstr>Two-Sample Tests - Comparing Groups</vt:lpstr>
      <vt:lpstr>Independent Samples T-Test - Design</vt:lpstr>
      <vt:lpstr>Independent Samples T-Test - Formulas</vt:lpstr>
      <vt:lpstr>Independent Samples T-Test - Example</vt:lpstr>
      <vt:lpstr>Python - Independent Samples T-Test</vt:lpstr>
      <vt:lpstr>Paired T-Test - Before &amp; After</vt:lpstr>
      <vt:lpstr>Paired T-Test - Formula &amp; Example</vt:lpstr>
      <vt:lpstr>Python - Paired T-Test</vt:lpstr>
      <vt:lpstr>Two-Sample Proportion Test - A/B Testing</vt:lpstr>
      <vt:lpstr>Python - Two-Sample Proportion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Нағметова Анар Айдарбекқызы</dc:creator>
  <cp:revision>2</cp:revision>
  <dcterms:created xsi:type="dcterms:W3CDTF">2026-02-16T10:56:14Z</dcterms:created>
  <dcterms:modified xsi:type="dcterms:W3CDTF">2026-03-13T05:13:04Z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