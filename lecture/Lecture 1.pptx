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7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684"/>
  </p:normalViewPr>
  <p:slideViewPr>
    <p:cSldViewPr snapToGrid="0">
      <p:cViewPr varScale="1">
        <p:scale>
          <a:sx n="106" d="100"/>
          <a:sy n="106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0847-1659-31A6-CACF-A6EC26D0A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C8CA3-EE59-878B-EB0E-C7B668CD1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DC4AB-A596-CAD9-8166-79E9360A9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CBD2-2F84-E147-B843-DE24B3FEDAD1}" type="datetimeFigureOut">
              <a:rPr lang="en-KZ" smtClean="0"/>
              <a:t>21.01.2026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13BEE-18C6-9F1A-9EA4-FE35DC5F8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F582A-2A83-E0AC-9386-4C675AD8C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F7E7-8B0C-9746-961C-D92229DE839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4125216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7333E-CE2C-ACF5-98FA-A2B24171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3A8C5-A54D-6122-A460-3680575E4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77310-4D28-C8F8-0CAA-1C93991FC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CBD2-2F84-E147-B843-DE24B3FEDAD1}" type="datetimeFigureOut">
              <a:rPr lang="en-KZ" smtClean="0"/>
              <a:t>21.01.2026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9DF35-7C32-939D-1686-5DCD61BBA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B49B4-7699-3D3D-798C-4B2D43AE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F7E7-8B0C-9746-961C-D92229DE839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405767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DD5EE-F421-51B9-978B-2D64A3F7C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03CD-8ECD-8A1E-029B-83266EB6D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E588B-F4AA-D745-BCBD-6719CC5F5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CBD2-2F84-E147-B843-DE24B3FEDAD1}" type="datetimeFigureOut">
              <a:rPr lang="en-KZ" smtClean="0"/>
              <a:t>21.01.2026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ED8E3-B990-D435-76EF-B11A4C64F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434DE-C890-DCD8-09BA-3867C26C4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F7E7-8B0C-9746-961C-D92229DE839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411014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DF75E-21E2-7C13-841B-AC7B2855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02FA5-DCFB-3704-8FD4-75F62384D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1B028-18F4-9AF7-BF1C-0117DC298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52AD1-2836-2B03-EF26-B72154073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CBD2-2F84-E147-B843-DE24B3FEDAD1}" type="datetimeFigureOut">
              <a:rPr lang="en-KZ" smtClean="0"/>
              <a:t>21.01.2026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7A740-A557-4589-D37A-9003B39BF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09F0F-7853-A976-9CF9-BE4ABA1C1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F7E7-8B0C-9746-961C-D92229DE839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94451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95479-2BC6-47AC-BEE6-42E309AC0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450D7-22AA-0295-2738-86B188164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3BA56-D956-265A-C990-9E71058EA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B9448-3051-5EF7-63CC-ECD7642D6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583580-97A4-1974-F037-5A58D691F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EB167A-9C3D-07FB-2021-9A80630D1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CBD2-2F84-E147-B843-DE24B3FEDAD1}" type="datetimeFigureOut">
              <a:rPr lang="en-KZ" smtClean="0"/>
              <a:t>21.01.2026</a:t>
            </a:fld>
            <a:endParaRPr lang="en-K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12D41D-47CC-8339-9021-49DAE6D10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72327F-EDAB-4648-708E-F87307126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F7E7-8B0C-9746-961C-D92229DE839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045419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07BC-888C-7CDB-E5C1-A162DDD99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1BC61A-23D1-3B84-C6D1-5594EE984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CBD2-2F84-E147-B843-DE24B3FEDAD1}" type="datetimeFigureOut">
              <a:rPr lang="en-KZ" smtClean="0"/>
              <a:t>21.01.2026</a:t>
            </a:fld>
            <a:endParaRPr lang="en-K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E3F41-3633-D50B-722A-49E6B73FE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780CB4-F4AD-69E1-D55D-D19343C3A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F7E7-8B0C-9746-961C-D92229DE839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54843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2ED4AE-EB0C-868B-9C1B-C23FDD36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CBD2-2F84-E147-B843-DE24B3FEDAD1}" type="datetimeFigureOut">
              <a:rPr lang="en-KZ" smtClean="0"/>
              <a:t>21.01.2026</a:t>
            </a:fld>
            <a:endParaRPr lang="en-K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03FFA3-592C-3FB5-4F68-EE45502EA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41BFB-E7E0-386B-D4DD-6CFD80CC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F7E7-8B0C-9746-961C-D92229DE839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447830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0A72C-9DC4-0A47-EBC9-E1123A694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07DFC-CD5E-2134-54EC-7C3F93177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291B2F-F2CF-3673-616E-3A9D9C784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E7280-B2A4-2A56-0DC2-72BC17D9F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CBD2-2F84-E147-B843-DE24B3FEDAD1}" type="datetimeFigureOut">
              <a:rPr lang="en-KZ" smtClean="0"/>
              <a:t>21.01.2026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1C7CC-03E2-44B2-73EF-35ADEB1FB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2009A-2F4D-382D-E40E-BD0783E0A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F7E7-8B0C-9746-961C-D92229DE839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180685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D8912-5887-2B84-5539-6B3457E14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D30E8F-6C0E-EE45-51FD-8DEE9762C0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7744B-E2D2-C533-9C35-0B45385A0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06FB1-27ED-F1BC-B1ED-67D0380C7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CBD2-2F84-E147-B843-DE24B3FEDAD1}" type="datetimeFigureOut">
              <a:rPr lang="en-KZ" smtClean="0"/>
              <a:t>21.01.2026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CFEB1-7579-16CE-CC48-D3F98871D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8387D-8534-FB87-E7AA-A6C2C7914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F7E7-8B0C-9746-961C-D92229DE839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609044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A019D-DD21-25CC-FB7F-ECDEBBFE3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C5527-2DCC-0F66-4798-7D702A3C1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45F9D-5D61-1758-45BC-FBABA650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CBD2-2F84-E147-B843-DE24B3FEDAD1}" type="datetimeFigureOut">
              <a:rPr lang="en-KZ" smtClean="0"/>
              <a:t>21.01.2026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8AA66-1089-DCB0-9E75-21C675B18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D58DB-D018-000D-0A43-324473CA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F7E7-8B0C-9746-961C-D92229DE839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4000044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D1AA13-F47F-C276-1DB3-715A8CF35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55EA34-5044-204E-DBBC-4DE42F718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F2E72-8E93-747E-2620-ACFF155D7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CBD2-2F84-E147-B843-DE24B3FEDAD1}" type="datetimeFigureOut">
              <a:rPr lang="en-KZ" smtClean="0"/>
              <a:t>21.01.2026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9A41B-C934-F175-8185-78C8167EF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F8404-8ADE-2B64-F7C2-0DC956EF8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F7E7-8B0C-9746-961C-D92229DE839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149640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8A60CB-DE7D-36BB-7081-1DF79C1F4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D4ACD-50BD-7604-6CFA-1C1587ABF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2F08D-FCC0-B8AE-AE0E-2738DABFC8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88CBD2-2F84-E147-B843-DE24B3FEDAD1}" type="datetimeFigureOut">
              <a:rPr lang="en-KZ" smtClean="0"/>
              <a:t>21.01.2026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26539-3B11-11B9-4B2D-C2753FB2E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71B0B-1527-106E-7DA4-BA5A27B28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E9F7E7-8B0C-9746-961C-D92229DE839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983317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67F9-91D9-A586-2983-BDB6940959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Lecture: Introduction to Data Analysis</a:t>
            </a:r>
            <a:endParaRPr lang="en-K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DDF89-1100-2A4A-4CA5-7E9BD3DA4A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749338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EF1BB-F64B-A6F0-B70D-7BDC6E52F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Title</a:t>
            </a:r>
            <a:endParaRPr lang="en-K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FDCF0-A24B-955C-65E0-B2776A8EA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Course:</a:t>
            </a:r>
            <a:r>
              <a:rPr lang="en-US" dirty="0"/>
              <a:t> Data Storage and Analysis</a:t>
            </a:r>
          </a:p>
          <a:p>
            <a:r>
              <a:rPr lang="en-US" b="1" dirty="0"/>
              <a:t>Lecturer:</a:t>
            </a:r>
            <a:r>
              <a:rPr lang="en-US" dirty="0"/>
              <a:t> Anar Nagmetova</a:t>
            </a:r>
          </a:p>
          <a:p>
            <a:r>
              <a:rPr lang="en-US" b="1" dirty="0"/>
              <a:t>Email:</a:t>
            </a:r>
            <a:r>
              <a:rPr lang="en-US" dirty="0"/>
              <a:t> </a:t>
            </a:r>
            <a:r>
              <a:rPr lang="en-US" dirty="0" err="1"/>
              <a:t>a.nagmetova@kbtu.kz</a:t>
            </a:r>
            <a:endParaRPr lang="en-US" dirty="0"/>
          </a:p>
          <a:p>
            <a:r>
              <a:rPr lang="en-US" b="1" dirty="0"/>
              <a:t>Spring 2026</a:t>
            </a:r>
            <a:endParaRPr lang="en-US" dirty="0"/>
          </a:p>
          <a:p>
            <a:endParaRPr lang="en-KZ" dirty="0"/>
          </a:p>
        </p:txBody>
      </p:sp>
    </p:spTree>
    <p:extLst>
      <p:ext uri="{BB962C8B-B14F-4D97-AF65-F5344CB8AC3E}">
        <p14:creationId xmlns:p14="http://schemas.microsoft.com/office/powerpoint/2010/main" val="2195326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990E1-2903-4D59-5C46-FE06310AC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715"/>
            <a:ext cx="10515600" cy="1174918"/>
          </a:xfrm>
        </p:spPr>
        <p:txBody>
          <a:bodyPr>
            <a:normAutofit/>
          </a:bodyPr>
          <a:lstStyle/>
          <a:p>
            <a:r>
              <a:rPr lang="en-US" b="1" dirty="0"/>
              <a:t>The Data Revolution is Here</a:t>
            </a:r>
            <a:endParaRPr lang="en-K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3CCA3-7B85-C299-8743-875729D52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7064"/>
            <a:ext cx="10515600" cy="5009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Visual: Timeline showing data explosion</a:t>
            </a:r>
          </a:p>
          <a:p>
            <a:r>
              <a:rPr lang="en-US" dirty="0"/>
              <a:t>2005: 130 exabytes of data existed worldwide</a:t>
            </a:r>
          </a:p>
          <a:p>
            <a:r>
              <a:rPr lang="en-US" dirty="0"/>
              <a:t>2020: 64 zettabytes (that's 64,000 exabytes)</a:t>
            </a:r>
          </a:p>
          <a:p>
            <a:r>
              <a:rPr lang="en-US" dirty="0"/>
              <a:t>2025: 181 zettabytes projected</a:t>
            </a:r>
          </a:p>
          <a:p>
            <a:pPr marL="0" indent="0">
              <a:buNone/>
            </a:pPr>
            <a:r>
              <a:rPr lang="en-US" dirty="0"/>
              <a:t>Key Point: "We're not just studying a subject - we're learning the language of the 21st century economy."</a:t>
            </a:r>
          </a:p>
          <a:p>
            <a:endParaRPr lang="en-KZ" dirty="0"/>
          </a:p>
        </p:txBody>
      </p:sp>
    </p:spTree>
    <p:extLst>
      <p:ext uri="{BB962C8B-B14F-4D97-AF65-F5344CB8AC3E}">
        <p14:creationId xmlns:p14="http://schemas.microsoft.com/office/powerpoint/2010/main" val="318796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C4344-5A3B-6D3C-3B7F-002C00F1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Data Analysis?</a:t>
            </a:r>
            <a:endParaRPr lang="en-K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81703-6E56-2A0F-95AE-1DFF15942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Simple Definition:</a:t>
            </a:r>
            <a:r>
              <a:rPr lang="en-US" dirty="0"/>
              <a:t> "Turning raw facts into informed decisions."</a:t>
            </a:r>
          </a:p>
          <a:p>
            <a:pPr marL="0" indent="0">
              <a:buNone/>
            </a:pPr>
            <a:r>
              <a:rPr lang="en-US" b="1" dirty="0"/>
              <a:t>Three-Layer Model:</a:t>
            </a:r>
            <a:endParaRPr lang="en-US" dirty="0"/>
          </a:p>
          <a:p>
            <a:r>
              <a:rPr lang="en-US" b="1" dirty="0"/>
              <a:t>Descriptive</a:t>
            </a:r>
            <a:r>
              <a:rPr lang="en-US" dirty="0"/>
              <a:t> (What happened?) → Reports, dashboards</a:t>
            </a:r>
          </a:p>
          <a:p>
            <a:r>
              <a:rPr lang="en-US" b="1" dirty="0"/>
              <a:t>Diagnostic</a:t>
            </a:r>
            <a:r>
              <a:rPr lang="en-US" dirty="0"/>
              <a:t> (Why did it happen?) → Root cause analysis</a:t>
            </a:r>
          </a:p>
          <a:p>
            <a:r>
              <a:rPr lang="en-US" b="1" dirty="0"/>
              <a:t>Predictive</a:t>
            </a:r>
            <a:r>
              <a:rPr lang="en-US" dirty="0"/>
              <a:t> (What might happen?) → Forecasting, ML</a:t>
            </a:r>
          </a:p>
          <a:p>
            <a:pPr marL="0" indent="0">
              <a:buNone/>
            </a:pPr>
            <a:r>
              <a:rPr lang="en-US" b="1" dirty="0"/>
              <a:t>Real Example:</a:t>
            </a:r>
            <a:r>
              <a:rPr lang="en-US" dirty="0"/>
              <a:t> "When Netflix recommends 'Stranger Things' because you watched sci-fi shows - that's all three layers working together."</a:t>
            </a:r>
          </a:p>
        </p:txBody>
      </p:sp>
    </p:spTree>
    <p:extLst>
      <p:ext uri="{BB962C8B-B14F-4D97-AF65-F5344CB8AC3E}">
        <p14:creationId xmlns:p14="http://schemas.microsoft.com/office/powerpoint/2010/main" val="3880344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15F94-0577-5119-55BA-D0812496C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Data Pipeline - Our Course's Core</a:t>
            </a:r>
            <a:endParaRPr lang="en-K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8BAA8-E029-D159-3386-DF3A8EFFD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Interactive flowchart:</a:t>
            </a:r>
          </a:p>
          <a:p>
            <a:r>
              <a:rPr lang="en-US" dirty="0"/>
              <a:t>Data Sources → Collection → STORAGE → Cleaning → ANALYSIS → Visualization → Decision</a:t>
            </a:r>
          </a:p>
          <a:p>
            <a:endParaRPr lang="en-US" dirty="0"/>
          </a:p>
          <a:p>
            <a:r>
              <a:rPr lang="en-US" b="1" dirty="0"/>
              <a:t>Crucial Insight:</a:t>
            </a:r>
            <a:r>
              <a:rPr lang="en-US" dirty="0"/>
              <a:t> "Notice how STORAGE comes BEFORE ANALYSIS in the pipeline. That's why our course is structured this way - you can't analyze what you can't properly store."</a:t>
            </a:r>
          </a:p>
        </p:txBody>
      </p:sp>
    </p:spTree>
    <p:extLst>
      <p:ext uri="{BB962C8B-B14F-4D97-AF65-F5344CB8AC3E}">
        <p14:creationId xmlns:p14="http://schemas.microsoft.com/office/powerpoint/2010/main" val="1634882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1A243-EED8-18C3-8597-462D5173F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Concrete Business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0C21F-8D7C-9948-F2A4-152271A33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Scenario:</a:t>
            </a:r>
            <a:r>
              <a:rPr lang="en-US" dirty="0"/>
              <a:t> "You're hired by '</a:t>
            </a:r>
            <a:r>
              <a:rPr lang="en-US" dirty="0" err="1"/>
              <a:t>UrbanBike</a:t>
            </a:r>
            <a:r>
              <a:rPr lang="en-US" dirty="0"/>
              <a:t>’ - a bike-sharing startup losing money."</a:t>
            </a:r>
          </a:p>
          <a:p>
            <a:r>
              <a:rPr lang="en-US" b="1" dirty="0"/>
              <a:t>Available Data:</a:t>
            </a:r>
            <a:endParaRPr lang="en-US" dirty="0"/>
          </a:p>
          <a:p>
            <a:r>
              <a:rPr lang="en-US" dirty="0"/>
              <a:t>GPS locations of all bikes</a:t>
            </a:r>
          </a:p>
          <a:p>
            <a:r>
              <a:rPr lang="en-US" dirty="0"/>
              <a:t>User ride history</a:t>
            </a:r>
          </a:p>
          <a:p>
            <a:r>
              <a:rPr lang="en-US" dirty="0"/>
              <a:t>Weather data</a:t>
            </a:r>
          </a:p>
          <a:p>
            <a:r>
              <a:rPr lang="en-US" dirty="0"/>
              <a:t>Maintenance logs</a:t>
            </a:r>
          </a:p>
          <a:p>
            <a:r>
              <a:rPr lang="en-US" b="1" dirty="0"/>
              <a:t>Exercise (2 min for discussion):</a:t>
            </a:r>
            <a:r>
              <a:rPr lang="en-US" dirty="0"/>
              <a:t> "In pairs, brainstorm ONE question you'd ask this data to solve the profitability problem."</a:t>
            </a:r>
          </a:p>
          <a:p>
            <a:r>
              <a:rPr lang="en-US" b="1" dirty="0"/>
              <a:t>My Analysis Approach:</a:t>
            </a:r>
            <a:endParaRPr lang="en-US" dirty="0"/>
          </a:p>
          <a:p>
            <a:r>
              <a:rPr lang="en-US" dirty="0"/>
              <a:t>Cluster bikes by location patterns → Find high-demand zones</a:t>
            </a:r>
          </a:p>
          <a:p>
            <a:r>
              <a:rPr lang="en-US" dirty="0"/>
              <a:t>Correlate breakdowns with weather → Preventive maintenance schedule</a:t>
            </a:r>
          </a:p>
          <a:p>
            <a:r>
              <a:rPr lang="en-US" dirty="0"/>
              <a:t>User segmentation → Targeted pricing tiers</a:t>
            </a:r>
          </a:p>
          <a:p>
            <a:r>
              <a:rPr lang="en-US" b="1" dirty="0"/>
              <a:t>Result:</a:t>
            </a:r>
            <a:r>
              <a:rPr lang="en-US" dirty="0"/>
              <a:t> 23% cost reduction, 15% revenue increase</a:t>
            </a:r>
          </a:p>
        </p:txBody>
      </p:sp>
    </p:spTree>
    <p:extLst>
      <p:ext uri="{BB962C8B-B14F-4D97-AF65-F5344CB8AC3E}">
        <p14:creationId xmlns:p14="http://schemas.microsoft.com/office/powerpoint/2010/main" val="3014675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6E05A-EA94-6A06-3867-8AFAEF865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Data</a:t>
            </a:r>
            <a:endParaRPr lang="en-K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ED676-DA0E-3DD8-9529-196B01AFFB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Structured:</a:t>
            </a:r>
          </a:p>
          <a:p>
            <a:r>
              <a:rPr lang="en-US" dirty="0"/>
              <a:t>Tables, CSV files</a:t>
            </a:r>
          </a:p>
          <a:p>
            <a:r>
              <a:rPr lang="en-US" dirty="0"/>
              <a:t>SQL databases</a:t>
            </a:r>
          </a:p>
          <a:p>
            <a:r>
              <a:rPr lang="en-US" dirty="0"/>
              <a:t>Excel spreadsheets</a:t>
            </a:r>
          </a:p>
          <a:p>
            <a:pPr marL="0" indent="0">
              <a:buNone/>
            </a:pPr>
            <a:r>
              <a:rPr lang="en-US" b="1" dirty="0"/>
              <a:t>Quantitative:</a:t>
            </a:r>
          </a:p>
          <a:p>
            <a:r>
              <a:rPr lang="en-US" dirty="0"/>
              <a:t>Numbers, metrics</a:t>
            </a:r>
          </a:p>
          <a:p>
            <a:r>
              <a:rPr lang="en-US" dirty="0"/>
              <a:t>150 sales, 45% growth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E37B1-CC32-5EAD-D05F-B3A22446FC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Unstructured:</a:t>
            </a:r>
          </a:p>
          <a:p>
            <a:r>
              <a:rPr lang="en-US" dirty="0"/>
              <a:t>Text, emails</a:t>
            </a:r>
          </a:p>
          <a:p>
            <a:r>
              <a:rPr lang="en-US" dirty="0"/>
              <a:t>Images, videos</a:t>
            </a:r>
          </a:p>
          <a:p>
            <a:r>
              <a:rPr lang="en-US" dirty="0"/>
              <a:t>Social media posts</a:t>
            </a:r>
          </a:p>
          <a:p>
            <a:pPr marL="0" indent="0">
              <a:buNone/>
            </a:pPr>
            <a:r>
              <a:rPr lang="en-US" b="1" dirty="0"/>
              <a:t>Qualitative:</a:t>
            </a:r>
          </a:p>
          <a:p>
            <a:r>
              <a:rPr lang="en-US" dirty="0"/>
              <a:t>Descriptions, opinions</a:t>
            </a:r>
          </a:p>
          <a:p>
            <a:r>
              <a:rPr lang="en-US" dirty="0"/>
              <a:t>"Customers love feature X"</a:t>
            </a:r>
            <a:endParaRPr lang="en-KZ" dirty="0"/>
          </a:p>
        </p:txBody>
      </p:sp>
    </p:spTree>
    <p:extLst>
      <p:ext uri="{BB962C8B-B14F-4D97-AF65-F5344CB8AC3E}">
        <p14:creationId xmlns:p14="http://schemas.microsoft.com/office/powerpoint/2010/main" val="3186577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54BA2-C7C8-76A2-2BEC-4A427C20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5BF80-8022-6C1C-DB40-9B8ED65FA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3947"/>
            <a:ext cx="10515600" cy="453807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Python Ecosystem:</a:t>
            </a:r>
            <a:endParaRPr lang="en-US" dirty="0"/>
          </a:p>
          <a:p>
            <a:r>
              <a:rPr lang="en-US" b="1" dirty="0"/>
              <a:t>Pandas:</a:t>
            </a:r>
            <a:r>
              <a:rPr lang="en-US" dirty="0"/>
              <a:t> Data manipulation (our main tool)</a:t>
            </a:r>
          </a:p>
          <a:p>
            <a:r>
              <a:rPr lang="en-US" b="1" dirty="0"/>
              <a:t>NumPy:</a:t>
            </a:r>
            <a:r>
              <a:rPr lang="en-US" dirty="0"/>
              <a:t> Numerical computing</a:t>
            </a:r>
          </a:p>
          <a:p>
            <a:r>
              <a:rPr lang="en-US" b="1" dirty="0"/>
              <a:t>Matplotlib/Seaborn:</a:t>
            </a:r>
            <a:r>
              <a:rPr lang="en-US" dirty="0"/>
              <a:t> Visualization</a:t>
            </a:r>
          </a:p>
          <a:p>
            <a:r>
              <a:rPr lang="en-US" b="1" dirty="0" err="1"/>
              <a:t>Jupyter</a:t>
            </a:r>
            <a:r>
              <a:rPr lang="en-US" b="1" dirty="0"/>
              <a:t> Notebook:</a:t>
            </a:r>
            <a:r>
              <a:rPr lang="en-US" dirty="0"/>
              <a:t> Interactive coding environment</a:t>
            </a:r>
          </a:p>
          <a:p>
            <a:r>
              <a:rPr lang="en-US" b="1" dirty="0"/>
              <a:t>Other Essential Tools:</a:t>
            </a:r>
            <a:endParaRPr lang="en-US" dirty="0"/>
          </a:p>
          <a:p>
            <a:r>
              <a:rPr lang="en-US" b="1" dirty="0"/>
              <a:t>SQL:</a:t>
            </a:r>
            <a:r>
              <a:rPr lang="en-US" dirty="0"/>
              <a:t> Database querying (weeks 8-12)</a:t>
            </a:r>
          </a:p>
          <a:p>
            <a:r>
              <a:rPr lang="en-US" b="1" dirty="0"/>
              <a:t>Excel:</a:t>
            </a:r>
            <a:r>
              <a:rPr lang="en-US" dirty="0"/>
              <a:t> Quick analysis (familiar to many)</a:t>
            </a:r>
          </a:p>
          <a:p>
            <a:r>
              <a:rPr lang="en-US" b="1" dirty="0"/>
              <a:t>Cloud Platforms:</a:t>
            </a:r>
            <a:r>
              <a:rPr lang="en-US" dirty="0"/>
              <a:t> AWS, Google Cloud (week 14)</a:t>
            </a:r>
          </a:p>
          <a:p>
            <a:endParaRPr lang="en-KZ" dirty="0"/>
          </a:p>
        </p:txBody>
      </p:sp>
    </p:spTree>
    <p:extLst>
      <p:ext uri="{BB962C8B-B14F-4D97-AF65-F5344CB8AC3E}">
        <p14:creationId xmlns:p14="http://schemas.microsoft.com/office/powerpoint/2010/main" val="601996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30791-5EC5-34B8-0E8B-98ADE4389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Course Philosophy - Why We Do It This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4E52C-E6B6-AC11-BDD3-348D81211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Problem with Traditional Approach:</a:t>
            </a:r>
            <a:r>
              <a:rPr lang="en-US" dirty="0"/>
              <a:t> "Many courses teach storage OR analysis. In reality, they're interconnected."</a:t>
            </a:r>
          </a:p>
          <a:p>
            <a:r>
              <a:rPr lang="en-US" b="1" dirty="0"/>
              <a:t>Our Integrated Approach:</a:t>
            </a:r>
            <a:endParaRPr lang="en-US" dirty="0"/>
          </a:p>
          <a:p>
            <a:pPr latinLnBrk="1"/>
            <a:r>
              <a:rPr lang="en-US" dirty="0"/>
              <a:t>Weeks 1-7:  Analysis Foundations → "How to ask good questions"</a:t>
            </a:r>
          </a:p>
          <a:p>
            <a:pPr latinLnBrk="1"/>
            <a:r>
              <a:rPr lang="en-US" dirty="0"/>
              <a:t>Weeks 8-14: Storage Systems    → "How to organize answers"</a:t>
            </a:r>
          </a:p>
          <a:p>
            <a:pPr latinLnBrk="1"/>
            <a:r>
              <a:rPr lang="en-US" dirty="0"/>
              <a:t>Week 15:    Final Project      → "Complete solution"</a:t>
            </a:r>
          </a:p>
          <a:p>
            <a:r>
              <a:rPr lang="en-US" b="1" dirty="0"/>
              <a:t>Metaphor:</a:t>
            </a:r>
            <a:r>
              <a:rPr lang="en-US" dirty="0"/>
              <a:t> "Learning storage without analysis is like building a library without ever reading the books. Learning analysis without storage is like trying to read when your books are scattered everywhere."</a:t>
            </a:r>
            <a:endParaRPr lang="en-KZ" dirty="0"/>
          </a:p>
        </p:txBody>
      </p:sp>
    </p:spTree>
    <p:extLst>
      <p:ext uri="{BB962C8B-B14F-4D97-AF65-F5344CB8AC3E}">
        <p14:creationId xmlns:p14="http://schemas.microsoft.com/office/powerpoint/2010/main" val="397371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07117-CEC6-E74F-7E1D-853C8666D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Today's Lab - Your First Data Conversation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9EDCC-9DE3-8DC1-074B-A8E6EAB82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749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Dataset: </a:t>
            </a:r>
            <a:r>
              <a:rPr lang="en-US" dirty="0" err="1"/>
              <a:t>StudentsPerformance.csv</a:t>
            </a:r>
            <a:r>
              <a:rPr lang="en-US" dirty="0"/>
              <a:t> (data from </a:t>
            </a:r>
            <a:r>
              <a:rPr lang="en-US" dirty="0" err="1"/>
              <a:t>Kaggle.com</a:t>
            </a:r>
            <a:r>
              <a:rPr lang="en-US" dirty="0"/>
              <a:t>)</a:t>
            </a:r>
          </a:p>
          <a:p>
            <a:r>
              <a:rPr lang="en-US" dirty="0"/>
              <a:t>Your Tasks:</a:t>
            </a:r>
          </a:p>
          <a:p>
            <a:r>
              <a:rPr lang="en-US" dirty="0"/>
              <a:t>Load and explore the dataset</a:t>
            </a:r>
          </a:p>
          <a:p>
            <a:r>
              <a:rPr lang="en-US" dirty="0"/>
              <a:t>Find most correlated columns and show the conclusion</a:t>
            </a:r>
          </a:p>
          <a:p>
            <a:r>
              <a:rPr lang="en-US" dirty="0"/>
              <a:t>Create one meaningful visualization</a:t>
            </a:r>
          </a:p>
          <a:p>
            <a:r>
              <a:rPr lang="en-US" dirty="0"/>
              <a:t>Write a one-paragraph insight</a:t>
            </a:r>
          </a:p>
          <a:p>
            <a:r>
              <a:rPr lang="en-US" dirty="0"/>
              <a:t>Success Criteria: "Not perfect code, but clear thinking documented."</a:t>
            </a:r>
          </a:p>
        </p:txBody>
      </p:sp>
    </p:spTree>
    <p:extLst>
      <p:ext uri="{BB962C8B-B14F-4D97-AF65-F5344CB8AC3E}">
        <p14:creationId xmlns:p14="http://schemas.microsoft.com/office/powerpoint/2010/main" val="2926897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A2D6D-FFA9-9308-285F-B2DA28793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Action Items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1438A-3B0D-38FC-FF30-A32620437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This Week:</a:t>
            </a:r>
            <a:endParaRPr lang="en-US" dirty="0"/>
          </a:p>
          <a:p>
            <a:r>
              <a:rPr lang="en-US" dirty="0"/>
              <a:t>Complete Lab 1 (due: 28.01.2026)</a:t>
            </a:r>
          </a:p>
          <a:p>
            <a:r>
              <a:rPr lang="en-US" dirty="0"/>
              <a:t>Read: "The Data Science Handbook" Chapter 1 (on LMS)</a:t>
            </a:r>
          </a:p>
        </p:txBody>
      </p:sp>
    </p:spTree>
    <p:extLst>
      <p:ext uri="{BB962C8B-B14F-4D97-AF65-F5344CB8AC3E}">
        <p14:creationId xmlns:p14="http://schemas.microsoft.com/office/powerpoint/2010/main" val="3656623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598</Words>
  <Application>Microsoft Macintosh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Lecture: Introduction to Data Analysis</vt:lpstr>
      <vt:lpstr>Title</vt:lpstr>
      <vt:lpstr>The Data Revolution is Here</vt:lpstr>
      <vt:lpstr>What is Data Analysis?</vt:lpstr>
      <vt:lpstr>The Data Pipeline - Our Course's Core</vt:lpstr>
      <vt:lpstr>Concrete Business Case</vt:lpstr>
      <vt:lpstr>Types of Data</vt:lpstr>
      <vt:lpstr>Tools</vt:lpstr>
      <vt:lpstr>Course Philosophy - Why We Do It This Way</vt:lpstr>
      <vt:lpstr>Today's Lab - Your First Data Conversation</vt:lpstr>
      <vt:lpstr>Action Items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Anar Nagmetova</dc:creator>
  <cp:lastModifiedBy>Anar Nagmetova</cp:lastModifiedBy>
  <cp:revision>4</cp:revision>
  <dcterms:created xsi:type="dcterms:W3CDTF">2026-01-18T18:04:27Z</dcterms:created>
  <dcterms:modified xsi:type="dcterms:W3CDTF">2026-01-21T13:10:21Z</dcterms:modified>
</cp:coreProperties>
</file>