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78034"/>
  </p:normalViewPr>
  <p:slideViewPr>
    <p:cSldViewPr snapToGrid="0">
      <p:cViewPr varScale="1">
        <p:scale>
          <a:sx n="86" d="100"/>
          <a:sy n="86" d="100"/>
        </p:scale>
        <p:origin x="1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72749-D5E3-1441-9931-EA5243EBA893}" type="datetimeFigureOut">
              <a:rPr lang="en-KZ" smtClean="0"/>
              <a:t>26.03.2026</a:t>
            </a:fld>
            <a:endParaRPr lang="en-K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7D212-C32D-F143-8203-A24000031143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640832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2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699477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3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733658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4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942685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5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76602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6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4124169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7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886540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8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332169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9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815367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10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318291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11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72835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12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5321570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13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7633319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14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136171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15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36560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16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532324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17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8818855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7D212-C32D-F143-8203-A24000031143}" type="slidenum">
              <a:rPr lang="en-KZ" smtClean="0"/>
              <a:t>18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10246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DDB37-50E4-2252-8E3B-C4411F0D1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2DDF4-2B89-2E7C-19FF-9ACFAC1A0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91FFD-90A2-1801-8B54-6AE2A4647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BD20-C3B8-9F4C-A98A-EFCFD97B5C7D}" type="datetimeFigureOut">
              <a:rPr lang="en-KZ" smtClean="0"/>
              <a:t>26.03.2026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F684A-C36B-C3E5-2A16-EE37352D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BD0B9-BB3B-3F1B-69CC-E5792F2B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C52B7-8371-6C4C-8543-6C102AB402C3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416567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0E579-E0A8-3940-C9AD-6EEE08A17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BC44F-1946-31B8-3369-DE81BB5DE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6475-7AA3-3ABD-F67D-D6A6B62C8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BD20-C3B8-9F4C-A98A-EFCFD97B5C7D}" type="datetimeFigureOut">
              <a:rPr lang="en-KZ" smtClean="0"/>
              <a:t>26.03.2026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7C27-CE36-D284-2B7A-55049248D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C8075-49B6-7308-A50F-5CB9C0250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C52B7-8371-6C4C-8543-6C102AB402C3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347054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3BAF3-8B16-BEA0-A6AB-A7AA89D6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59487-5A70-1939-9611-BF1149AB3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9EA8E-D8A1-3001-A57C-2B7390AC3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BD20-C3B8-9F4C-A98A-EFCFD97B5C7D}" type="datetimeFigureOut">
              <a:rPr lang="en-KZ" smtClean="0"/>
              <a:t>26.03.2026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03886-B19C-D5AB-5230-1857642EA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673B8-DCA8-37D7-513F-A56F27E3D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C52B7-8371-6C4C-8543-6C102AB402C3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96419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9AE86-92B7-A52F-ABCD-3E14A14C5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51250-6D15-C0A2-63DE-A38678F6B6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B8F9F-FB30-FBD9-B17E-4A54422AE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11A13-6890-EFE5-20AD-0E1C38702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BD20-C3B8-9F4C-A98A-EFCFD97B5C7D}" type="datetimeFigureOut">
              <a:rPr lang="en-KZ" smtClean="0"/>
              <a:t>26.03.2026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3CB8A-D5DE-DC57-078E-6325EF4E2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57BEC-F35A-3DFC-F028-DE5CC1C2E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C52B7-8371-6C4C-8543-6C102AB402C3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870616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1F8F6-2218-BB12-E6D2-6461EBE73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CF686-EF02-55CD-EC90-A8184F28B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4B0B77-91E0-ECEA-CF9D-550958553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5513FB-DD51-F32D-BF3D-3BA4B99E02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FED371-926C-AD09-94EF-4640668ED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956DB-0F68-DC8B-9B0F-60B632AA4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BD20-C3B8-9F4C-A98A-EFCFD97B5C7D}" type="datetimeFigureOut">
              <a:rPr lang="en-KZ" smtClean="0"/>
              <a:t>26.03.2026</a:t>
            </a:fld>
            <a:endParaRPr lang="en-K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7683A2-AE0C-8399-33EC-2850BC365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E93DE6-4F61-B4EB-407B-ABE5A0ABE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C52B7-8371-6C4C-8543-6C102AB402C3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76188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9DF1-D20A-3C5C-04B3-D2E63DD62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1D4A5-BF6A-5A51-CABD-156DF6086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BD20-C3B8-9F4C-A98A-EFCFD97B5C7D}" type="datetimeFigureOut">
              <a:rPr lang="en-KZ" smtClean="0"/>
              <a:t>26.03.2026</a:t>
            </a:fld>
            <a:endParaRPr lang="en-K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FA0F1-C388-6FA0-6344-53A5D610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AB523-DAFF-B7B8-207D-8352F2111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C52B7-8371-6C4C-8543-6C102AB402C3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82422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5C227-688F-8BD6-B8C9-367B82FDC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BD20-C3B8-9F4C-A98A-EFCFD97B5C7D}" type="datetimeFigureOut">
              <a:rPr lang="en-KZ" smtClean="0"/>
              <a:t>26.03.2026</a:t>
            </a:fld>
            <a:endParaRPr lang="en-K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A159AE-4BB3-6B12-C851-2AEA02C1A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4EC94-A7AF-C229-9EDA-92A223DF6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C52B7-8371-6C4C-8543-6C102AB402C3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169650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9EB9E-5E5F-2607-B624-057DDD903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6939B-34B4-44E9-075A-A81BE7690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3DC76-73F9-91B4-DF02-C7A9F0C65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B5EF0-0645-A6D8-9155-B7135F9E4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BD20-C3B8-9F4C-A98A-EFCFD97B5C7D}" type="datetimeFigureOut">
              <a:rPr lang="en-KZ" smtClean="0"/>
              <a:t>26.03.2026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F8901-CD28-D367-83A2-99EFDF2B3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D95ED-72DF-A37A-E832-07C11914E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C52B7-8371-6C4C-8543-6C102AB402C3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445706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6B287-941A-11DD-077B-5BFD1421B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4C9D5-155F-C5C8-8046-75A062EAFA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CD1896-1EDB-7307-79E3-0F38E2809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4440A-98DD-1FE6-6A91-D27E5285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BD20-C3B8-9F4C-A98A-EFCFD97B5C7D}" type="datetimeFigureOut">
              <a:rPr lang="en-KZ" smtClean="0"/>
              <a:t>26.03.2026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D5219-101B-69A3-582F-DC726D02E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C5EF3-69F3-088A-1C3C-17CAEA793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C52B7-8371-6C4C-8543-6C102AB402C3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754155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23F7E-1C69-A3C3-CA57-D02DD8329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0E32E-1537-3A99-BC3D-6B40305F1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BF88E-89DA-C1BA-5D89-63E21D94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BD20-C3B8-9F4C-A98A-EFCFD97B5C7D}" type="datetimeFigureOut">
              <a:rPr lang="en-KZ" smtClean="0"/>
              <a:t>26.03.2026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DE321-29FA-CB09-C7C6-DABEA3EB2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08F4F-1331-3785-04E6-C91C362C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C52B7-8371-6C4C-8543-6C102AB402C3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178032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6C705B-BAAF-B73F-6942-B3A9E70629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802EF-468C-AE29-55DB-8DE350DE6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0C32C-0501-9443-C6B5-6E525C119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BD20-C3B8-9F4C-A98A-EFCFD97B5C7D}" type="datetimeFigureOut">
              <a:rPr lang="en-KZ" smtClean="0"/>
              <a:t>26.03.2026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47488-193B-278A-949F-9BF97B22A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2A9F2-96B1-EFC9-7E4A-F3DD1213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C52B7-8371-6C4C-8543-6C102AB402C3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006931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E1372A-73FB-93C7-9D69-A29AEE6BF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FA58F-A90B-4EF2-E745-83F8475D7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A084F-0179-31D3-799D-8037A6C88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4BD20-C3B8-9F4C-A98A-EFCFD97B5C7D}" type="datetimeFigureOut">
              <a:rPr lang="en-KZ" smtClean="0"/>
              <a:t>26.03.2026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D3838-A09E-DCB4-64D9-1AD03798C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F9EA2-1B0C-8A58-DB3C-F2E396428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C52B7-8371-6C4C-8543-6C102AB402C3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33180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B8E5D-E817-4875-F553-652FC483FB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NoSQL Databases &amp; MongoDB</a:t>
            </a:r>
            <a:endParaRPr lang="en-K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33007-D73E-947C-E4C6-B2B57B10EF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KZ" dirty="0"/>
              <a:t>Week 10</a:t>
            </a:r>
          </a:p>
        </p:txBody>
      </p:sp>
    </p:spTree>
    <p:extLst>
      <p:ext uri="{BB962C8B-B14F-4D97-AF65-F5344CB8AC3E}">
        <p14:creationId xmlns:p14="http://schemas.microsoft.com/office/powerpoint/2010/main" val="3503280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AEF33-4D08-1A6C-4B3D-A95FDF3F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NoSQL?</a:t>
            </a:r>
            <a:endParaRPr lang="en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95F01-05A4-E048-1F94-C424B3AFC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Not Only SQL – a broad class of databases that don’t rely on the relational model.</a:t>
            </a:r>
          </a:p>
          <a:p>
            <a:pPr marL="0" indent="0">
              <a:buNone/>
            </a:pPr>
            <a:r>
              <a:rPr lang="en-US" dirty="0"/>
              <a:t>Emphasize:</a:t>
            </a:r>
          </a:p>
          <a:p>
            <a:pPr lvl="1"/>
            <a:r>
              <a:rPr lang="en-US" dirty="0"/>
              <a:t>Flexible schema</a:t>
            </a:r>
          </a:p>
          <a:p>
            <a:pPr lvl="1"/>
            <a:r>
              <a:rPr lang="en-US" dirty="0"/>
              <a:t>Horizontal scaling (add more servers, not more power)</a:t>
            </a:r>
          </a:p>
          <a:p>
            <a:pPr lvl="1"/>
            <a:r>
              <a:rPr lang="en-US" dirty="0"/>
              <a:t>High performance for specific workloads</a:t>
            </a:r>
          </a:p>
          <a:p>
            <a:pPr lvl="1"/>
            <a:r>
              <a:rPr lang="en-US" dirty="0"/>
              <a:t>Rich data models (documents, graphs, key-values)</a:t>
            </a:r>
          </a:p>
          <a:p>
            <a:pPr marL="0" indent="0">
              <a:buNone/>
            </a:pPr>
            <a:endParaRPr lang="en-KZ" dirty="0"/>
          </a:p>
        </p:txBody>
      </p:sp>
    </p:spTree>
    <p:extLst>
      <p:ext uri="{BB962C8B-B14F-4D97-AF65-F5344CB8AC3E}">
        <p14:creationId xmlns:p14="http://schemas.microsoft.com/office/powerpoint/2010/main" val="3400174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5DC30-B54D-DA6D-AF20-DB0E8585D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3753A-2F89-532A-7A60-83D852A00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JSON = JavaScript Object Notation</a:t>
            </a:r>
          </a:p>
          <a:p>
            <a:pPr marL="0" indent="0">
              <a:buNone/>
            </a:pPr>
            <a:r>
              <a:rPr lang="en-US" dirty="0"/>
              <a:t>Human-readable, lightweight data interchange format</a:t>
            </a:r>
          </a:p>
          <a:p>
            <a:pPr marL="0" indent="0">
              <a:buNone/>
            </a:pPr>
            <a:r>
              <a:rPr lang="en-US" dirty="0"/>
              <a:t>How modern APIs communicate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endParaRPr lang="en-KZ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C78FEC0-7CB4-5BF8-EDAC-D1A1D7F91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361" y="3811450"/>
            <a:ext cx="8394491" cy="2215991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"name"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"Alice"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"age"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28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"hobbies"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[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"reading"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"cycling"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],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"address"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Z" altLang="en-KZ" sz="1600" dirty="0">
                <a:solidFill>
                  <a:srgbClr val="0F1115"/>
                </a:solidFill>
                <a:latin typeface="var(--ds-font-family-code)"/>
              </a:rPr>
              <a:t>	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"city"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"Boston"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"zip"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"02115"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16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kumimoji="0" lang="en-KZ" altLang="en-KZ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234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F3EE-4A56-90A6-7408-90967E33A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Document Databases – The 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52165-01EC-3C54-77B7-6CDF71AEA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KZ" dirty="0"/>
              <a:t>Store </a:t>
            </a:r>
            <a:r>
              <a:rPr lang="en-KZ" b="1" dirty="0"/>
              <a:t>documents</a:t>
            </a:r>
            <a:r>
              <a:rPr lang="en-KZ" dirty="0"/>
              <a:t> (JSON-like) inside </a:t>
            </a:r>
            <a:r>
              <a:rPr lang="en-KZ" b="1" dirty="0"/>
              <a:t>collections</a:t>
            </a:r>
            <a:r>
              <a:rPr lang="en-KZ" dirty="0"/>
              <a:t>.</a:t>
            </a:r>
          </a:p>
          <a:p>
            <a:pPr marL="0" lvl="0" indent="0">
              <a:buNone/>
            </a:pPr>
            <a:r>
              <a:rPr lang="en-KZ" dirty="0"/>
              <a:t>Each document is a set of key-value pairs.</a:t>
            </a:r>
          </a:p>
          <a:p>
            <a:pPr marL="0" lvl="0" indent="0">
              <a:buNone/>
            </a:pPr>
            <a:r>
              <a:rPr lang="en-KZ" dirty="0"/>
              <a:t>Collections are analogous to tables, but with no schema.</a:t>
            </a:r>
          </a:p>
          <a:p>
            <a:pPr marL="0" lvl="0" indent="0">
              <a:buNone/>
            </a:pPr>
            <a:r>
              <a:rPr lang="en-KZ" dirty="0"/>
              <a:t>Each document can have a different structure.</a:t>
            </a:r>
          </a:p>
          <a:p>
            <a:pPr marL="0" indent="0">
              <a:buNone/>
            </a:pPr>
            <a:endParaRPr lang="en-KZ" dirty="0"/>
          </a:p>
        </p:txBody>
      </p:sp>
    </p:spTree>
    <p:extLst>
      <p:ext uri="{BB962C8B-B14F-4D97-AF65-F5344CB8AC3E}">
        <p14:creationId xmlns:p14="http://schemas.microsoft.com/office/powerpoint/2010/main" val="637778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E98A2-F108-58E0-B01C-B653D52F2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MongoDB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13E2D-10B0-3EE6-2348-B89DA20FE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KZ" dirty="0"/>
              <a:t>Most popular document database.</a:t>
            </a:r>
          </a:p>
          <a:p>
            <a:pPr marL="0" lvl="0" indent="0">
              <a:buNone/>
            </a:pPr>
            <a:r>
              <a:rPr lang="en-KZ" dirty="0"/>
              <a:t>Open-source, developed by MongoDB Inc.</a:t>
            </a:r>
          </a:p>
          <a:p>
            <a:pPr marL="0" lvl="0" indent="0">
              <a:buNone/>
            </a:pPr>
            <a:r>
              <a:rPr lang="en-KZ" dirty="0"/>
              <a:t>Stores data in </a:t>
            </a:r>
            <a:r>
              <a:rPr lang="en-KZ" b="1" dirty="0"/>
              <a:t>BSON</a:t>
            </a:r>
            <a:r>
              <a:rPr lang="en-KZ" dirty="0"/>
              <a:t> (Binary JSON) – extends JSON with types like Date, ObjectId.</a:t>
            </a:r>
          </a:p>
          <a:p>
            <a:pPr marL="0" lvl="0" indent="0">
              <a:buNone/>
            </a:pPr>
            <a:r>
              <a:rPr lang="en-KZ" dirty="0"/>
              <a:t>Rich query language, indexing, aggregation, sharding for scale.</a:t>
            </a:r>
          </a:p>
          <a:p>
            <a:pPr marL="0" indent="0">
              <a:buNone/>
            </a:pPr>
            <a:endParaRPr lang="en-KZ" dirty="0"/>
          </a:p>
        </p:txBody>
      </p:sp>
    </p:spTree>
    <p:extLst>
      <p:ext uri="{BB962C8B-B14F-4D97-AF65-F5344CB8AC3E}">
        <p14:creationId xmlns:p14="http://schemas.microsoft.com/office/powerpoint/2010/main" val="2513098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52C30-E6D4-CA30-3A9B-648CED547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Key Concepts – Database, Collection,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9121A-89EB-8E7F-0BD2-22960DACF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latinLnBrk="1">
              <a:buNone/>
            </a:pPr>
            <a:r>
              <a:rPr lang="en-KZ" dirty="0"/>
              <a:t>Database</a:t>
            </a:r>
          </a:p>
          <a:p>
            <a:pPr marL="0" indent="0" latinLnBrk="1">
              <a:buNone/>
            </a:pPr>
            <a:r>
              <a:rPr lang="en-KZ" dirty="0"/>
              <a:t>── Collection (like a table)</a:t>
            </a:r>
          </a:p>
          <a:p>
            <a:pPr marL="0" indent="0" latinLnBrk="1">
              <a:buNone/>
            </a:pPr>
            <a:r>
              <a:rPr lang="en-KZ" dirty="0"/>
              <a:t>     ── Document 1 (JSON)</a:t>
            </a:r>
          </a:p>
          <a:p>
            <a:pPr marL="0" indent="0" latinLnBrk="1">
              <a:buNone/>
            </a:pPr>
            <a:r>
              <a:rPr lang="en-KZ" dirty="0"/>
              <a:t>     ── Document 2 (JSON)</a:t>
            </a:r>
          </a:p>
          <a:p>
            <a:pPr marL="0" indent="0" latinLnBrk="1">
              <a:buNone/>
            </a:pPr>
            <a:r>
              <a:rPr lang="en-KZ" dirty="0"/>
              <a:t>     ── Document 3 (JSON)</a:t>
            </a:r>
          </a:p>
          <a:p>
            <a:pPr marL="0" indent="0">
              <a:buNone/>
            </a:pPr>
            <a:endParaRPr lang="en-KZ" dirty="0"/>
          </a:p>
        </p:txBody>
      </p:sp>
    </p:spTree>
    <p:extLst>
      <p:ext uri="{BB962C8B-B14F-4D97-AF65-F5344CB8AC3E}">
        <p14:creationId xmlns:p14="http://schemas.microsoft.com/office/powerpoint/2010/main" val="3233644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5495-D034-9373-216A-E037FD787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Sample Document – A Product</a:t>
            </a:r>
            <a:endParaRPr lang="en-KZ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BC75DA-303F-601D-A94F-252CF49CE0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8062" y="1690688"/>
            <a:ext cx="5964518" cy="3693319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"_id"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ObjectId(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"507f1f77bcf86cd799439011"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)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"name"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"Wireless Headphones"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"price"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89.99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"category"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"Electronics"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"tags"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[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"audio"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"wireless"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"bluetooth"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],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"inStock"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"reviews"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[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"user"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"alice"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"rating"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5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"comment"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"Great sound!"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"user"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"bob"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"rating"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4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"comment"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"Comfortable"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]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kumimoji="0" lang="en-KZ" altLang="en-K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720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D9503-1B18-ACE6-9934-A43576A7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CRUD Operations – Create (Insert)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AA33D5-E22C-F41E-7209-9A6CC78C30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7984" y="1911146"/>
            <a:ext cx="4648200" cy="2769989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products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insertOne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name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"Wireless Headphones"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price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89.99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category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"Electronics"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});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KZ" altLang="en-KZ" sz="2000" dirty="0">
              <a:solidFill>
                <a:srgbClr val="0F1115"/>
              </a:solidFill>
              <a:latin typeface="var(--ds-font-family-co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KZ" altLang="en-KZ" sz="20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var(--ds-font-family-co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products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insertMany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([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name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"Mouse"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price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25.50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name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"Keyboard"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price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45.00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]);</a:t>
            </a:r>
            <a:endParaRPr kumimoji="0" lang="en-KZ" altLang="en-K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504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3B021-090E-BF7E-25C9-4C17A579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CRUD – Read (Find)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FFDBA7-F228-14F6-B364-650E5F0873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8102" y="1736229"/>
            <a:ext cx="5440144" cy="3385542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var(--ds-font-family-code)"/>
              </a:rPr>
              <a:t>// Find all documents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products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find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({});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KZ" altLang="en-KZ" sz="2000" dirty="0">
              <a:solidFill>
                <a:srgbClr val="0F1115"/>
              </a:solidFill>
              <a:latin typeface="var(--ds-font-family-co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var(--ds-font-family-code)"/>
              </a:rPr>
              <a:t>// Find with filter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products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find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category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"Electronics"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});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KZ" altLang="en-KZ" sz="2000" dirty="0">
              <a:solidFill>
                <a:srgbClr val="0F1115"/>
              </a:solidFill>
              <a:latin typeface="var(--ds-font-family-co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var(--ds-font-family-code)"/>
              </a:rPr>
              <a:t>// Find with conditions (price &gt; 50)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products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find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price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$gt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50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});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KZ" altLang="en-KZ" sz="2000" dirty="0">
              <a:solidFill>
                <a:srgbClr val="0F1115"/>
              </a:solidFill>
              <a:latin typeface="var(--ds-font-family-co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var(--ds-font-family-code)"/>
              </a:rPr>
              <a:t>// Pretty print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products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find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category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"Electronics"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}).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pretty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();</a:t>
            </a:r>
            <a:endParaRPr kumimoji="0" lang="en-KZ" altLang="en-K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564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92013-6DEA-0A78-EE36-07B04705E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CRUD – Update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BDA1AE-DC9E-A6CF-0785-B339AED453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8082" y="1690688"/>
            <a:ext cx="5219057" cy="4308872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products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updateOne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name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"Wireless Headphones"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$set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price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79.99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);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KZ" altLang="en-KZ" sz="2000" dirty="0">
              <a:solidFill>
                <a:srgbClr val="0F1115"/>
              </a:solidFill>
              <a:latin typeface="var(--ds-font-family-co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var(--ds-font-family-code)"/>
              </a:rPr>
              <a:t>// Update many (add a field)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products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updateMany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category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"Electronics"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$set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onSale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);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KZ" altLang="en-KZ" sz="2000" dirty="0">
              <a:solidFill>
                <a:srgbClr val="0F1115"/>
              </a:solidFill>
              <a:latin typeface="var(--ds-font-family-co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var(--ds-font-family-code)"/>
              </a:rPr>
              <a:t>// Replace whole document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products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replaceOne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name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"Mouse"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name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"Gaming Mouse"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price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49.99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rgb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);</a:t>
            </a:r>
            <a:endParaRPr kumimoji="0" lang="en-KZ" altLang="en-K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839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8E684-C97F-5F8D-37ED-51FDA6597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CRUD – Delete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D234F8-6669-4F04-F58B-5F49304756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3132" y="1953702"/>
            <a:ext cx="6326219" cy="1846659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var(--ds-font-family-code)"/>
              </a:rPr>
              <a:t>// Delete one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products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deleteOne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name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"Keyboard"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});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KZ" altLang="en-KZ" sz="2000" dirty="0">
              <a:solidFill>
                <a:srgbClr val="0F1115"/>
              </a:solidFill>
              <a:latin typeface="var(--ds-font-family-co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var(--ds-font-family-code)"/>
              </a:rPr>
              <a:t>// Delete many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products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deleteMany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price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$lt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10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});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KZ" altLang="en-KZ" sz="2000" dirty="0">
              <a:solidFill>
                <a:srgbClr val="0F1115"/>
              </a:solidFill>
              <a:latin typeface="var(--ds-font-family-co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var(--ds-font-family-code)"/>
              </a:rPr>
              <a:t>// Delete all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products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deleteMany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({});</a:t>
            </a:r>
            <a:endParaRPr kumimoji="0" lang="en-KZ" altLang="en-K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397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C017E-C866-363F-9646-280A546AA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Querying –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D2D70D-2A8A-D112-B01D-F7AFC8460D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4891890"/>
              </p:ext>
            </p:extLst>
          </p:nvPr>
        </p:nvGraphicFramePr>
        <p:xfrm>
          <a:off x="838200" y="1690688"/>
          <a:ext cx="6132226" cy="4335359"/>
        </p:xfrm>
        <a:graphic>
          <a:graphicData uri="http://schemas.openxmlformats.org/drawingml/2006/table">
            <a:tbl>
              <a:tblPr/>
              <a:tblGrid>
                <a:gridCol w="3066113">
                  <a:extLst>
                    <a:ext uri="{9D8B030D-6E8A-4147-A177-3AD203B41FA5}">
                      <a16:colId xmlns:a16="http://schemas.microsoft.com/office/drawing/2014/main" val="2801445525"/>
                    </a:ext>
                  </a:extLst>
                </a:gridCol>
                <a:gridCol w="3066113">
                  <a:extLst>
                    <a:ext uri="{9D8B030D-6E8A-4147-A177-3AD203B41FA5}">
                      <a16:colId xmlns:a16="http://schemas.microsoft.com/office/drawing/2014/main" val="1551952646"/>
                    </a:ext>
                  </a:extLst>
                </a:gridCol>
              </a:tblGrid>
              <a:tr h="6193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Operator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Meaning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669063"/>
                  </a:ext>
                </a:extLst>
              </a:tr>
              <a:tr h="619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var(--ds-font-family-code)"/>
                        </a:rPr>
                        <a:t>$eq</a:t>
                      </a:r>
                      <a:endParaRPr lang="en-US" dirty="0">
                        <a:effectLst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equal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815356"/>
                  </a:ext>
                </a:extLst>
              </a:tr>
              <a:tr h="619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var(--ds-font-family-code)"/>
                        </a:rPr>
                        <a:t>$gt</a:t>
                      </a:r>
                      <a:endParaRPr lang="en-US">
                        <a:effectLst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greater than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174669"/>
                  </a:ext>
                </a:extLst>
              </a:tr>
              <a:tr h="619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var(--ds-font-family-code)"/>
                        </a:rPr>
                        <a:t>$lt</a:t>
                      </a:r>
                      <a:endParaRPr lang="en-US">
                        <a:effectLst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less than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664415"/>
                  </a:ext>
                </a:extLst>
              </a:tr>
              <a:tr h="619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var(--ds-font-family-code)"/>
                        </a:rPr>
                        <a:t>$in</a:t>
                      </a:r>
                      <a:endParaRPr lang="en-US">
                        <a:effectLst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 array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923083"/>
                  </a:ext>
                </a:extLst>
              </a:tr>
              <a:tr h="619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var(--ds-font-family-code)"/>
                        </a:rPr>
                        <a:t>$and</a:t>
                      </a:r>
                      <a:r>
                        <a:rPr lang="en-US">
                          <a:effectLst/>
                        </a:rPr>
                        <a:t>, </a:t>
                      </a:r>
                      <a:r>
                        <a:rPr lang="en-US">
                          <a:effectLst/>
                          <a:latin typeface="var(--ds-font-family-code)"/>
                        </a:rPr>
                        <a:t>$or</a:t>
                      </a:r>
                      <a:endParaRPr lang="en-US">
                        <a:effectLst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logical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8575"/>
                  </a:ext>
                </a:extLst>
              </a:tr>
              <a:tr h="619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var(--ds-font-family-code)"/>
                        </a:rPr>
                        <a:t>$regex</a:t>
                      </a:r>
                      <a:endParaRPr lang="en-US" dirty="0">
                        <a:effectLst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pattern match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61505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3DCFEBD-65CF-8FB1-07F3-6DBBB756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366" y="2627261"/>
            <a:ext cx="3675493" cy="1231106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users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find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age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$gte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18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$lte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30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city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$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var(--ds-font-family-code)"/>
              </a:rPr>
              <a:t>in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[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"New York"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"Boston"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]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});</a:t>
            </a:r>
            <a:endParaRPr kumimoji="0" lang="en-KZ" altLang="en-K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9E6A5-9CF1-2271-3AD4-1EE52179E4B8}"/>
              </a:ext>
            </a:extLst>
          </p:cNvPr>
          <p:cNvSpPr txBox="1"/>
          <p:nvPr/>
        </p:nvSpPr>
        <p:spPr>
          <a:xfrm>
            <a:off x="7324366" y="1897364"/>
            <a:ext cx="1625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Z" sz="2800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877889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0C65-B0F7-5BB4-B002-9037AA57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Projection – Selecting Fields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6793D8-8EFC-C1A7-3534-80AA86E1C1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8121" y="2265465"/>
            <a:ext cx="5542608" cy="92333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products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find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category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"Electronics"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name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1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price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1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_id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0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);</a:t>
            </a:r>
            <a:endParaRPr kumimoji="0" lang="en-KZ" altLang="en-K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146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57D5D-A183-1C07-30A8-77B66A566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Aggregation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2E5B-4890-9611-8CA4-4A8EC9FCB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Z" dirty="0"/>
              <a:t>Powerful framework for data transformation</a:t>
            </a:r>
          </a:p>
          <a:p>
            <a:r>
              <a:rPr lang="en-KZ" dirty="0"/>
              <a:t>Similar to SQL's GROUP BY, but with stages</a:t>
            </a:r>
          </a:p>
          <a:p>
            <a:r>
              <a:rPr lang="en-KZ" dirty="0"/>
              <a:t>Stages: $match, $group, $sort, $project, $lookup (like join), etc.</a:t>
            </a:r>
          </a:p>
          <a:p>
            <a:pPr marL="0" indent="0">
              <a:buNone/>
            </a:pPr>
            <a:endParaRPr lang="en-KZ" dirty="0"/>
          </a:p>
          <a:p>
            <a:pPr marL="0" indent="0">
              <a:buNone/>
            </a:pPr>
            <a:endParaRPr lang="en-KZ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7B7F64-6AB8-327C-293E-904FAC889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272" y="3682398"/>
            <a:ext cx="6964407" cy="1846659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orders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aggregate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([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$match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status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"completed"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$group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_id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"$customerId"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totalSpent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$sum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var(--ds-font-family-code)"/>
              </a:rPr>
              <a:t>"$amount"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$sort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totalSpent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-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1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$limit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10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]);</a:t>
            </a:r>
            <a:endParaRPr kumimoji="0" lang="en-KZ" altLang="en-K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909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C4F93-47DF-1115-FBCF-C88464307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77132-4B30-8AF1-4CC4-7DB97109F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KZ" dirty="0"/>
              <a:t>Indexes improve query speed.</a:t>
            </a:r>
          </a:p>
          <a:p>
            <a:pPr lvl="0"/>
            <a:r>
              <a:rPr lang="en-KZ" dirty="0"/>
              <a:t>Create on fields used frequently in filters.</a:t>
            </a:r>
          </a:p>
          <a:p>
            <a:endParaRPr lang="en-KZ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80DF2D-ACBE-B54C-FD93-1490437E2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292" y="3344420"/>
            <a:ext cx="5754076" cy="1538883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var(--ds-font-family-code)"/>
              </a:rPr>
              <a:t>// Create a single-field index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users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createIndex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email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1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});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KZ" altLang="en-KZ" sz="2000" dirty="0">
              <a:solidFill>
                <a:srgbClr val="0F1115"/>
              </a:solidFill>
              <a:latin typeface="var(--ds-font-family-co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var(--ds-font-family-code)"/>
              </a:rPr>
              <a:t>// Compound index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db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orders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createIndex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({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customerId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1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var(--ds-font-family-code)"/>
              </a:rPr>
              <a:t>orderDate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var(--ds-font-family-code)"/>
              </a:rPr>
              <a:t>-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var(--ds-font-family-code)"/>
              </a:rPr>
              <a:t>1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kumimoji="0" lang="en-KZ" altLang="en-KZ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ds-font-family-code)"/>
              </a:rPr>
              <a:t>});</a:t>
            </a:r>
            <a:endParaRPr kumimoji="0" lang="en-KZ" altLang="en-K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977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6C7A7-E01F-BFF1-B6C6-AD3CFAB7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Relationships – Embedding vs. Referencing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90CCF-050E-E7A2-AE83-1750B7319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KZ" b="1" dirty="0"/>
              <a:t>Embedding</a:t>
            </a:r>
            <a:r>
              <a:rPr lang="en-KZ" dirty="0"/>
              <a:t>: Store related data inside a document.</a:t>
            </a:r>
          </a:p>
          <a:p>
            <a:pPr lvl="1"/>
            <a:r>
              <a:rPr lang="en-KZ" dirty="0"/>
              <a:t>Good for one-to-few relationships.</a:t>
            </a:r>
          </a:p>
          <a:p>
            <a:pPr lvl="1"/>
            <a:r>
              <a:rPr lang="en-KZ" dirty="0"/>
              <a:t>Example: user profile with addresses.</a:t>
            </a:r>
          </a:p>
          <a:p>
            <a:pPr lvl="0"/>
            <a:r>
              <a:rPr lang="en-KZ" b="1" dirty="0"/>
              <a:t>Referencing</a:t>
            </a:r>
            <a:r>
              <a:rPr lang="en-KZ" dirty="0"/>
              <a:t>: Store IDs to other documents (like foreign keys).</a:t>
            </a:r>
          </a:p>
          <a:p>
            <a:pPr lvl="1"/>
            <a:r>
              <a:rPr lang="en-KZ" dirty="0"/>
              <a:t>Good for one-to-many or many-to-many.</a:t>
            </a:r>
          </a:p>
          <a:p>
            <a:pPr lvl="1"/>
            <a:r>
              <a:rPr lang="en-KZ" dirty="0"/>
              <a:t>Example: user posts referencing user ID.</a:t>
            </a:r>
          </a:p>
          <a:p>
            <a:endParaRPr lang="en-KZ" dirty="0"/>
          </a:p>
        </p:txBody>
      </p:sp>
    </p:spTree>
    <p:extLst>
      <p:ext uri="{BB962C8B-B14F-4D97-AF65-F5344CB8AC3E}">
        <p14:creationId xmlns:p14="http://schemas.microsoft.com/office/powerpoint/2010/main" val="1512099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D7F64-95A3-9B04-1B4E-7D16F8D0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When to Choose 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E0859-8F5C-225E-9FC0-F0D698306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KZ" dirty="0"/>
              <a:t>Rapid development, agile environment</a:t>
            </a:r>
          </a:p>
          <a:p>
            <a:pPr lvl="0"/>
            <a:r>
              <a:rPr lang="en-KZ" dirty="0"/>
              <a:t>Unstructured or semi-structured data</a:t>
            </a:r>
          </a:p>
          <a:p>
            <a:pPr lvl="0"/>
            <a:r>
              <a:rPr lang="en-KZ" dirty="0"/>
              <a:t>Need to scale horizontally (sharding)</a:t>
            </a:r>
          </a:p>
          <a:p>
            <a:pPr lvl="0"/>
            <a:r>
              <a:rPr lang="en-KZ" dirty="0"/>
              <a:t>High write throughput</a:t>
            </a:r>
          </a:p>
          <a:p>
            <a:pPr lvl="0"/>
            <a:r>
              <a:rPr lang="en-KZ" dirty="0"/>
              <a:t>JSON-friendly (Node.js, JavaScript apps)</a:t>
            </a:r>
          </a:p>
          <a:p>
            <a:pPr lvl="0"/>
            <a:r>
              <a:rPr lang="en-KZ" dirty="0"/>
              <a:t>Geospatial queries (location-based services)</a:t>
            </a:r>
          </a:p>
          <a:p>
            <a:endParaRPr lang="en-KZ" dirty="0"/>
          </a:p>
        </p:txBody>
      </p:sp>
    </p:spTree>
    <p:extLst>
      <p:ext uri="{BB962C8B-B14F-4D97-AF65-F5344CB8AC3E}">
        <p14:creationId xmlns:p14="http://schemas.microsoft.com/office/powerpoint/2010/main" val="2180097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9E8F-E4D0-EB5D-376E-ED6B71BA9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MongoDB vs. SQL – Quick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1E91A8-4C98-8731-7BD3-3D3433DC09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64551"/>
              </p:ext>
            </p:extLst>
          </p:nvPr>
        </p:nvGraphicFramePr>
        <p:xfrm>
          <a:off x="1330376" y="1690688"/>
          <a:ext cx="8683053" cy="3802380"/>
        </p:xfrm>
        <a:graphic>
          <a:graphicData uri="http://schemas.openxmlformats.org/drawingml/2006/table">
            <a:tbl>
              <a:tblPr/>
              <a:tblGrid>
                <a:gridCol w="2894351">
                  <a:extLst>
                    <a:ext uri="{9D8B030D-6E8A-4147-A177-3AD203B41FA5}">
                      <a16:colId xmlns:a16="http://schemas.microsoft.com/office/drawing/2014/main" val="921264016"/>
                    </a:ext>
                  </a:extLst>
                </a:gridCol>
                <a:gridCol w="2894351">
                  <a:extLst>
                    <a:ext uri="{9D8B030D-6E8A-4147-A177-3AD203B41FA5}">
                      <a16:colId xmlns:a16="http://schemas.microsoft.com/office/drawing/2014/main" val="4083460021"/>
                    </a:ext>
                  </a:extLst>
                </a:gridCol>
                <a:gridCol w="2894351">
                  <a:extLst>
                    <a:ext uri="{9D8B030D-6E8A-4147-A177-3AD203B41FA5}">
                      <a16:colId xmlns:a16="http://schemas.microsoft.com/office/drawing/2014/main" val="3655662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Feature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MongoDB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SQL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955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Data model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Documents (JSON)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Tables (rows/columns)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748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Schema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Dynamic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Fixed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536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Joins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var(--ds-font-family-code)"/>
                        </a:rPr>
                        <a:t>$lookup</a:t>
                      </a:r>
                      <a:r>
                        <a:rPr lang="en-US">
                          <a:effectLst/>
                        </a:rPr>
                        <a:t> (less common)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SQL JOINs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489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Scaling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Horizontal (sharding)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Vertical (or sharding with complexity)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51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Transactions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Multi-document ACID (since 4.0)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ACID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307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Query language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JSON-based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SQL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742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4185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686A0-27C4-7F16-EA37-C6164F22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  <a:endParaRPr lang="en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03AA-E4FF-9574-695F-D517D241B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125"/>
            <a:ext cx="10515600" cy="48428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Choose one domain:</a:t>
            </a:r>
          </a:p>
          <a:p>
            <a:r>
              <a:rPr lang="en-US" b="1" dirty="0"/>
              <a:t>Option A: Blog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Posts: id, title, content, date, author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Comments: id, content, date, author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Relationship: one post → many comments</a:t>
            </a:r>
          </a:p>
          <a:p>
            <a:r>
              <a:rPr lang="en-US" b="1" dirty="0"/>
              <a:t>Option B: E‑commerce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Users: id, name, email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Orders: id, date, total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Products: id, name, price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Relationships: user → orders; order ↔ products (many-to-many)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Draw two schemas: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Relational (SQL) – tables, columns, primary/foreign keys, relationships.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Document (MongoDB) – collections, document structures, show embedding or referencing.</a:t>
            </a:r>
          </a:p>
          <a:p>
            <a:pPr marL="0" indent="0">
              <a:buNone/>
            </a:pPr>
            <a:endParaRPr lang="en-KZ" dirty="0"/>
          </a:p>
        </p:txBody>
      </p:sp>
    </p:spTree>
    <p:extLst>
      <p:ext uri="{BB962C8B-B14F-4D97-AF65-F5344CB8AC3E}">
        <p14:creationId xmlns:p14="http://schemas.microsoft.com/office/powerpoint/2010/main" val="416825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8D18DF04E7B24DB531D034DE08C523" ma:contentTypeVersion="3" ma:contentTypeDescription="Create a new document." ma:contentTypeScope="" ma:versionID="b8f428bb502a5d78b36408c0d350d9b2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c71adba50243d8c77707b0c12b57a4a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36560D3-F03B-478A-BD48-AFD0FF5E6049}"/>
</file>

<file path=customXml/itemProps2.xml><?xml version="1.0" encoding="utf-8"?>
<ds:datastoreItem xmlns:ds="http://schemas.openxmlformats.org/officeDocument/2006/customXml" ds:itemID="{91BD949D-8385-427A-B474-580DE27FE39F}"/>
</file>

<file path=customXml/itemProps3.xml><?xml version="1.0" encoding="utf-8"?>
<ds:datastoreItem xmlns:ds="http://schemas.openxmlformats.org/officeDocument/2006/customXml" ds:itemID="{090B9A9F-C813-4074-8FFB-89F442BDFA00}"/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1113</Words>
  <Application>Microsoft Macintosh PowerPoint</Application>
  <PresentationFormat>Widescreen</PresentationFormat>
  <Paragraphs>206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Courier New</vt:lpstr>
      <vt:lpstr>var(--ds-font-family-code)</vt:lpstr>
      <vt:lpstr>Office Theme</vt:lpstr>
      <vt:lpstr>NoSQL Databases &amp; MongoDB</vt:lpstr>
      <vt:lpstr>What is NoSQL?</vt:lpstr>
      <vt:lpstr>JSON</vt:lpstr>
      <vt:lpstr>Document Databases – The Core Idea</vt:lpstr>
      <vt:lpstr>MongoDB Introduction</vt:lpstr>
      <vt:lpstr>Key Concepts – Database, Collection, Document</vt:lpstr>
      <vt:lpstr>Sample Document – A Product</vt:lpstr>
      <vt:lpstr>CRUD Operations – Create (Insert)</vt:lpstr>
      <vt:lpstr>CRUD – Read (Find)</vt:lpstr>
      <vt:lpstr>CRUD – Update</vt:lpstr>
      <vt:lpstr>CRUD – Delete</vt:lpstr>
      <vt:lpstr>Querying – Operators</vt:lpstr>
      <vt:lpstr>Projection – Selecting Fields</vt:lpstr>
      <vt:lpstr>Aggregation Pipeline</vt:lpstr>
      <vt:lpstr>Indexing</vt:lpstr>
      <vt:lpstr>Relationships – Embedding vs. Referencing</vt:lpstr>
      <vt:lpstr>When to Choose MongoDB</vt:lpstr>
      <vt:lpstr>MongoDB vs. SQL – Quick Comparison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Anar A. Nagmetova</dc:creator>
  <cp:lastModifiedBy>Anar A. Nagmetova</cp:lastModifiedBy>
  <cp:revision>4</cp:revision>
  <dcterms:created xsi:type="dcterms:W3CDTF">2026-03-25T07:59:17Z</dcterms:created>
  <dcterms:modified xsi:type="dcterms:W3CDTF">2026-03-26T06:00:23Z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